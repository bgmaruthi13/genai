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0"/>
            <a:ext cx="8229600" cy="82296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0D2660"/>
          </a:solidFill>
          <a:ln w="12700">
            <a:solidFill>
              <a:srgbClr val="0D2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749808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94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PROPOSAL  ·  2024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0789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Intelligence.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chaos  →  AI-native excellence.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3749040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764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776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Log Parsing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261104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2885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Ticket Automation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4773168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800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800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Batch Job Recovery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10515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12161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732520" y="18379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2167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Hours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2520" y="28803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32520" y="30449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732520" y="36667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Eliminated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2520" y="3995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use cases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32520" y="47091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32520" y="48737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732520" y="54955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ROI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2520" y="58247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4091E"/>
          </a:solidFill>
          <a:ln w="12700">
            <a:solidFill>
              <a:srgbClr val="0409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656832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Log Parsing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every log 24/7 — detects and resolves errors in minutes, not 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engineering time lost to manual log triage daily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undetected for hours — customers impacted before the team knows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memory: same errors re-investigated each time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paged at 3AM with zero context — burnout is widespread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logs across services 24/7, classifies severity automatically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errors across microservices to find true root cause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against history — suggests known fixes instantly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Auto-raises ticket in your Ticketing Platform with full context &amp; recommended action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to the right team only — zero alert storm noise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team only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Hours→5 min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Coverage 24/7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DevOps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Log Analytics  ·  App Insights  ·  Ticketing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Parsing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221971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4307" y="1664208"/>
            <a:ext cx="1955153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9460" y="1664208"/>
            <a:ext cx="1221971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1431" y="1664208"/>
            <a:ext cx="977577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 &amp;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1 Dev + 1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 pipeline live on Azure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Model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·  2 Devs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&amp; correlates errors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Alerting &amp; Ticketing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1 Dev + 1 QA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auto-creates tickets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4626864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47731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UAT &amp; Go-Live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49926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BA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4718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+ handover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" y="534009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561441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5614416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22 Working Days  ·  5 SSE-Weeks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access provisioned (license required)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 Analytics workspace available &amp; logs streaming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credentials &amp; dev instance available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structured (JSON preferred) or parseable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runbooks available for AI training context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 data for pattern pre-training (90 days)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quota limits at scale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Request capacity increase early in Week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logs require parsing effort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3-day buffer in Phase 1 if needed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version compatibility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 API contract in Week 1 spike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 Automation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solving the same problem 10 times — AI clusters, correlates and permanently closes root causes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 fires 10+ tickets — each resolved in isolation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recognition: insights arrive weeks after the damage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costs 3–5× more when done reactively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zero visibility into recurring failure cost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tickets: incidents, requests, changes, prod issues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clustering — connects patterns humans would never spot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recurring themes across weeks of ticket history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Problem Record with root cause + assigned owner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knowledge base — next similar incident gets fix instantly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Tickets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Incidents+Changes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Clustering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Engine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SLA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Real‑time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Records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Data Eng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Visible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Ticketing Platform  ·  Azure AI Search  ·  Power BI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Tickets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792224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664208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664208"/>
            <a:ext cx="1344168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Pipeline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Data Eng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data flowing into AI pipeline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Clustering &amp; Pattern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2 Devs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groups tickets, detects patterns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Problem Record Automation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 + 1 BA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Records auto-created in ITSM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336" y="4443984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" y="4718304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718304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Working Days  ·  3 SSE-Weeks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with read/write permissions (e.g. ServiceNow, Jira)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provisioned (embeddings + completion)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90 days of historical ticket data available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contain structured fields: category, service, priority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workspace available for leadership dashboard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automated model retraining on new data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data quality is low / inconsistent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profiling sprint in Phase 1 (2 days)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API rate limits block real-time ingestion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Batch ingestion mode as fallback strategy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problem records confuse teams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Confidence threshold tuning in Phase 2 UAT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Batch Job Recovery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failures before they happen — auto-recover, auto-document, protect SLAs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jobs fail silently — business detects it hours later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cascades: payroll, reports, reconciliation all stall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restarts: inconsistent, undocumented, error-prone at 3AM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detection — teams react, never prevent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every job in real-time: runtime, data volumes, dependencies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anomalies before failure — job 40% slower than baseline? Caught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root cause: data / infra / dependency / config 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engine: safe to restart? Yes → auto. No → escalate with report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what failed, why, action taken, resolution ETA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Monitor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watch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failure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diagnosis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Restart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Alert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trail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Manual Restarts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DevOps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Azure Monitor  ·  Data Factory  ·  Ticketing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Job Recovery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1664208"/>
            <a:ext cx="1536192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1664208"/>
            <a:ext cx="1536192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66420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Monitoring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DevOps + 1 Dev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monitored via Azure Monitor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Anomaly Detection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2 Devs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alerts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Auto-Restart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DevOps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auto-restarts safe jobs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4626864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47731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Audit, Alerts &amp; Go-Live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49926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 + 1 QA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4718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prod deployment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" y="534009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561441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5614416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 Working Days  ·  4 SSE-Weeks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connected to all batch job orchestrators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provisioned for root cause diagnosis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metadata catalogue available (schedules, dependencies, owners)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integration for escalation auto-tickets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baseline of job execution metrics for anomaly training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ops team visibility on job health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 metadata catalogue exists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2-day discovery workshop to map critical jobs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bad data causes data loss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Allow-list of safe-to-restart jobs in Phase 3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gaps on legacy schedulers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Agent-based monitoring fallback for legacy jobs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560320"/>
            <a:ext cx="7315200" cy="73152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2024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9144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Act Now.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stack.  Three outcomes.  ROI in 30 days.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95728"/>
            <a:ext cx="3730752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10512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Parsing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9377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6420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6420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3464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3375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467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MTTD: Hours → 5 Minutes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8679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Less Manual Review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39826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Coverage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92861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467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Critical Errors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27939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27939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279392" y="2395728"/>
            <a:ext cx="3730752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810512"/>
            <a:ext cx="566928" cy="56692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Tickets</a:t>
            </a:r>
            <a:endParaRPr lang="en-US" sz="1900" dirty="0"/>
          </a:p>
        </p:txBody>
      </p:sp>
      <p:sp>
        <p:nvSpPr>
          <p:cNvPr id="31" name="Shape 23"/>
          <p:cNvSpPr/>
          <p:nvPr/>
        </p:nvSpPr>
        <p:spPr>
          <a:xfrm>
            <a:off x="442569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42569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59612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59612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76656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76656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333756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3659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Faster Pattern Detection</a:t>
            </a:r>
            <a:endParaRPr lang="en-US" sz="10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4" y="3867912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73659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Fewer Repeat Incidents</a:t>
            </a:r>
            <a:endParaRPr lang="en-US" sz="10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984" y="4398264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73659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Problem Records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84" y="4928616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73659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Dashboard Live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821131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821131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211312" y="2395728"/>
            <a:ext cx="37307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904" y="1810512"/>
            <a:ext cx="566928" cy="56692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05256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Job Recovery</a:t>
            </a:r>
            <a:endParaRPr lang="en-US" sz="1900" dirty="0"/>
          </a:p>
        </p:txBody>
      </p:sp>
      <p:sp>
        <p:nvSpPr>
          <p:cNvPr id="50" name="Shape 37"/>
          <p:cNvSpPr/>
          <p:nvPr/>
        </p:nvSpPr>
        <p:spPr>
          <a:xfrm>
            <a:off x="835761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835761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52" name="Shape 39"/>
          <p:cNvSpPr/>
          <p:nvPr/>
        </p:nvSpPr>
        <p:spPr>
          <a:xfrm>
            <a:off x="952804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952804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54" name="Shape 41"/>
          <p:cNvSpPr/>
          <p:nvPr/>
        </p:nvSpPr>
        <p:spPr>
          <a:xfrm>
            <a:off x="1069848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1069848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05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5904" y="3337560"/>
            <a:ext cx="219456" cy="219456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66851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Fewer Manual Restarts</a:t>
            </a:r>
            <a:endParaRPr lang="en-US" sz="10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5904" y="3867912"/>
            <a:ext cx="219456" cy="219456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866851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Failures</a:t>
            </a:r>
            <a:endParaRPr lang="en-US" sz="100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5904" y="4398264"/>
            <a:ext cx="219456" cy="219456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866851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Faster Recovery</a:t>
            </a:r>
            <a:endParaRPr lang="en-US" sz="1000" dirty="0"/>
          </a:p>
        </p:txBody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5904" y="4928616"/>
            <a:ext cx="219456" cy="219456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866851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Audit Trail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347472" y="6053328"/>
            <a:ext cx="11466576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65" name="Text 48"/>
          <p:cNvSpPr/>
          <p:nvPr/>
        </p:nvSpPr>
        <p:spPr>
          <a:xfrm>
            <a:off x="713232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Working Days</a:t>
            </a:r>
            <a:endParaRPr lang="en-US" sz="1500" dirty="0"/>
          </a:p>
        </p:txBody>
      </p:sp>
      <p:sp>
        <p:nvSpPr>
          <p:cNvPr id="66" name="Text 49"/>
          <p:cNvSpPr/>
          <p:nvPr/>
        </p:nvSpPr>
        <p:spPr>
          <a:xfrm>
            <a:off x="713232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</a:t>
            </a:r>
            <a:endParaRPr lang="en-US" sz="900" dirty="0"/>
          </a:p>
        </p:txBody>
      </p:sp>
      <p:sp>
        <p:nvSpPr>
          <p:cNvPr id="67" name="Text 50"/>
          <p:cNvSpPr/>
          <p:nvPr/>
        </p:nvSpPr>
        <p:spPr>
          <a:xfrm>
            <a:off x="3584448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+ Ticketing Platform</a:t>
            </a:r>
            <a:endParaRPr lang="en-US" sz="1500" dirty="0"/>
          </a:p>
        </p:txBody>
      </p:sp>
      <p:sp>
        <p:nvSpPr>
          <p:cNvPr id="68" name="Text 51"/>
          <p:cNvSpPr/>
          <p:nvPr/>
        </p:nvSpPr>
        <p:spPr>
          <a:xfrm>
            <a:off x="3584448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Stack</a:t>
            </a:r>
            <a:endParaRPr lang="en-US" sz="900" dirty="0"/>
          </a:p>
        </p:txBody>
      </p:sp>
      <p:sp>
        <p:nvSpPr>
          <p:cNvPr id="69" name="Text 52"/>
          <p:cNvSpPr/>
          <p:nvPr/>
        </p:nvSpPr>
        <p:spPr>
          <a:xfrm>
            <a:off x="6455664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in Parallel</a:t>
            </a:r>
            <a:endParaRPr lang="en-US" sz="1500" dirty="0"/>
          </a:p>
        </p:txBody>
      </p:sp>
      <p:sp>
        <p:nvSpPr>
          <p:cNvPr id="70" name="Text 53"/>
          <p:cNvSpPr/>
          <p:nvPr/>
        </p:nvSpPr>
        <p:spPr>
          <a:xfrm>
            <a:off x="6455664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900" dirty="0"/>
          </a:p>
        </p:txBody>
      </p:sp>
      <p:sp>
        <p:nvSpPr>
          <p:cNvPr id="71" name="Text 54"/>
          <p:cNvSpPr/>
          <p:nvPr/>
        </p:nvSpPr>
        <p:spPr>
          <a:xfrm>
            <a:off x="9326880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ROI</a:t>
            </a:r>
            <a:endParaRPr lang="en-US" sz="1500" dirty="0"/>
          </a:p>
        </p:txBody>
      </p:sp>
      <p:sp>
        <p:nvSpPr>
          <p:cNvPr id="72" name="Text 55"/>
          <p:cNvSpPr/>
          <p:nvPr/>
        </p:nvSpPr>
        <p:spPr>
          <a:xfrm>
            <a:off x="9326880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</a:t>
            </a:r>
            <a:endParaRPr lang="en-US" sz="900" dirty="0"/>
          </a:p>
        </p:txBody>
      </p:sp>
      <p:sp>
        <p:nvSpPr>
          <p:cNvPr id="73" name="Text 56"/>
          <p:cNvSpPr/>
          <p:nvPr/>
        </p:nvSpPr>
        <p:spPr>
          <a:xfrm>
            <a:off x="365760" y="674827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858000" cy="68580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657600"/>
            <a:ext cx="3200400" cy="3200400"/>
          </a:xfrm>
          <a:prstGeom prst="ellipse">
            <a:avLst/>
          </a:prstGeom>
          <a:solidFill>
            <a:srgbClr val="04112E"/>
          </a:solidFill>
          <a:ln w="12700">
            <a:solidFill>
              <a:srgbClr val="0411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  · 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124358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 + Batch Job Recovery  =  One closed-loop autonomous agent.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1572768"/>
            <a:ext cx="4480560" cy="4480560"/>
          </a:xfrm>
          <a:prstGeom prst="ellipse">
            <a:avLst/>
          </a:prstGeom>
          <a:solidFill>
            <a:srgbClr val="0D204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3035808"/>
            <a:ext cx="1280160" cy="1280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3255264"/>
            <a:ext cx="786384" cy="786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61888" y="2231136"/>
            <a:ext cx="73152" cy="144475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035040" y="2999232"/>
            <a:ext cx="2075688" cy="676656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035040" y="3675888"/>
            <a:ext cx="1892808" cy="1152144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806440" y="3675888"/>
            <a:ext cx="228600" cy="181051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721608" y="3675888"/>
            <a:ext cx="2313432" cy="1152144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257800" y="1572768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1048A4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57800" y="1572768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1755648"/>
            <a:ext cx="1417320" cy="146304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162763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195681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257800" y="23408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all logs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 real-time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7406640" y="2359152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06640" y="2359152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06640" y="2542032"/>
            <a:ext cx="141732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2414016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06640" y="274320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406640" y="31272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&amp; correlates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7223760" y="4160520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00916E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23760" y="4160520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223760" y="4343400"/>
            <a:ext cx="1417320" cy="146304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16" y="4215384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223760" y="45445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223760" y="49286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Auto-restarts jobs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escalates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5102352" y="4828032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102352" y="4828032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102352" y="5010912"/>
            <a:ext cx="14173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708" y="4882896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02352" y="521208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5102352" y="55961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&amp; updates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automatically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3017520" y="4160520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017520" y="4160520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017520" y="4343400"/>
            <a:ext cx="1417320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4215384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017520" y="45445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3017520" y="49286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pattern memory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events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9235440" y="1188720"/>
            <a:ext cx="2670048" cy="521208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9381744" y="12618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9345168" y="1847088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744" y="1883664"/>
            <a:ext cx="237744" cy="23774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729216" y="18288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Ops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9345168" y="2139696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detects, diagnoses and fixes itself — no human in the loop for routine failures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9345168" y="2926080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744" y="2962656"/>
            <a:ext cx="237744" cy="23774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729216" y="29077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9345168" y="3218688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trains the agent — gets smarter and faster over time automatically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9345168" y="400507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1744" y="4041648"/>
            <a:ext cx="237744" cy="23774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729216" y="398678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Default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9345168" y="429768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logged, explained and auditable — zero undocumented restarts</a:t>
            </a:r>
            <a:endParaRPr lang="en-US" sz="850" dirty="0"/>
          </a:p>
        </p:txBody>
      </p:sp>
      <p:sp>
        <p:nvSpPr>
          <p:cNvPr id="61" name="Shape 50"/>
          <p:cNvSpPr/>
          <p:nvPr/>
        </p:nvSpPr>
        <p:spPr>
          <a:xfrm>
            <a:off x="9345168" y="5084064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1744" y="5120640"/>
            <a:ext cx="237744" cy="237744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9729216" y="5065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Platform</a:t>
            </a:r>
            <a:endParaRPr lang="en-US" sz="1000" dirty="0"/>
          </a:p>
        </p:txBody>
      </p:sp>
      <p:sp>
        <p:nvSpPr>
          <p:cNvPr id="64" name="Text 52"/>
          <p:cNvSpPr/>
          <p:nvPr/>
        </p:nvSpPr>
        <p:spPr>
          <a:xfrm>
            <a:off x="9345168" y="5376672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Ticket Agent plugs in next — same orchestrator, growing capability</a:t>
            </a:r>
            <a:endParaRPr lang="en-US" sz="850" dirty="0"/>
          </a:p>
        </p:txBody>
      </p:sp>
      <p:sp>
        <p:nvSpPr>
          <p:cNvPr id="65" name="Shape 53"/>
          <p:cNvSpPr/>
          <p:nvPr/>
        </p:nvSpPr>
        <p:spPr>
          <a:xfrm>
            <a:off x="347472" y="6309360"/>
            <a:ext cx="8732520" cy="402336"/>
          </a:xfrm>
          <a:prstGeom prst="roundRect">
            <a:avLst>
              <a:gd name="adj" fmla="val 22727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502920" y="634593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capability (Log Parsing + Batch Recovery) becomes the foundation.  Problem Ticket Agent extends it.  One platform, compounding ROI.</a:t>
            </a:r>
            <a:endParaRPr lang="en-US" sz="950" dirty="0"/>
          </a:p>
        </p:txBody>
      </p:sp>
      <p:sp>
        <p:nvSpPr>
          <p:cNvPr id="67" name="Shape 5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4091E"/>
          </a:solidFill>
          <a:ln w="12700">
            <a:solidFill>
              <a:srgbClr val="04091E"/>
            </a:solidFill>
            <a:prstDash val="solid"/>
          </a:ln>
        </p:spPr>
      </p:sp>
      <p:sp>
        <p:nvSpPr>
          <p:cNvPr id="68" name="Text 5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2026-06-26T11:55:31Z</dcterms:created>
  <dcterms:modified xsi:type="dcterms:W3CDTF">2026-06-26T11:55:31Z</dcterms:modified>
</cp:coreProperties>
</file>
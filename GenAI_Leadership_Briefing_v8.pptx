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860B"/>
          </a:solidFill>
          <a:ln/>
        </p:spPr>
      </p:sp>
      <p:sp>
        <p:nvSpPr>
          <p:cNvPr id="3" name="Shape 1"/>
          <p:cNvSpPr/>
          <p:nvPr/>
        </p:nvSpPr>
        <p:spPr>
          <a:xfrm>
            <a:off x="0" y="5102352"/>
            <a:ext cx="9144000" cy="36576"/>
          </a:xfrm>
          <a:prstGeom prst="rect">
            <a:avLst/>
          </a:prstGeom>
          <a:solidFill>
            <a:srgbClr val="B8860B"/>
          </a:solidFill>
          <a:ln/>
        </p:spPr>
      </p:sp>
      <p:sp>
        <p:nvSpPr>
          <p:cNvPr id="4" name="Shape 2"/>
          <p:cNvSpPr/>
          <p:nvPr/>
        </p:nvSpPr>
        <p:spPr>
          <a:xfrm>
            <a:off x="365760" y="777240"/>
            <a:ext cx="36576" cy="3291840"/>
          </a:xfrm>
          <a:prstGeom prst="rect">
            <a:avLst/>
          </a:prstGeom>
          <a:solidFill>
            <a:srgbClr val="B8860B"/>
          </a:solidFill>
          <a:ln/>
        </p:spPr>
      </p:sp>
      <p:sp>
        <p:nvSpPr>
          <p:cNvPr id="5" name="Text 3"/>
          <p:cNvSpPr/>
          <p:nvPr/>
        </p:nvSpPr>
        <p:spPr>
          <a:xfrm>
            <a:off x="548640" y="822960"/>
            <a:ext cx="7315200" cy="274320"/>
          </a:xfrm>
          <a:prstGeom prst="rect">
            <a:avLst/>
          </a:prstGeom>
          <a:noFill/>
          <a:ln/>
        </p:spPr>
        <p:txBody>
          <a:bodyPr wrap="square" lIns="0" tIns="0" rIns="0" bIns="0" rtlCol="0" anchor="ctr"/>
          <a:lstStyle/>
          <a:p>
            <a:pPr indent="0" marL="0">
              <a:buNone/>
            </a:pPr>
            <a:r>
              <a:rPr lang="en-US" sz="1000" b="1" spc="500" kern="0" dirty="0">
                <a:solidFill>
                  <a:srgbClr val="B8860B"/>
                </a:solidFill>
                <a:latin typeface="Calibri" pitchFamily="34" charset="0"/>
                <a:ea typeface="Calibri" pitchFamily="34" charset="-122"/>
                <a:cs typeface="Calibri" pitchFamily="34" charset="-120"/>
              </a:rPr>
              <a:t>GENERATIVE AI  ·  LEADERSHIP BRIEFING</a:t>
            </a:r>
            <a:endParaRPr lang="en-US" sz="1000" dirty="0"/>
          </a:p>
        </p:txBody>
      </p:sp>
      <p:sp>
        <p:nvSpPr>
          <p:cNvPr id="6" name="Text 4"/>
          <p:cNvSpPr/>
          <p:nvPr/>
        </p:nvSpPr>
        <p:spPr>
          <a:xfrm>
            <a:off x="548640" y="1280160"/>
            <a:ext cx="8229600" cy="77724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From First Principles</a:t>
            </a:r>
            <a:endParaRPr lang="en-US" sz="4200" dirty="0"/>
          </a:p>
        </p:txBody>
      </p:sp>
      <p:sp>
        <p:nvSpPr>
          <p:cNvPr id="7" name="Text 5"/>
          <p:cNvSpPr/>
          <p:nvPr/>
        </p:nvSpPr>
        <p:spPr>
          <a:xfrm>
            <a:off x="548640" y="1993392"/>
            <a:ext cx="8229600" cy="777240"/>
          </a:xfrm>
          <a:prstGeom prst="rect">
            <a:avLst/>
          </a:prstGeom>
          <a:noFill/>
          <a:ln/>
        </p:spPr>
        <p:txBody>
          <a:bodyPr wrap="square" lIns="0" tIns="0" rIns="0" bIns="0" rtlCol="0" anchor="ctr"/>
          <a:lstStyle/>
          <a:p>
            <a:pPr indent="0" marL="0">
              <a:buNone/>
            </a:pPr>
            <a:r>
              <a:rPr lang="en-US" sz="4200" b="1" dirty="0">
                <a:solidFill>
                  <a:srgbClr val="EDF1F7"/>
                </a:solidFill>
                <a:latin typeface="Calibri" pitchFamily="34" charset="0"/>
                <a:ea typeface="Calibri" pitchFamily="34" charset="-122"/>
                <a:cs typeface="Calibri" pitchFamily="34" charset="-120"/>
              </a:rPr>
              <a:t>to Business Strategy</a:t>
            </a:r>
            <a:endParaRPr lang="en-US" sz="4200" dirty="0"/>
          </a:p>
        </p:txBody>
      </p:sp>
      <p:sp>
        <p:nvSpPr>
          <p:cNvPr id="8" name="Text 6"/>
          <p:cNvSpPr/>
          <p:nvPr/>
        </p:nvSpPr>
        <p:spPr>
          <a:xfrm>
            <a:off x="548640" y="2926080"/>
            <a:ext cx="7772400" cy="457200"/>
          </a:xfrm>
          <a:prstGeom prst="rect">
            <a:avLst/>
          </a:prstGeom>
          <a:noFill/>
          <a:ln/>
        </p:spPr>
        <p:txBody>
          <a:bodyPr wrap="square" lIns="0" tIns="0" rIns="0" bIns="0" rtlCol="0" anchor="ctr"/>
          <a:lstStyle/>
          <a:p>
            <a:pPr indent="0" marL="0">
              <a:buNone/>
            </a:pPr>
            <a:r>
              <a:rPr lang="en-US" sz="1300" i="1" dirty="0">
                <a:solidFill>
                  <a:srgbClr val="EDF1F7"/>
                </a:solidFill>
                <a:latin typeface="Calibri" pitchFamily="34" charset="0"/>
                <a:ea typeface="Calibri" pitchFamily="34" charset="-122"/>
                <a:cs typeface="Calibri" pitchFamily="34" charset="-120"/>
              </a:rPr>
              <a:t>A complete guide to understanding, deploying, and governing Generative AI in the enterprise.</a:t>
            </a:r>
            <a:endParaRPr lang="en-US" sz="1300" dirty="0"/>
          </a:p>
        </p:txBody>
      </p:sp>
      <p:sp>
        <p:nvSpPr>
          <p:cNvPr id="9" name="Shape 7"/>
          <p:cNvSpPr/>
          <p:nvPr/>
        </p:nvSpPr>
        <p:spPr>
          <a:xfrm>
            <a:off x="548640" y="3456432"/>
            <a:ext cx="1371600" cy="27432"/>
          </a:xfrm>
          <a:prstGeom prst="rect">
            <a:avLst/>
          </a:prstGeom>
          <a:solidFill>
            <a:srgbClr val="B8860B"/>
          </a:solidFill>
          <a:ln/>
        </p:spPr>
      </p:sp>
      <p:sp>
        <p:nvSpPr>
          <p:cNvPr id="10" name="Text 8"/>
          <p:cNvSpPr/>
          <p:nvPr/>
        </p:nvSpPr>
        <p:spPr>
          <a:xfrm>
            <a:off x="548640" y="3529584"/>
            <a:ext cx="4572000" cy="219456"/>
          </a:xfrm>
          <a:prstGeom prst="rect">
            <a:avLst/>
          </a:prstGeom>
          <a:noFill/>
          <a:ln/>
        </p:spPr>
        <p:txBody>
          <a:bodyPr wrap="square" lIns="0" tIns="0" rIns="0" bIns="0" rtlCol="0" anchor="ctr"/>
          <a:lstStyle/>
          <a:p>
            <a:pPr indent="0" marL="0">
              <a:buNone/>
            </a:pPr>
            <a:r>
              <a:rPr lang="en-US" sz="900" dirty="0">
                <a:solidFill>
                  <a:srgbClr val="8898AA"/>
                </a:solidFill>
                <a:latin typeface="Calibri" pitchFamily="34" charset="0"/>
                <a:ea typeface="Calibri" pitchFamily="34" charset="-122"/>
                <a:cs typeface="Calibri" pitchFamily="34" charset="-120"/>
              </a:rPr>
              <a:t>Confidential  ·  Leadership Training Series</a:t>
            </a:r>
            <a:endParaRPr lang="en-US" sz="900" dirty="0"/>
          </a:p>
        </p:txBody>
      </p:sp>
      <p:sp>
        <p:nvSpPr>
          <p:cNvPr id="11" name="Shape 9"/>
          <p:cNvSpPr/>
          <p:nvPr/>
        </p:nvSpPr>
        <p:spPr>
          <a:xfrm>
            <a:off x="548640" y="3950208"/>
            <a:ext cx="1280160" cy="640080"/>
          </a:xfrm>
          <a:prstGeom prst="rect">
            <a:avLst/>
          </a:prstGeom>
          <a:solidFill>
            <a:srgbClr val="FFFFFF">
              <a:alpha val="10000"/>
            </a:srgbClr>
          </a:solidFill>
          <a:ln/>
        </p:spPr>
      </p:sp>
      <p:sp>
        <p:nvSpPr>
          <p:cNvPr id="12" name="Shape 10"/>
          <p:cNvSpPr/>
          <p:nvPr/>
        </p:nvSpPr>
        <p:spPr>
          <a:xfrm>
            <a:off x="548640" y="3950208"/>
            <a:ext cx="1280160" cy="36576"/>
          </a:xfrm>
          <a:prstGeom prst="rect">
            <a:avLst/>
          </a:prstGeom>
          <a:solidFill>
            <a:srgbClr val="1E3A5F"/>
          </a:solidFill>
          <a:ln/>
        </p:spPr>
      </p:sp>
      <p:sp>
        <p:nvSpPr>
          <p:cNvPr id="13" name="Text 11"/>
          <p:cNvSpPr/>
          <p:nvPr/>
        </p:nvSpPr>
        <p:spPr>
          <a:xfrm>
            <a:off x="548640" y="4023360"/>
            <a:ext cx="1280160" cy="201168"/>
          </a:xfrm>
          <a:prstGeom prst="rect">
            <a:avLst/>
          </a:prstGeom>
          <a:noFill/>
          <a:ln/>
        </p:spPr>
        <p:txBody>
          <a:bodyPr wrap="square" lIns="0" tIns="0" rIns="0" bIns="0" rtlCol="0" anchor="ctr"/>
          <a:lstStyle/>
          <a:p>
            <a:pPr algn="ctr" indent="0" marL="0">
              <a:buNone/>
            </a:pPr>
            <a:r>
              <a:rPr lang="en-US" sz="1100" b="1" dirty="0">
                <a:solidFill>
                  <a:srgbClr val="B8860B"/>
                </a:solidFill>
                <a:latin typeface="Calibri" pitchFamily="34" charset="0"/>
                <a:ea typeface="Calibri" pitchFamily="34" charset="-122"/>
                <a:cs typeface="Calibri" pitchFamily="34" charset="-120"/>
              </a:rPr>
              <a:t>01</a:t>
            </a:r>
            <a:endParaRPr lang="en-US" sz="1100" dirty="0"/>
          </a:p>
        </p:txBody>
      </p:sp>
      <p:sp>
        <p:nvSpPr>
          <p:cNvPr id="14" name="Text 12"/>
          <p:cNvSpPr/>
          <p:nvPr/>
        </p:nvSpPr>
        <p:spPr>
          <a:xfrm>
            <a:off x="548640" y="4224528"/>
            <a:ext cx="1280160" cy="29260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Origin</a:t>
            </a:r>
            <a:endParaRPr lang="en-US" sz="900" dirty="0"/>
          </a:p>
        </p:txBody>
      </p:sp>
      <p:sp>
        <p:nvSpPr>
          <p:cNvPr id="15" name="Shape 13"/>
          <p:cNvSpPr/>
          <p:nvPr/>
        </p:nvSpPr>
        <p:spPr>
          <a:xfrm>
            <a:off x="1920240" y="3950208"/>
            <a:ext cx="1280160" cy="640080"/>
          </a:xfrm>
          <a:prstGeom prst="rect">
            <a:avLst/>
          </a:prstGeom>
          <a:solidFill>
            <a:srgbClr val="FFFFFF">
              <a:alpha val="10000"/>
            </a:srgbClr>
          </a:solidFill>
          <a:ln/>
        </p:spPr>
      </p:sp>
      <p:sp>
        <p:nvSpPr>
          <p:cNvPr id="16" name="Shape 14"/>
          <p:cNvSpPr/>
          <p:nvPr/>
        </p:nvSpPr>
        <p:spPr>
          <a:xfrm>
            <a:off x="1920240" y="3950208"/>
            <a:ext cx="1280160" cy="36576"/>
          </a:xfrm>
          <a:prstGeom prst="rect">
            <a:avLst/>
          </a:prstGeom>
          <a:solidFill>
            <a:srgbClr val="2E5266"/>
          </a:solidFill>
          <a:ln/>
        </p:spPr>
      </p:sp>
      <p:sp>
        <p:nvSpPr>
          <p:cNvPr id="17" name="Text 15"/>
          <p:cNvSpPr/>
          <p:nvPr/>
        </p:nvSpPr>
        <p:spPr>
          <a:xfrm>
            <a:off x="1920240" y="4023360"/>
            <a:ext cx="1280160" cy="201168"/>
          </a:xfrm>
          <a:prstGeom prst="rect">
            <a:avLst/>
          </a:prstGeom>
          <a:noFill/>
          <a:ln/>
        </p:spPr>
        <p:txBody>
          <a:bodyPr wrap="square" lIns="0" tIns="0" rIns="0" bIns="0" rtlCol="0" anchor="ctr"/>
          <a:lstStyle/>
          <a:p>
            <a:pPr algn="ctr" indent="0" marL="0">
              <a:buNone/>
            </a:pPr>
            <a:r>
              <a:rPr lang="en-US" sz="1100" b="1" dirty="0">
                <a:solidFill>
                  <a:srgbClr val="B8860B"/>
                </a:solidFill>
                <a:latin typeface="Calibri" pitchFamily="34" charset="0"/>
                <a:ea typeface="Calibri" pitchFamily="34" charset="-122"/>
                <a:cs typeface="Calibri" pitchFamily="34" charset="-120"/>
              </a:rPr>
              <a:t>02</a:t>
            </a:r>
            <a:endParaRPr lang="en-US" sz="1100" dirty="0"/>
          </a:p>
        </p:txBody>
      </p:sp>
      <p:sp>
        <p:nvSpPr>
          <p:cNvPr id="18" name="Text 16"/>
          <p:cNvSpPr/>
          <p:nvPr/>
        </p:nvSpPr>
        <p:spPr>
          <a:xfrm>
            <a:off x="1920240" y="4224528"/>
            <a:ext cx="1280160" cy="29260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Mechanics</a:t>
            </a:r>
            <a:endParaRPr lang="en-US" sz="900" dirty="0"/>
          </a:p>
        </p:txBody>
      </p:sp>
      <p:sp>
        <p:nvSpPr>
          <p:cNvPr id="19" name="Shape 17"/>
          <p:cNvSpPr/>
          <p:nvPr/>
        </p:nvSpPr>
        <p:spPr>
          <a:xfrm>
            <a:off x="3291840" y="3950208"/>
            <a:ext cx="1280160" cy="640080"/>
          </a:xfrm>
          <a:prstGeom prst="rect">
            <a:avLst/>
          </a:prstGeom>
          <a:solidFill>
            <a:srgbClr val="FFFFFF">
              <a:alpha val="10000"/>
            </a:srgbClr>
          </a:solidFill>
          <a:ln/>
        </p:spPr>
      </p:sp>
      <p:sp>
        <p:nvSpPr>
          <p:cNvPr id="20" name="Shape 18"/>
          <p:cNvSpPr/>
          <p:nvPr/>
        </p:nvSpPr>
        <p:spPr>
          <a:xfrm>
            <a:off x="3291840" y="3950208"/>
            <a:ext cx="1280160" cy="36576"/>
          </a:xfrm>
          <a:prstGeom prst="rect">
            <a:avLst/>
          </a:prstGeom>
          <a:solidFill>
            <a:srgbClr val="0F766E"/>
          </a:solidFill>
          <a:ln/>
        </p:spPr>
      </p:sp>
      <p:sp>
        <p:nvSpPr>
          <p:cNvPr id="21" name="Text 19"/>
          <p:cNvSpPr/>
          <p:nvPr/>
        </p:nvSpPr>
        <p:spPr>
          <a:xfrm>
            <a:off x="3291840" y="4023360"/>
            <a:ext cx="1280160" cy="201168"/>
          </a:xfrm>
          <a:prstGeom prst="rect">
            <a:avLst/>
          </a:prstGeom>
          <a:noFill/>
          <a:ln/>
        </p:spPr>
        <p:txBody>
          <a:bodyPr wrap="square" lIns="0" tIns="0" rIns="0" bIns="0" rtlCol="0" anchor="ctr"/>
          <a:lstStyle/>
          <a:p>
            <a:pPr algn="ctr" indent="0" marL="0">
              <a:buNone/>
            </a:pPr>
            <a:r>
              <a:rPr lang="en-US" sz="1100" b="1" dirty="0">
                <a:solidFill>
                  <a:srgbClr val="B8860B"/>
                </a:solidFill>
                <a:latin typeface="Calibri" pitchFamily="34" charset="0"/>
                <a:ea typeface="Calibri" pitchFamily="34" charset="-122"/>
                <a:cs typeface="Calibri" pitchFamily="34" charset="-120"/>
              </a:rPr>
              <a:t>03</a:t>
            </a:r>
            <a:endParaRPr lang="en-US" sz="1100" dirty="0"/>
          </a:p>
        </p:txBody>
      </p:sp>
      <p:sp>
        <p:nvSpPr>
          <p:cNvPr id="22" name="Text 20"/>
          <p:cNvSpPr/>
          <p:nvPr/>
        </p:nvSpPr>
        <p:spPr>
          <a:xfrm>
            <a:off x="3291840" y="4224528"/>
            <a:ext cx="1280160" cy="29260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In Depth</a:t>
            </a:r>
            <a:endParaRPr lang="en-US" sz="900" dirty="0"/>
          </a:p>
        </p:txBody>
      </p:sp>
      <p:sp>
        <p:nvSpPr>
          <p:cNvPr id="23" name="Shape 21"/>
          <p:cNvSpPr/>
          <p:nvPr/>
        </p:nvSpPr>
        <p:spPr>
          <a:xfrm>
            <a:off x="4663440" y="3950208"/>
            <a:ext cx="1280160" cy="640080"/>
          </a:xfrm>
          <a:prstGeom prst="rect">
            <a:avLst/>
          </a:prstGeom>
          <a:solidFill>
            <a:srgbClr val="FFFFFF">
              <a:alpha val="10000"/>
            </a:srgbClr>
          </a:solidFill>
          <a:ln/>
        </p:spPr>
      </p:sp>
      <p:sp>
        <p:nvSpPr>
          <p:cNvPr id="24" name="Shape 22"/>
          <p:cNvSpPr/>
          <p:nvPr/>
        </p:nvSpPr>
        <p:spPr>
          <a:xfrm>
            <a:off x="4663440" y="3950208"/>
            <a:ext cx="1280160" cy="36576"/>
          </a:xfrm>
          <a:prstGeom prst="rect">
            <a:avLst/>
          </a:prstGeom>
          <a:solidFill>
            <a:srgbClr val="47596B"/>
          </a:solidFill>
          <a:ln/>
        </p:spPr>
      </p:sp>
      <p:sp>
        <p:nvSpPr>
          <p:cNvPr id="25" name="Text 23"/>
          <p:cNvSpPr/>
          <p:nvPr/>
        </p:nvSpPr>
        <p:spPr>
          <a:xfrm>
            <a:off x="4663440" y="4023360"/>
            <a:ext cx="1280160" cy="201168"/>
          </a:xfrm>
          <a:prstGeom prst="rect">
            <a:avLst/>
          </a:prstGeom>
          <a:noFill/>
          <a:ln/>
        </p:spPr>
        <p:txBody>
          <a:bodyPr wrap="square" lIns="0" tIns="0" rIns="0" bIns="0" rtlCol="0" anchor="ctr"/>
          <a:lstStyle/>
          <a:p>
            <a:pPr algn="ctr" indent="0" marL="0">
              <a:buNone/>
            </a:pPr>
            <a:r>
              <a:rPr lang="en-US" sz="1100" b="1" dirty="0">
                <a:solidFill>
                  <a:srgbClr val="B8860B"/>
                </a:solidFill>
                <a:latin typeface="Calibri" pitchFamily="34" charset="0"/>
                <a:ea typeface="Calibri" pitchFamily="34" charset="-122"/>
                <a:cs typeface="Calibri" pitchFamily="34" charset="-120"/>
              </a:rPr>
              <a:t>04</a:t>
            </a:r>
            <a:endParaRPr lang="en-US" sz="1100" dirty="0"/>
          </a:p>
        </p:txBody>
      </p:sp>
      <p:sp>
        <p:nvSpPr>
          <p:cNvPr id="26" name="Text 24"/>
          <p:cNvSpPr/>
          <p:nvPr/>
        </p:nvSpPr>
        <p:spPr>
          <a:xfrm>
            <a:off x="4663440" y="4224528"/>
            <a:ext cx="1280160" cy="29260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Agents</a:t>
            </a:r>
            <a:endParaRPr lang="en-US" sz="900" dirty="0"/>
          </a:p>
        </p:txBody>
      </p:sp>
      <p:sp>
        <p:nvSpPr>
          <p:cNvPr id="27" name="Shape 25"/>
          <p:cNvSpPr/>
          <p:nvPr/>
        </p:nvSpPr>
        <p:spPr>
          <a:xfrm>
            <a:off x="6035040" y="3950208"/>
            <a:ext cx="1280160" cy="640080"/>
          </a:xfrm>
          <a:prstGeom prst="rect">
            <a:avLst/>
          </a:prstGeom>
          <a:solidFill>
            <a:srgbClr val="FFFFFF">
              <a:alpha val="10000"/>
            </a:srgbClr>
          </a:solidFill>
          <a:ln/>
        </p:spPr>
      </p:sp>
      <p:sp>
        <p:nvSpPr>
          <p:cNvPr id="28" name="Shape 26"/>
          <p:cNvSpPr/>
          <p:nvPr/>
        </p:nvSpPr>
        <p:spPr>
          <a:xfrm>
            <a:off x="6035040" y="3950208"/>
            <a:ext cx="1280160" cy="36576"/>
          </a:xfrm>
          <a:prstGeom prst="rect">
            <a:avLst/>
          </a:prstGeom>
          <a:solidFill>
            <a:srgbClr val="9A3324"/>
          </a:solidFill>
          <a:ln/>
        </p:spPr>
      </p:sp>
      <p:sp>
        <p:nvSpPr>
          <p:cNvPr id="29" name="Text 27"/>
          <p:cNvSpPr/>
          <p:nvPr/>
        </p:nvSpPr>
        <p:spPr>
          <a:xfrm>
            <a:off x="6035040" y="4023360"/>
            <a:ext cx="1280160" cy="201168"/>
          </a:xfrm>
          <a:prstGeom prst="rect">
            <a:avLst/>
          </a:prstGeom>
          <a:noFill/>
          <a:ln/>
        </p:spPr>
        <p:txBody>
          <a:bodyPr wrap="square" lIns="0" tIns="0" rIns="0" bIns="0" rtlCol="0" anchor="ctr"/>
          <a:lstStyle/>
          <a:p>
            <a:pPr algn="ctr" indent="0" marL="0">
              <a:buNone/>
            </a:pPr>
            <a:r>
              <a:rPr lang="en-US" sz="1100" b="1" dirty="0">
                <a:solidFill>
                  <a:srgbClr val="B8860B"/>
                </a:solidFill>
                <a:latin typeface="Calibri" pitchFamily="34" charset="0"/>
                <a:ea typeface="Calibri" pitchFamily="34" charset="-122"/>
                <a:cs typeface="Calibri" pitchFamily="34" charset="-120"/>
              </a:rPr>
              <a:t>05</a:t>
            </a:r>
            <a:endParaRPr lang="en-US" sz="1100" dirty="0"/>
          </a:p>
        </p:txBody>
      </p:sp>
      <p:sp>
        <p:nvSpPr>
          <p:cNvPr id="30" name="Text 28"/>
          <p:cNvSpPr/>
          <p:nvPr/>
        </p:nvSpPr>
        <p:spPr>
          <a:xfrm>
            <a:off x="6035040" y="4224528"/>
            <a:ext cx="1280160" cy="29260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Risks</a:t>
            </a:r>
            <a:endParaRPr lang="en-US" sz="900" dirty="0"/>
          </a:p>
        </p:txBody>
      </p:sp>
      <p:sp>
        <p:nvSpPr>
          <p:cNvPr id="31" name="Shape 29"/>
          <p:cNvSpPr/>
          <p:nvPr/>
        </p:nvSpPr>
        <p:spPr>
          <a:xfrm>
            <a:off x="7406640" y="3950208"/>
            <a:ext cx="1280160" cy="640080"/>
          </a:xfrm>
          <a:prstGeom prst="rect">
            <a:avLst/>
          </a:prstGeom>
          <a:solidFill>
            <a:srgbClr val="FFFFFF">
              <a:alpha val="10000"/>
            </a:srgbClr>
          </a:solidFill>
          <a:ln/>
        </p:spPr>
      </p:sp>
      <p:sp>
        <p:nvSpPr>
          <p:cNvPr id="32" name="Shape 30"/>
          <p:cNvSpPr/>
          <p:nvPr/>
        </p:nvSpPr>
        <p:spPr>
          <a:xfrm>
            <a:off x="7406640" y="3950208"/>
            <a:ext cx="1280160" cy="36576"/>
          </a:xfrm>
          <a:prstGeom prst="rect">
            <a:avLst/>
          </a:prstGeom>
          <a:solidFill>
            <a:srgbClr val="B8860B"/>
          </a:solidFill>
          <a:ln/>
        </p:spPr>
      </p:sp>
      <p:sp>
        <p:nvSpPr>
          <p:cNvPr id="33" name="Text 31"/>
          <p:cNvSpPr/>
          <p:nvPr/>
        </p:nvSpPr>
        <p:spPr>
          <a:xfrm>
            <a:off x="7406640" y="4023360"/>
            <a:ext cx="1280160" cy="201168"/>
          </a:xfrm>
          <a:prstGeom prst="rect">
            <a:avLst/>
          </a:prstGeom>
          <a:noFill/>
          <a:ln/>
        </p:spPr>
        <p:txBody>
          <a:bodyPr wrap="square" lIns="0" tIns="0" rIns="0" bIns="0" rtlCol="0" anchor="ctr"/>
          <a:lstStyle/>
          <a:p>
            <a:pPr algn="ctr" indent="0" marL="0">
              <a:buNone/>
            </a:pPr>
            <a:r>
              <a:rPr lang="en-US" sz="1100" b="1" dirty="0">
                <a:solidFill>
                  <a:srgbClr val="B8860B"/>
                </a:solidFill>
                <a:latin typeface="Calibri" pitchFamily="34" charset="0"/>
                <a:ea typeface="Calibri" pitchFamily="34" charset="-122"/>
                <a:cs typeface="Calibri" pitchFamily="34" charset="-120"/>
              </a:rPr>
              <a:t>06</a:t>
            </a:r>
            <a:endParaRPr lang="en-US" sz="1100" dirty="0"/>
          </a:p>
        </p:txBody>
      </p:sp>
      <p:sp>
        <p:nvSpPr>
          <p:cNvPr id="34" name="Text 32"/>
          <p:cNvSpPr/>
          <p:nvPr/>
        </p:nvSpPr>
        <p:spPr>
          <a:xfrm>
            <a:off x="7406640" y="4224528"/>
            <a:ext cx="1280160" cy="29260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Strategy</a:t>
            </a:r>
            <a:endParaRPr lang="en-US" sz="900" dirty="0"/>
          </a:p>
        </p:txBody>
      </p:sp>
      <p:sp>
        <p:nvSpPr>
          <p:cNvPr id="35" name="Text 33"/>
          <p:cNvSpPr/>
          <p:nvPr/>
        </p:nvSpPr>
        <p:spPr>
          <a:xfrm>
            <a:off x="548640" y="4718304"/>
            <a:ext cx="1828800" cy="201168"/>
          </a:xfrm>
          <a:prstGeom prst="rect">
            <a:avLst/>
          </a:prstGeom>
          <a:noFill/>
          <a:ln/>
        </p:spPr>
        <p:txBody>
          <a:bodyPr wrap="square" lIns="0" tIns="0" rIns="0" bIns="0"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$1.3T</a:t>
            </a:r>
            <a:endParaRPr lang="en-US" sz="1400" dirty="0"/>
          </a:p>
        </p:txBody>
      </p:sp>
      <p:sp>
        <p:nvSpPr>
          <p:cNvPr id="36" name="Text 34"/>
          <p:cNvSpPr/>
          <p:nvPr/>
        </p:nvSpPr>
        <p:spPr>
          <a:xfrm>
            <a:off x="548640" y="4901184"/>
            <a:ext cx="1828800" cy="146304"/>
          </a:xfrm>
          <a:prstGeom prst="rect">
            <a:avLst/>
          </a:prstGeom>
          <a:noFill/>
          <a:ln/>
        </p:spPr>
        <p:txBody>
          <a:bodyPr wrap="square" lIns="0" tIns="0" rIns="0" bIns="0" rtlCol="0" anchor="ctr"/>
          <a:lstStyle/>
          <a:p>
            <a:pPr indent="0" marL="0">
              <a:buNone/>
            </a:pPr>
            <a:r>
              <a:rPr lang="en-US" sz="750" spc="100" kern="0" dirty="0">
                <a:solidFill>
                  <a:srgbClr val="8898AA"/>
                </a:solidFill>
                <a:latin typeface="Calibri" pitchFamily="34" charset="0"/>
                <a:ea typeface="Calibri" pitchFamily="34" charset="-122"/>
                <a:cs typeface="Calibri" pitchFamily="34" charset="-120"/>
              </a:rPr>
              <a:t>GenAI market 2032</a:t>
            </a:r>
            <a:endParaRPr lang="en-US" sz="750" dirty="0"/>
          </a:p>
        </p:txBody>
      </p:sp>
      <p:sp>
        <p:nvSpPr>
          <p:cNvPr id="37" name="Text 35"/>
          <p:cNvSpPr/>
          <p:nvPr/>
        </p:nvSpPr>
        <p:spPr>
          <a:xfrm>
            <a:off x="2468880" y="4718304"/>
            <a:ext cx="1828800" cy="201168"/>
          </a:xfrm>
          <a:prstGeom prst="rect">
            <a:avLst/>
          </a:prstGeom>
          <a:noFill/>
          <a:ln/>
        </p:spPr>
        <p:txBody>
          <a:bodyPr wrap="square" lIns="0" tIns="0" rIns="0" bIns="0"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100M</a:t>
            </a:r>
            <a:endParaRPr lang="en-US" sz="1400" dirty="0"/>
          </a:p>
        </p:txBody>
      </p:sp>
      <p:sp>
        <p:nvSpPr>
          <p:cNvPr id="38" name="Text 36"/>
          <p:cNvSpPr/>
          <p:nvPr/>
        </p:nvSpPr>
        <p:spPr>
          <a:xfrm>
            <a:off x="2468880" y="4901184"/>
            <a:ext cx="1828800" cy="146304"/>
          </a:xfrm>
          <a:prstGeom prst="rect">
            <a:avLst/>
          </a:prstGeom>
          <a:noFill/>
          <a:ln/>
        </p:spPr>
        <p:txBody>
          <a:bodyPr wrap="square" lIns="0" tIns="0" rIns="0" bIns="0" rtlCol="0" anchor="ctr"/>
          <a:lstStyle/>
          <a:p>
            <a:pPr indent="0" marL="0">
              <a:buNone/>
            </a:pPr>
            <a:r>
              <a:rPr lang="en-US" sz="750" spc="100" kern="0" dirty="0">
                <a:solidFill>
                  <a:srgbClr val="8898AA"/>
                </a:solidFill>
                <a:latin typeface="Calibri" pitchFamily="34" charset="0"/>
                <a:ea typeface="Calibri" pitchFamily="34" charset="-122"/>
                <a:cs typeface="Calibri" pitchFamily="34" charset="-120"/>
              </a:rPr>
              <a:t>Users in 60 days</a:t>
            </a:r>
            <a:endParaRPr lang="en-US" sz="750" dirty="0"/>
          </a:p>
        </p:txBody>
      </p:sp>
      <p:sp>
        <p:nvSpPr>
          <p:cNvPr id="39" name="Text 37"/>
          <p:cNvSpPr/>
          <p:nvPr/>
        </p:nvSpPr>
        <p:spPr>
          <a:xfrm>
            <a:off x="4389120" y="4718304"/>
            <a:ext cx="1828800" cy="201168"/>
          </a:xfrm>
          <a:prstGeom prst="rect">
            <a:avLst/>
          </a:prstGeom>
          <a:noFill/>
          <a:ln/>
        </p:spPr>
        <p:txBody>
          <a:bodyPr wrap="square" lIns="0" tIns="0" rIns="0" bIns="0"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400×</a:t>
            </a:r>
            <a:endParaRPr lang="en-US" sz="1400" dirty="0"/>
          </a:p>
        </p:txBody>
      </p:sp>
      <p:sp>
        <p:nvSpPr>
          <p:cNvPr id="40" name="Text 38"/>
          <p:cNvSpPr/>
          <p:nvPr/>
        </p:nvSpPr>
        <p:spPr>
          <a:xfrm>
            <a:off x="4389120" y="4901184"/>
            <a:ext cx="1828800" cy="146304"/>
          </a:xfrm>
          <a:prstGeom prst="rect">
            <a:avLst/>
          </a:prstGeom>
          <a:noFill/>
          <a:ln/>
        </p:spPr>
        <p:txBody>
          <a:bodyPr wrap="square" lIns="0" tIns="0" rIns="0" bIns="0" rtlCol="0" anchor="ctr"/>
          <a:lstStyle/>
          <a:p>
            <a:pPr indent="0" marL="0">
              <a:buNone/>
            </a:pPr>
            <a:r>
              <a:rPr lang="en-US" sz="750" spc="100" kern="0" dirty="0">
                <a:solidFill>
                  <a:srgbClr val="8898AA"/>
                </a:solidFill>
                <a:latin typeface="Calibri" pitchFamily="34" charset="0"/>
                <a:ea typeface="Calibri" pitchFamily="34" charset="-122"/>
                <a:cs typeface="Calibri" pitchFamily="34" charset="-120"/>
              </a:rPr>
              <a:t>Cost drop 18 mo</a:t>
            </a:r>
            <a:endParaRPr lang="en-US" sz="750" dirty="0"/>
          </a:p>
        </p:txBody>
      </p:sp>
      <p:sp>
        <p:nvSpPr>
          <p:cNvPr id="41" name="Text 39"/>
          <p:cNvSpPr/>
          <p:nvPr/>
        </p:nvSpPr>
        <p:spPr>
          <a:xfrm>
            <a:off x="6309360" y="4718304"/>
            <a:ext cx="1828800" cy="201168"/>
          </a:xfrm>
          <a:prstGeom prst="rect">
            <a:avLst/>
          </a:prstGeom>
          <a:noFill/>
          <a:ln/>
        </p:spPr>
        <p:txBody>
          <a:bodyPr wrap="square" lIns="0" tIns="0" rIns="0" bIns="0" rtlCol="0" anchor="ctr"/>
          <a:lstStyle/>
          <a:p>
            <a:pPr indent="0" marL="0">
              <a:buNone/>
            </a:pPr>
            <a:r>
              <a:rPr lang="en-US" sz="1400" b="1" dirty="0">
                <a:solidFill>
                  <a:srgbClr val="B8860B"/>
                </a:solidFill>
                <a:latin typeface="Calibri" pitchFamily="34" charset="0"/>
                <a:ea typeface="Calibri" pitchFamily="34" charset="-122"/>
                <a:cs typeface="Calibri" pitchFamily="34" charset="-120"/>
              </a:rPr>
              <a:t>40%</a:t>
            </a:r>
            <a:endParaRPr lang="en-US" sz="1400" dirty="0"/>
          </a:p>
        </p:txBody>
      </p:sp>
      <p:sp>
        <p:nvSpPr>
          <p:cNvPr id="42" name="Text 40"/>
          <p:cNvSpPr/>
          <p:nvPr/>
        </p:nvSpPr>
        <p:spPr>
          <a:xfrm>
            <a:off x="6309360" y="4901184"/>
            <a:ext cx="1828800" cy="146304"/>
          </a:xfrm>
          <a:prstGeom prst="rect">
            <a:avLst/>
          </a:prstGeom>
          <a:noFill/>
          <a:ln/>
        </p:spPr>
        <p:txBody>
          <a:bodyPr wrap="square" lIns="0" tIns="0" rIns="0" bIns="0" rtlCol="0" anchor="ctr"/>
          <a:lstStyle/>
          <a:p>
            <a:pPr indent="0" marL="0">
              <a:buNone/>
            </a:pPr>
            <a:r>
              <a:rPr lang="en-US" sz="750" spc="100" kern="0" dirty="0">
                <a:solidFill>
                  <a:srgbClr val="8898AA"/>
                </a:solidFill>
                <a:latin typeface="Calibri" pitchFamily="34" charset="0"/>
                <a:ea typeface="Calibri" pitchFamily="34" charset="-122"/>
                <a:cs typeface="Calibri" pitchFamily="34" charset="-120"/>
              </a:rPr>
              <a:t>Productivity gain</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457200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CONTENTS</a:t>
            </a:r>
            <a:endParaRPr lang="en-US" sz="900" dirty="0"/>
          </a:p>
        </p:txBody>
      </p:sp>
      <p:sp>
        <p:nvSpPr>
          <p:cNvPr id="5" name="Text 3"/>
          <p:cNvSpPr/>
          <p:nvPr/>
        </p:nvSpPr>
        <p:spPr>
          <a:xfrm>
            <a:off x="365760" y="329184"/>
            <a:ext cx="8412480" cy="31089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Six Chapters · 50 Slides · Designed for Leadership</a:t>
            </a:r>
            <a:endParaRPr lang="en-US" sz="1500" dirty="0"/>
          </a:p>
        </p:txBody>
      </p:sp>
      <p:sp>
        <p:nvSpPr>
          <p:cNvPr id="6" name="Shape 4"/>
          <p:cNvSpPr/>
          <p:nvPr/>
        </p:nvSpPr>
        <p:spPr>
          <a:xfrm>
            <a:off x="365760" y="914400"/>
            <a:ext cx="8412480" cy="566928"/>
          </a:xfrm>
          <a:prstGeom prst="rect">
            <a:avLst/>
          </a:prstGeom>
          <a:solidFill>
            <a:srgbClr val="FAFBFD"/>
          </a:solidFill>
          <a:ln/>
        </p:spPr>
      </p:sp>
      <p:sp>
        <p:nvSpPr>
          <p:cNvPr id="7" name="Shape 5"/>
          <p:cNvSpPr/>
          <p:nvPr/>
        </p:nvSpPr>
        <p:spPr>
          <a:xfrm>
            <a:off x="365760" y="914400"/>
            <a:ext cx="36576" cy="566928"/>
          </a:xfrm>
          <a:prstGeom prst="rect">
            <a:avLst/>
          </a:prstGeom>
          <a:solidFill>
            <a:srgbClr val="1E3A5F"/>
          </a:solidFill>
          <a:ln/>
        </p:spPr>
      </p:sp>
      <p:sp>
        <p:nvSpPr>
          <p:cNvPr id="8" name="Text 6"/>
          <p:cNvSpPr/>
          <p:nvPr/>
        </p:nvSpPr>
        <p:spPr>
          <a:xfrm>
            <a:off x="502920" y="1060704"/>
            <a:ext cx="640080" cy="310896"/>
          </a:xfrm>
          <a:prstGeom prst="rect">
            <a:avLst/>
          </a:prstGeom>
          <a:noFill/>
          <a:ln/>
        </p:spPr>
        <p:txBody>
          <a:bodyPr wrap="square" lIns="0" tIns="0" rIns="0" bIns="0" rtlCol="0" anchor="ctr"/>
          <a:lstStyle/>
          <a:p>
            <a:pPr indent="0" marL="0">
              <a:buNone/>
            </a:pPr>
            <a:r>
              <a:rPr lang="en-US" sz="2200" b="1" dirty="0">
                <a:solidFill>
                  <a:srgbClr val="1E3A5F"/>
                </a:solidFill>
                <a:latin typeface="Calibri" pitchFamily="34" charset="0"/>
                <a:ea typeface="Calibri" pitchFamily="34" charset="-122"/>
                <a:cs typeface="Calibri" pitchFamily="34" charset="-120"/>
              </a:rPr>
              <a:t>01</a:t>
            </a:r>
            <a:endParaRPr lang="en-US" sz="2200" dirty="0"/>
          </a:p>
        </p:txBody>
      </p:sp>
      <p:sp>
        <p:nvSpPr>
          <p:cNvPr id="9" name="Text 7"/>
          <p:cNvSpPr/>
          <p:nvPr/>
        </p:nvSpPr>
        <p:spPr>
          <a:xfrm>
            <a:off x="1207008" y="987552"/>
            <a:ext cx="502920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THE ORIGIN STORY</a:t>
            </a:r>
            <a:endParaRPr lang="en-US" sz="1200" dirty="0"/>
          </a:p>
        </p:txBody>
      </p:sp>
      <p:sp>
        <p:nvSpPr>
          <p:cNvPr id="10" name="Text 8"/>
          <p:cNvSpPr/>
          <p:nvPr/>
        </p:nvSpPr>
        <p:spPr>
          <a:xfrm>
            <a:off x="1207008" y="1243584"/>
            <a:ext cx="5029200" cy="219456"/>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ML, neural networks, deep learning, the Transformer, how GenAI emerged.</a:t>
            </a:r>
            <a:endParaRPr lang="en-US" sz="950" dirty="0"/>
          </a:p>
        </p:txBody>
      </p:sp>
      <p:sp>
        <p:nvSpPr>
          <p:cNvPr id="11" name="Text 9"/>
          <p:cNvSpPr/>
          <p:nvPr/>
        </p:nvSpPr>
        <p:spPr>
          <a:xfrm>
            <a:off x="6583680" y="1097280"/>
            <a:ext cx="2103120" cy="219456"/>
          </a:xfrm>
          <a:prstGeom prst="rect">
            <a:avLst/>
          </a:prstGeom>
          <a:noFill/>
          <a:ln/>
        </p:spPr>
        <p:txBody>
          <a:bodyPr wrap="square" lIns="0" tIns="0" rIns="0" bIns="0" rtlCol="0" anchor="ctr"/>
          <a:lstStyle/>
          <a:p>
            <a:pPr algn="r" indent="0" marL="0">
              <a:buNone/>
            </a:pPr>
            <a:r>
              <a:rPr lang="en-US" sz="900" b="1" dirty="0">
                <a:solidFill>
                  <a:srgbClr val="1E3A5F"/>
                </a:solidFill>
                <a:latin typeface="Calibri" pitchFamily="34" charset="0"/>
                <a:ea typeface="Calibri" pitchFamily="34" charset="-122"/>
                <a:cs typeface="Calibri" pitchFamily="34" charset="-120"/>
              </a:rPr>
              <a:t>Slides 3–13</a:t>
            </a:r>
            <a:endParaRPr lang="en-US" sz="900" dirty="0"/>
          </a:p>
        </p:txBody>
      </p:sp>
      <p:sp>
        <p:nvSpPr>
          <p:cNvPr id="12" name="Shape 10"/>
          <p:cNvSpPr/>
          <p:nvPr/>
        </p:nvSpPr>
        <p:spPr>
          <a:xfrm>
            <a:off x="365760" y="1572768"/>
            <a:ext cx="8412480" cy="566928"/>
          </a:xfrm>
          <a:prstGeom prst="rect">
            <a:avLst/>
          </a:prstGeom>
          <a:solidFill>
            <a:srgbClr val="FAFBFD"/>
          </a:solidFill>
          <a:ln/>
        </p:spPr>
      </p:sp>
      <p:sp>
        <p:nvSpPr>
          <p:cNvPr id="13" name="Shape 11"/>
          <p:cNvSpPr/>
          <p:nvPr/>
        </p:nvSpPr>
        <p:spPr>
          <a:xfrm>
            <a:off x="365760" y="1572768"/>
            <a:ext cx="36576" cy="566928"/>
          </a:xfrm>
          <a:prstGeom prst="rect">
            <a:avLst/>
          </a:prstGeom>
          <a:solidFill>
            <a:srgbClr val="2E5266"/>
          </a:solidFill>
          <a:ln/>
        </p:spPr>
      </p:sp>
      <p:sp>
        <p:nvSpPr>
          <p:cNvPr id="14" name="Text 12"/>
          <p:cNvSpPr/>
          <p:nvPr/>
        </p:nvSpPr>
        <p:spPr>
          <a:xfrm>
            <a:off x="502920" y="1719072"/>
            <a:ext cx="640080" cy="310896"/>
          </a:xfrm>
          <a:prstGeom prst="rect">
            <a:avLst/>
          </a:prstGeom>
          <a:noFill/>
          <a:ln/>
        </p:spPr>
        <p:txBody>
          <a:bodyPr wrap="square" lIns="0" tIns="0" rIns="0" bIns="0" rtlCol="0" anchor="ctr"/>
          <a:lstStyle/>
          <a:p>
            <a:pPr indent="0" marL="0">
              <a:buNone/>
            </a:pPr>
            <a:r>
              <a:rPr lang="en-US" sz="2200" b="1" dirty="0">
                <a:solidFill>
                  <a:srgbClr val="2E5266"/>
                </a:solidFill>
                <a:latin typeface="Calibri" pitchFamily="34" charset="0"/>
                <a:ea typeface="Calibri" pitchFamily="34" charset="-122"/>
                <a:cs typeface="Calibri" pitchFamily="34" charset="-120"/>
              </a:rPr>
              <a:t>02</a:t>
            </a:r>
            <a:endParaRPr lang="en-US" sz="2200" dirty="0"/>
          </a:p>
        </p:txBody>
      </p:sp>
      <p:sp>
        <p:nvSpPr>
          <p:cNvPr id="15" name="Text 13"/>
          <p:cNvSpPr/>
          <p:nvPr/>
        </p:nvSpPr>
        <p:spPr>
          <a:xfrm>
            <a:off x="1207008" y="1645920"/>
            <a:ext cx="502920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HOW IT WORKS</a:t>
            </a:r>
            <a:endParaRPr lang="en-US" sz="1200" dirty="0"/>
          </a:p>
        </p:txBody>
      </p:sp>
      <p:sp>
        <p:nvSpPr>
          <p:cNvPr id="16" name="Text 14"/>
          <p:cNvSpPr/>
          <p:nvPr/>
        </p:nvSpPr>
        <p:spPr>
          <a:xfrm>
            <a:off x="1207008" y="1901952"/>
            <a:ext cx="5029200" cy="219456"/>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Tokens, context, training, prompting, RAG — every mechanism with analogies.</a:t>
            </a:r>
            <a:endParaRPr lang="en-US" sz="950" dirty="0"/>
          </a:p>
        </p:txBody>
      </p:sp>
      <p:sp>
        <p:nvSpPr>
          <p:cNvPr id="17" name="Text 15"/>
          <p:cNvSpPr/>
          <p:nvPr/>
        </p:nvSpPr>
        <p:spPr>
          <a:xfrm>
            <a:off x="6583680" y="1755648"/>
            <a:ext cx="2103120" cy="219456"/>
          </a:xfrm>
          <a:prstGeom prst="rect">
            <a:avLst/>
          </a:prstGeom>
          <a:noFill/>
          <a:ln/>
        </p:spPr>
        <p:txBody>
          <a:bodyPr wrap="square" lIns="0" tIns="0" rIns="0" bIns="0" rtlCol="0" anchor="ctr"/>
          <a:lstStyle/>
          <a:p>
            <a:pPr algn="r" indent="0" marL="0">
              <a:buNone/>
            </a:pPr>
            <a:r>
              <a:rPr lang="en-US" sz="900" b="1" dirty="0">
                <a:solidFill>
                  <a:srgbClr val="2E5266"/>
                </a:solidFill>
                <a:latin typeface="Calibri" pitchFamily="34" charset="0"/>
                <a:ea typeface="Calibri" pitchFamily="34" charset="-122"/>
                <a:cs typeface="Calibri" pitchFamily="34" charset="-120"/>
              </a:rPr>
              <a:t>Slides 14–20</a:t>
            </a:r>
            <a:endParaRPr lang="en-US" sz="900" dirty="0"/>
          </a:p>
        </p:txBody>
      </p:sp>
      <p:sp>
        <p:nvSpPr>
          <p:cNvPr id="18" name="Shape 16"/>
          <p:cNvSpPr/>
          <p:nvPr/>
        </p:nvSpPr>
        <p:spPr>
          <a:xfrm>
            <a:off x="365760" y="2231136"/>
            <a:ext cx="8412480" cy="566928"/>
          </a:xfrm>
          <a:prstGeom prst="rect">
            <a:avLst/>
          </a:prstGeom>
          <a:solidFill>
            <a:srgbClr val="FAFBFD"/>
          </a:solidFill>
          <a:ln/>
        </p:spPr>
      </p:sp>
      <p:sp>
        <p:nvSpPr>
          <p:cNvPr id="19" name="Shape 17"/>
          <p:cNvSpPr/>
          <p:nvPr/>
        </p:nvSpPr>
        <p:spPr>
          <a:xfrm>
            <a:off x="365760" y="2231136"/>
            <a:ext cx="36576" cy="566928"/>
          </a:xfrm>
          <a:prstGeom prst="rect">
            <a:avLst/>
          </a:prstGeom>
          <a:solidFill>
            <a:srgbClr val="0F766E"/>
          </a:solidFill>
          <a:ln/>
        </p:spPr>
      </p:sp>
      <p:sp>
        <p:nvSpPr>
          <p:cNvPr id="20" name="Text 18"/>
          <p:cNvSpPr/>
          <p:nvPr/>
        </p:nvSpPr>
        <p:spPr>
          <a:xfrm>
            <a:off x="502920" y="2377440"/>
            <a:ext cx="640080" cy="310896"/>
          </a:xfrm>
          <a:prstGeom prst="rect">
            <a:avLst/>
          </a:prstGeom>
          <a:noFill/>
          <a:ln/>
        </p:spPr>
        <p:txBody>
          <a:bodyPr wrap="square" lIns="0" tIns="0" rIns="0" bIns="0" rtlCol="0" anchor="ctr"/>
          <a:lstStyle/>
          <a:p>
            <a:pPr indent="0" marL="0">
              <a:buNone/>
            </a:pPr>
            <a:r>
              <a:rPr lang="en-US" sz="2200" b="1" dirty="0">
                <a:solidFill>
                  <a:srgbClr val="0F766E"/>
                </a:solidFill>
                <a:latin typeface="Calibri" pitchFamily="34" charset="0"/>
                <a:ea typeface="Calibri" pitchFamily="34" charset="-122"/>
                <a:cs typeface="Calibri" pitchFamily="34" charset="-120"/>
              </a:rPr>
              <a:t>03</a:t>
            </a:r>
            <a:endParaRPr lang="en-US" sz="2200" dirty="0"/>
          </a:p>
        </p:txBody>
      </p:sp>
      <p:sp>
        <p:nvSpPr>
          <p:cNvPr id="21" name="Text 19"/>
          <p:cNvSpPr/>
          <p:nvPr/>
        </p:nvSpPr>
        <p:spPr>
          <a:xfrm>
            <a:off x="1207008" y="2304288"/>
            <a:ext cx="502920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GenAI IN DEPTH</a:t>
            </a:r>
            <a:endParaRPr lang="en-US" sz="1200" dirty="0"/>
          </a:p>
        </p:txBody>
      </p:sp>
      <p:sp>
        <p:nvSpPr>
          <p:cNvPr id="22" name="Text 20"/>
          <p:cNvSpPr/>
          <p:nvPr/>
        </p:nvSpPr>
        <p:spPr>
          <a:xfrm>
            <a:off x="1207008" y="2560320"/>
            <a:ext cx="5029200" cy="219456"/>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Model landscape, image generation, multimodal, reasoning models, hallucinations.</a:t>
            </a:r>
            <a:endParaRPr lang="en-US" sz="950" dirty="0"/>
          </a:p>
        </p:txBody>
      </p:sp>
      <p:sp>
        <p:nvSpPr>
          <p:cNvPr id="23" name="Text 21"/>
          <p:cNvSpPr/>
          <p:nvPr/>
        </p:nvSpPr>
        <p:spPr>
          <a:xfrm>
            <a:off x="6583680" y="2414016"/>
            <a:ext cx="2103120" cy="219456"/>
          </a:xfrm>
          <a:prstGeom prst="rect">
            <a:avLst/>
          </a:prstGeom>
          <a:noFill/>
          <a:ln/>
        </p:spPr>
        <p:txBody>
          <a:bodyPr wrap="square" lIns="0" tIns="0" rIns="0" bIns="0" rtlCol="0" anchor="ctr"/>
          <a:lstStyle/>
          <a:p>
            <a:pPr algn="r" indent="0" marL="0">
              <a:buNone/>
            </a:pPr>
            <a:r>
              <a:rPr lang="en-US" sz="900" b="1" dirty="0">
                <a:solidFill>
                  <a:srgbClr val="0F766E"/>
                </a:solidFill>
                <a:latin typeface="Calibri" pitchFamily="34" charset="0"/>
                <a:ea typeface="Calibri" pitchFamily="34" charset="-122"/>
                <a:cs typeface="Calibri" pitchFamily="34" charset="-120"/>
              </a:rPr>
              <a:t>Slides 21–27</a:t>
            </a:r>
            <a:endParaRPr lang="en-US" sz="900" dirty="0"/>
          </a:p>
        </p:txBody>
      </p:sp>
      <p:sp>
        <p:nvSpPr>
          <p:cNvPr id="24" name="Shape 22"/>
          <p:cNvSpPr/>
          <p:nvPr/>
        </p:nvSpPr>
        <p:spPr>
          <a:xfrm>
            <a:off x="365760" y="2889504"/>
            <a:ext cx="8412480" cy="566928"/>
          </a:xfrm>
          <a:prstGeom prst="rect">
            <a:avLst/>
          </a:prstGeom>
          <a:solidFill>
            <a:srgbClr val="FAFBFD"/>
          </a:solidFill>
          <a:ln/>
        </p:spPr>
      </p:sp>
      <p:sp>
        <p:nvSpPr>
          <p:cNvPr id="25" name="Shape 23"/>
          <p:cNvSpPr/>
          <p:nvPr/>
        </p:nvSpPr>
        <p:spPr>
          <a:xfrm>
            <a:off x="365760" y="2889504"/>
            <a:ext cx="36576" cy="566928"/>
          </a:xfrm>
          <a:prstGeom prst="rect">
            <a:avLst/>
          </a:prstGeom>
          <a:solidFill>
            <a:srgbClr val="47596B"/>
          </a:solidFill>
          <a:ln/>
        </p:spPr>
      </p:sp>
      <p:sp>
        <p:nvSpPr>
          <p:cNvPr id="26" name="Text 24"/>
          <p:cNvSpPr/>
          <p:nvPr/>
        </p:nvSpPr>
        <p:spPr>
          <a:xfrm>
            <a:off x="502920" y="3035808"/>
            <a:ext cx="640080" cy="310896"/>
          </a:xfrm>
          <a:prstGeom prst="rect">
            <a:avLst/>
          </a:prstGeom>
          <a:noFill/>
          <a:ln/>
        </p:spPr>
        <p:txBody>
          <a:bodyPr wrap="square" lIns="0" tIns="0" rIns="0" bIns="0" rtlCol="0" anchor="ctr"/>
          <a:lstStyle/>
          <a:p>
            <a:pPr indent="0" marL="0">
              <a:buNone/>
            </a:pPr>
            <a:r>
              <a:rPr lang="en-US" sz="2200" b="1" dirty="0">
                <a:solidFill>
                  <a:srgbClr val="47596B"/>
                </a:solidFill>
                <a:latin typeface="Calibri" pitchFamily="34" charset="0"/>
                <a:ea typeface="Calibri" pitchFamily="34" charset="-122"/>
                <a:cs typeface="Calibri" pitchFamily="34" charset="-120"/>
              </a:rPr>
              <a:t>04</a:t>
            </a:r>
            <a:endParaRPr lang="en-US" sz="2200" dirty="0"/>
          </a:p>
        </p:txBody>
      </p:sp>
      <p:sp>
        <p:nvSpPr>
          <p:cNvPr id="27" name="Text 25"/>
          <p:cNvSpPr/>
          <p:nvPr/>
        </p:nvSpPr>
        <p:spPr>
          <a:xfrm>
            <a:off x="1207008" y="2962656"/>
            <a:ext cx="502920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AGENTS &amp; AUTOMATION</a:t>
            </a:r>
            <a:endParaRPr lang="en-US" sz="1200" dirty="0"/>
          </a:p>
        </p:txBody>
      </p:sp>
      <p:sp>
        <p:nvSpPr>
          <p:cNvPr id="28" name="Text 26"/>
          <p:cNvSpPr/>
          <p:nvPr/>
        </p:nvSpPr>
        <p:spPr>
          <a:xfrm>
            <a:off x="1207008" y="3218688"/>
            <a:ext cx="5029200" cy="219456"/>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AI agents, agentic AI, worked example (SE), interaction spectrum, use cases.</a:t>
            </a:r>
            <a:endParaRPr lang="en-US" sz="950" dirty="0"/>
          </a:p>
        </p:txBody>
      </p:sp>
      <p:sp>
        <p:nvSpPr>
          <p:cNvPr id="29" name="Text 27"/>
          <p:cNvSpPr/>
          <p:nvPr/>
        </p:nvSpPr>
        <p:spPr>
          <a:xfrm>
            <a:off x="6583680" y="3072384"/>
            <a:ext cx="2103120" cy="219456"/>
          </a:xfrm>
          <a:prstGeom prst="rect">
            <a:avLst/>
          </a:prstGeom>
          <a:noFill/>
          <a:ln/>
        </p:spPr>
        <p:txBody>
          <a:bodyPr wrap="square" lIns="0" tIns="0" rIns="0" bIns="0" rtlCol="0" anchor="ctr"/>
          <a:lstStyle/>
          <a:p>
            <a:pPr algn="r" indent="0" marL="0">
              <a:buNone/>
            </a:pPr>
            <a:r>
              <a:rPr lang="en-US" sz="900" b="1" dirty="0">
                <a:solidFill>
                  <a:srgbClr val="47596B"/>
                </a:solidFill>
                <a:latin typeface="Calibri" pitchFamily="34" charset="0"/>
                <a:ea typeface="Calibri" pitchFamily="34" charset="-122"/>
                <a:cs typeface="Calibri" pitchFamily="34" charset="-120"/>
              </a:rPr>
              <a:t>Slides 28–35</a:t>
            </a:r>
            <a:endParaRPr lang="en-US" sz="900" dirty="0"/>
          </a:p>
        </p:txBody>
      </p:sp>
      <p:sp>
        <p:nvSpPr>
          <p:cNvPr id="30" name="Shape 28"/>
          <p:cNvSpPr/>
          <p:nvPr/>
        </p:nvSpPr>
        <p:spPr>
          <a:xfrm>
            <a:off x="365760" y="3547872"/>
            <a:ext cx="8412480" cy="566928"/>
          </a:xfrm>
          <a:prstGeom prst="rect">
            <a:avLst/>
          </a:prstGeom>
          <a:solidFill>
            <a:srgbClr val="FAFBFD"/>
          </a:solidFill>
          <a:ln/>
        </p:spPr>
      </p:sp>
      <p:sp>
        <p:nvSpPr>
          <p:cNvPr id="31" name="Shape 29"/>
          <p:cNvSpPr/>
          <p:nvPr/>
        </p:nvSpPr>
        <p:spPr>
          <a:xfrm>
            <a:off x="365760" y="3547872"/>
            <a:ext cx="36576" cy="566928"/>
          </a:xfrm>
          <a:prstGeom prst="rect">
            <a:avLst/>
          </a:prstGeom>
          <a:solidFill>
            <a:srgbClr val="9A3324"/>
          </a:solidFill>
          <a:ln/>
        </p:spPr>
      </p:sp>
      <p:sp>
        <p:nvSpPr>
          <p:cNvPr id="32" name="Text 30"/>
          <p:cNvSpPr/>
          <p:nvPr/>
        </p:nvSpPr>
        <p:spPr>
          <a:xfrm>
            <a:off x="502920" y="3694176"/>
            <a:ext cx="640080" cy="310896"/>
          </a:xfrm>
          <a:prstGeom prst="rect">
            <a:avLst/>
          </a:prstGeom>
          <a:noFill/>
          <a:ln/>
        </p:spPr>
        <p:txBody>
          <a:bodyPr wrap="square" lIns="0" tIns="0" rIns="0" bIns="0" rtlCol="0" anchor="ctr"/>
          <a:lstStyle/>
          <a:p>
            <a:pPr indent="0" marL="0">
              <a:buNone/>
            </a:pPr>
            <a:r>
              <a:rPr lang="en-US" sz="2200" b="1" dirty="0">
                <a:solidFill>
                  <a:srgbClr val="9A3324"/>
                </a:solidFill>
                <a:latin typeface="Calibri" pitchFamily="34" charset="0"/>
                <a:ea typeface="Calibri" pitchFamily="34" charset="-122"/>
                <a:cs typeface="Calibri" pitchFamily="34" charset="-120"/>
              </a:rPr>
              <a:t>05</a:t>
            </a:r>
            <a:endParaRPr lang="en-US" sz="2200" dirty="0"/>
          </a:p>
        </p:txBody>
      </p:sp>
      <p:sp>
        <p:nvSpPr>
          <p:cNvPr id="33" name="Text 31"/>
          <p:cNvSpPr/>
          <p:nvPr/>
        </p:nvSpPr>
        <p:spPr>
          <a:xfrm>
            <a:off x="1207008" y="3621024"/>
            <a:ext cx="502920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RISKS &amp; GOVERNANCE</a:t>
            </a:r>
            <a:endParaRPr lang="en-US" sz="1200" dirty="0"/>
          </a:p>
        </p:txBody>
      </p:sp>
      <p:sp>
        <p:nvSpPr>
          <p:cNvPr id="34" name="Text 32"/>
          <p:cNvSpPr/>
          <p:nvPr/>
        </p:nvSpPr>
        <p:spPr>
          <a:xfrm>
            <a:off x="1207008" y="3877056"/>
            <a:ext cx="5029200" cy="219456"/>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4 risk categories, Shadow AI, EU AI Act, 3 leadership mistakes.</a:t>
            </a:r>
            <a:endParaRPr lang="en-US" sz="950" dirty="0"/>
          </a:p>
        </p:txBody>
      </p:sp>
      <p:sp>
        <p:nvSpPr>
          <p:cNvPr id="35" name="Text 33"/>
          <p:cNvSpPr/>
          <p:nvPr/>
        </p:nvSpPr>
        <p:spPr>
          <a:xfrm>
            <a:off x="6583680" y="3730752"/>
            <a:ext cx="2103120" cy="219456"/>
          </a:xfrm>
          <a:prstGeom prst="rect">
            <a:avLst/>
          </a:prstGeom>
          <a:noFill/>
          <a:ln/>
        </p:spPr>
        <p:txBody>
          <a:bodyPr wrap="square" lIns="0" tIns="0" rIns="0" bIns="0" rtlCol="0" anchor="ctr"/>
          <a:lstStyle/>
          <a:p>
            <a:pPr algn="r" indent="0" marL="0">
              <a:buNone/>
            </a:pPr>
            <a:r>
              <a:rPr lang="en-US" sz="900" b="1" dirty="0">
                <a:solidFill>
                  <a:srgbClr val="9A3324"/>
                </a:solidFill>
                <a:latin typeface="Calibri" pitchFamily="34" charset="0"/>
                <a:ea typeface="Calibri" pitchFamily="34" charset="-122"/>
                <a:cs typeface="Calibri" pitchFamily="34" charset="-120"/>
              </a:rPr>
              <a:t>Slides 36–39</a:t>
            </a:r>
            <a:endParaRPr lang="en-US" sz="900" dirty="0"/>
          </a:p>
        </p:txBody>
      </p:sp>
      <p:sp>
        <p:nvSpPr>
          <p:cNvPr id="36" name="Shape 34"/>
          <p:cNvSpPr/>
          <p:nvPr/>
        </p:nvSpPr>
        <p:spPr>
          <a:xfrm>
            <a:off x="365760" y="4206240"/>
            <a:ext cx="8412480" cy="566928"/>
          </a:xfrm>
          <a:prstGeom prst="rect">
            <a:avLst/>
          </a:prstGeom>
          <a:solidFill>
            <a:srgbClr val="FAFBFD"/>
          </a:solidFill>
          <a:ln/>
        </p:spPr>
      </p:sp>
      <p:sp>
        <p:nvSpPr>
          <p:cNvPr id="37" name="Shape 35"/>
          <p:cNvSpPr/>
          <p:nvPr/>
        </p:nvSpPr>
        <p:spPr>
          <a:xfrm>
            <a:off x="365760" y="4206240"/>
            <a:ext cx="36576" cy="566928"/>
          </a:xfrm>
          <a:prstGeom prst="rect">
            <a:avLst/>
          </a:prstGeom>
          <a:solidFill>
            <a:srgbClr val="B8860B"/>
          </a:solidFill>
          <a:ln/>
        </p:spPr>
      </p:sp>
      <p:sp>
        <p:nvSpPr>
          <p:cNvPr id="38" name="Text 36"/>
          <p:cNvSpPr/>
          <p:nvPr/>
        </p:nvSpPr>
        <p:spPr>
          <a:xfrm>
            <a:off x="502920" y="4352544"/>
            <a:ext cx="640080" cy="310896"/>
          </a:xfrm>
          <a:prstGeom prst="rect">
            <a:avLst/>
          </a:prstGeom>
          <a:noFill/>
          <a:ln/>
        </p:spPr>
        <p:txBody>
          <a:bodyPr wrap="square" lIns="0" tIns="0" rIns="0" bIns="0" rtlCol="0" anchor="ctr"/>
          <a:lstStyle/>
          <a:p>
            <a:pPr indent="0" marL="0">
              <a:buNone/>
            </a:pPr>
            <a:r>
              <a:rPr lang="en-US" sz="2200" b="1" dirty="0">
                <a:solidFill>
                  <a:srgbClr val="B8860B"/>
                </a:solidFill>
                <a:latin typeface="Calibri" pitchFamily="34" charset="0"/>
                <a:ea typeface="Calibri" pitchFamily="34" charset="-122"/>
                <a:cs typeface="Calibri" pitchFamily="34" charset="-120"/>
              </a:rPr>
              <a:t>06</a:t>
            </a:r>
            <a:endParaRPr lang="en-US" sz="2200" dirty="0"/>
          </a:p>
        </p:txBody>
      </p:sp>
      <p:sp>
        <p:nvSpPr>
          <p:cNvPr id="39" name="Text 37"/>
          <p:cNvSpPr/>
          <p:nvPr/>
        </p:nvSpPr>
        <p:spPr>
          <a:xfrm>
            <a:off x="1207008" y="4279392"/>
            <a:ext cx="502920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YOUR AI STRATEGY</a:t>
            </a:r>
            <a:endParaRPr lang="en-US" sz="1200" dirty="0"/>
          </a:p>
        </p:txBody>
      </p:sp>
      <p:sp>
        <p:nvSpPr>
          <p:cNvPr id="40" name="Text 38"/>
          <p:cNvSpPr/>
          <p:nvPr/>
        </p:nvSpPr>
        <p:spPr>
          <a:xfrm>
            <a:off x="1207008" y="4535424"/>
            <a:ext cx="5029200" cy="219456"/>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Maturity, prompt quality, anti-patterns, ROI framework, economics, 90-day plan.</a:t>
            </a:r>
            <a:endParaRPr lang="en-US" sz="950" dirty="0"/>
          </a:p>
        </p:txBody>
      </p:sp>
      <p:sp>
        <p:nvSpPr>
          <p:cNvPr id="41" name="Text 39"/>
          <p:cNvSpPr/>
          <p:nvPr/>
        </p:nvSpPr>
        <p:spPr>
          <a:xfrm>
            <a:off x="6583680" y="4389120"/>
            <a:ext cx="2103120" cy="219456"/>
          </a:xfrm>
          <a:prstGeom prst="rect">
            <a:avLst/>
          </a:prstGeom>
          <a:noFill/>
          <a:ln/>
        </p:spPr>
        <p:txBody>
          <a:bodyPr wrap="square" lIns="0" tIns="0" rIns="0" bIns="0" rtlCol="0" anchor="ctr"/>
          <a:lstStyle/>
          <a:p>
            <a:pPr algn="r" indent="0" marL="0">
              <a:buNone/>
            </a:pPr>
            <a:r>
              <a:rPr lang="en-US" sz="900" b="1" dirty="0">
                <a:solidFill>
                  <a:srgbClr val="B8860B"/>
                </a:solidFill>
                <a:latin typeface="Calibri" pitchFamily="34" charset="0"/>
                <a:ea typeface="Calibri" pitchFamily="34" charset="-122"/>
                <a:cs typeface="Calibri" pitchFamily="34" charset="-120"/>
              </a:rPr>
              <a:t>Slides 40–48</a:t>
            </a:r>
            <a:endParaRPr lang="en-US" sz="900" dirty="0"/>
          </a:p>
        </p:txBody>
      </p:sp>
      <p:sp>
        <p:nvSpPr>
          <p:cNvPr id="42" name="Shape 40"/>
          <p:cNvSpPr/>
          <p:nvPr/>
        </p:nvSpPr>
        <p:spPr>
          <a:xfrm>
            <a:off x="365760" y="4718304"/>
            <a:ext cx="8412480" cy="310896"/>
          </a:xfrm>
          <a:prstGeom prst="rect">
            <a:avLst/>
          </a:prstGeom>
          <a:solidFill>
            <a:srgbClr val="F4E4BC"/>
          </a:solidFill>
          <a:ln/>
        </p:spPr>
      </p:sp>
      <p:sp>
        <p:nvSpPr>
          <p:cNvPr id="43" name="Text 41"/>
          <p:cNvSpPr/>
          <p:nvPr/>
        </p:nvSpPr>
        <p:spPr>
          <a:xfrm>
            <a:off x="457200" y="4745736"/>
            <a:ext cx="1371600" cy="128016"/>
          </a:xfrm>
          <a:prstGeom prst="rect">
            <a:avLst/>
          </a:prstGeom>
          <a:noFill/>
          <a:ln/>
        </p:spPr>
        <p:txBody>
          <a:bodyPr wrap="square" lIns="0" tIns="0" rIns="0" bIns="0" rtlCol="0" anchor="ctr"/>
          <a:lstStyle/>
          <a:p>
            <a:pPr indent="0" marL="0">
              <a:buNone/>
            </a:pPr>
            <a:r>
              <a:rPr lang="en-US" sz="700" b="1" spc="150" kern="0" dirty="0">
                <a:solidFill>
                  <a:srgbClr val="B8860B"/>
                </a:solidFill>
                <a:latin typeface="Calibri" pitchFamily="34" charset="0"/>
                <a:ea typeface="Calibri" pitchFamily="34" charset="-122"/>
                <a:cs typeface="Calibri" pitchFamily="34" charset="-120"/>
              </a:rPr>
              <a:t>READING KEY</a:t>
            </a:r>
            <a:endParaRPr lang="en-US" sz="700" dirty="0"/>
          </a:p>
        </p:txBody>
      </p:sp>
      <p:sp>
        <p:nvSpPr>
          <p:cNvPr id="44" name="Text 42"/>
          <p:cNvSpPr/>
          <p:nvPr/>
        </p:nvSpPr>
        <p:spPr>
          <a:xfrm>
            <a:off x="457200" y="4855464"/>
            <a:ext cx="8229600" cy="164592"/>
          </a:xfrm>
          <a:prstGeom prst="rect">
            <a:avLst/>
          </a:prstGeom>
          <a:noFill/>
          <a:ln/>
        </p:spPr>
        <p:txBody>
          <a:bodyPr wrap="square" lIns="0" tIns="0" rIns="0" bIns="0" rtlCol="0" anchor="ctr"/>
          <a:lstStyle/>
          <a:p>
            <a:pPr indent="0" marL="0">
              <a:buNone/>
            </a:pPr>
            <a:r>
              <a:rPr lang="en-US" sz="900" dirty="0">
                <a:solidFill>
                  <a:srgbClr val="0A2540"/>
                </a:solidFill>
                <a:latin typeface="Calibri" pitchFamily="34" charset="0"/>
                <a:ea typeface="Calibri" pitchFamily="34" charset="-122"/>
                <a:cs typeface="Calibri" pitchFamily="34" charset="-120"/>
              </a:rPr>
              <a:t>Every slide includes:  ANALOGY (plain English first)  ·  EXAMPLES (real cases)  ·  FOR LEADERS (the business implication)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E3A5F"/>
          </a:solidFill>
          <a:ln/>
        </p:spPr>
      </p:sp>
      <p:sp>
        <p:nvSpPr>
          <p:cNvPr id="3" name="Shape 1"/>
          <p:cNvSpPr/>
          <p:nvPr/>
        </p:nvSpPr>
        <p:spPr>
          <a:xfrm>
            <a:off x="0" y="5084064"/>
            <a:ext cx="9144000" cy="54864"/>
          </a:xfrm>
          <a:prstGeom prst="rect">
            <a:avLst/>
          </a:prstGeom>
          <a:solidFill>
            <a:srgbClr val="B8860B"/>
          </a:solidFill>
          <a:ln/>
        </p:spPr>
      </p:sp>
      <p:sp>
        <p:nvSpPr>
          <p:cNvPr id="4" name="Text 2"/>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28000" b="1" dirty="0">
                <a:solidFill>
                  <a:srgbClr val="1E3A5F"/>
                </a:solidFill>
                <a:latin typeface="Calibri" pitchFamily="34" charset="0"/>
                <a:ea typeface="Calibri" pitchFamily="34" charset="-122"/>
                <a:cs typeface="Calibri" pitchFamily="34" charset="-120"/>
              </a:rPr>
              <a:t>01</a:t>
            </a:r>
            <a:endParaRPr lang="en-US" sz="28000" dirty="0"/>
          </a:p>
        </p:txBody>
      </p:sp>
      <p:sp>
        <p:nvSpPr>
          <p:cNvPr id="5" name="Text 3"/>
          <p:cNvSpPr/>
          <p:nvPr/>
        </p:nvSpPr>
        <p:spPr>
          <a:xfrm>
            <a:off x="457200" y="1097280"/>
            <a:ext cx="4572000" cy="329184"/>
          </a:xfrm>
          <a:prstGeom prst="rect">
            <a:avLst/>
          </a:prstGeom>
          <a:noFill/>
          <a:ln/>
        </p:spPr>
        <p:txBody>
          <a:bodyPr wrap="square" lIns="0" tIns="0" rIns="0" bIns="0" rtlCol="0" anchor="ctr"/>
          <a:lstStyle/>
          <a:p>
            <a:pPr indent="0" marL="0">
              <a:buNone/>
            </a:pPr>
            <a:r>
              <a:rPr lang="en-US" sz="1000" b="1" spc="400" kern="0" dirty="0">
                <a:solidFill>
                  <a:srgbClr val="B8860B"/>
                </a:solidFill>
                <a:latin typeface="Calibri" pitchFamily="34" charset="0"/>
                <a:ea typeface="Calibri" pitchFamily="34" charset="-122"/>
                <a:cs typeface="Calibri" pitchFamily="34" charset="-120"/>
              </a:rPr>
              <a:t>CHAPTER 01</a:t>
            </a:r>
            <a:endParaRPr lang="en-US" sz="1000" dirty="0"/>
          </a:p>
        </p:txBody>
      </p:sp>
      <p:sp>
        <p:nvSpPr>
          <p:cNvPr id="6" name="Text 4"/>
          <p:cNvSpPr/>
          <p:nvPr/>
        </p:nvSpPr>
        <p:spPr>
          <a:xfrm>
            <a:off x="457200" y="1463040"/>
            <a:ext cx="457200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The Origin Story</a:t>
            </a:r>
            <a:endParaRPr lang="en-US" sz="4000" dirty="0"/>
          </a:p>
        </p:txBody>
      </p:sp>
      <p:sp>
        <p:nvSpPr>
          <p:cNvPr id="7" name="Shape 5"/>
          <p:cNvSpPr/>
          <p:nvPr/>
        </p:nvSpPr>
        <p:spPr>
          <a:xfrm>
            <a:off x="457200" y="2834640"/>
            <a:ext cx="1097280" cy="36576"/>
          </a:xfrm>
          <a:prstGeom prst="rect">
            <a:avLst/>
          </a:prstGeom>
          <a:solidFill>
            <a:srgbClr val="B8860B"/>
          </a:solidFill>
          <a:ln/>
        </p:spPr>
      </p:sp>
      <p:sp>
        <p:nvSpPr>
          <p:cNvPr id="8" name="Text 6"/>
          <p:cNvSpPr/>
          <p:nvPr/>
        </p:nvSpPr>
        <p:spPr>
          <a:xfrm>
            <a:off x="457200" y="2962656"/>
            <a:ext cx="4572000" cy="548640"/>
          </a:xfrm>
          <a:prstGeom prst="rect">
            <a:avLst/>
          </a:prstGeom>
          <a:noFill/>
          <a:ln/>
        </p:spPr>
        <p:txBody>
          <a:bodyPr wrap="square" lIns="0" tIns="0" rIns="0" bIns="0" rtlCol="0" anchor="ctr"/>
          <a:lstStyle/>
          <a:p>
            <a:pPr indent="0" marL="0">
              <a:buNone/>
            </a:pPr>
            <a:r>
              <a:rPr lang="en-US" sz="1150" i="1" dirty="0">
                <a:solidFill>
                  <a:srgbClr val="EDF1F7"/>
                </a:solidFill>
                <a:latin typeface="Calibri" pitchFamily="34" charset="0"/>
                <a:ea typeface="Calibri" pitchFamily="34" charset="-122"/>
                <a:cs typeface="Calibri" pitchFamily="34" charset="-120"/>
              </a:rPr>
              <a:t>How 70 years of AI research converged into the most powerful technology of our generation.</a:t>
            </a:r>
            <a:endParaRPr lang="en-US" sz="1150" dirty="0"/>
          </a:p>
        </p:txBody>
      </p:sp>
      <p:sp>
        <p:nvSpPr>
          <p:cNvPr id="9" name="Text 7"/>
          <p:cNvSpPr/>
          <p:nvPr/>
        </p:nvSpPr>
        <p:spPr>
          <a:xfrm>
            <a:off x="457200" y="3657600"/>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From rule-based systems to machine learning</a:t>
            </a:r>
            <a:endParaRPr lang="en-US" sz="950" dirty="0"/>
          </a:p>
        </p:txBody>
      </p:sp>
      <p:sp>
        <p:nvSpPr>
          <p:cNvPr id="10" name="Text 8"/>
          <p:cNvSpPr/>
          <p:nvPr/>
        </p:nvSpPr>
        <p:spPr>
          <a:xfrm>
            <a:off x="457200" y="3895344"/>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The deep learning breakthrough (2012)</a:t>
            </a:r>
            <a:endParaRPr lang="en-US" sz="950" dirty="0"/>
          </a:p>
        </p:txBody>
      </p:sp>
      <p:sp>
        <p:nvSpPr>
          <p:cNvPr id="11" name="Text 9"/>
          <p:cNvSpPr/>
          <p:nvPr/>
        </p:nvSpPr>
        <p:spPr>
          <a:xfrm>
            <a:off x="457200" y="4133088"/>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The Transformer — the Big Bang of modern AI (2017)</a:t>
            </a:r>
            <a:endParaRPr lang="en-US" sz="950" dirty="0"/>
          </a:p>
        </p:txBody>
      </p:sp>
      <p:sp>
        <p:nvSpPr>
          <p:cNvPr id="12" name="Text 10"/>
          <p:cNvSpPr/>
          <p:nvPr/>
        </p:nvSpPr>
        <p:spPr>
          <a:xfrm>
            <a:off x="457200" y="4370832"/>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How Generative AI emerged from all of this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EVOLUTION OF AI — 70 YEARS IN SIX STEPS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Teaching a Child vs Programming a Robot</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Programming a robot: write a rule for every situation — exhausting, brittle. Teaching a child: show thousands of examples until they figure out the patterns themselves. AI evolved the same way — from rules, to learning, to creating.</a:t>
            </a:r>
            <a:endParaRPr lang="en-US" sz="1000" dirty="0"/>
          </a:p>
        </p:txBody>
      </p:sp>
      <p:sp>
        <p:nvSpPr>
          <p:cNvPr id="11" name="Shape 9"/>
          <p:cNvSpPr/>
          <p:nvPr/>
        </p:nvSpPr>
        <p:spPr>
          <a:xfrm>
            <a:off x="365760" y="1865376"/>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65376"/>
            <a:ext cx="36576" cy="1207008"/>
          </a:xfrm>
          <a:prstGeom prst="rect">
            <a:avLst/>
          </a:prstGeom>
          <a:solidFill>
            <a:srgbClr val="1E3A5F"/>
          </a:solidFill>
          <a:ln/>
        </p:spPr>
      </p:sp>
      <p:sp>
        <p:nvSpPr>
          <p:cNvPr id="13" name="Text 11"/>
          <p:cNvSpPr/>
          <p:nvPr/>
        </p:nvSpPr>
        <p:spPr>
          <a:xfrm>
            <a:off x="475488" y="1938528"/>
            <a:ext cx="2468880" cy="182880"/>
          </a:xfrm>
          <a:prstGeom prst="rect">
            <a:avLst/>
          </a:prstGeom>
          <a:noFill/>
          <a:ln/>
        </p:spPr>
        <p:txBody>
          <a:bodyPr wrap="square" lIns="0" tIns="0" rIns="0" bIns="0" rtlCol="0" anchor="ctr"/>
          <a:lstStyle/>
          <a:p>
            <a:pPr indent="0" marL="0">
              <a:buNone/>
            </a:pPr>
            <a:r>
              <a:rPr lang="en-US" sz="800" b="1" spc="150" kern="0" dirty="0">
                <a:solidFill>
                  <a:srgbClr val="B8860B"/>
                </a:solidFill>
                <a:latin typeface="Calibri" pitchFamily="34" charset="0"/>
                <a:ea typeface="Calibri" pitchFamily="34" charset="-122"/>
                <a:cs typeface="Calibri" pitchFamily="34" charset="-120"/>
              </a:rPr>
              <a:t>1950s–80s</a:t>
            </a:r>
            <a:endParaRPr lang="en-US" sz="800" dirty="0"/>
          </a:p>
        </p:txBody>
      </p:sp>
      <p:sp>
        <p:nvSpPr>
          <p:cNvPr id="14" name="Text 12"/>
          <p:cNvSpPr/>
          <p:nvPr/>
        </p:nvSpPr>
        <p:spPr>
          <a:xfrm>
            <a:off x="475488" y="2121408"/>
            <a:ext cx="246888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Rule-Based AI</a:t>
            </a:r>
            <a:endParaRPr lang="en-US" sz="1200" dirty="0"/>
          </a:p>
        </p:txBody>
      </p:sp>
      <p:sp>
        <p:nvSpPr>
          <p:cNvPr id="15" name="Text 13"/>
          <p:cNvSpPr/>
          <p:nvPr/>
        </p:nvSpPr>
        <p:spPr>
          <a:xfrm>
            <a:off x="475488" y="2395728"/>
            <a:ext cx="2468880" cy="43891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Humans write every rule. Works in narrow domains, fails on anything new.</a:t>
            </a:r>
            <a:endParaRPr lang="en-US" sz="850" dirty="0"/>
          </a:p>
        </p:txBody>
      </p:sp>
      <p:sp>
        <p:nvSpPr>
          <p:cNvPr id="16" name="Shape 14"/>
          <p:cNvSpPr/>
          <p:nvPr/>
        </p:nvSpPr>
        <p:spPr>
          <a:xfrm>
            <a:off x="475488" y="2834640"/>
            <a:ext cx="2468880" cy="18288"/>
          </a:xfrm>
          <a:prstGeom prst="rect">
            <a:avLst/>
          </a:prstGeom>
          <a:solidFill>
            <a:srgbClr val="D8DEE9"/>
          </a:solidFill>
          <a:ln/>
        </p:spPr>
      </p:sp>
      <p:sp>
        <p:nvSpPr>
          <p:cNvPr id="17" name="Text 15"/>
          <p:cNvSpPr/>
          <p:nvPr/>
        </p:nvSpPr>
        <p:spPr>
          <a:xfrm>
            <a:off x="475488" y="2871216"/>
            <a:ext cx="2468880" cy="164592"/>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IBM expert systems, early chess engines</a:t>
            </a:r>
            <a:endParaRPr lang="en-US" sz="750" dirty="0"/>
          </a:p>
        </p:txBody>
      </p:sp>
      <p:sp>
        <p:nvSpPr>
          <p:cNvPr id="18" name="Shape 16"/>
          <p:cNvSpPr/>
          <p:nvPr/>
        </p:nvSpPr>
        <p:spPr>
          <a:xfrm>
            <a:off x="3172968" y="1865376"/>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9" name="Shape 17"/>
          <p:cNvSpPr/>
          <p:nvPr/>
        </p:nvSpPr>
        <p:spPr>
          <a:xfrm>
            <a:off x="3172968" y="1865376"/>
            <a:ext cx="36576" cy="1207008"/>
          </a:xfrm>
          <a:prstGeom prst="rect">
            <a:avLst/>
          </a:prstGeom>
          <a:solidFill>
            <a:srgbClr val="1E3A5F"/>
          </a:solidFill>
          <a:ln/>
        </p:spPr>
      </p:sp>
      <p:sp>
        <p:nvSpPr>
          <p:cNvPr id="20" name="Text 18"/>
          <p:cNvSpPr/>
          <p:nvPr/>
        </p:nvSpPr>
        <p:spPr>
          <a:xfrm>
            <a:off x="3282696" y="1938528"/>
            <a:ext cx="2468880" cy="182880"/>
          </a:xfrm>
          <a:prstGeom prst="rect">
            <a:avLst/>
          </a:prstGeom>
          <a:noFill/>
          <a:ln/>
        </p:spPr>
        <p:txBody>
          <a:bodyPr wrap="square" lIns="0" tIns="0" rIns="0" bIns="0" rtlCol="0" anchor="ctr"/>
          <a:lstStyle/>
          <a:p>
            <a:pPr indent="0" marL="0">
              <a:buNone/>
            </a:pPr>
            <a:r>
              <a:rPr lang="en-US" sz="800" b="1" spc="150" kern="0" dirty="0">
                <a:solidFill>
                  <a:srgbClr val="B8860B"/>
                </a:solidFill>
                <a:latin typeface="Calibri" pitchFamily="34" charset="0"/>
                <a:ea typeface="Calibri" pitchFamily="34" charset="-122"/>
                <a:cs typeface="Calibri" pitchFamily="34" charset="-120"/>
              </a:rPr>
              <a:t>1980s–90s</a:t>
            </a:r>
            <a:endParaRPr lang="en-US" sz="800" dirty="0"/>
          </a:p>
        </p:txBody>
      </p:sp>
      <p:sp>
        <p:nvSpPr>
          <p:cNvPr id="21" name="Text 19"/>
          <p:cNvSpPr/>
          <p:nvPr/>
        </p:nvSpPr>
        <p:spPr>
          <a:xfrm>
            <a:off x="3282696" y="2121408"/>
            <a:ext cx="246888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Expert Systems</a:t>
            </a:r>
            <a:endParaRPr lang="en-US" sz="1200" dirty="0"/>
          </a:p>
        </p:txBody>
      </p:sp>
      <p:sp>
        <p:nvSpPr>
          <p:cNvPr id="22" name="Text 20"/>
          <p:cNvSpPr/>
          <p:nvPr/>
        </p:nvSpPr>
        <p:spPr>
          <a:xfrm>
            <a:off x="3282696" y="2395728"/>
            <a:ext cx="2468880" cy="43891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Massive rule databases. IBM Deep Blue beat Kasparov 1997. Still rigid.</a:t>
            </a:r>
            <a:endParaRPr lang="en-US" sz="850" dirty="0"/>
          </a:p>
        </p:txBody>
      </p:sp>
      <p:sp>
        <p:nvSpPr>
          <p:cNvPr id="23" name="Shape 21"/>
          <p:cNvSpPr/>
          <p:nvPr/>
        </p:nvSpPr>
        <p:spPr>
          <a:xfrm>
            <a:off x="3282696" y="2834640"/>
            <a:ext cx="2468880" cy="18288"/>
          </a:xfrm>
          <a:prstGeom prst="rect">
            <a:avLst/>
          </a:prstGeom>
          <a:solidFill>
            <a:srgbClr val="D8DEE9"/>
          </a:solidFill>
          <a:ln/>
        </p:spPr>
      </p:sp>
      <p:sp>
        <p:nvSpPr>
          <p:cNvPr id="24" name="Text 22"/>
          <p:cNvSpPr/>
          <p:nvPr/>
        </p:nvSpPr>
        <p:spPr>
          <a:xfrm>
            <a:off x="3282696" y="2871216"/>
            <a:ext cx="2468880" cy="164592"/>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Medical diagnosis rule trees, tax calculators</a:t>
            </a:r>
            <a:endParaRPr lang="en-US" sz="750" dirty="0"/>
          </a:p>
        </p:txBody>
      </p:sp>
      <p:sp>
        <p:nvSpPr>
          <p:cNvPr id="25" name="Shape 23"/>
          <p:cNvSpPr/>
          <p:nvPr/>
        </p:nvSpPr>
        <p:spPr>
          <a:xfrm>
            <a:off x="5980176" y="1865376"/>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6" name="Shape 24"/>
          <p:cNvSpPr/>
          <p:nvPr/>
        </p:nvSpPr>
        <p:spPr>
          <a:xfrm>
            <a:off x="5980176" y="1865376"/>
            <a:ext cx="36576" cy="1207008"/>
          </a:xfrm>
          <a:prstGeom prst="rect">
            <a:avLst/>
          </a:prstGeom>
          <a:solidFill>
            <a:srgbClr val="1E3A5F"/>
          </a:solidFill>
          <a:ln/>
        </p:spPr>
      </p:sp>
      <p:sp>
        <p:nvSpPr>
          <p:cNvPr id="27" name="Text 25"/>
          <p:cNvSpPr/>
          <p:nvPr/>
        </p:nvSpPr>
        <p:spPr>
          <a:xfrm>
            <a:off x="6089904" y="1938528"/>
            <a:ext cx="2468880" cy="182880"/>
          </a:xfrm>
          <a:prstGeom prst="rect">
            <a:avLst/>
          </a:prstGeom>
          <a:noFill/>
          <a:ln/>
        </p:spPr>
        <p:txBody>
          <a:bodyPr wrap="square" lIns="0" tIns="0" rIns="0" bIns="0" rtlCol="0" anchor="ctr"/>
          <a:lstStyle/>
          <a:p>
            <a:pPr indent="0" marL="0">
              <a:buNone/>
            </a:pPr>
            <a:r>
              <a:rPr lang="en-US" sz="800" b="1" spc="150" kern="0" dirty="0">
                <a:solidFill>
                  <a:srgbClr val="B8860B"/>
                </a:solidFill>
                <a:latin typeface="Calibri" pitchFamily="34" charset="0"/>
                <a:ea typeface="Calibri" pitchFamily="34" charset="-122"/>
                <a:cs typeface="Calibri" pitchFamily="34" charset="-120"/>
              </a:rPr>
              <a:t>1990s–2010</a:t>
            </a:r>
            <a:endParaRPr lang="en-US" sz="800" dirty="0"/>
          </a:p>
        </p:txBody>
      </p:sp>
      <p:sp>
        <p:nvSpPr>
          <p:cNvPr id="28" name="Text 26"/>
          <p:cNvSpPr/>
          <p:nvPr/>
        </p:nvSpPr>
        <p:spPr>
          <a:xfrm>
            <a:off x="6089904" y="2121408"/>
            <a:ext cx="246888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Statistical ML</a:t>
            </a:r>
            <a:endParaRPr lang="en-US" sz="1200" dirty="0"/>
          </a:p>
        </p:txBody>
      </p:sp>
      <p:sp>
        <p:nvSpPr>
          <p:cNvPr id="29" name="Text 27"/>
          <p:cNvSpPr/>
          <p:nvPr/>
        </p:nvSpPr>
        <p:spPr>
          <a:xfrm>
            <a:off x="6089904" y="2395728"/>
            <a:ext cx="2468880" cy="43891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Machines find patterns in data, no rules needed. Spam filters, fraud detection emerge.</a:t>
            </a:r>
            <a:endParaRPr lang="en-US" sz="850" dirty="0"/>
          </a:p>
        </p:txBody>
      </p:sp>
      <p:sp>
        <p:nvSpPr>
          <p:cNvPr id="30" name="Shape 28"/>
          <p:cNvSpPr/>
          <p:nvPr/>
        </p:nvSpPr>
        <p:spPr>
          <a:xfrm>
            <a:off x="6089904" y="2834640"/>
            <a:ext cx="2468880" cy="18288"/>
          </a:xfrm>
          <a:prstGeom prst="rect">
            <a:avLst/>
          </a:prstGeom>
          <a:solidFill>
            <a:srgbClr val="D8DEE9"/>
          </a:solidFill>
          <a:ln/>
        </p:spPr>
      </p:sp>
      <p:sp>
        <p:nvSpPr>
          <p:cNvPr id="31" name="Text 29"/>
          <p:cNvSpPr/>
          <p:nvPr/>
        </p:nvSpPr>
        <p:spPr>
          <a:xfrm>
            <a:off x="6089904" y="2871216"/>
            <a:ext cx="2468880" cy="164592"/>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Gmail spam filter, Netflix recommendations</a:t>
            </a:r>
            <a:endParaRPr lang="en-US" sz="750" dirty="0"/>
          </a:p>
        </p:txBody>
      </p:sp>
      <p:sp>
        <p:nvSpPr>
          <p:cNvPr id="32" name="Shape 30"/>
          <p:cNvSpPr/>
          <p:nvPr/>
        </p:nvSpPr>
        <p:spPr>
          <a:xfrm>
            <a:off x="365760" y="3163824"/>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3" name="Shape 31"/>
          <p:cNvSpPr/>
          <p:nvPr/>
        </p:nvSpPr>
        <p:spPr>
          <a:xfrm>
            <a:off x="365760" y="3163824"/>
            <a:ext cx="36576" cy="1207008"/>
          </a:xfrm>
          <a:prstGeom prst="rect">
            <a:avLst/>
          </a:prstGeom>
          <a:solidFill>
            <a:srgbClr val="1E3A5F"/>
          </a:solidFill>
          <a:ln/>
        </p:spPr>
      </p:sp>
      <p:sp>
        <p:nvSpPr>
          <p:cNvPr id="34" name="Text 32"/>
          <p:cNvSpPr/>
          <p:nvPr/>
        </p:nvSpPr>
        <p:spPr>
          <a:xfrm>
            <a:off x="475488" y="3236976"/>
            <a:ext cx="2468880" cy="182880"/>
          </a:xfrm>
          <a:prstGeom prst="rect">
            <a:avLst/>
          </a:prstGeom>
          <a:noFill/>
          <a:ln/>
        </p:spPr>
        <p:txBody>
          <a:bodyPr wrap="square" lIns="0" tIns="0" rIns="0" bIns="0" rtlCol="0" anchor="ctr"/>
          <a:lstStyle/>
          <a:p>
            <a:pPr indent="0" marL="0">
              <a:buNone/>
            </a:pPr>
            <a:r>
              <a:rPr lang="en-US" sz="800" b="1" spc="150" kern="0" dirty="0">
                <a:solidFill>
                  <a:srgbClr val="B8860B"/>
                </a:solidFill>
                <a:latin typeface="Calibri" pitchFamily="34" charset="0"/>
                <a:ea typeface="Calibri" pitchFamily="34" charset="-122"/>
                <a:cs typeface="Calibri" pitchFamily="34" charset="-120"/>
              </a:rPr>
              <a:t>2012–2017</a:t>
            </a:r>
            <a:endParaRPr lang="en-US" sz="800" dirty="0"/>
          </a:p>
        </p:txBody>
      </p:sp>
      <p:sp>
        <p:nvSpPr>
          <p:cNvPr id="35" name="Text 33"/>
          <p:cNvSpPr/>
          <p:nvPr/>
        </p:nvSpPr>
        <p:spPr>
          <a:xfrm>
            <a:off x="475488" y="3419856"/>
            <a:ext cx="246888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Deep Learning</a:t>
            </a:r>
            <a:endParaRPr lang="en-US" sz="1200" dirty="0"/>
          </a:p>
        </p:txBody>
      </p:sp>
      <p:sp>
        <p:nvSpPr>
          <p:cNvPr id="36" name="Text 34"/>
          <p:cNvSpPr/>
          <p:nvPr/>
        </p:nvSpPr>
        <p:spPr>
          <a:xfrm>
            <a:off x="475488" y="3694176"/>
            <a:ext cx="2468880" cy="43891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AlexNet won ImageNet 2012. Neural networks at scale. Powered by GPUs.</a:t>
            </a:r>
            <a:endParaRPr lang="en-US" sz="850" dirty="0"/>
          </a:p>
        </p:txBody>
      </p:sp>
      <p:sp>
        <p:nvSpPr>
          <p:cNvPr id="37" name="Shape 35"/>
          <p:cNvSpPr/>
          <p:nvPr/>
        </p:nvSpPr>
        <p:spPr>
          <a:xfrm>
            <a:off x="475488" y="4133088"/>
            <a:ext cx="2468880" cy="18288"/>
          </a:xfrm>
          <a:prstGeom prst="rect">
            <a:avLst/>
          </a:prstGeom>
          <a:solidFill>
            <a:srgbClr val="D8DEE9"/>
          </a:solidFill>
          <a:ln/>
        </p:spPr>
      </p:sp>
      <p:sp>
        <p:nvSpPr>
          <p:cNvPr id="38" name="Text 36"/>
          <p:cNvSpPr/>
          <p:nvPr/>
        </p:nvSpPr>
        <p:spPr>
          <a:xfrm>
            <a:off x="475488" y="4169664"/>
            <a:ext cx="2468880" cy="164592"/>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Face ID, Google Translate, Alexa, Siri</a:t>
            </a:r>
            <a:endParaRPr lang="en-US" sz="750" dirty="0"/>
          </a:p>
        </p:txBody>
      </p:sp>
      <p:sp>
        <p:nvSpPr>
          <p:cNvPr id="39" name="Shape 37"/>
          <p:cNvSpPr/>
          <p:nvPr/>
        </p:nvSpPr>
        <p:spPr>
          <a:xfrm>
            <a:off x="3172968" y="3163824"/>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0" name="Shape 38"/>
          <p:cNvSpPr/>
          <p:nvPr/>
        </p:nvSpPr>
        <p:spPr>
          <a:xfrm>
            <a:off x="3172968" y="3163824"/>
            <a:ext cx="36576" cy="1207008"/>
          </a:xfrm>
          <a:prstGeom prst="rect">
            <a:avLst/>
          </a:prstGeom>
          <a:solidFill>
            <a:srgbClr val="1E3A5F"/>
          </a:solidFill>
          <a:ln/>
        </p:spPr>
      </p:sp>
      <p:sp>
        <p:nvSpPr>
          <p:cNvPr id="41" name="Text 39"/>
          <p:cNvSpPr/>
          <p:nvPr/>
        </p:nvSpPr>
        <p:spPr>
          <a:xfrm>
            <a:off x="3282696" y="3236976"/>
            <a:ext cx="2468880" cy="182880"/>
          </a:xfrm>
          <a:prstGeom prst="rect">
            <a:avLst/>
          </a:prstGeom>
          <a:noFill/>
          <a:ln/>
        </p:spPr>
        <p:txBody>
          <a:bodyPr wrap="square" lIns="0" tIns="0" rIns="0" bIns="0" rtlCol="0" anchor="ctr"/>
          <a:lstStyle/>
          <a:p>
            <a:pPr indent="0" marL="0">
              <a:buNone/>
            </a:pPr>
            <a:r>
              <a:rPr lang="en-US" sz="800" b="1" spc="150" kern="0" dirty="0">
                <a:solidFill>
                  <a:srgbClr val="B8860B"/>
                </a:solidFill>
                <a:latin typeface="Calibri" pitchFamily="34" charset="0"/>
                <a:ea typeface="Calibri" pitchFamily="34" charset="-122"/>
                <a:cs typeface="Calibri" pitchFamily="34" charset="-120"/>
              </a:rPr>
              <a:t>2017–2022</a:t>
            </a:r>
            <a:endParaRPr lang="en-US" sz="800" dirty="0"/>
          </a:p>
        </p:txBody>
      </p:sp>
      <p:sp>
        <p:nvSpPr>
          <p:cNvPr id="42" name="Text 40"/>
          <p:cNvSpPr/>
          <p:nvPr/>
        </p:nvSpPr>
        <p:spPr>
          <a:xfrm>
            <a:off x="3282696" y="3419856"/>
            <a:ext cx="246888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Transformers</a:t>
            </a:r>
            <a:endParaRPr lang="en-US" sz="1200" dirty="0"/>
          </a:p>
        </p:txBody>
      </p:sp>
      <p:sp>
        <p:nvSpPr>
          <p:cNvPr id="43" name="Text 41"/>
          <p:cNvSpPr/>
          <p:nvPr/>
        </p:nvSpPr>
        <p:spPr>
          <a:xfrm>
            <a:off x="3282696" y="3694176"/>
            <a:ext cx="2468880" cy="43891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"Attention Is All You Need" (Google 2017). Reads whole sentences. Enables every modern LLM.</a:t>
            </a:r>
            <a:endParaRPr lang="en-US" sz="850" dirty="0"/>
          </a:p>
        </p:txBody>
      </p:sp>
      <p:sp>
        <p:nvSpPr>
          <p:cNvPr id="44" name="Shape 42"/>
          <p:cNvSpPr/>
          <p:nvPr/>
        </p:nvSpPr>
        <p:spPr>
          <a:xfrm>
            <a:off x="3282696" y="4133088"/>
            <a:ext cx="2468880" cy="18288"/>
          </a:xfrm>
          <a:prstGeom prst="rect">
            <a:avLst/>
          </a:prstGeom>
          <a:solidFill>
            <a:srgbClr val="D8DEE9"/>
          </a:solidFill>
          <a:ln/>
        </p:spPr>
      </p:sp>
      <p:sp>
        <p:nvSpPr>
          <p:cNvPr id="45" name="Text 43"/>
          <p:cNvSpPr/>
          <p:nvPr/>
        </p:nvSpPr>
        <p:spPr>
          <a:xfrm>
            <a:off x="3282696" y="4169664"/>
            <a:ext cx="2468880" cy="164592"/>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GPT-2, BERT powering Google Search</a:t>
            </a:r>
            <a:endParaRPr lang="en-US" sz="750" dirty="0"/>
          </a:p>
        </p:txBody>
      </p:sp>
      <p:sp>
        <p:nvSpPr>
          <p:cNvPr id="46" name="Shape 44"/>
          <p:cNvSpPr/>
          <p:nvPr/>
        </p:nvSpPr>
        <p:spPr>
          <a:xfrm>
            <a:off x="5980176" y="3163824"/>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7" name="Shape 45"/>
          <p:cNvSpPr/>
          <p:nvPr/>
        </p:nvSpPr>
        <p:spPr>
          <a:xfrm>
            <a:off x="5980176" y="3163824"/>
            <a:ext cx="36576" cy="1207008"/>
          </a:xfrm>
          <a:prstGeom prst="rect">
            <a:avLst/>
          </a:prstGeom>
          <a:solidFill>
            <a:srgbClr val="1E3A5F"/>
          </a:solidFill>
          <a:ln/>
        </p:spPr>
      </p:sp>
      <p:sp>
        <p:nvSpPr>
          <p:cNvPr id="48" name="Text 46"/>
          <p:cNvSpPr/>
          <p:nvPr/>
        </p:nvSpPr>
        <p:spPr>
          <a:xfrm>
            <a:off x="6089904" y="3236976"/>
            <a:ext cx="2468880" cy="182880"/>
          </a:xfrm>
          <a:prstGeom prst="rect">
            <a:avLst/>
          </a:prstGeom>
          <a:noFill/>
          <a:ln/>
        </p:spPr>
        <p:txBody>
          <a:bodyPr wrap="square" lIns="0" tIns="0" rIns="0" bIns="0" rtlCol="0" anchor="ctr"/>
          <a:lstStyle/>
          <a:p>
            <a:pPr indent="0" marL="0">
              <a:buNone/>
            </a:pPr>
            <a:r>
              <a:rPr lang="en-US" sz="800" b="1" spc="150" kern="0" dirty="0">
                <a:solidFill>
                  <a:srgbClr val="B8860B"/>
                </a:solidFill>
                <a:latin typeface="Calibri" pitchFamily="34" charset="0"/>
                <a:ea typeface="Calibri" pitchFamily="34" charset="-122"/>
                <a:cs typeface="Calibri" pitchFamily="34" charset="-120"/>
              </a:rPr>
              <a:t>2022→</a:t>
            </a:r>
            <a:endParaRPr lang="en-US" sz="800" dirty="0"/>
          </a:p>
        </p:txBody>
      </p:sp>
      <p:sp>
        <p:nvSpPr>
          <p:cNvPr id="49" name="Text 47"/>
          <p:cNvSpPr/>
          <p:nvPr/>
        </p:nvSpPr>
        <p:spPr>
          <a:xfrm>
            <a:off x="6089904" y="3419856"/>
            <a:ext cx="2468880" cy="256032"/>
          </a:xfrm>
          <a:prstGeom prst="rect">
            <a:avLst/>
          </a:prstGeom>
          <a:noFill/>
          <a:ln/>
        </p:spPr>
        <p:txBody>
          <a:bodyPr wrap="square" lIns="0" tIns="0" rIns="0" bIns="0" rtlCol="0" anchor="ctr"/>
          <a:lstStyle/>
          <a:p>
            <a:pPr indent="0" marL="0">
              <a:buNone/>
            </a:pPr>
            <a:r>
              <a:rPr lang="en-US" sz="1200" b="1" dirty="0">
                <a:solidFill>
                  <a:srgbClr val="0A2540"/>
                </a:solidFill>
                <a:latin typeface="Calibri" pitchFamily="34" charset="0"/>
                <a:ea typeface="Calibri" pitchFamily="34" charset="-122"/>
                <a:cs typeface="Calibri" pitchFamily="34" charset="-120"/>
              </a:rPr>
              <a:t>Generative AI</a:t>
            </a:r>
            <a:endParaRPr lang="en-US" sz="1200" dirty="0"/>
          </a:p>
        </p:txBody>
      </p:sp>
      <p:sp>
        <p:nvSpPr>
          <p:cNvPr id="50" name="Text 48"/>
          <p:cNvSpPr/>
          <p:nvPr/>
        </p:nvSpPr>
        <p:spPr>
          <a:xfrm>
            <a:off x="6089904" y="3694176"/>
            <a:ext cx="2468880" cy="43891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One model, thousands of tasks. Creates new content. Natural language as universal interface.</a:t>
            </a:r>
            <a:endParaRPr lang="en-US" sz="850" dirty="0"/>
          </a:p>
        </p:txBody>
      </p:sp>
      <p:sp>
        <p:nvSpPr>
          <p:cNvPr id="51" name="Shape 49"/>
          <p:cNvSpPr/>
          <p:nvPr/>
        </p:nvSpPr>
        <p:spPr>
          <a:xfrm>
            <a:off x="6089904" y="4133088"/>
            <a:ext cx="2468880" cy="18288"/>
          </a:xfrm>
          <a:prstGeom prst="rect">
            <a:avLst/>
          </a:prstGeom>
          <a:solidFill>
            <a:srgbClr val="D8DEE9"/>
          </a:solidFill>
          <a:ln/>
        </p:spPr>
      </p:sp>
      <p:sp>
        <p:nvSpPr>
          <p:cNvPr id="52" name="Text 50"/>
          <p:cNvSpPr/>
          <p:nvPr/>
        </p:nvSpPr>
        <p:spPr>
          <a:xfrm>
            <a:off x="6089904" y="4169664"/>
            <a:ext cx="2468880" cy="164592"/>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ChatGPT, Claude, Gemini, DALL-E, Sora</a:t>
            </a:r>
            <a:endParaRPr lang="en-US" sz="750" dirty="0"/>
          </a:p>
        </p:txBody>
      </p:sp>
      <p:sp>
        <p:nvSpPr>
          <p:cNvPr id="53" name="Shape 51"/>
          <p:cNvSpPr/>
          <p:nvPr/>
        </p:nvSpPr>
        <p:spPr>
          <a:xfrm>
            <a:off x="365760" y="4572000"/>
            <a:ext cx="8412480" cy="457200"/>
          </a:xfrm>
          <a:prstGeom prst="rect">
            <a:avLst/>
          </a:prstGeom>
          <a:solidFill>
            <a:srgbClr val="EDF1F7"/>
          </a:solidFill>
          <a:ln/>
        </p:spPr>
      </p:sp>
      <p:sp>
        <p:nvSpPr>
          <p:cNvPr id="54" name="Shape 52"/>
          <p:cNvSpPr/>
          <p:nvPr/>
        </p:nvSpPr>
        <p:spPr>
          <a:xfrm>
            <a:off x="365760" y="4572000"/>
            <a:ext cx="36576" cy="457200"/>
          </a:xfrm>
          <a:prstGeom prst="rect">
            <a:avLst/>
          </a:prstGeom>
          <a:solidFill>
            <a:srgbClr val="B8860B"/>
          </a:solidFill>
          <a:ln/>
        </p:spPr>
      </p:sp>
      <p:sp>
        <p:nvSpPr>
          <p:cNvPr id="55" name="Text 53"/>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6" name="Text 54"/>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GenAI is not a sudden invention — it is the culmination of 70 years of research. Every prior era's lessons are baked into today's models.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IS MACHINE LEARNING — THE FUNDAMENTAL FLIP</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Teaching a Dog vs Programming a Calculator</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 calculator: every rule written by a human — press 2+2, get 4. Teaching a dog: show examples of right and wrong, reward correctly, and it figures out the rule itself. Machine learning is the dog — not the calculator.</a:t>
            </a:r>
            <a:endParaRPr lang="en-US" sz="1000" dirty="0"/>
          </a:p>
        </p:txBody>
      </p:sp>
      <p:sp>
        <p:nvSpPr>
          <p:cNvPr id="11" name="Shape 9"/>
          <p:cNvSpPr/>
          <p:nvPr/>
        </p:nvSpPr>
        <p:spPr>
          <a:xfrm>
            <a:off x="365760" y="1847088"/>
            <a:ext cx="4023360" cy="261518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4023360" cy="384048"/>
          </a:xfrm>
          <a:prstGeom prst="rect">
            <a:avLst/>
          </a:prstGeom>
          <a:solidFill>
            <a:srgbClr val="47596B"/>
          </a:solidFill>
          <a:ln/>
        </p:spPr>
      </p:sp>
      <p:sp>
        <p:nvSpPr>
          <p:cNvPr id="13" name="Text 11"/>
          <p:cNvSpPr/>
          <p:nvPr/>
        </p:nvSpPr>
        <p:spPr>
          <a:xfrm>
            <a:off x="365760" y="1865376"/>
            <a:ext cx="4023360"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TRADITIONAL PROGRAMMING</a:t>
            </a:r>
            <a:endParaRPr lang="en-US" sz="1050" dirty="0"/>
          </a:p>
        </p:txBody>
      </p:sp>
      <p:sp>
        <p:nvSpPr>
          <p:cNvPr id="14" name="Shape 12"/>
          <p:cNvSpPr/>
          <p:nvPr/>
        </p:nvSpPr>
        <p:spPr>
          <a:xfrm>
            <a:off x="512064" y="2340864"/>
            <a:ext cx="822960" cy="457200"/>
          </a:xfrm>
          <a:prstGeom prst="rect">
            <a:avLst/>
          </a:prstGeom>
          <a:solidFill>
            <a:srgbClr val="1E3A5F"/>
          </a:solidFill>
          <a:ln/>
        </p:spPr>
      </p:sp>
      <p:sp>
        <p:nvSpPr>
          <p:cNvPr id="15" name="Text 13"/>
          <p:cNvSpPr/>
          <p:nvPr/>
        </p:nvSpPr>
        <p:spPr>
          <a:xfrm>
            <a:off x="512064" y="2340864"/>
            <a:ext cx="82296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INPUT</a:t>
            </a:r>
            <a:endParaRPr lang="en-US" sz="850" dirty="0"/>
          </a:p>
        </p:txBody>
      </p:sp>
      <p:sp>
        <p:nvSpPr>
          <p:cNvPr id="16" name="Shape 14"/>
          <p:cNvSpPr/>
          <p:nvPr/>
        </p:nvSpPr>
        <p:spPr>
          <a:xfrm>
            <a:off x="1371600" y="2377440"/>
            <a:ext cx="2889504" cy="384048"/>
          </a:xfrm>
          <a:prstGeom prst="rect">
            <a:avLst/>
          </a:prstGeom>
          <a:solidFill>
            <a:srgbClr val="FFFFFF"/>
          </a:solidFill>
          <a:ln/>
        </p:spPr>
      </p:sp>
      <p:sp>
        <p:nvSpPr>
          <p:cNvPr id="17" name="Text 15"/>
          <p:cNvSpPr/>
          <p:nvPr/>
        </p:nvSpPr>
        <p:spPr>
          <a:xfrm>
            <a:off x="1426464" y="2395728"/>
            <a:ext cx="2779776" cy="347472"/>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Raw email text</a:t>
            </a:r>
            <a:endParaRPr lang="en-US" sz="900" dirty="0"/>
          </a:p>
        </p:txBody>
      </p:sp>
      <p:sp>
        <p:nvSpPr>
          <p:cNvPr id="18" name="Text 16"/>
          <p:cNvSpPr/>
          <p:nvPr/>
        </p:nvSpPr>
        <p:spPr>
          <a:xfrm>
            <a:off x="512064" y="2798064"/>
            <a:ext cx="822960" cy="182880"/>
          </a:xfrm>
          <a:prstGeom prst="rect">
            <a:avLst/>
          </a:prstGeom>
          <a:noFill/>
          <a:ln/>
        </p:spPr>
        <p:txBody>
          <a:bodyPr wrap="square" lIns="0" tIns="0" rIns="0" bIns="0" rtlCol="0" anchor="ctr"/>
          <a:lstStyle/>
          <a:p>
            <a:pPr algn="ctr" indent="0" marL="0">
              <a:buNone/>
            </a:pPr>
            <a:r>
              <a:rPr lang="en-US" sz="1100" dirty="0">
                <a:solidFill>
                  <a:srgbClr val="8898AA"/>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512064" y="2999232"/>
            <a:ext cx="822960" cy="457200"/>
          </a:xfrm>
          <a:prstGeom prst="rect">
            <a:avLst/>
          </a:prstGeom>
          <a:solidFill>
            <a:srgbClr val="1E3A5F"/>
          </a:solidFill>
          <a:ln/>
        </p:spPr>
      </p:sp>
      <p:sp>
        <p:nvSpPr>
          <p:cNvPr id="20" name="Text 18"/>
          <p:cNvSpPr/>
          <p:nvPr/>
        </p:nvSpPr>
        <p:spPr>
          <a:xfrm>
            <a:off x="512064" y="2999232"/>
            <a:ext cx="82296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RULES</a:t>
            </a:r>
            <a:endParaRPr lang="en-US" sz="850" dirty="0"/>
          </a:p>
        </p:txBody>
      </p:sp>
      <p:sp>
        <p:nvSpPr>
          <p:cNvPr id="21" name="Shape 19"/>
          <p:cNvSpPr/>
          <p:nvPr/>
        </p:nvSpPr>
        <p:spPr>
          <a:xfrm>
            <a:off x="1371600" y="3035808"/>
            <a:ext cx="2889504" cy="384048"/>
          </a:xfrm>
          <a:prstGeom prst="rect">
            <a:avLst/>
          </a:prstGeom>
          <a:solidFill>
            <a:srgbClr val="FFFFFF"/>
          </a:solidFill>
          <a:ln/>
        </p:spPr>
      </p:sp>
      <p:sp>
        <p:nvSpPr>
          <p:cNvPr id="22" name="Text 20"/>
          <p:cNvSpPr/>
          <p:nvPr/>
        </p:nvSpPr>
        <p:spPr>
          <a:xfrm>
            <a:off x="1426464" y="3054096"/>
            <a:ext cx="2779776" cy="347472"/>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Human writes:</a:t>
            </a:r>
            <a:endParaRPr lang="en-US" sz="900" dirty="0"/>
          </a:p>
          <a:p>
            <a:pPr indent="0" marL="0">
              <a:buNone/>
            </a:pPr>
            <a:r>
              <a:rPr lang="en-US" sz="900" dirty="0">
                <a:solidFill>
                  <a:srgbClr val="47596B"/>
                </a:solidFill>
                <a:latin typeface="Calibri" pitchFamily="34" charset="0"/>
                <a:ea typeface="Calibri" pitchFamily="34" charset="-122"/>
                <a:cs typeface="Calibri" pitchFamily="34" charset="-120"/>
              </a:rPr>
              <a:t>if 'buy now' + unknown sender → spam</a:t>
            </a:r>
            <a:endParaRPr lang="en-US" sz="900" dirty="0"/>
          </a:p>
        </p:txBody>
      </p:sp>
      <p:sp>
        <p:nvSpPr>
          <p:cNvPr id="23" name="Text 21"/>
          <p:cNvSpPr/>
          <p:nvPr/>
        </p:nvSpPr>
        <p:spPr>
          <a:xfrm>
            <a:off x="512064" y="3456432"/>
            <a:ext cx="822960" cy="182880"/>
          </a:xfrm>
          <a:prstGeom prst="rect">
            <a:avLst/>
          </a:prstGeom>
          <a:noFill/>
          <a:ln/>
        </p:spPr>
        <p:txBody>
          <a:bodyPr wrap="square" lIns="0" tIns="0" rIns="0" bIns="0" rtlCol="0" anchor="ctr"/>
          <a:lstStyle/>
          <a:p>
            <a:pPr algn="ctr" indent="0" marL="0">
              <a:buNone/>
            </a:pPr>
            <a:r>
              <a:rPr lang="en-US" sz="1100" dirty="0">
                <a:solidFill>
                  <a:srgbClr val="8898AA"/>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512064" y="3657600"/>
            <a:ext cx="822960" cy="457200"/>
          </a:xfrm>
          <a:prstGeom prst="rect">
            <a:avLst/>
          </a:prstGeom>
          <a:solidFill>
            <a:srgbClr val="1E3A5F"/>
          </a:solidFill>
          <a:ln/>
        </p:spPr>
      </p:sp>
      <p:sp>
        <p:nvSpPr>
          <p:cNvPr id="25" name="Text 23"/>
          <p:cNvSpPr/>
          <p:nvPr/>
        </p:nvSpPr>
        <p:spPr>
          <a:xfrm>
            <a:off x="512064" y="3657600"/>
            <a:ext cx="82296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26" name="Shape 24"/>
          <p:cNvSpPr/>
          <p:nvPr/>
        </p:nvSpPr>
        <p:spPr>
          <a:xfrm>
            <a:off x="1371600" y="3694176"/>
            <a:ext cx="2889504" cy="384048"/>
          </a:xfrm>
          <a:prstGeom prst="rect">
            <a:avLst/>
          </a:prstGeom>
          <a:solidFill>
            <a:srgbClr val="FFFFFF"/>
          </a:solidFill>
          <a:ln/>
        </p:spPr>
      </p:sp>
      <p:sp>
        <p:nvSpPr>
          <p:cNvPr id="27" name="Text 25"/>
          <p:cNvSpPr/>
          <p:nvPr/>
        </p:nvSpPr>
        <p:spPr>
          <a:xfrm>
            <a:off x="1426464" y="3712464"/>
            <a:ext cx="2779776" cy="347472"/>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Spam / Not Spam</a:t>
            </a:r>
            <a:endParaRPr lang="en-US" sz="900" dirty="0"/>
          </a:p>
        </p:txBody>
      </p:sp>
      <p:sp>
        <p:nvSpPr>
          <p:cNvPr id="28" name="Text 26"/>
          <p:cNvSpPr/>
          <p:nvPr/>
        </p:nvSpPr>
        <p:spPr>
          <a:xfrm>
            <a:off x="4434840" y="3017520"/>
            <a:ext cx="274320" cy="274320"/>
          </a:xfrm>
          <a:prstGeom prst="rect">
            <a:avLst/>
          </a:prstGeom>
          <a:noFill/>
          <a:ln/>
        </p:spPr>
        <p:txBody>
          <a:bodyPr wrap="square" lIns="0" tIns="0" rIns="0" bIns="0" rtlCol="0" anchor="ctr"/>
          <a:lstStyle/>
          <a:p>
            <a:pPr algn="ctr" indent="0" marL="0">
              <a:buNone/>
            </a:pPr>
            <a:r>
              <a:rPr lang="en-US" sz="900" b="1" dirty="0">
                <a:solidFill>
                  <a:srgbClr val="B8860B"/>
                </a:solidFill>
                <a:latin typeface="Calibri" pitchFamily="34" charset="0"/>
                <a:ea typeface="Calibri" pitchFamily="34" charset="-122"/>
                <a:cs typeface="Calibri" pitchFamily="34" charset="-120"/>
              </a:rPr>
              <a:t>FLIP</a:t>
            </a:r>
            <a:endParaRPr lang="en-US" sz="900" dirty="0"/>
          </a:p>
        </p:txBody>
      </p:sp>
      <p:sp>
        <p:nvSpPr>
          <p:cNvPr id="29" name="Text 27"/>
          <p:cNvSpPr/>
          <p:nvPr/>
        </p:nvSpPr>
        <p:spPr>
          <a:xfrm>
            <a:off x="4434840" y="3200400"/>
            <a:ext cx="274320" cy="274320"/>
          </a:xfrm>
          <a:prstGeom prst="rect">
            <a:avLst/>
          </a:prstGeom>
          <a:noFill/>
          <a:ln/>
        </p:spPr>
        <p:txBody>
          <a:bodyPr wrap="square" lIns="0" tIns="0" rIns="0" bIns="0" rtlCol="0" anchor="ctr"/>
          <a:lstStyle/>
          <a:p>
            <a:pPr algn="ctr" indent="0" marL="0">
              <a:buNone/>
            </a:pPr>
            <a:r>
              <a:rPr lang="en-US" sz="1400" dirty="0">
                <a:solidFill>
                  <a:srgbClr val="B8860B"/>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4754880" y="1847088"/>
            <a:ext cx="4023360" cy="2615184"/>
          </a:xfrm>
          <a:prstGeom prst="rect">
            <a:avLst/>
          </a:prstGeom>
          <a:solidFill>
            <a:srgbClr val="D1FAE5"/>
          </a:solidFill>
          <a:ln/>
          <a:effectLst>
            <a:outerShdw sx="100000" sy="100000" kx="0" ky="0" algn="bl" rotWithShape="0" blurRad="152400" dist="38100" dir="8100000">
              <a:srgbClr val="000000">
                <a:alpha val="6000"/>
              </a:srgbClr>
            </a:outerShdw>
          </a:effectLst>
        </p:spPr>
      </p:sp>
      <p:sp>
        <p:nvSpPr>
          <p:cNvPr id="31" name="Shape 29"/>
          <p:cNvSpPr/>
          <p:nvPr/>
        </p:nvSpPr>
        <p:spPr>
          <a:xfrm>
            <a:off x="4754880" y="1847088"/>
            <a:ext cx="4023360" cy="384048"/>
          </a:xfrm>
          <a:prstGeom prst="rect">
            <a:avLst/>
          </a:prstGeom>
          <a:solidFill>
            <a:srgbClr val="0F766E"/>
          </a:solidFill>
          <a:ln/>
        </p:spPr>
      </p:sp>
      <p:sp>
        <p:nvSpPr>
          <p:cNvPr id="32" name="Text 30"/>
          <p:cNvSpPr/>
          <p:nvPr/>
        </p:nvSpPr>
        <p:spPr>
          <a:xfrm>
            <a:off x="4754880" y="1865376"/>
            <a:ext cx="4023360"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MACHINE LEARNING</a:t>
            </a:r>
            <a:endParaRPr lang="en-US" sz="1050" dirty="0"/>
          </a:p>
        </p:txBody>
      </p:sp>
      <p:sp>
        <p:nvSpPr>
          <p:cNvPr id="33" name="Shape 31"/>
          <p:cNvSpPr/>
          <p:nvPr/>
        </p:nvSpPr>
        <p:spPr>
          <a:xfrm>
            <a:off x="4901184" y="2340864"/>
            <a:ext cx="822960" cy="457200"/>
          </a:xfrm>
          <a:prstGeom prst="rect">
            <a:avLst/>
          </a:prstGeom>
          <a:solidFill>
            <a:srgbClr val="1E3A5F"/>
          </a:solidFill>
          <a:ln/>
        </p:spPr>
      </p:sp>
      <p:sp>
        <p:nvSpPr>
          <p:cNvPr id="34" name="Text 32"/>
          <p:cNvSpPr/>
          <p:nvPr/>
        </p:nvSpPr>
        <p:spPr>
          <a:xfrm>
            <a:off x="4901184" y="2340864"/>
            <a:ext cx="82296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INPUT</a:t>
            </a:r>
            <a:endParaRPr lang="en-US" sz="850" dirty="0"/>
          </a:p>
        </p:txBody>
      </p:sp>
      <p:sp>
        <p:nvSpPr>
          <p:cNvPr id="35" name="Shape 33"/>
          <p:cNvSpPr/>
          <p:nvPr/>
        </p:nvSpPr>
        <p:spPr>
          <a:xfrm>
            <a:off x="5760720" y="2377440"/>
            <a:ext cx="2889504" cy="384048"/>
          </a:xfrm>
          <a:prstGeom prst="rect">
            <a:avLst/>
          </a:prstGeom>
          <a:solidFill>
            <a:srgbClr val="FFFFFF"/>
          </a:solidFill>
          <a:ln/>
        </p:spPr>
      </p:sp>
      <p:sp>
        <p:nvSpPr>
          <p:cNvPr id="36" name="Text 34"/>
          <p:cNvSpPr/>
          <p:nvPr/>
        </p:nvSpPr>
        <p:spPr>
          <a:xfrm>
            <a:off x="5815584" y="2395728"/>
            <a:ext cx="2779776" cy="347472"/>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Millions of emails</a:t>
            </a:r>
            <a:endParaRPr lang="en-US" sz="900" dirty="0"/>
          </a:p>
        </p:txBody>
      </p:sp>
      <p:sp>
        <p:nvSpPr>
          <p:cNvPr id="37" name="Text 35"/>
          <p:cNvSpPr/>
          <p:nvPr/>
        </p:nvSpPr>
        <p:spPr>
          <a:xfrm>
            <a:off x="4901184" y="2798064"/>
            <a:ext cx="822960" cy="182880"/>
          </a:xfrm>
          <a:prstGeom prst="rect">
            <a:avLst/>
          </a:prstGeom>
          <a:noFill/>
          <a:ln/>
        </p:spPr>
        <p:txBody>
          <a:bodyPr wrap="square" lIns="0" tIns="0" rIns="0" bIns="0" rtlCol="0" anchor="ctr"/>
          <a:lstStyle/>
          <a:p>
            <a:pPr algn="ctr" indent="0" marL="0">
              <a:buNone/>
            </a:pPr>
            <a:r>
              <a:rPr lang="en-US" sz="1100" dirty="0">
                <a:solidFill>
                  <a:srgbClr val="8898AA"/>
                </a:solidFill>
                <a:latin typeface="Calibri" pitchFamily="34" charset="0"/>
                <a:ea typeface="Calibri" pitchFamily="34" charset="-122"/>
                <a:cs typeface="Calibri" pitchFamily="34" charset="-120"/>
              </a:rPr>
              <a:t>↓</a:t>
            </a:r>
            <a:endParaRPr lang="en-US" sz="1100" dirty="0"/>
          </a:p>
        </p:txBody>
      </p:sp>
      <p:sp>
        <p:nvSpPr>
          <p:cNvPr id="38" name="Shape 36"/>
          <p:cNvSpPr/>
          <p:nvPr/>
        </p:nvSpPr>
        <p:spPr>
          <a:xfrm>
            <a:off x="4901184" y="2999232"/>
            <a:ext cx="822960" cy="457200"/>
          </a:xfrm>
          <a:prstGeom prst="rect">
            <a:avLst/>
          </a:prstGeom>
          <a:solidFill>
            <a:srgbClr val="0F766E"/>
          </a:solidFill>
          <a:ln/>
        </p:spPr>
      </p:sp>
      <p:sp>
        <p:nvSpPr>
          <p:cNvPr id="39" name="Text 37"/>
          <p:cNvSpPr/>
          <p:nvPr/>
        </p:nvSpPr>
        <p:spPr>
          <a:xfrm>
            <a:off x="4901184" y="2999232"/>
            <a:ext cx="82296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OUTPUT</a:t>
            </a:r>
            <a:endParaRPr lang="en-US" sz="850" dirty="0"/>
          </a:p>
        </p:txBody>
      </p:sp>
      <p:sp>
        <p:nvSpPr>
          <p:cNvPr id="40" name="Shape 38"/>
          <p:cNvSpPr/>
          <p:nvPr/>
        </p:nvSpPr>
        <p:spPr>
          <a:xfrm>
            <a:off x="5760720" y="3035808"/>
            <a:ext cx="2889504" cy="384048"/>
          </a:xfrm>
          <a:prstGeom prst="rect">
            <a:avLst/>
          </a:prstGeom>
          <a:solidFill>
            <a:srgbClr val="FFFFFF"/>
          </a:solidFill>
          <a:ln/>
        </p:spPr>
      </p:sp>
      <p:sp>
        <p:nvSpPr>
          <p:cNvPr id="41" name="Text 39"/>
          <p:cNvSpPr/>
          <p:nvPr/>
        </p:nvSpPr>
        <p:spPr>
          <a:xfrm>
            <a:off x="5815584" y="3054096"/>
            <a:ext cx="2779776" cy="347472"/>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Spam / Not Spam</a:t>
            </a:r>
            <a:endParaRPr lang="en-US" sz="900" dirty="0"/>
          </a:p>
          <a:p>
            <a:pPr indent="0" marL="0">
              <a:buNone/>
            </a:pPr>
            <a:r>
              <a:rPr lang="en-US" sz="900" dirty="0">
                <a:solidFill>
                  <a:srgbClr val="47596B"/>
                </a:solidFill>
                <a:latin typeface="Calibri" pitchFamily="34" charset="0"/>
                <a:ea typeface="Calibri" pitchFamily="34" charset="-122"/>
                <a:cs typeface="Calibri" pitchFamily="34" charset="-120"/>
              </a:rPr>
              <a:t>(labelled examples)</a:t>
            </a:r>
            <a:endParaRPr lang="en-US" sz="900" dirty="0"/>
          </a:p>
        </p:txBody>
      </p:sp>
      <p:sp>
        <p:nvSpPr>
          <p:cNvPr id="42" name="Text 40"/>
          <p:cNvSpPr/>
          <p:nvPr/>
        </p:nvSpPr>
        <p:spPr>
          <a:xfrm>
            <a:off x="4901184" y="3456432"/>
            <a:ext cx="822960" cy="182880"/>
          </a:xfrm>
          <a:prstGeom prst="rect">
            <a:avLst/>
          </a:prstGeom>
          <a:noFill/>
          <a:ln/>
        </p:spPr>
        <p:txBody>
          <a:bodyPr wrap="square" lIns="0" tIns="0" rIns="0" bIns="0" rtlCol="0" anchor="ctr"/>
          <a:lstStyle/>
          <a:p>
            <a:pPr algn="ctr" indent="0" marL="0">
              <a:buNone/>
            </a:pPr>
            <a:r>
              <a:rPr lang="en-US" sz="1100" dirty="0">
                <a:solidFill>
                  <a:srgbClr val="8898AA"/>
                </a:solidFill>
                <a:latin typeface="Calibri" pitchFamily="34" charset="0"/>
                <a:ea typeface="Calibri" pitchFamily="34" charset="-122"/>
                <a:cs typeface="Calibri" pitchFamily="34" charset="-120"/>
              </a:rPr>
              <a:t>↓</a:t>
            </a:r>
            <a:endParaRPr lang="en-US" sz="1100" dirty="0"/>
          </a:p>
        </p:txBody>
      </p:sp>
      <p:sp>
        <p:nvSpPr>
          <p:cNvPr id="43" name="Shape 41"/>
          <p:cNvSpPr/>
          <p:nvPr/>
        </p:nvSpPr>
        <p:spPr>
          <a:xfrm>
            <a:off x="4901184" y="3657600"/>
            <a:ext cx="822960" cy="457200"/>
          </a:xfrm>
          <a:prstGeom prst="rect">
            <a:avLst/>
          </a:prstGeom>
          <a:solidFill>
            <a:srgbClr val="5B8C6B"/>
          </a:solidFill>
          <a:ln/>
        </p:spPr>
      </p:sp>
      <p:sp>
        <p:nvSpPr>
          <p:cNvPr id="44" name="Text 42"/>
          <p:cNvSpPr/>
          <p:nvPr/>
        </p:nvSpPr>
        <p:spPr>
          <a:xfrm>
            <a:off x="4901184" y="3657600"/>
            <a:ext cx="82296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RULES</a:t>
            </a:r>
            <a:endParaRPr lang="en-US" sz="850" dirty="0"/>
          </a:p>
        </p:txBody>
      </p:sp>
      <p:sp>
        <p:nvSpPr>
          <p:cNvPr id="45" name="Shape 43"/>
          <p:cNvSpPr/>
          <p:nvPr/>
        </p:nvSpPr>
        <p:spPr>
          <a:xfrm>
            <a:off x="5760720" y="3694176"/>
            <a:ext cx="2889504" cy="384048"/>
          </a:xfrm>
          <a:prstGeom prst="rect">
            <a:avLst/>
          </a:prstGeom>
          <a:solidFill>
            <a:srgbClr val="FFFFFF"/>
          </a:solidFill>
          <a:ln/>
        </p:spPr>
      </p:sp>
      <p:sp>
        <p:nvSpPr>
          <p:cNvPr id="46" name="Text 44"/>
          <p:cNvSpPr/>
          <p:nvPr/>
        </p:nvSpPr>
        <p:spPr>
          <a:xfrm>
            <a:off x="5815584" y="3712464"/>
            <a:ext cx="2779776" cy="347472"/>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Discovered automatically</a:t>
            </a:r>
            <a:endParaRPr lang="en-US" sz="900" dirty="0"/>
          </a:p>
          <a:p>
            <a:pPr indent="0" marL="0">
              <a:buNone/>
            </a:pPr>
            <a:r>
              <a:rPr lang="en-US" sz="900" dirty="0">
                <a:solidFill>
                  <a:srgbClr val="47596B"/>
                </a:solidFill>
                <a:latin typeface="Calibri" pitchFamily="34" charset="0"/>
                <a:ea typeface="Calibri" pitchFamily="34" charset="-122"/>
                <a:cs typeface="Calibri" pitchFamily="34" charset="-120"/>
              </a:rPr>
              <a:t>by the algorithm</a:t>
            </a:r>
            <a:endParaRPr lang="en-US" sz="900" dirty="0"/>
          </a:p>
        </p:txBody>
      </p:sp>
      <p:sp>
        <p:nvSpPr>
          <p:cNvPr id="47" name="Shape 45"/>
          <p:cNvSpPr/>
          <p:nvPr/>
        </p:nvSpPr>
        <p:spPr>
          <a:xfrm>
            <a:off x="365760" y="4572000"/>
            <a:ext cx="8412480" cy="457200"/>
          </a:xfrm>
          <a:prstGeom prst="rect">
            <a:avLst/>
          </a:prstGeom>
          <a:solidFill>
            <a:srgbClr val="EDF1F7"/>
          </a:solidFill>
          <a:ln/>
        </p:spPr>
      </p:sp>
      <p:sp>
        <p:nvSpPr>
          <p:cNvPr id="48" name="Shape 46"/>
          <p:cNvSpPr/>
          <p:nvPr/>
        </p:nvSpPr>
        <p:spPr>
          <a:xfrm>
            <a:off x="365760" y="4572000"/>
            <a:ext cx="36576" cy="457200"/>
          </a:xfrm>
          <a:prstGeom prst="rect">
            <a:avLst/>
          </a:prstGeom>
          <a:solidFill>
            <a:srgbClr val="B8860B"/>
          </a:solidFill>
          <a:ln/>
        </p:spPr>
      </p:sp>
      <p:sp>
        <p:nvSpPr>
          <p:cNvPr id="49" name="Text 47"/>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0" name="Text 48"/>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ML's key insight: instead of writing rules, feed the machine examples and let it discover the rules. This single flip unlocked capabilities impossible to hand-code.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THREE TYPES OF MACHINE LEARNING</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Text 5"/>
          <p:cNvSpPr/>
          <p:nvPr/>
        </p:nvSpPr>
        <p:spPr>
          <a:xfrm>
            <a:off x="365760" y="768096"/>
            <a:ext cx="8412480" cy="237744"/>
          </a:xfrm>
          <a:prstGeom prst="rect">
            <a:avLst/>
          </a:prstGeom>
          <a:noFill/>
          <a:ln/>
        </p:spPr>
        <p:txBody>
          <a:bodyPr wrap="square" lIns="0" tIns="0" rIns="0" bIns="0" rtlCol="0" anchor="ctr"/>
          <a:lstStyle/>
          <a:p>
            <a:pPr indent="0" marL="0">
              <a:buNone/>
            </a:pPr>
            <a:r>
              <a:rPr lang="en-US" sz="1050" i="1" dirty="0">
                <a:solidFill>
                  <a:srgbClr val="47596B"/>
                </a:solidFill>
                <a:latin typeface="Calibri" pitchFamily="34" charset="0"/>
                <a:ea typeface="Calibri" pitchFamily="34" charset="-122"/>
                <a:cs typeface="Calibri" pitchFamily="34" charset="-120"/>
              </a:rPr>
              <a:t>All AI learns from one of these approaches. Modern GenAI uses all three at different stages.</a:t>
            </a:r>
            <a:endParaRPr lang="en-US" sz="1050" dirty="0"/>
          </a:p>
        </p:txBody>
      </p:sp>
      <p:sp>
        <p:nvSpPr>
          <p:cNvPr id="8" name="Shape 6"/>
          <p:cNvSpPr/>
          <p:nvPr/>
        </p:nvSpPr>
        <p:spPr>
          <a:xfrm>
            <a:off x="365760" y="1115568"/>
            <a:ext cx="2615184" cy="334670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9" name="Shape 7"/>
          <p:cNvSpPr/>
          <p:nvPr/>
        </p:nvSpPr>
        <p:spPr>
          <a:xfrm>
            <a:off x="365760" y="1115568"/>
            <a:ext cx="2615184" cy="438912"/>
          </a:xfrm>
          <a:prstGeom prst="rect">
            <a:avLst/>
          </a:prstGeom>
          <a:solidFill>
            <a:srgbClr val="1E3A5F"/>
          </a:solidFill>
          <a:ln/>
        </p:spPr>
      </p:sp>
      <p:sp>
        <p:nvSpPr>
          <p:cNvPr id="10" name="Text 8"/>
          <p:cNvSpPr/>
          <p:nvPr/>
        </p:nvSpPr>
        <p:spPr>
          <a:xfrm>
            <a:off x="475488" y="1152144"/>
            <a:ext cx="246888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SUPERVISED LEARNING</a:t>
            </a:r>
            <a:endParaRPr lang="en-US" sz="1050" dirty="0"/>
          </a:p>
        </p:txBody>
      </p:sp>
      <p:sp>
        <p:nvSpPr>
          <p:cNvPr id="11" name="Shape 9"/>
          <p:cNvSpPr/>
          <p:nvPr/>
        </p:nvSpPr>
        <p:spPr>
          <a:xfrm>
            <a:off x="457200" y="1627632"/>
            <a:ext cx="2432304" cy="329184"/>
          </a:xfrm>
          <a:prstGeom prst="rect">
            <a:avLst/>
          </a:prstGeom>
          <a:solidFill>
            <a:srgbClr val="F4E4BC"/>
          </a:solidFill>
          <a:ln/>
        </p:spPr>
      </p:sp>
      <p:sp>
        <p:nvSpPr>
          <p:cNvPr id="12" name="Text 10"/>
          <p:cNvSpPr/>
          <p:nvPr/>
        </p:nvSpPr>
        <p:spPr>
          <a:xfrm>
            <a:off x="512064" y="1645920"/>
            <a:ext cx="2322576" cy="292608"/>
          </a:xfrm>
          <a:prstGeom prst="rect">
            <a:avLst/>
          </a:prstGeom>
          <a:noFill/>
          <a:ln/>
        </p:spPr>
        <p:txBody>
          <a:bodyPr wrap="square" lIns="0" tIns="0" rIns="0" bIns="0" rtlCol="0" anchor="ctr"/>
          <a:lstStyle/>
          <a:p>
            <a:pPr indent="0" marL="0">
              <a:buNone/>
            </a:pPr>
            <a:r>
              <a:rPr lang="en-US" sz="850" i="1" dirty="0">
                <a:solidFill>
                  <a:srgbClr val="B8860B"/>
                </a:solidFill>
                <a:latin typeface="Calibri" pitchFamily="34" charset="0"/>
                <a:ea typeface="Calibri" pitchFamily="34" charset="-122"/>
                <a:cs typeface="Calibri" pitchFamily="34" charset="-120"/>
              </a:rPr>
              <a:t>"Teacher grades every homework"</a:t>
            </a:r>
            <a:endParaRPr lang="en-US" sz="850" dirty="0"/>
          </a:p>
        </p:txBody>
      </p:sp>
      <p:sp>
        <p:nvSpPr>
          <p:cNvPr id="13" name="Text 11"/>
          <p:cNvSpPr/>
          <p:nvPr/>
        </p:nvSpPr>
        <p:spPr>
          <a:xfrm>
            <a:off x="457200" y="2029968"/>
            <a:ext cx="2432304" cy="384048"/>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Trains on labelled examples (input + correct answer). Learns the mapping.</a:t>
            </a:r>
            <a:endParaRPr lang="en-US" sz="900" dirty="0"/>
          </a:p>
        </p:txBody>
      </p:sp>
      <p:sp>
        <p:nvSpPr>
          <p:cNvPr id="14" name="Text 12"/>
          <p:cNvSpPr/>
          <p:nvPr/>
        </p:nvSpPr>
        <p:spPr>
          <a:xfrm>
            <a:off x="457200" y="2468880"/>
            <a:ext cx="2432304" cy="182880"/>
          </a:xfrm>
          <a:prstGeom prst="rect">
            <a:avLst/>
          </a:prstGeom>
          <a:noFill/>
          <a:ln/>
        </p:spPr>
        <p:txBody>
          <a:bodyPr wrap="square" lIns="0" tIns="0" rIns="0" bIns="0" rtlCol="0" anchor="ctr"/>
          <a:lstStyle/>
          <a:p>
            <a:pPr indent="0" marL="0">
              <a:buNone/>
            </a:pPr>
            <a:r>
              <a:rPr lang="en-US" sz="750" b="1" spc="100" kern="0" dirty="0">
                <a:solidFill>
                  <a:srgbClr val="1E3A5F"/>
                </a:solidFill>
                <a:latin typeface="Calibri" pitchFamily="34" charset="0"/>
                <a:ea typeface="Calibri" pitchFamily="34" charset="-122"/>
                <a:cs typeface="Calibri" pitchFamily="34" charset="-120"/>
              </a:rPr>
              <a:t>EXAMPLES</a:t>
            </a:r>
            <a:endParaRPr lang="en-US" sz="750" dirty="0"/>
          </a:p>
        </p:txBody>
      </p:sp>
      <p:sp>
        <p:nvSpPr>
          <p:cNvPr id="15" name="Shape 13"/>
          <p:cNvSpPr/>
          <p:nvPr/>
        </p:nvSpPr>
        <p:spPr>
          <a:xfrm>
            <a:off x="457200" y="2688336"/>
            <a:ext cx="36576" cy="36576"/>
          </a:xfrm>
          <a:prstGeom prst="rect">
            <a:avLst/>
          </a:prstGeom>
          <a:solidFill>
            <a:srgbClr val="1E3A5F"/>
          </a:solidFill>
          <a:ln/>
        </p:spPr>
      </p:sp>
      <p:sp>
        <p:nvSpPr>
          <p:cNvPr id="16" name="Text 14"/>
          <p:cNvSpPr/>
          <p:nvPr/>
        </p:nvSpPr>
        <p:spPr>
          <a:xfrm>
            <a:off x="548640" y="263347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Spam: email → spam / not spam</a:t>
            </a:r>
            <a:endParaRPr lang="en-US" sz="850" dirty="0"/>
          </a:p>
        </p:txBody>
      </p:sp>
      <p:sp>
        <p:nvSpPr>
          <p:cNvPr id="17" name="Shape 15"/>
          <p:cNvSpPr/>
          <p:nvPr/>
        </p:nvSpPr>
        <p:spPr>
          <a:xfrm>
            <a:off x="457200" y="2962656"/>
            <a:ext cx="36576" cy="36576"/>
          </a:xfrm>
          <a:prstGeom prst="rect">
            <a:avLst/>
          </a:prstGeom>
          <a:solidFill>
            <a:srgbClr val="1E3A5F"/>
          </a:solidFill>
          <a:ln/>
        </p:spPr>
      </p:sp>
      <p:sp>
        <p:nvSpPr>
          <p:cNvPr id="18" name="Text 16"/>
          <p:cNvSpPr/>
          <p:nvPr/>
        </p:nvSpPr>
        <p:spPr>
          <a:xfrm>
            <a:off x="548640" y="290779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Credit scoring: app → approve / reject</a:t>
            </a:r>
            <a:endParaRPr lang="en-US" sz="850" dirty="0"/>
          </a:p>
        </p:txBody>
      </p:sp>
      <p:sp>
        <p:nvSpPr>
          <p:cNvPr id="19" name="Shape 17"/>
          <p:cNvSpPr/>
          <p:nvPr/>
        </p:nvSpPr>
        <p:spPr>
          <a:xfrm>
            <a:off x="457200" y="3236976"/>
            <a:ext cx="36576" cy="36576"/>
          </a:xfrm>
          <a:prstGeom prst="rect">
            <a:avLst/>
          </a:prstGeom>
          <a:solidFill>
            <a:srgbClr val="1E3A5F"/>
          </a:solidFill>
          <a:ln/>
        </p:spPr>
      </p:sp>
      <p:sp>
        <p:nvSpPr>
          <p:cNvPr id="20" name="Text 18"/>
          <p:cNvSpPr/>
          <p:nvPr/>
        </p:nvSpPr>
        <p:spPr>
          <a:xfrm>
            <a:off x="548640" y="318211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Medical imaging: X-ray → tumour / not</a:t>
            </a:r>
            <a:endParaRPr lang="en-US" sz="850" dirty="0"/>
          </a:p>
        </p:txBody>
      </p:sp>
      <p:sp>
        <p:nvSpPr>
          <p:cNvPr id="21" name="Shape 19"/>
          <p:cNvSpPr/>
          <p:nvPr/>
        </p:nvSpPr>
        <p:spPr>
          <a:xfrm>
            <a:off x="457200" y="3511296"/>
            <a:ext cx="36576" cy="36576"/>
          </a:xfrm>
          <a:prstGeom prst="rect">
            <a:avLst/>
          </a:prstGeom>
          <a:solidFill>
            <a:srgbClr val="1E3A5F"/>
          </a:solidFill>
          <a:ln/>
        </p:spPr>
      </p:sp>
      <p:sp>
        <p:nvSpPr>
          <p:cNvPr id="22" name="Text 20"/>
          <p:cNvSpPr/>
          <p:nvPr/>
        </p:nvSpPr>
        <p:spPr>
          <a:xfrm>
            <a:off x="548640" y="345643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Fraud: transaction → fraud / genuine</a:t>
            </a:r>
            <a:endParaRPr lang="en-US" sz="850" dirty="0"/>
          </a:p>
        </p:txBody>
      </p:sp>
      <p:sp>
        <p:nvSpPr>
          <p:cNvPr id="23" name="Shape 21"/>
          <p:cNvSpPr/>
          <p:nvPr/>
        </p:nvSpPr>
        <p:spPr>
          <a:xfrm>
            <a:off x="457200" y="3840480"/>
            <a:ext cx="2432304" cy="530352"/>
          </a:xfrm>
          <a:prstGeom prst="rect">
            <a:avLst/>
          </a:prstGeom>
          <a:solidFill>
            <a:srgbClr val="1E3A5F">
              <a:alpha val="10000"/>
            </a:srgbClr>
          </a:solidFill>
          <a:ln/>
        </p:spPr>
      </p:sp>
      <p:sp>
        <p:nvSpPr>
          <p:cNvPr id="24" name="Text 22"/>
          <p:cNvSpPr/>
          <p:nvPr/>
        </p:nvSpPr>
        <p:spPr>
          <a:xfrm>
            <a:off x="512064" y="3858768"/>
            <a:ext cx="2322576" cy="164592"/>
          </a:xfrm>
          <a:prstGeom prst="rect">
            <a:avLst/>
          </a:prstGeom>
          <a:noFill/>
          <a:ln/>
        </p:spPr>
        <p:txBody>
          <a:bodyPr wrap="square" lIns="0" tIns="0" rIns="0" bIns="0" rtlCol="0" anchor="ctr"/>
          <a:lstStyle/>
          <a:p>
            <a:pPr indent="0" marL="0">
              <a:buNone/>
            </a:pPr>
            <a:r>
              <a:rPr lang="en-US" sz="700" b="1" spc="100" kern="0" dirty="0">
                <a:solidFill>
                  <a:srgbClr val="1E3A5F"/>
                </a:solidFill>
                <a:latin typeface="Calibri" pitchFamily="34" charset="0"/>
                <a:ea typeface="Calibri" pitchFamily="34" charset="-122"/>
                <a:cs typeface="Calibri" pitchFamily="34" charset="-120"/>
              </a:rPr>
              <a:t>BEST FOR</a:t>
            </a:r>
            <a:endParaRPr lang="en-US" sz="700" dirty="0"/>
          </a:p>
        </p:txBody>
      </p:sp>
      <p:sp>
        <p:nvSpPr>
          <p:cNvPr id="25" name="Text 23"/>
          <p:cNvSpPr/>
          <p:nvPr/>
        </p:nvSpPr>
        <p:spPr>
          <a:xfrm>
            <a:off x="512064" y="4023360"/>
            <a:ext cx="2322576" cy="329184"/>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Most common in business — when you have historical data with known outcomes.</a:t>
            </a:r>
            <a:endParaRPr lang="en-US" sz="850" dirty="0"/>
          </a:p>
        </p:txBody>
      </p:sp>
      <p:sp>
        <p:nvSpPr>
          <p:cNvPr id="26" name="Shape 24"/>
          <p:cNvSpPr/>
          <p:nvPr/>
        </p:nvSpPr>
        <p:spPr>
          <a:xfrm>
            <a:off x="3172968" y="1115568"/>
            <a:ext cx="2615184" cy="334670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7" name="Shape 25"/>
          <p:cNvSpPr/>
          <p:nvPr/>
        </p:nvSpPr>
        <p:spPr>
          <a:xfrm>
            <a:off x="3172968" y="1115568"/>
            <a:ext cx="2615184" cy="438912"/>
          </a:xfrm>
          <a:prstGeom prst="rect">
            <a:avLst/>
          </a:prstGeom>
          <a:solidFill>
            <a:srgbClr val="0F766E"/>
          </a:solidFill>
          <a:ln/>
        </p:spPr>
      </p:sp>
      <p:sp>
        <p:nvSpPr>
          <p:cNvPr id="28" name="Text 26"/>
          <p:cNvSpPr/>
          <p:nvPr/>
        </p:nvSpPr>
        <p:spPr>
          <a:xfrm>
            <a:off x="3282696" y="1152144"/>
            <a:ext cx="246888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UNSUPERVISED LEARNING</a:t>
            </a:r>
            <a:endParaRPr lang="en-US" sz="1050" dirty="0"/>
          </a:p>
        </p:txBody>
      </p:sp>
      <p:sp>
        <p:nvSpPr>
          <p:cNvPr id="29" name="Shape 27"/>
          <p:cNvSpPr/>
          <p:nvPr/>
        </p:nvSpPr>
        <p:spPr>
          <a:xfrm>
            <a:off x="3264408" y="1627632"/>
            <a:ext cx="2432304" cy="329184"/>
          </a:xfrm>
          <a:prstGeom prst="rect">
            <a:avLst/>
          </a:prstGeom>
          <a:solidFill>
            <a:srgbClr val="F4E4BC"/>
          </a:solidFill>
          <a:ln/>
        </p:spPr>
      </p:sp>
      <p:sp>
        <p:nvSpPr>
          <p:cNvPr id="30" name="Text 28"/>
          <p:cNvSpPr/>
          <p:nvPr/>
        </p:nvSpPr>
        <p:spPr>
          <a:xfrm>
            <a:off x="3319272" y="1645920"/>
            <a:ext cx="2322576" cy="292608"/>
          </a:xfrm>
          <a:prstGeom prst="rect">
            <a:avLst/>
          </a:prstGeom>
          <a:noFill/>
          <a:ln/>
        </p:spPr>
        <p:txBody>
          <a:bodyPr wrap="square" lIns="0" tIns="0" rIns="0" bIns="0" rtlCol="0" anchor="ctr"/>
          <a:lstStyle/>
          <a:p>
            <a:pPr indent="0" marL="0">
              <a:buNone/>
            </a:pPr>
            <a:r>
              <a:rPr lang="en-US" sz="850" i="1" dirty="0">
                <a:solidFill>
                  <a:srgbClr val="B8860B"/>
                </a:solidFill>
                <a:latin typeface="Calibri" pitchFamily="34" charset="0"/>
                <a:ea typeface="Calibri" pitchFamily="34" charset="-122"/>
                <a:cs typeface="Calibri" pitchFamily="34" charset="-120"/>
              </a:rPr>
              <a:t>"A child sorts toys with no instructions"</a:t>
            </a:r>
            <a:endParaRPr lang="en-US" sz="850" dirty="0"/>
          </a:p>
        </p:txBody>
      </p:sp>
      <p:sp>
        <p:nvSpPr>
          <p:cNvPr id="31" name="Text 29"/>
          <p:cNvSpPr/>
          <p:nvPr/>
        </p:nvSpPr>
        <p:spPr>
          <a:xfrm>
            <a:off x="3264408" y="2029968"/>
            <a:ext cx="2432304" cy="384048"/>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No labels. Model finds hidden patterns and natural structure in raw data.</a:t>
            </a:r>
            <a:endParaRPr lang="en-US" sz="900" dirty="0"/>
          </a:p>
        </p:txBody>
      </p:sp>
      <p:sp>
        <p:nvSpPr>
          <p:cNvPr id="32" name="Text 30"/>
          <p:cNvSpPr/>
          <p:nvPr/>
        </p:nvSpPr>
        <p:spPr>
          <a:xfrm>
            <a:off x="3264408" y="2468880"/>
            <a:ext cx="2432304" cy="182880"/>
          </a:xfrm>
          <a:prstGeom prst="rect">
            <a:avLst/>
          </a:prstGeom>
          <a:noFill/>
          <a:ln/>
        </p:spPr>
        <p:txBody>
          <a:bodyPr wrap="square" lIns="0" tIns="0" rIns="0" bIns="0" rtlCol="0" anchor="ctr"/>
          <a:lstStyle/>
          <a:p>
            <a:pPr indent="0" marL="0">
              <a:buNone/>
            </a:pPr>
            <a:r>
              <a:rPr lang="en-US" sz="750" b="1" spc="100" kern="0" dirty="0">
                <a:solidFill>
                  <a:srgbClr val="0F766E"/>
                </a:solidFill>
                <a:latin typeface="Calibri" pitchFamily="34" charset="0"/>
                <a:ea typeface="Calibri" pitchFamily="34" charset="-122"/>
                <a:cs typeface="Calibri" pitchFamily="34" charset="-120"/>
              </a:rPr>
              <a:t>EXAMPLES</a:t>
            </a:r>
            <a:endParaRPr lang="en-US" sz="750" dirty="0"/>
          </a:p>
        </p:txBody>
      </p:sp>
      <p:sp>
        <p:nvSpPr>
          <p:cNvPr id="33" name="Shape 31"/>
          <p:cNvSpPr/>
          <p:nvPr/>
        </p:nvSpPr>
        <p:spPr>
          <a:xfrm>
            <a:off x="3264408" y="2688336"/>
            <a:ext cx="36576" cy="36576"/>
          </a:xfrm>
          <a:prstGeom prst="rect">
            <a:avLst/>
          </a:prstGeom>
          <a:solidFill>
            <a:srgbClr val="0F766E"/>
          </a:solidFill>
          <a:ln/>
        </p:spPr>
      </p:sp>
      <p:sp>
        <p:nvSpPr>
          <p:cNvPr id="34" name="Text 32"/>
          <p:cNvSpPr/>
          <p:nvPr/>
        </p:nvSpPr>
        <p:spPr>
          <a:xfrm>
            <a:off x="3355848" y="263347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Customer segmentation</a:t>
            </a:r>
            <a:endParaRPr lang="en-US" sz="850" dirty="0"/>
          </a:p>
        </p:txBody>
      </p:sp>
      <p:sp>
        <p:nvSpPr>
          <p:cNvPr id="35" name="Shape 33"/>
          <p:cNvSpPr/>
          <p:nvPr/>
        </p:nvSpPr>
        <p:spPr>
          <a:xfrm>
            <a:off x="3264408" y="2962656"/>
            <a:ext cx="36576" cy="36576"/>
          </a:xfrm>
          <a:prstGeom prst="rect">
            <a:avLst/>
          </a:prstGeom>
          <a:solidFill>
            <a:srgbClr val="0F766E"/>
          </a:solidFill>
          <a:ln/>
        </p:spPr>
      </p:sp>
      <p:sp>
        <p:nvSpPr>
          <p:cNvPr id="36" name="Text 34"/>
          <p:cNvSpPr/>
          <p:nvPr/>
        </p:nvSpPr>
        <p:spPr>
          <a:xfrm>
            <a:off x="3355848" y="290779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Anomaly detection in transactions</a:t>
            </a:r>
            <a:endParaRPr lang="en-US" sz="850" dirty="0"/>
          </a:p>
        </p:txBody>
      </p:sp>
      <p:sp>
        <p:nvSpPr>
          <p:cNvPr id="37" name="Shape 35"/>
          <p:cNvSpPr/>
          <p:nvPr/>
        </p:nvSpPr>
        <p:spPr>
          <a:xfrm>
            <a:off x="3264408" y="3236976"/>
            <a:ext cx="36576" cy="36576"/>
          </a:xfrm>
          <a:prstGeom prst="rect">
            <a:avLst/>
          </a:prstGeom>
          <a:solidFill>
            <a:srgbClr val="0F766E"/>
          </a:solidFill>
          <a:ln/>
        </p:spPr>
      </p:sp>
      <p:sp>
        <p:nvSpPr>
          <p:cNvPr id="38" name="Text 36"/>
          <p:cNvSpPr/>
          <p:nvPr/>
        </p:nvSpPr>
        <p:spPr>
          <a:xfrm>
            <a:off x="3355848" y="318211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Topic modelling in feedback</a:t>
            </a:r>
            <a:endParaRPr lang="en-US" sz="850" dirty="0"/>
          </a:p>
        </p:txBody>
      </p:sp>
      <p:sp>
        <p:nvSpPr>
          <p:cNvPr id="39" name="Shape 37"/>
          <p:cNvSpPr/>
          <p:nvPr/>
        </p:nvSpPr>
        <p:spPr>
          <a:xfrm>
            <a:off x="3264408" y="3511296"/>
            <a:ext cx="36576" cy="36576"/>
          </a:xfrm>
          <a:prstGeom prst="rect">
            <a:avLst/>
          </a:prstGeom>
          <a:solidFill>
            <a:srgbClr val="0F766E"/>
          </a:solidFill>
          <a:ln/>
        </p:spPr>
      </p:sp>
      <p:sp>
        <p:nvSpPr>
          <p:cNvPr id="40" name="Text 38"/>
          <p:cNvSpPr/>
          <p:nvPr/>
        </p:nvSpPr>
        <p:spPr>
          <a:xfrm>
            <a:off x="3355848" y="345643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Recommendations: users who did X also did Y</a:t>
            </a:r>
            <a:endParaRPr lang="en-US" sz="850" dirty="0"/>
          </a:p>
        </p:txBody>
      </p:sp>
      <p:sp>
        <p:nvSpPr>
          <p:cNvPr id="41" name="Shape 39"/>
          <p:cNvSpPr/>
          <p:nvPr/>
        </p:nvSpPr>
        <p:spPr>
          <a:xfrm>
            <a:off x="3264408" y="3840480"/>
            <a:ext cx="2432304" cy="530352"/>
          </a:xfrm>
          <a:prstGeom prst="rect">
            <a:avLst/>
          </a:prstGeom>
          <a:solidFill>
            <a:srgbClr val="0F766E">
              <a:alpha val="10000"/>
            </a:srgbClr>
          </a:solidFill>
          <a:ln/>
        </p:spPr>
      </p:sp>
      <p:sp>
        <p:nvSpPr>
          <p:cNvPr id="42" name="Text 40"/>
          <p:cNvSpPr/>
          <p:nvPr/>
        </p:nvSpPr>
        <p:spPr>
          <a:xfrm>
            <a:off x="3319272" y="3858768"/>
            <a:ext cx="2322576" cy="164592"/>
          </a:xfrm>
          <a:prstGeom prst="rect">
            <a:avLst/>
          </a:prstGeom>
          <a:noFill/>
          <a:ln/>
        </p:spPr>
        <p:txBody>
          <a:bodyPr wrap="square" lIns="0" tIns="0" rIns="0" bIns="0" rtlCol="0" anchor="ctr"/>
          <a:lstStyle/>
          <a:p>
            <a:pPr indent="0" marL="0">
              <a:buNone/>
            </a:pPr>
            <a:r>
              <a:rPr lang="en-US" sz="700" b="1" spc="100" kern="0" dirty="0">
                <a:solidFill>
                  <a:srgbClr val="0F766E"/>
                </a:solidFill>
                <a:latin typeface="Calibri" pitchFamily="34" charset="0"/>
                <a:ea typeface="Calibri" pitchFamily="34" charset="-122"/>
                <a:cs typeface="Calibri" pitchFamily="34" charset="-120"/>
              </a:rPr>
              <a:t>BEST FOR</a:t>
            </a:r>
            <a:endParaRPr lang="en-US" sz="700" dirty="0"/>
          </a:p>
        </p:txBody>
      </p:sp>
      <p:sp>
        <p:nvSpPr>
          <p:cNvPr id="43" name="Text 41"/>
          <p:cNvSpPr/>
          <p:nvPr/>
        </p:nvSpPr>
        <p:spPr>
          <a:xfrm>
            <a:off x="3319272" y="4023360"/>
            <a:ext cx="2322576" cy="329184"/>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When you don't know what categories exist — great for discovery.</a:t>
            </a:r>
            <a:endParaRPr lang="en-US" sz="850" dirty="0"/>
          </a:p>
        </p:txBody>
      </p:sp>
      <p:sp>
        <p:nvSpPr>
          <p:cNvPr id="44" name="Shape 42"/>
          <p:cNvSpPr/>
          <p:nvPr/>
        </p:nvSpPr>
        <p:spPr>
          <a:xfrm>
            <a:off x="5980176" y="1115568"/>
            <a:ext cx="2615184" cy="334670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5" name="Shape 43"/>
          <p:cNvSpPr/>
          <p:nvPr/>
        </p:nvSpPr>
        <p:spPr>
          <a:xfrm>
            <a:off x="5980176" y="1115568"/>
            <a:ext cx="2615184" cy="438912"/>
          </a:xfrm>
          <a:prstGeom prst="rect">
            <a:avLst/>
          </a:prstGeom>
          <a:solidFill>
            <a:srgbClr val="B8860B"/>
          </a:solidFill>
          <a:ln/>
        </p:spPr>
      </p:sp>
      <p:sp>
        <p:nvSpPr>
          <p:cNvPr id="46" name="Text 44"/>
          <p:cNvSpPr/>
          <p:nvPr/>
        </p:nvSpPr>
        <p:spPr>
          <a:xfrm>
            <a:off x="6089904" y="1152144"/>
            <a:ext cx="2468880" cy="365760"/>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REINFORCEMENT LEARNING</a:t>
            </a:r>
            <a:endParaRPr lang="en-US" sz="1050" dirty="0"/>
          </a:p>
        </p:txBody>
      </p:sp>
      <p:sp>
        <p:nvSpPr>
          <p:cNvPr id="47" name="Shape 45"/>
          <p:cNvSpPr/>
          <p:nvPr/>
        </p:nvSpPr>
        <p:spPr>
          <a:xfrm>
            <a:off x="6071616" y="1627632"/>
            <a:ext cx="2432304" cy="329184"/>
          </a:xfrm>
          <a:prstGeom prst="rect">
            <a:avLst/>
          </a:prstGeom>
          <a:solidFill>
            <a:srgbClr val="F4E4BC"/>
          </a:solidFill>
          <a:ln/>
        </p:spPr>
      </p:sp>
      <p:sp>
        <p:nvSpPr>
          <p:cNvPr id="48" name="Text 46"/>
          <p:cNvSpPr/>
          <p:nvPr/>
        </p:nvSpPr>
        <p:spPr>
          <a:xfrm>
            <a:off x="6126480" y="1645920"/>
            <a:ext cx="2322576" cy="292608"/>
          </a:xfrm>
          <a:prstGeom prst="rect">
            <a:avLst/>
          </a:prstGeom>
          <a:noFill/>
          <a:ln/>
        </p:spPr>
        <p:txBody>
          <a:bodyPr wrap="square" lIns="0" tIns="0" rIns="0" bIns="0" rtlCol="0" anchor="ctr"/>
          <a:lstStyle/>
          <a:p>
            <a:pPr indent="0" marL="0">
              <a:buNone/>
            </a:pPr>
            <a:r>
              <a:rPr lang="en-US" sz="850" i="1" dirty="0">
                <a:solidFill>
                  <a:srgbClr val="B8860B"/>
                </a:solidFill>
                <a:latin typeface="Calibri" pitchFamily="34" charset="0"/>
                <a:ea typeface="Calibri" pitchFamily="34" charset="-122"/>
                <a:cs typeface="Calibri" pitchFamily="34" charset="-120"/>
              </a:rPr>
              <a:t>"Training a dog with treats and corrections"</a:t>
            </a:r>
            <a:endParaRPr lang="en-US" sz="850" dirty="0"/>
          </a:p>
        </p:txBody>
      </p:sp>
      <p:sp>
        <p:nvSpPr>
          <p:cNvPr id="49" name="Text 47"/>
          <p:cNvSpPr/>
          <p:nvPr/>
        </p:nvSpPr>
        <p:spPr>
          <a:xfrm>
            <a:off x="6071616" y="2029968"/>
            <a:ext cx="2432304" cy="384048"/>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Agent takes actions, receives rewards or penalties, learns to maximise reward.</a:t>
            </a:r>
            <a:endParaRPr lang="en-US" sz="900" dirty="0"/>
          </a:p>
        </p:txBody>
      </p:sp>
      <p:sp>
        <p:nvSpPr>
          <p:cNvPr id="50" name="Text 48"/>
          <p:cNvSpPr/>
          <p:nvPr/>
        </p:nvSpPr>
        <p:spPr>
          <a:xfrm>
            <a:off x="6071616" y="2468880"/>
            <a:ext cx="2432304" cy="182880"/>
          </a:xfrm>
          <a:prstGeom prst="rect">
            <a:avLst/>
          </a:prstGeom>
          <a:noFill/>
          <a:ln/>
        </p:spPr>
        <p:txBody>
          <a:bodyPr wrap="square" lIns="0" tIns="0" rIns="0" bIns="0" rtlCol="0" anchor="ctr"/>
          <a:lstStyle/>
          <a:p>
            <a:pPr indent="0" marL="0">
              <a:buNone/>
            </a:pPr>
            <a:r>
              <a:rPr lang="en-US" sz="750" b="1" spc="100" kern="0" dirty="0">
                <a:solidFill>
                  <a:srgbClr val="B8860B"/>
                </a:solidFill>
                <a:latin typeface="Calibri" pitchFamily="34" charset="0"/>
                <a:ea typeface="Calibri" pitchFamily="34" charset="-122"/>
                <a:cs typeface="Calibri" pitchFamily="34" charset="-120"/>
              </a:rPr>
              <a:t>EXAMPLES</a:t>
            </a:r>
            <a:endParaRPr lang="en-US" sz="750" dirty="0"/>
          </a:p>
        </p:txBody>
      </p:sp>
      <p:sp>
        <p:nvSpPr>
          <p:cNvPr id="51" name="Shape 49"/>
          <p:cNvSpPr/>
          <p:nvPr/>
        </p:nvSpPr>
        <p:spPr>
          <a:xfrm>
            <a:off x="6071616" y="2688336"/>
            <a:ext cx="36576" cy="36576"/>
          </a:xfrm>
          <a:prstGeom prst="rect">
            <a:avLst/>
          </a:prstGeom>
          <a:solidFill>
            <a:srgbClr val="B8860B"/>
          </a:solidFill>
          <a:ln/>
        </p:spPr>
      </p:sp>
      <p:sp>
        <p:nvSpPr>
          <p:cNvPr id="52" name="Text 50"/>
          <p:cNvSpPr/>
          <p:nvPr/>
        </p:nvSpPr>
        <p:spPr>
          <a:xfrm>
            <a:off x="6163056" y="263347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RLHF: what makes ChatGPT helpful</a:t>
            </a:r>
            <a:endParaRPr lang="en-US" sz="850" dirty="0"/>
          </a:p>
        </p:txBody>
      </p:sp>
      <p:sp>
        <p:nvSpPr>
          <p:cNvPr id="53" name="Shape 51"/>
          <p:cNvSpPr/>
          <p:nvPr/>
        </p:nvSpPr>
        <p:spPr>
          <a:xfrm>
            <a:off x="6071616" y="2962656"/>
            <a:ext cx="36576" cy="36576"/>
          </a:xfrm>
          <a:prstGeom prst="rect">
            <a:avLst/>
          </a:prstGeom>
          <a:solidFill>
            <a:srgbClr val="B8860B"/>
          </a:solidFill>
          <a:ln/>
        </p:spPr>
      </p:sp>
      <p:sp>
        <p:nvSpPr>
          <p:cNvPr id="54" name="Text 52"/>
          <p:cNvSpPr/>
          <p:nvPr/>
        </p:nvSpPr>
        <p:spPr>
          <a:xfrm>
            <a:off x="6163056" y="290779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AlphaGo beating chess champions</a:t>
            </a:r>
            <a:endParaRPr lang="en-US" sz="850" dirty="0"/>
          </a:p>
        </p:txBody>
      </p:sp>
      <p:sp>
        <p:nvSpPr>
          <p:cNvPr id="55" name="Shape 53"/>
          <p:cNvSpPr/>
          <p:nvPr/>
        </p:nvSpPr>
        <p:spPr>
          <a:xfrm>
            <a:off x="6071616" y="3236976"/>
            <a:ext cx="36576" cy="36576"/>
          </a:xfrm>
          <a:prstGeom prst="rect">
            <a:avLst/>
          </a:prstGeom>
          <a:solidFill>
            <a:srgbClr val="B8860B"/>
          </a:solidFill>
          <a:ln/>
        </p:spPr>
      </p:sp>
      <p:sp>
        <p:nvSpPr>
          <p:cNvPr id="56" name="Text 54"/>
          <p:cNvSpPr/>
          <p:nvPr/>
        </p:nvSpPr>
        <p:spPr>
          <a:xfrm>
            <a:off x="6163056" y="318211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Robotics: teaching a robot arm</a:t>
            </a:r>
            <a:endParaRPr lang="en-US" sz="850" dirty="0"/>
          </a:p>
        </p:txBody>
      </p:sp>
      <p:sp>
        <p:nvSpPr>
          <p:cNvPr id="57" name="Shape 55"/>
          <p:cNvSpPr/>
          <p:nvPr/>
        </p:nvSpPr>
        <p:spPr>
          <a:xfrm>
            <a:off x="6071616" y="3511296"/>
            <a:ext cx="36576" cy="36576"/>
          </a:xfrm>
          <a:prstGeom prst="rect">
            <a:avLst/>
          </a:prstGeom>
          <a:solidFill>
            <a:srgbClr val="B8860B"/>
          </a:solidFill>
          <a:ln/>
        </p:spPr>
      </p:sp>
      <p:sp>
        <p:nvSpPr>
          <p:cNvPr id="58" name="Text 56"/>
          <p:cNvSpPr/>
          <p:nvPr/>
        </p:nvSpPr>
        <p:spPr>
          <a:xfrm>
            <a:off x="6163056" y="3456432"/>
            <a:ext cx="2340864" cy="23774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Ad bidding: optimise for clicks</a:t>
            </a:r>
            <a:endParaRPr lang="en-US" sz="850" dirty="0"/>
          </a:p>
        </p:txBody>
      </p:sp>
      <p:sp>
        <p:nvSpPr>
          <p:cNvPr id="59" name="Shape 57"/>
          <p:cNvSpPr/>
          <p:nvPr/>
        </p:nvSpPr>
        <p:spPr>
          <a:xfrm>
            <a:off x="6071616" y="3840480"/>
            <a:ext cx="2432304" cy="530352"/>
          </a:xfrm>
          <a:prstGeom prst="rect">
            <a:avLst/>
          </a:prstGeom>
          <a:solidFill>
            <a:srgbClr val="B8860B">
              <a:alpha val="10000"/>
            </a:srgbClr>
          </a:solidFill>
          <a:ln/>
        </p:spPr>
      </p:sp>
      <p:sp>
        <p:nvSpPr>
          <p:cNvPr id="60" name="Text 58"/>
          <p:cNvSpPr/>
          <p:nvPr/>
        </p:nvSpPr>
        <p:spPr>
          <a:xfrm>
            <a:off x="6126480" y="3858768"/>
            <a:ext cx="2322576" cy="164592"/>
          </a:xfrm>
          <a:prstGeom prst="rect">
            <a:avLst/>
          </a:prstGeom>
          <a:noFill/>
          <a:ln/>
        </p:spPr>
        <p:txBody>
          <a:bodyPr wrap="square" lIns="0" tIns="0" rIns="0" bIns="0" rtlCol="0" anchor="ctr"/>
          <a:lstStyle/>
          <a:p>
            <a:pPr indent="0" marL="0">
              <a:buNone/>
            </a:pPr>
            <a:r>
              <a:rPr lang="en-US" sz="700" b="1" spc="100" kern="0" dirty="0">
                <a:solidFill>
                  <a:srgbClr val="B8860B"/>
                </a:solidFill>
                <a:latin typeface="Calibri" pitchFamily="34" charset="0"/>
                <a:ea typeface="Calibri" pitchFamily="34" charset="-122"/>
                <a:cs typeface="Calibri" pitchFamily="34" charset="-120"/>
              </a:rPr>
              <a:t>BEST FOR</a:t>
            </a:r>
            <a:endParaRPr lang="en-US" sz="700" dirty="0"/>
          </a:p>
        </p:txBody>
      </p:sp>
      <p:sp>
        <p:nvSpPr>
          <p:cNvPr id="61" name="Text 59"/>
          <p:cNvSpPr/>
          <p:nvPr/>
        </p:nvSpPr>
        <p:spPr>
          <a:xfrm>
            <a:off x="6126480" y="4023360"/>
            <a:ext cx="2322576" cy="329184"/>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Sequential decision-making — powers helpfulness tuning of all LLMs.</a:t>
            </a:r>
            <a:endParaRPr lang="en-US" sz="850" dirty="0"/>
          </a:p>
        </p:txBody>
      </p:sp>
      <p:sp>
        <p:nvSpPr>
          <p:cNvPr id="62" name="Shape 60"/>
          <p:cNvSpPr/>
          <p:nvPr/>
        </p:nvSpPr>
        <p:spPr>
          <a:xfrm>
            <a:off x="365760" y="4572000"/>
            <a:ext cx="8412480" cy="457200"/>
          </a:xfrm>
          <a:prstGeom prst="rect">
            <a:avLst/>
          </a:prstGeom>
          <a:solidFill>
            <a:srgbClr val="EDF1F7"/>
          </a:solidFill>
          <a:ln/>
        </p:spPr>
      </p:sp>
      <p:sp>
        <p:nvSpPr>
          <p:cNvPr id="63" name="Shape 61"/>
          <p:cNvSpPr/>
          <p:nvPr/>
        </p:nvSpPr>
        <p:spPr>
          <a:xfrm>
            <a:off x="365760" y="4572000"/>
            <a:ext cx="36576" cy="457200"/>
          </a:xfrm>
          <a:prstGeom prst="rect">
            <a:avLst/>
          </a:prstGeom>
          <a:solidFill>
            <a:srgbClr val="B8860B"/>
          </a:solidFill>
          <a:ln/>
        </p:spPr>
      </p:sp>
      <p:sp>
        <p:nvSpPr>
          <p:cNvPr id="64" name="Text 62"/>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65" name="Text 63"/>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GenAI uses all three: pre-training (unsupervised), fine-tuning (supervised), RLHF (reinforcement). Knowing the difference helps you ask better questions of your AI team.</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NEURAL NETWORKS &amp; DEEP LEARNING — THE ENGINE UNDERNEATH</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 Relay Team Passing a Message, Each Runner Refining It</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 neural network is a chain of simple units (neurons) arranged in layers. Each layer takes the previous one's output, refines it, and passes it on — like a relay team where each runner improves the message. 'Deep' learning simply means many layers stacked, letting the network learn increasingly abstract ideas.</a:t>
            </a:r>
            <a:endParaRPr lang="en-US" sz="1000" dirty="0"/>
          </a:p>
        </p:txBody>
      </p:sp>
      <p:sp>
        <p:nvSpPr>
          <p:cNvPr id="11" name="Shape 9"/>
          <p:cNvSpPr/>
          <p:nvPr/>
        </p:nvSpPr>
        <p:spPr>
          <a:xfrm>
            <a:off x="365760" y="1847088"/>
            <a:ext cx="4078224" cy="268833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4078224" cy="365760"/>
          </a:xfrm>
          <a:prstGeom prst="rect">
            <a:avLst/>
          </a:prstGeom>
          <a:solidFill>
            <a:srgbClr val="1E3A5F"/>
          </a:solidFill>
          <a:ln/>
        </p:spPr>
      </p:sp>
      <p:sp>
        <p:nvSpPr>
          <p:cNvPr id="13" name="Text 11"/>
          <p:cNvSpPr/>
          <p:nvPr/>
        </p:nvSpPr>
        <p:spPr>
          <a:xfrm>
            <a:off x="457200" y="1874520"/>
            <a:ext cx="3895344" cy="310896"/>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HOW THE LAYERS LEARN  ·  Recognising a face</a:t>
            </a:r>
            <a:endParaRPr lang="en-US" sz="950" dirty="0"/>
          </a:p>
        </p:txBody>
      </p:sp>
      <p:sp>
        <p:nvSpPr>
          <p:cNvPr id="14" name="Shape 12"/>
          <p:cNvSpPr/>
          <p:nvPr/>
        </p:nvSpPr>
        <p:spPr>
          <a:xfrm>
            <a:off x="512064" y="2304288"/>
            <a:ext cx="1463040" cy="347472"/>
          </a:xfrm>
          <a:prstGeom prst="rect">
            <a:avLst/>
          </a:prstGeom>
          <a:solidFill>
            <a:srgbClr val="47596B"/>
          </a:solidFill>
          <a:ln/>
        </p:spPr>
      </p:sp>
      <p:sp>
        <p:nvSpPr>
          <p:cNvPr id="15" name="Text 13"/>
          <p:cNvSpPr/>
          <p:nvPr/>
        </p:nvSpPr>
        <p:spPr>
          <a:xfrm>
            <a:off x="512064" y="2377440"/>
            <a:ext cx="14630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INPUT LAYER</a:t>
            </a:r>
            <a:endParaRPr lang="en-US" sz="800" dirty="0"/>
          </a:p>
        </p:txBody>
      </p:sp>
      <p:sp>
        <p:nvSpPr>
          <p:cNvPr id="16" name="Text 14"/>
          <p:cNvSpPr/>
          <p:nvPr/>
        </p:nvSpPr>
        <p:spPr>
          <a:xfrm>
            <a:off x="1993392" y="2340864"/>
            <a:ext cx="182880" cy="274320"/>
          </a:xfrm>
          <a:prstGeom prst="rect">
            <a:avLst/>
          </a:prstGeom>
          <a:noFill/>
          <a:ln/>
        </p:spPr>
        <p:txBody>
          <a:bodyPr wrap="square" lIns="0" tIns="0" rIns="0" bIns="0" rtlCol="0" anchor="ctr"/>
          <a:lstStyle/>
          <a:p>
            <a:pPr algn="ctr" indent="0" marL="0">
              <a:buNone/>
            </a:pPr>
            <a:r>
              <a:rPr lang="en-US" sz="1100" dirty="0">
                <a:solidFill>
                  <a:srgbClr val="8898AA"/>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2212848" y="2359152"/>
            <a:ext cx="2139696" cy="274320"/>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Raw pixels — just dots of colour</a:t>
            </a:r>
            <a:endParaRPr lang="en-US" sz="800" dirty="0"/>
          </a:p>
        </p:txBody>
      </p:sp>
      <p:sp>
        <p:nvSpPr>
          <p:cNvPr id="18" name="Shape 16"/>
          <p:cNvSpPr/>
          <p:nvPr/>
        </p:nvSpPr>
        <p:spPr>
          <a:xfrm>
            <a:off x="512064" y="2724912"/>
            <a:ext cx="1463040" cy="347472"/>
          </a:xfrm>
          <a:prstGeom prst="rect">
            <a:avLst/>
          </a:prstGeom>
          <a:solidFill>
            <a:srgbClr val="1E3A5F"/>
          </a:solidFill>
          <a:ln/>
        </p:spPr>
      </p:sp>
      <p:sp>
        <p:nvSpPr>
          <p:cNvPr id="19" name="Text 17"/>
          <p:cNvSpPr/>
          <p:nvPr/>
        </p:nvSpPr>
        <p:spPr>
          <a:xfrm>
            <a:off x="512064" y="2798064"/>
            <a:ext cx="14630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EARLY LAYERS</a:t>
            </a:r>
            <a:endParaRPr lang="en-US" sz="800" dirty="0"/>
          </a:p>
        </p:txBody>
      </p:sp>
      <p:sp>
        <p:nvSpPr>
          <p:cNvPr id="20" name="Text 18"/>
          <p:cNvSpPr/>
          <p:nvPr/>
        </p:nvSpPr>
        <p:spPr>
          <a:xfrm>
            <a:off x="1993392" y="2761488"/>
            <a:ext cx="182880" cy="274320"/>
          </a:xfrm>
          <a:prstGeom prst="rect">
            <a:avLst/>
          </a:prstGeom>
          <a:noFill/>
          <a:ln/>
        </p:spPr>
        <p:txBody>
          <a:bodyPr wrap="square" lIns="0" tIns="0" rIns="0" bIns="0" rtlCol="0" anchor="ctr"/>
          <a:lstStyle/>
          <a:p>
            <a:pPr algn="ctr" indent="0" marL="0">
              <a:buNone/>
            </a:pPr>
            <a:r>
              <a:rPr lang="en-US" sz="1100" dirty="0">
                <a:solidFill>
                  <a:srgbClr val="8898AA"/>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2212848" y="2779776"/>
            <a:ext cx="2139696" cy="274320"/>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Detect edges and simple lines</a:t>
            </a:r>
            <a:endParaRPr lang="en-US" sz="800" dirty="0"/>
          </a:p>
        </p:txBody>
      </p:sp>
      <p:sp>
        <p:nvSpPr>
          <p:cNvPr id="22" name="Shape 20"/>
          <p:cNvSpPr/>
          <p:nvPr/>
        </p:nvSpPr>
        <p:spPr>
          <a:xfrm>
            <a:off x="512064" y="3145536"/>
            <a:ext cx="1463040" cy="347472"/>
          </a:xfrm>
          <a:prstGeom prst="rect">
            <a:avLst/>
          </a:prstGeom>
          <a:solidFill>
            <a:srgbClr val="0F766E"/>
          </a:solidFill>
          <a:ln/>
        </p:spPr>
      </p:sp>
      <p:sp>
        <p:nvSpPr>
          <p:cNvPr id="23" name="Text 21"/>
          <p:cNvSpPr/>
          <p:nvPr/>
        </p:nvSpPr>
        <p:spPr>
          <a:xfrm>
            <a:off x="512064" y="3218688"/>
            <a:ext cx="14630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MIDDLE LAYERS</a:t>
            </a:r>
            <a:endParaRPr lang="en-US" sz="800" dirty="0"/>
          </a:p>
        </p:txBody>
      </p:sp>
      <p:sp>
        <p:nvSpPr>
          <p:cNvPr id="24" name="Text 22"/>
          <p:cNvSpPr/>
          <p:nvPr/>
        </p:nvSpPr>
        <p:spPr>
          <a:xfrm>
            <a:off x="1993392" y="3182112"/>
            <a:ext cx="182880" cy="274320"/>
          </a:xfrm>
          <a:prstGeom prst="rect">
            <a:avLst/>
          </a:prstGeom>
          <a:noFill/>
          <a:ln/>
        </p:spPr>
        <p:txBody>
          <a:bodyPr wrap="square" lIns="0" tIns="0" rIns="0" bIns="0" rtlCol="0" anchor="ctr"/>
          <a:lstStyle/>
          <a:p>
            <a:pPr algn="ctr" indent="0" marL="0">
              <a:buNone/>
            </a:pPr>
            <a:r>
              <a:rPr lang="en-US" sz="1100" dirty="0">
                <a:solidFill>
                  <a:srgbClr val="8898AA"/>
                </a:solidFill>
                <a:latin typeface="Calibri" pitchFamily="34" charset="0"/>
                <a:ea typeface="Calibri" pitchFamily="34" charset="-122"/>
                <a:cs typeface="Calibri" pitchFamily="34" charset="-120"/>
              </a:rPr>
              <a:t>→</a:t>
            </a:r>
            <a:endParaRPr lang="en-US" sz="1100" dirty="0"/>
          </a:p>
        </p:txBody>
      </p:sp>
      <p:sp>
        <p:nvSpPr>
          <p:cNvPr id="25" name="Text 23"/>
          <p:cNvSpPr/>
          <p:nvPr/>
        </p:nvSpPr>
        <p:spPr>
          <a:xfrm>
            <a:off x="2212848" y="3200400"/>
            <a:ext cx="2139696" cy="274320"/>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Combine edges into shapes — eyes, nose</a:t>
            </a:r>
            <a:endParaRPr lang="en-US" sz="800" dirty="0"/>
          </a:p>
        </p:txBody>
      </p:sp>
      <p:sp>
        <p:nvSpPr>
          <p:cNvPr id="26" name="Shape 24"/>
          <p:cNvSpPr/>
          <p:nvPr/>
        </p:nvSpPr>
        <p:spPr>
          <a:xfrm>
            <a:off x="512064" y="3566160"/>
            <a:ext cx="1463040" cy="347472"/>
          </a:xfrm>
          <a:prstGeom prst="rect">
            <a:avLst/>
          </a:prstGeom>
          <a:solidFill>
            <a:srgbClr val="0F766E"/>
          </a:solidFill>
          <a:ln/>
        </p:spPr>
      </p:sp>
      <p:sp>
        <p:nvSpPr>
          <p:cNvPr id="27" name="Text 25"/>
          <p:cNvSpPr/>
          <p:nvPr/>
        </p:nvSpPr>
        <p:spPr>
          <a:xfrm>
            <a:off x="512064" y="3639312"/>
            <a:ext cx="14630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DEEP LAYERS</a:t>
            </a:r>
            <a:endParaRPr lang="en-US" sz="800" dirty="0"/>
          </a:p>
        </p:txBody>
      </p:sp>
      <p:sp>
        <p:nvSpPr>
          <p:cNvPr id="28" name="Text 26"/>
          <p:cNvSpPr/>
          <p:nvPr/>
        </p:nvSpPr>
        <p:spPr>
          <a:xfrm>
            <a:off x="1993392" y="3602736"/>
            <a:ext cx="182880" cy="274320"/>
          </a:xfrm>
          <a:prstGeom prst="rect">
            <a:avLst/>
          </a:prstGeom>
          <a:noFill/>
          <a:ln/>
        </p:spPr>
        <p:txBody>
          <a:bodyPr wrap="square" lIns="0" tIns="0" rIns="0" bIns="0" rtlCol="0" anchor="ctr"/>
          <a:lstStyle/>
          <a:p>
            <a:pPr algn="ctr" indent="0" marL="0">
              <a:buNone/>
            </a:pPr>
            <a:r>
              <a:rPr lang="en-US" sz="1100" dirty="0">
                <a:solidFill>
                  <a:srgbClr val="8898AA"/>
                </a:solidFill>
                <a:latin typeface="Calibri" pitchFamily="34" charset="0"/>
                <a:ea typeface="Calibri" pitchFamily="34" charset="-122"/>
                <a:cs typeface="Calibri" pitchFamily="34" charset="-120"/>
              </a:rPr>
              <a:t>→</a:t>
            </a:r>
            <a:endParaRPr lang="en-US" sz="1100" dirty="0"/>
          </a:p>
        </p:txBody>
      </p:sp>
      <p:sp>
        <p:nvSpPr>
          <p:cNvPr id="29" name="Text 27"/>
          <p:cNvSpPr/>
          <p:nvPr/>
        </p:nvSpPr>
        <p:spPr>
          <a:xfrm>
            <a:off x="2212848" y="3621024"/>
            <a:ext cx="2139696" cy="274320"/>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Assemble shapes into a whole face</a:t>
            </a:r>
            <a:endParaRPr lang="en-US" sz="800" dirty="0"/>
          </a:p>
        </p:txBody>
      </p:sp>
      <p:sp>
        <p:nvSpPr>
          <p:cNvPr id="30" name="Shape 28"/>
          <p:cNvSpPr/>
          <p:nvPr/>
        </p:nvSpPr>
        <p:spPr>
          <a:xfrm>
            <a:off x="512064" y="3986784"/>
            <a:ext cx="1463040" cy="347472"/>
          </a:xfrm>
          <a:prstGeom prst="rect">
            <a:avLst/>
          </a:prstGeom>
          <a:solidFill>
            <a:srgbClr val="5B8C6B"/>
          </a:solidFill>
          <a:ln/>
        </p:spPr>
      </p:sp>
      <p:sp>
        <p:nvSpPr>
          <p:cNvPr id="31" name="Text 29"/>
          <p:cNvSpPr/>
          <p:nvPr/>
        </p:nvSpPr>
        <p:spPr>
          <a:xfrm>
            <a:off x="512064" y="4059936"/>
            <a:ext cx="14630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OUTPUT LAYER</a:t>
            </a:r>
            <a:endParaRPr lang="en-US" sz="800" dirty="0"/>
          </a:p>
        </p:txBody>
      </p:sp>
      <p:sp>
        <p:nvSpPr>
          <p:cNvPr id="32" name="Text 30"/>
          <p:cNvSpPr/>
          <p:nvPr/>
        </p:nvSpPr>
        <p:spPr>
          <a:xfrm>
            <a:off x="1993392" y="4023360"/>
            <a:ext cx="182880" cy="274320"/>
          </a:xfrm>
          <a:prstGeom prst="rect">
            <a:avLst/>
          </a:prstGeom>
          <a:noFill/>
          <a:ln/>
        </p:spPr>
        <p:txBody>
          <a:bodyPr wrap="square" lIns="0" tIns="0" rIns="0" bIns="0" rtlCol="0" anchor="ctr"/>
          <a:lstStyle/>
          <a:p>
            <a:pPr algn="ctr" indent="0" marL="0">
              <a:buNone/>
            </a:pPr>
            <a:r>
              <a:rPr lang="en-US" sz="1100" dirty="0">
                <a:solidFill>
                  <a:srgbClr val="8898AA"/>
                </a:solidFill>
                <a:latin typeface="Calibri" pitchFamily="34" charset="0"/>
                <a:ea typeface="Calibri" pitchFamily="34" charset="-122"/>
                <a:cs typeface="Calibri" pitchFamily="34" charset="-120"/>
              </a:rPr>
              <a:t>→</a:t>
            </a:r>
            <a:endParaRPr lang="en-US" sz="1100" dirty="0"/>
          </a:p>
        </p:txBody>
      </p:sp>
      <p:sp>
        <p:nvSpPr>
          <p:cNvPr id="33" name="Text 31"/>
          <p:cNvSpPr/>
          <p:nvPr/>
        </p:nvSpPr>
        <p:spPr>
          <a:xfrm>
            <a:off x="2212848" y="4041648"/>
            <a:ext cx="2139696" cy="274320"/>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Decision: "This is Maria"</a:t>
            </a:r>
            <a:endParaRPr lang="en-US" sz="800" dirty="0"/>
          </a:p>
        </p:txBody>
      </p:sp>
      <p:sp>
        <p:nvSpPr>
          <p:cNvPr id="34" name="Shape 32"/>
          <p:cNvSpPr/>
          <p:nvPr/>
        </p:nvSpPr>
        <p:spPr>
          <a:xfrm>
            <a:off x="4700016" y="1847088"/>
            <a:ext cx="4078224" cy="268833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5" name="Shape 33"/>
          <p:cNvSpPr/>
          <p:nvPr/>
        </p:nvSpPr>
        <p:spPr>
          <a:xfrm>
            <a:off x="4700016" y="1847088"/>
            <a:ext cx="4078224" cy="365760"/>
          </a:xfrm>
          <a:prstGeom prst="rect">
            <a:avLst/>
          </a:prstGeom>
          <a:solidFill>
            <a:srgbClr val="0F766E"/>
          </a:solidFill>
          <a:ln/>
        </p:spPr>
      </p:sp>
      <p:sp>
        <p:nvSpPr>
          <p:cNvPr id="36" name="Text 34"/>
          <p:cNvSpPr/>
          <p:nvPr/>
        </p:nvSpPr>
        <p:spPr>
          <a:xfrm>
            <a:off x="4791456" y="1874520"/>
            <a:ext cx="3895344" cy="310896"/>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WHAT MAKES IT WORK</a:t>
            </a:r>
            <a:endParaRPr lang="en-US" sz="950" dirty="0"/>
          </a:p>
        </p:txBody>
      </p:sp>
      <p:sp>
        <p:nvSpPr>
          <p:cNvPr id="37" name="Shape 35"/>
          <p:cNvSpPr/>
          <p:nvPr/>
        </p:nvSpPr>
        <p:spPr>
          <a:xfrm>
            <a:off x="4791456" y="2304288"/>
            <a:ext cx="3895344" cy="493776"/>
          </a:xfrm>
          <a:prstGeom prst="rect">
            <a:avLst/>
          </a:prstGeom>
          <a:solidFill>
            <a:srgbClr val="FFFFFF"/>
          </a:solidFill>
          <a:ln/>
        </p:spPr>
      </p:sp>
      <p:sp>
        <p:nvSpPr>
          <p:cNvPr id="38" name="Shape 36"/>
          <p:cNvSpPr/>
          <p:nvPr/>
        </p:nvSpPr>
        <p:spPr>
          <a:xfrm>
            <a:off x="4791456" y="2304288"/>
            <a:ext cx="36576" cy="493776"/>
          </a:xfrm>
          <a:prstGeom prst="rect">
            <a:avLst/>
          </a:prstGeom>
          <a:solidFill>
            <a:srgbClr val="0F766E"/>
          </a:solidFill>
          <a:ln/>
        </p:spPr>
      </p:sp>
      <p:sp>
        <p:nvSpPr>
          <p:cNvPr id="39" name="Text 37"/>
          <p:cNvSpPr/>
          <p:nvPr/>
        </p:nvSpPr>
        <p:spPr>
          <a:xfrm>
            <a:off x="4901184" y="2340864"/>
            <a:ext cx="1188720" cy="420624"/>
          </a:xfrm>
          <a:prstGeom prst="rect">
            <a:avLst/>
          </a:prstGeom>
          <a:noFill/>
          <a:ln/>
        </p:spPr>
        <p:txBody>
          <a:bodyPr wrap="square" lIns="0" tIns="0" rIns="0" bIns="0" rtlCol="0" anchor="ctr"/>
          <a:lstStyle/>
          <a:p>
            <a:pPr indent="0" marL="0">
              <a:buNone/>
            </a:pPr>
            <a:r>
              <a:rPr lang="en-US" sz="950" b="1" dirty="0">
                <a:solidFill>
                  <a:srgbClr val="0F766E"/>
                </a:solidFill>
                <a:latin typeface="Calibri" pitchFamily="34" charset="0"/>
                <a:ea typeface="Calibri" pitchFamily="34" charset="-122"/>
                <a:cs typeface="Calibri" pitchFamily="34" charset="-120"/>
              </a:rPr>
              <a:t>Neurons</a:t>
            </a:r>
            <a:endParaRPr lang="en-US" sz="950" dirty="0"/>
          </a:p>
        </p:txBody>
      </p:sp>
      <p:sp>
        <p:nvSpPr>
          <p:cNvPr id="40" name="Text 38"/>
          <p:cNvSpPr/>
          <p:nvPr/>
        </p:nvSpPr>
        <p:spPr>
          <a:xfrm>
            <a:off x="6089904" y="2350008"/>
            <a:ext cx="2560320" cy="42062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Tiny units that each do a simple calculation. A network has billions of them.</a:t>
            </a:r>
            <a:endParaRPr lang="en-US" sz="800" dirty="0"/>
          </a:p>
        </p:txBody>
      </p:sp>
      <p:sp>
        <p:nvSpPr>
          <p:cNvPr id="41" name="Shape 39"/>
          <p:cNvSpPr/>
          <p:nvPr/>
        </p:nvSpPr>
        <p:spPr>
          <a:xfrm>
            <a:off x="4791456" y="2852928"/>
            <a:ext cx="3895344" cy="493776"/>
          </a:xfrm>
          <a:prstGeom prst="rect">
            <a:avLst/>
          </a:prstGeom>
          <a:solidFill>
            <a:srgbClr val="EDF1F7"/>
          </a:solidFill>
          <a:ln/>
        </p:spPr>
      </p:sp>
      <p:sp>
        <p:nvSpPr>
          <p:cNvPr id="42" name="Shape 40"/>
          <p:cNvSpPr/>
          <p:nvPr/>
        </p:nvSpPr>
        <p:spPr>
          <a:xfrm>
            <a:off x="4791456" y="2852928"/>
            <a:ext cx="36576" cy="493776"/>
          </a:xfrm>
          <a:prstGeom prst="rect">
            <a:avLst/>
          </a:prstGeom>
          <a:solidFill>
            <a:srgbClr val="0F766E"/>
          </a:solidFill>
          <a:ln/>
        </p:spPr>
      </p:sp>
      <p:sp>
        <p:nvSpPr>
          <p:cNvPr id="43" name="Text 41"/>
          <p:cNvSpPr/>
          <p:nvPr/>
        </p:nvSpPr>
        <p:spPr>
          <a:xfrm>
            <a:off x="4901184" y="2889504"/>
            <a:ext cx="1188720" cy="420624"/>
          </a:xfrm>
          <a:prstGeom prst="rect">
            <a:avLst/>
          </a:prstGeom>
          <a:noFill/>
          <a:ln/>
        </p:spPr>
        <p:txBody>
          <a:bodyPr wrap="square" lIns="0" tIns="0" rIns="0" bIns="0" rtlCol="0" anchor="ctr"/>
          <a:lstStyle/>
          <a:p>
            <a:pPr indent="0" marL="0">
              <a:buNone/>
            </a:pPr>
            <a:r>
              <a:rPr lang="en-US" sz="950" b="1" dirty="0">
                <a:solidFill>
                  <a:srgbClr val="0F766E"/>
                </a:solidFill>
                <a:latin typeface="Calibri" pitchFamily="34" charset="0"/>
                <a:ea typeface="Calibri" pitchFamily="34" charset="-122"/>
                <a:cs typeface="Calibri" pitchFamily="34" charset="-120"/>
              </a:rPr>
              <a:t>Weights</a:t>
            </a:r>
            <a:endParaRPr lang="en-US" sz="950" dirty="0"/>
          </a:p>
        </p:txBody>
      </p:sp>
      <p:sp>
        <p:nvSpPr>
          <p:cNvPr id="44" name="Text 42"/>
          <p:cNvSpPr/>
          <p:nvPr/>
        </p:nvSpPr>
        <p:spPr>
          <a:xfrm>
            <a:off x="6089904" y="2898648"/>
            <a:ext cx="2560320" cy="42062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Numbers that strengthen or weaken each connection — adjusted during training.</a:t>
            </a:r>
            <a:endParaRPr lang="en-US" sz="800" dirty="0"/>
          </a:p>
        </p:txBody>
      </p:sp>
      <p:sp>
        <p:nvSpPr>
          <p:cNvPr id="45" name="Shape 43"/>
          <p:cNvSpPr/>
          <p:nvPr/>
        </p:nvSpPr>
        <p:spPr>
          <a:xfrm>
            <a:off x="4791456" y="3401568"/>
            <a:ext cx="3895344" cy="493776"/>
          </a:xfrm>
          <a:prstGeom prst="rect">
            <a:avLst/>
          </a:prstGeom>
          <a:solidFill>
            <a:srgbClr val="FFFFFF"/>
          </a:solidFill>
          <a:ln/>
        </p:spPr>
      </p:sp>
      <p:sp>
        <p:nvSpPr>
          <p:cNvPr id="46" name="Shape 44"/>
          <p:cNvSpPr/>
          <p:nvPr/>
        </p:nvSpPr>
        <p:spPr>
          <a:xfrm>
            <a:off x="4791456" y="3401568"/>
            <a:ext cx="36576" cy="493776"/>
          </a:xfrm>
          <a:prstGeom prst="rect">
            <a:avLst/>
          </a:prstGeom>
          <a:solidFill>
            <a:srgbClr val="0F766E"/>
          </a:solidFill>
          <a:ln/>
        </p:spPr>
      </p:sp>
      <p:sp>
        <p:nvSpPr>
          <p:cNvPr id="47" name="Text 45"/>
          <p:cNvSpPr/>
          <p:nvPr/>
        </p:nvSpPr>
        <p:spPr>
          <a:xfrm>
            <a:off x="4901184" y="3438144"/>
            <a:ext cx="1188720" cy="420624"/>
          </a:xfrm>
          <a:prstGeom prst="rect">
            <a:avLst/>
          </a:prstGeom>
          <a:noFill/>
          <a:ln/>
        </p:spPr>
        <p:txBody>
          <a:bodyPr wrap="square" lIns="0" tIns="0" rIns="0" bIns="0" rtlCol="0" anchor="ctr"/>
          <a:lstStyle/>
          <a:p>
            <a:pPr indent="0" marL="0">
              <a:buNone/>
            </a:pPr>
            <a:r>
              <a:rPr lang="en-US" sz="950" b="1" dirty="0">
                <a:solidFill>
                  <a:srgbClr val="0F766E"/>
                </a:solidFill>
                <a:latin typeface="Calibri" pitchFamily="34" charset="0"/>
                <a:ea typeface="Calibri" pitchFamily="34" charset="-122"/>
                <a:cs typeface="Calibri" pitchFamily="34" charset="-120"/>
              </a:rPr>
              <a:t>Layers</a:t>
            </a:r>
            <a:endParaRPr lang="en-US" sz="950" dirty="0"/>
          </a:p>
        </p:txBody>
      </p:sp>
      <p:sp>
        <p:nvSpPr>
          <p:cNvPr id="48" name="Text 46"/>
          <p:cNvSpPr/>
          <p:nvPr/>
        </p:nvSpPr>
        <p:spPr>
          <a:xfrm>
            <a:off x="6089904" y="3447288"/>
            <a:ext cx="2560320" cy="42062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Stacked stages. More layers = more abstract concepts learned. This is the 'deep' in deep learning.</a:t>
            </a:r>
            <a:endParaRPr lang="en-US" sz="800" dirty="0"/>
          </a:p>
        </p:txBody>
      </p:sp>
      <p:sp>
        <p:nvSpPr>
          <p:cNvPr id="49" name="Shape 47"/>
          <p:cNvSpPr/>
          <p:nvPr/>
        </p:nvSpPr>
        <p:spPr>
          <a:xfrm>
            <a:off x="4791456" y="3950208"/>
            <a:ext cx="3895344" cy="493776"/>
          </a:xfrm>
          <a:prstGeom prst="rect">
            <a:avLst/>
          </a:prstGeom>
          <a:solidFill>
            <a:srgbClr val="EDF1F7"/>
          </a:solidFill>
          <a:ln/>
        </p:spPr>
      </p:sp>
      <p:sp>
        <p:nvSpPr>
          <p:cNvPr id="50" name="Shape 48"/>
          <p:cNvSpPr/>
          <p:nvPr/>
        </p:nvSpPr>
        <p:spPr>
          <a:xfrm>
            <a:off x="4791456" y="3950208"/>
            <a:ext cx="36576" cy="493776"/>
          </a:xfrm>
          <a:prstGeom prst="rect">
            <a:avLst/>
          </a:prstGeom>
          <a:solidFill>
            <a:srgbClr val="0F766E"/>
          </a:solidFill>
          <a:ln/>
        </p:spPr>
      </p:sp>
      <p:sp>
        <p:nvSpPr>
          <p:cNvPr id="51" name="Text 49"/>
          <p:cNvSpPr/>
          <p:nvPr/>
        </p:nvSpPr>
        <p:spPr>
          <a:xfrm>
            <a:off x="4901184" y="3986784"/>
            <a:ext cx="1188720" cy="420624"/>
          </a:xfrm>
          <a:prstGeom prst="rect">
            <a:avLst/>
          </a:prstGeom>
          <a:noFill/>
          <a:ln/>
        </p:spPr>
        <p:txBody>
          <a:bodyPr wrap="square" lIns="0" tIns="0" rIns="0" bIns="0" rtlCol="0" anchor="ctr"/>
          <a:lstStyle/>
          <a:p>
            <a:pPr indent="0" marL="0">
              <a:buNone/>
            </a:pPr>
            <a:r>
              <a:rPr lang="en-US" sz="950" b="1" dirty="0">
                <a:solidFill>
                  <a:srgbClr val="0F766E"/>
                </a:solidFill>
                <a:latin typeface="Calibri" pitchFamily="34" charset="0"/>
                <a:ea typeface="Calibri" pitchFamily="34" charset="-122"/>
                <a:cs typeface="Calibri" pitchFamily="34" charset="-120"/>
              </a:rPr>
              <a:t>Training</a:t>
            </a:r>
            <a:endParaRPr lang="en-US" sz="950" dirty="0"/>
          </a:p>
        </p:txBody>
      </p:sp>
      <p:sp>
        <p:nvSpPr>
          <p:cNvPr id="52" name="Text 50"/>
          <p:cNvSpPr/>
          <p:nvPr/>
        </p:nvSpPr>
        <p:spPr>
          <a:xfrm>
            <a:off x="6089904" y="3995928"/>
            <a:ext cx="2560320" cy="42062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The network sees millions of examples and nudges its weights until it gets answers right.</a:t>
            </a:r>
            <a:endParaRPr lang="en-US" sz="800" dirty="0"/>
          </a:p>
        </p:txBody>
      </p:sp>
      <p:sp>
        <p:nvSpPr>
          <p:cNvPr id="53" name="Shape 51"/>
          <p:cNvSpPr/>
          <p:nvPr/>
        </p:nvSpPr>
        <p:spPr>
          <a:xfrm>
            <a:off x="365760" y="4572000"/>
            <a:ext cx="8412480" cy="457200"/>
          </a:xfrm>
          <a:prstGeom prst="rect">
            <a:avLst/>
          </a:prstGeom>
          <a:solidFill>
            <a:srgbClr val="EDF1F7"/>
          </a:solidFill>
          <a:ln/>
        </p:spPr>
      </p:sp>
      <p:sp>
        <p:nvSpPr>
          <p:cNvPr id="54" name="Shape 52"/>
          <p:cNvSpPr/>
          <p:nvPr/>
        </p:nvSpPr>
        <p:spPr>
          <a:xfrm>
            <a:off x="365760" y="4572000"/>
            <a:ext cx="36576" cy="457200"/>
          </a:xfrm>
          <a:prstGeom prst="rect">
            <a:avLst/>
          </a:prstGeom>
          <a:solidFill>
            <a:srgbClr val="B8860B"/>
          </a:solidFill>
          <a:ln/>
        </p:spPr>
      </p:sp>
      <p:sp>
        <p:nvSpPr>
          <p:cNvPr id="55" name="Text 53"/>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6" name="Text 54"/>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Deep learning powers face recognition, voice assistants, and self-driving cars — and it is the foundation Transformers are built on. You don't need the maths, just the layered intuition.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HOW A TRANSFORMER WORKS — A WORKED EXAMPLE</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Predicting the Next Word in a Sentence</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Let's watch a Transformer finish the sentence: "The chef tasted the soup and added more ___." It doesn't guess randomly — it weighs every earlier word to decide what fits best. Here is what happens inside, step by step.</a:t>
            </a:r>
            <a:endParaRPr lang="en-US" sz="1000" dirty="0"/>
          </a:p>
        </p:txBody>
      </p:sp>
      <p:sp>
        <p:nvSpPr>
          <p:cNvPr id="11" name="Shape 9"/>
          <p:cNvSpPr/>
          <p:nvPr/>
        </p:nvSpPr>
        <p:spPr>
          <a:xfrm>
            <a:off x="365760" y="1847088"/>
            <a:ext cx="8412480" cy="310896"/>
          </a:xfrm>
          <a:prstGeom prst="rect">
            <a:avLst/>
          </a:prstGeom>
          <a:solidFill>
            <a:srgbClr val="1E3A5F"/>
          </a:solidFill>
          <a:ln/>
        </p:spPr>
      </p:sp>
      <p:sp>
        <p:nvSpPr>
          <p:cNvPr id="12" name="Text 10"/>
          <p:cNvSpPr/>
          <p:nvPr/>
        </p:nvSpPr>
        <p:spPr>
          <a:xfrm>
            <a:off x="457200" y="1874520"/>
            <a:ext cx="8229600" cy="256032"/>
          </a:xfrm>
          <a:prstGeom prst="rect">
            <a:avLst/>
          </a:prstGeom>
          <a:noFill/>
          <a:ln/>
        </p:spPr>
        <p:txBody>
          <a:bodyPr wrap="square" lIns="0" tIns="0" rIns="0" bIns="0" rtlCol="0" anchor="ctr"/>
          <a:lstStyle/>
          <a:p>
            <a:pPr indent="0" marL="0">
              <a:buNone/>
            </a:pPr>
            <a:r>
              <a:rPr lang="en-US" sz="1000" b="1" spc="50" kern="0" dirty="0">
                <a:solidFill>
                  <a:srgbClr val="FFFFFF"/>
                </a:solidFill>
                <a:latin typeface="Calibri" pitchFamily="34" charset="0"/>
                <a:ea typeface="Calibri" pitchFamily="34" charset="-122"/>
                <a:cs typeface="Calibri" pitchFamily="34" charset="-120"/>
              </a:rPr>
              <a:t>THE SENTENCE  ·  "The chef tasted the soup and added more ___"</a:t>
            </a:r>
            <a:endParaRPr lang="en-US" sz="1000" dirty="0"/>
          </a:p>
        </p:txBody>
      </p:sp>
      <p:sp>
        <p:nvSpPr>
          <p:cNvPr id="13" name="Shape 11"/>
          <p:cNvSpPr/>
          <p:nvPr/>
        </p:nvSpPr>
        <p:spPr>
          <a:xfrm>
            <a:off x="365760" y="2286000"/>
            <a:ext cx="8412480" cy="420624"/>
          </a:xfrm>
          <a:prstGeom prst="rect">
            <a:avLst/>
          </a:prstGeom>
          <a:solidFill>
            <a:srgbClr val="FAFBFD"/>
          </a:solidFill>
          <a:ln/>
        </p:spPr>
      </p:sp>
      <p:sp>
        <p:nvSpPr>
          <p:cNvPr id="14" name="Shape 12"/>
          <p:cNvSpPr/>
          <p:nvPr/>
        </p:nvSpPr>
        <p:spPr>
          <a:xfrm>
            <a:off x="365760" y="2286000"/>
            <a:ext cx="457200" cy="420624"/>
          </a:xfrm>
          <a:prstGeom prst="rect">
            <a:avLst/>
          </a:prstGeom>
          <a:solidFill>
            <a:srgbClr val="1E3A5F"/>
          </a:solidFill>
          <a:ln/>
        </p:spPr>
      </p:sp>
      <p:sp>
        <p:nvSpPr>
          <p:cNvPr id="15" name="Text 13"/>
          <p:cNvSpPr/>
          <p:nvPr/>
        </p:nvSpPr>
        <p:spPr>
          <a:xfrm>
            <a:off x="365760" y="2359152"/>
            <a:ext cx="45720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6" name="Text 14"/>
          <p:cNvSpPr/>
          <p:nvPr/>
        </p:nvSpPr>
        <p:spPr>
          <a:xfrm>
            <a:off x="932688" y="2340864"/>
            <a:ext cx="1920240" cy="310896"/>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Break into tokens</a:t>
            </a:r>
            <a:endParaRPr lang="en-US" sz="950" dirty="0"/>
          </a:p>
        </p:txBody>
      </p:sp>
      <p:sp>
        <p:nvSpPr>
          <p:cNvPr id="17" name="Text 15"/>
          <p:cNvSpPr/>
          <p:nvPr/>
        </p:nvSpPr>
        <p:spPr>
          <a:xfrm>
            <a:off x="2926080" y="2340864"/>
            <a:ext cx="3246120" cy="310896"/>
          </a:xfrm>
          <a:prstGeom prst="rect">
            <a:avLst/>
          </a:prstGeom>
          <a:noFill/>
          <a:ln/>
        </p:spPr>
        <p:txBody>
          <a:bodyPr wrap="square" lIns="0" tIns="0" rIns="0" bIns="0" rtlCol="0" anchor="ctr"/>
          <a:lstStyle/>
          <a:p>
            <a:pPr indent="0" marL="0">
              <a:buNone/>
            </a:pPr>
            <a:r>
              <a:rPr lang="en-US" sz="900" dirty="0">
                <a:solidFill>
                  <a:srgbClr val="1E3A5F"/>
                </a:solidFill>
                <a:latin typeface="Calibri" pitchFamily="34" charset="0"/>
                <a:ea typeface="Calibri" pitchFamily="34" charset="-122"/>
                <a:cs typeface="Calibri" pitchFamily="34" charset="-120"/>
              </a:rPr>
              <a:t>The · chef · tasted · the · soup · and · added · more</a:t>
            </a:r>
            <a:endParaRPr lang="en-US" sz="900" dirty="0"/>
          </a:p>
        </p:txBody>
      </p:sp>
      <p:sp>
        <p:nvSpPr>
          <p:cNvPr id="18" name="Text 16"/>
          <p:cNvSpPr/>
          <p:nvPr/>
        </p:nvSpPr>
        <p:spPr>
          <a:xfrm>
            <a:off x="6263640" y="2350008"/>
            <a:ext cx="2423160" cy="310896"/>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Each word becomes a number the model can process</a:t>
            </a:r>
            <a:endParaRPr lang="en-US" sz="750" dirty="0"/>
          </a:p>
        </p:txBody>
      </p:sp>
      <p:sp>
        <p:nvSpPr>
          <p:cNvPr id="19" name="Shape 17"/>
          <p:cNvSpPr/>
          <p:nvPr/>
        </p:nvSpPr>
        <p:spPr>
          <a:xfrm>
            <a:off x="365760" y="2743200"/>
            <a:ext cx="8412480" cy="42062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8"/>
          <p:cNvSpPr/>
          <p:nvPr/>
        </p:nvSpPr>
        <p:spPr>
          <a:xfrm>
            <a:off x="365760" y="2743200"/>
            <a:ext cx="457200" cy="420624"/>
          </a:xfrm>
          <a:prstGeom prst="rect">
            <a:avLst/>
          </a:prstGeom>
          <a:solidFill>
            <a:srgbClr val="1E3A5F"/>
          </a:solidFill>
          <a:ln/>
        </p:spPr>
      </p:sp>
      <p:sp>
        <p:nvSpPr>
          <p:cNvPr id="21" name="Text 19"/>
          <p:cNvSpPr/>
          <p:nvPr/>
        </p:nvSpPr>
        <p:spPr>
          <a:xfrm>
            <a:off x="365760" y="2816352"/>
            <a:ext cx="45720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2" name="Text 20"/>
          <p:cNvSpPr/>
          <p:nvPr/>
        </p:nvSpPr>
        <p:spPr>
          <a:xfrm>
            <a:off x="932688" y="2798064"/>
            <a:ext cx="1920240" cy="310896"/>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Apply attention</a:t>
            </a:r>
            <a:endParaRPr lang="en-US" sz="950" dirty="0"/>
          </a:p>
        </p:txBody>
      </p:sp>
      <p:sp>
        <p:nvSpPr>
          <p:cNvPr id="23" name="Text 21"/>
          <p:cNvSpPr/>
          <p:nvPr/>
        </p:nvSpPr>
        <p:spPr>
          <a:xfrm>
            <a:off x="2926080" y="2798064"/>
            <a:ext cx="3246120" cy="310896"/>
          </a:xfrm>
          <a:prstGeom prst="rect">
            <a:avLst/>
          </a:prstGeom>
          <a:noFill/>
          <a:ln/>
        </p:spPr>
        <p:txBody>
          <a:bodyPr wrap="square" lIns="0" tIns="0" rIns="0" bIns="0" rtlCol="0" anchor="ctr"/>
          <a:lstStyle/>
          <a:p>
            <a:pPr indent="0" marL="0">
              <a:buNone/>
            </a:pPr>
            <a:r>
              <a:rPr lang="en-US" sz="900" dirty="0">
                <a:solidFill>
                  <a:srgbClr val="1E3A5F"/>
                </a:solidFill>
                <a:latin typeface="Calibri" pitchFamily="34" charset="0"/>
                <a:ea typeface="Calibri" pitchFamily="34" charset="-122"/>
                <a:cs typeface="Calibri" pitchFamily="34" charset="-120"/>
              </a:rPr>
              <a:t>The model asks: which words matter for the blank?</a:t>
            </a:r>
            <a:endParaRPr lang="en-US" sz="900" dirty="0"/>
          </a:p>
        </p:txBody>
      </p:sp>
      <p:sp>
        <p:nvSpPr>
          <p:cNvPr id="24" name="Text 22"/>
          <p:cNvSpPr/>
          <p:nvPr/>
        </p:nvSpPr>
        <p:spPr>
          <a:xfrm>
            <a:off x="6263640" y="2807208"/>
            <a:ext cx="2423160" cy="310896"/>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"chef", "tasted", "soup" light up — "the" and "and" stay dim</a:t>
            </a:r>
            <a:endParaRPr lang="en-US" sz="750" dirty="0"/>
          </a:p>
        </p:txBody>
      </p:sp>
      <p:sp>
        <p:nvSpPr>
          <p:cNvPr id="25" name="Shape 23"/>
          <p:cNvSpPr/>
          <p:nvPr/>
        </p:nvSpPr>
        <p:spPr>
          <a:xfrm>
            <a:off x="365760" y="3200400"/>
            <a:ext cx="8412480" cy="420624"/>
          </a:xfrm>
          <a:prstGeom prst="rect">
            <a:avLst/>
          </a:prstGeom>
          <a:solidFill>
            <a:srgbClr val="FAFBFD"/>
          </a:solidFill>
          <a:ln/>
        </p:spPr>
      </p:sp>
      <p:sp>
        <p:nvSpPr>
          <p:cNvPr id="26" name="Shape 24"/>
          <p:cNvSpPr/>
          <p:nvPr/>
        </p:nvSpPr>
        <p:spPr>
          <a:xfrm>
            <a:off x="365760" y="3200400"/>
            <a:ext cx="457200" cy="420624"/>
          </a:xfrm>
          <a:prstGeom prst="rect">
            <a:avLst/>
          </a:prstGeom>
          <a:solidFill>
            <a:srgbClr val="1E3A5F"/>
          </a:solidFill>
          <a:ln/>
        </p:spPr>
      </p:sp>
      <p:sp>
        <p:nvSpPr>
          <p:cNvPr id="27" name="Text 25"/>
          <p:cNvSpPr/>
          <p:nvPr/>
        </p:nvSpPr>
        <p:spPr>
          <a:xfrm>
            <a:off x="365760" y="3273552"/>
            <a:ext cx="45720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8" name="Text 26"/>
          <p:cNvSpPr/>
          <p:nvPr/>
        </p:nvSpPr>
        <p:spPr>
          <a:xfrm>
            <a:off x="932688" y="3255264"/>
            <a:ext cx="1920240" cy="310896"/>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Weigh the context</a:t>
            </a:r>
            <a:endParaRPr lang="en-US" sz="950" dirty="0"/>
          </a:p>
        </p:txBody>
      </p:sp>
      <p:sp>
        <p:nvSpPr>
          <p:cNvPr id="29" name="Text 27"/>
          <p:cNvSpPr/>
          <p:nvPr/>
        </p:nvSpPr>
        <p:spPr>
          <a:xfrm>
            <a:off x="2926080" y="3255264"/>
            <a:ext cx="3246120" cy="310896"/>
          </a:xfrm>
          <a:prstGeom prst="rect">
            <a:avLst/>
          </a:prstGeom>
          <a:noFill/>
          <a:ln/>
        </p:spPr>
        <p:txBody>
          <a:bodyPr wrap="square" lIns="0" tIns="0" rIns="0" bIns="0" rtlCol="0" anchor="ctr"/>
          <a:lstStyle/>
          <a:p>
            <a:pPr indent="0" marL="0">
              <a:buNone/>
            </a:pPr>
            <a:r>
              <a:rPr lang="en-US" sz="900" dirty="0">
                <a:solidFill>
                  <a:srgbClr val="1E3A5F"/>
                </a:solidFill>
                <a:latin typeface="Calibri" pitchFamily="34" charset="0"/>
                <a:ea typeface="Calibri" pitchFamily="34" charset="-122"/>
                <a:cs typeface="Calibri" pitchFamily="34" charset="-120"/>
              </a:rPr>
              <a:t>Cooking + tasting + soup → this is about flavour</a:t>
            </a:r>
            <a:endParaRPr lang="en-US" sz="900" dirty="0"/>
          </a:p>
        </p:txBody>
      </p:sp>
      <p:sp>
        <p:nvSpPr>
          <p:cNvPr id="30" name="Text 28"/>
          <p:cNvSpPr/>
          <p:nvPr/>
        </p:nvSpPr>
        <p:spPr>
          <a:xfrm>
            <a:off x="6263640" y="3264408"/>
            <a:ext cx="2423160" cy="310896"/>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Attention scores connect the blank to the food context</a:t>
            </a:r>
            <a:endParaRPr lang="en-US" sz="750" dirty="0"/>
          </a:p>
        </p:txBody>
      </p:sp>
      <p:sp>
        <p:nvSpPr>
          <p:cNvPr id="31" name="Shape 29"/>
          <p:cNvSpPr/>
          <p:nvPr/>
        </p:nvSpPr>
        <p:spPr>
          <a:xfrm>
            <a:off x="365760" y="3657600"/>
            <a:ext cx="8412480" cy="42062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2" name="Shape 30"/>
          <p:cNvSpPr/>
          <p:nvPr/>
        </p:nvSpPr>
        <p:spPr>
          <a:xfrm>
            <a:off x="365760" y="3657600"/>
            <a:ext cx="457200" cy="420624"/>
          </a:xfrm>
          <a:prstGeom prst="rect">
            <a:avLst/>
          </a:prstGeom>
          <a:solidFill>
            <a:srgbClr val="1E3A5F"/>
          </a:solidFill>
          <a:ln/>
        </p:spPr>
      </p:sp>
      <p:sp>
        <p:nvSpPr>
          <p:cNvPr id="33" name="Text 31"/>
          <p:cNvSpPr/>
          <p:nvPr/>
        </p:nvSpPr>
        <p:spPr>
          <a:xfrm>
            <a:off x="365760" y="3730752"/>
            <a:ext cx="45720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4" name="Text 32"/>
          <p:cNvSpPr/>
          <p:nvPr/>
        </p:nvSpPr>
        <p:spPr>
          <a:xfrm>
            <a:off x="932688" y="3712464"/>
            <a:ext cx="1920240" cy="310896"/>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Predict probabilities</a:t>
            </a:r>
            <a:endParaRPr lang="en-US" sz="950" dirty="0"/>
          </a:p>
        </p:txBody>
      </p:sp>
      <p:sp>
        <p:nvSpPr>
          <p:cNvPr id="35" name="Text 33"/>
          <p:cNvSpPr/>
          <p:nvPr/>
        </p:nvSpPr>
        <p:spPr>
          <a:xfrm>
            <a:off x="2926080" y="3712464"/>
            <a:ext cx="3246120" cy="310896"/>
          </a:xfrm>
          <a:prstGeom prst="rect">
            <a:avLst/>
          </a:prstGeom>
          <a:noFill/>
          <a:ln/>
        </p:spPr>
        <p:txBody>
          <a:bodyPr wrap="square" lIns="0" tIns="0" rIns="0" bIns="0" rtlCol="0" anchor="ctr"/>
          <a:lstStyle/>
          <a:p>
            <a:pPr indent="0" marL="0">
              <a:buNone/>
            </a:pPr>
            <a:r>
              <a:rPr lang="en-US" sz="900" dirty="0">
                <a:solidFill>
                  <a:srgbClr val="1E3A5F"/>
                </a:solidFill>
                <a:latin typeface="Calibri" pitchFamily="34" charset="0"/>
                <a:ea typeface="Calibri" pitchFamily="34" charset="-122"/>
                <a:cs typeface="Calibri" pitchFamily="34" charset="-120"/>
              </a:rPr>
              <a:t>salt 71% · pepper 18% · water 6% · books 0.001%</a:t>
            </a:r>
            <a:endParaRPr lang="en-US" sz="900" dirty="0"/>
          </a:p>
        </p:txBody>
      </p:sp>
      <p:sp>
        <p:nvSpPr>
          <p:cNvPr id="36" name="Text 34"/>
          <p:cNvSpPr/>
          <p:nvPr/>
        </p:nvSpPr>
        <p:spPr>
          <a:xfrm>
            <a:off x="6263640" y="3721608"/>
            <a:ext cx="2423160" cy="310896"/>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Every possible next word gets a likelihood score</a:t>
            </a:r>
            <a:endParaRPr lang="en-US" sz="750" dirty="0"/>
          </a:p>
        </p:txBody>
      </p:sp>
      <p:sp>
        <p:nvSpPr>
          <p:cNvPr id="37" name="Shape 35"/>
          <p:cNvSpPr/>
          <p:nvPr/>
        </p:nvSpPr>
        <p:spPr>
          <a:xfrm>
            <a:off x="365760" y="4114800"/>
            <a:ext cx="8412480" cy="420624"/>
          </a:xfrm>
          <a:prstGeom prst="rect">
            <a:avLst/>
          </a:prstGeom>
          <a:solidFill>
            <a:srgbClr val="FAFBFD"/>
          </a:solidFill>
          <a:ln/>
        </p:spPr>
      </p:sp>
      <p:sp>
        <p:nvSpPr>
          <p:cNvPr id="38" name="Shape 36"/>
          <p:cNvSpPr/>
          <p:nvPr/>
        </p:nvSpPr>
        <p:spPr>
          <a:xfrm>
            <a:off x="365760" y="4114800"/>
            <a:ext cx="457200" cy="420624"/>
          </a:xfrm>
          <a:prstGeom prst="rect">
            <a:avLst/>
          </a:prstGeom>
          <a:solidFill>
            <a:srgbClr val="1E3A5F"/>
          </a:solidFill>
          <a:ln/>
        </p:spPr>
      </p:sp>
      <p:sp>
        <p:nvSpPr>
          <p:cNvPr id="39" name="Text 37"/>
          <p:cNvSpPr/>
          <p:nvPr/>
        </p:nvSpPr>
        <p:spPr>
          <a:xfrm>
            <a:off x="365760" y="4187952"/>
            <a:ext cx="457200" cy="2743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0" name="Text 38"/>
          <p:cNvSpPr/>
          <p:nvPr/>
        </p:nvSpPr>
        <p:spPr>
          <a:xfrm>
            <a:off x="932688" y="4169664"/>
            <a:ext cx="1920240" cy="310896"/>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Pick the best fit</a:t>
            </a:r>
            <a:endParaRPr lang="en-US" sz="950" dirty="0"/>
          </a:p>
        </p:txBody>
      </p:sp>
      <p:sp>
        <p:nvSpPr>
          <p:cNvPr id="41" name="Text 39"/>
          <p:cNvSpPr/>
          <p:nvPr/>
        </p:nvSpPr>
        <p:spPr>
          <a:xfrm>
            <a:off x="2926080" y="4169664"/>
            <a:ext cx="3246120" cy="310896"/>
          </a:xfrm>
          <a:prstGeom prst="rect">
            <a:avLst/>
          </a:prstGeom>
          <a:noFill/>
          <a:ln/>
        </p:spPr>
        <p:txBody>
          <a:bodyPr wrap="square" lIns="0" tIns="0" rIns="0" bIns="0" rtlCol="0" anchor="ctr"/>
          <a:lstStyle/>
          <a:p>
            <a:pPr indent="0" marL="0">
              <a:buNone/>
            </a:pPr>
            <a:r>
              <a:rPr lang="en-US" sz="900" dirty="0">
                <a:solidFill>
                  <a:srgbClr val="1E3A5F"/>
                </a:solidFill>
                <a:latin typeface="Calibri" pitchFamily="34" charset="0"/>
                <a:ea typeface="Calibri" pitchFamily="34" charset="-122"/>
                <a:cs typeface="Calibri" pitchFamily="34" charset="-120"/>
              </a:rPr>
              <a:t>Output: "salt"</a:t>
            </a:r>
            <a:endParaRPr lang="en-US" sz="900" dirty="0"/>
          </a:p>
        </p:txBody>
      </p:sp>
      <p:sp>
        <p:nvSpPr>
          <p:cNvPr id="42" name="Text 40"/>
          <p:cNvSpPr/>
          <p:nvPr/>
        </p:nvSpPr>
        <p:spPr>
          <a:xfrm>
            <a:off x="6263640" y="4178808"/>
            <a:ext cx="2423160" cy="310896"/>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The most contextually likely word wins</a:t>
            </a:r>
            <a:endParaRPr lang="en-US" sz="750" dirty="0"/>
          </a:p>
        </p:txBody>
      </p:sp>
      <p:sp>
        <p:nvSpPr>
          <p:cNvPr id="43" name="Shape 41"/>
          <p:cNvSpPr/>
          <p:nvPr/>
        </p:nvSpPr>
        <p:spPr>
          <a:xfrm>
            <a:off x="365760" y="4572000"/>
            <a:ext cx="8412480" cy="457200"/>
          </a:xfrm>
          <a:prstGeom prst="rect">
            <a:avLst/>
          </a:prstGeom>
          <a:solidFill>
            <a:srgbClr val="EDF1F7"/>
          </a:solidFill>
          <a:ln/>
        </p:spPr>
      </p:sp>
      <p:sp>
        <p:nvSpPr>
          <p:cNvPr id="44" name="Shape 42"/>
          <p:cNvSpPr/>
          <p:nvPr/>
        </p:nvSpPr>
        <p:spPr>
          <a:xfrm>
            <a:off x="365760" y="4572000"/>
            <a:ext cx="36576" cy="457200"/>
          </a:xfrm>
          <a:prstGeom prst="rect">
            <a:avLst/>
          </a:prstGeom>
          <a:solidFill>
            <a:srgbClr val="B8860B"/>
          </a:solidFill>
          <a:ln/>
        </p:spPr>
      </p:sp>
      <p:sp>
        <p:nvSpPr>
          <p:cNvPr id="45" name="Text 43"/>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46" name="Text 44"/>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This 'predict the next word' loop — repeated thousands of times — is how every LLM writes essays, code, and emails. Attention is what lets it choose words that actually fit the context.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TRANSFORMER — THE 2017 BREAKTHROUGH</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Reading With Peripheral Vision vs One Word Spotlight</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Old AI read word-by-word — by sentence end, it forgot the beginning. Transformers read the whole page at once, every word aware of every other. 'The bank was steep' vs 'The bank approved the loan' — same word, perfectly understood from context.</a:t>
            </a:r>
            <a:endParaRPr lang="en-US" sz="1000" dirty="0"/>
          </a:p>
        </p:txBody>
      </p:sp>
      <p:sp>
        <p:nvSpPr>
          <p:cNvPr id="11" name="Shape 9"/>
          <p:cNvSpPr/>
          <p:nvPr/>
        </p:nvSpPr>
        <p:spPr>
          <a:xfrm>
            <a:off x="365760" y="1847088"/>
            <a:ext cx="4023360" cy="1115568"/>
          </a:xfrm>
          <a:prstGeom prst="rect">
            <a:avLst/>
          </a:prstGeom>
          <a:solidFill>
            <a:srgbClr val="EDF1F7"/>
          </a:solidFill>
          <a:ln/>
          <a:effectLst>
            <a:outerShdw sx="100000" sy="100000" kx="0" ky="0" algn="bl" rotWithShape="0" blurRad="76200" dist="25400" dir="8100000">
              <a:srgbClr val="000000">
                <a:alpha val="8000"/>
              </a:srgbClr>
            </a:outerShdw>
          </a:effectLst>
        </p:spPr>
      </p:sp>
      <p:sp>
        <p:nvSpPr>
          <p:cNvPr id="12" name="Shape 10"/>
          <p:cNvSpPr/>
          <p:nvPr/>
        </p:nvSpPr>
        <p:spPr>
          <a:xfrm>
            <a:off x="365760" y="1847088"/>
            <a:ext cx="4023360" cy="329184"/>
          </a:xfrm>
          <a:prstGeom prst="rect">
            <a:avLst/>
          </a:prstGeom>
          <a:solidFill>
            <a:srgbClr val="47596B"/>
          </a:solidFill>
          <a:ln/>
        </p:spPr>
      </p:sp>
      <p:sp>
        <p:nvSpPr>
          <p:cNvPr id="13" name="Text 11"/>
          <p:cNvSpPr/>
          <p:nvPr/>
        </p:nvSpPr>
        <p:spPr>
          <a:xfrm>
            <a:off x="457200" y="1865376"/>
            <a:ext cx="384048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BEFORE  ·  RNNs read word by word</a:t>
            </a:r>
            <a:endParaRPr lang="en-US" sz="1000" dirty="0"/>
          </a:p>
        </p:txBody>
      </p:sp>
      <p:sp>
        <p:nvSpPr>
          <p:cNvPr id="14" name="Text 12"/>
          <p:cNvSpPr/>
          <p:nvPr/>
        </p:nvSpPr>
        <p:spPr>
          <a:xfrm>
            <a:off x="457200" y="2249424"/>
            <a:ext cx="3840480" cy="256032"/>
          </a:xfrm>
          <a:prstGeom prst="rect">
            <a:avLst/>
          </a:prstGeom>
          <a:noFill/>
          <a:ln/>
        </p:spPr>
        <p:txBody>
          <a:bodyPr wrap="square" lIns="0" tIns="0" rIns="0" bIns="0" rtlCol="0" anchor="ctr"/>
          <a:lstStyle/>
          <a:p>
            <a:pPr indent="0" marL="0">
              <a:buNone/>
            </a:pPr>
            <a:r>
              <a:rPr lang="en-US" sz="1000" dirty="0">
                <a:solidFill>
                  <a:srgbClr val="47596B"/>
                </a:solidFill>
                <a:latin typeface="Calibri" pitchFamily="34" charset="0"/>
                <a:ea typeface="Calibri" pitchFamily="34" charset="-122"/>
                <a:cs typeface="Calibri" pitchFamily="34" charset="-120"/>
              </a:rPr>
              <a:t>The → cat → sat → on → the → mat  [forgot 'The']</a:t>
            </a:r>
            <a:endParaRPr lang="en-US" sz="1000" dirty="0"/>
          </a:p>
        </p:txBody>
      </p:sp>
      <p:sp>
        <p:nvSpPr>
          <p:cNvPr id="15" name="Text 13"/>
          <p:cNvSpPr/>
          <p:nvPr/>
        </p:nvSpPr>
        <p:spPr>
          <a:xfrm>
            <a:off x="457200" y="2578608"/>
            <a:ext cx="3840480" cy="310896"/>
          </a:xfrm>
          <a:prstGeom prst="rect">
            <a:avLst/>
          </a:prstGeom>
          <a:noFill/>
          <a:ln/>
        </p:spPr>
        <p:txBody>
          <a:bodyPr wrap="square" lIns="0" tIns="0" rIns="0" bIns="0" rtlCol="0" anchor="ctr"/>
          <a:lstStyle/>
          <a:p>
            <a:pPr indent="0" marL="0">
              <a:buNone/>
            </a:pPr>
            <a:r>
              <a:rPr lang="en-US" sz="900" dirty="0">
                <a:solidFill>
                  <a:srgbClr val="9A3324"/>
                </a:solidFill>
                <a:latin typeface="Calibri" pitchFamily="34" charset="0"/>
                <a:ea typeface="Calibri" pitchFamily="34" charset="-122"/>
                <a:cs typeface="Calibri" pitchFamily="34" charset="-120"/>
              </a:rPr>
              <a:t>Lost early context  ·  Slow training  ·  Limited scale</a:t>
            </a:r>
            <a:endParaRPr lang="en-US" sz="900" dirty="0"/>
          </a:p>
        </p:txBody>
      </p:sp>
      <p:sp>
        <p:nvSpPr>
          <p:cNvPr id="16" name="Shape 14"/>
          <p:cNvSpPr/>
          <p:nvPr/>
        </p:nvSpPr>
        <p:spPr>
          <a:xfrm>
            <a:off x="4754880" y="1847088"/>
            <a:ext cx="4023360" cy="1115568"/>
          </a:xfrm>
          <a:prstGeom prst="rect">
            <a:avLst/>
          </a:prstGeom>
          <a:solidFill>
            <a:srgbClr val="D1FAE5"/>
          </a:solidFill>
          <a:ln/>
          <a:effectLst>
            <a:outerShdw sx="100000" sy="100000" kx="0" ky="0" algn="bl" rotWithShape="0" blurRad="76200" dist="25400" dir="8100000">
              <a:srgbClr val="000000">
                <a:alpha val="8000"/>
              </a:srgbClr>
            </a:outerShdw>
          </a:effectLst>
        </p:spPr>
      </p:sp>
      <p:sp>
        <p:nvSpPr>
          <p:cNvPr id="17" name="Shape 15"/>
          <p:cNvSpPr/>
          <p:nvPr/>
        </p:nvSpPr>
        <p:spPr>
          <a:xfrm>
            <a:off x="4754880" y="1847088"/>
            <a:ext cx="4023360" cy="329184"/>
          </a:xfrm>
          <a:prstGeom prst="rect">
            <a:avLst/>
          </a:prstGeom>
          <a:solidFill>
            <a:srgbClr val="0F766E"/>
          </a:solidFill>
          <a:ln/>
        </p:spPr>
      </p:sp>
      <p:sp>
        <p:nvSpPr>
          <p:cNvPr id="18" name="Text 16"/>
          <p:cNvSpPr/>
          <p:nvPr/>
        </p:nvSpPr>
        <p:spPr>
          <a:xfrm>
            <a:off x="4846320" y="1865376"/>
            <a:ext cx="3840480" cy="292608"/>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AFTER  ·  Transformers see all words at once</a:t>
            </a:r>
            <a:endParaRPr lang="en-US" sz="1000" dirty="0"/>
          </a:p>
        </p:txBody>
      </p:sp>
      <p:sp>
        <p:nvSpPr>
          <p:cNvPr id="19" name="Text 17"/>
          <p:cNvSpPr/>
          <p:nvPr/>
        </p:nvSpPr>
        <p:spPr>
          <a:xfrm>
            <a:off x="4846320" y="2249424"/>
            <a:ext cx="3840480" cy="256032"/>
          </a:xfrm>
          <a:prstGeom prst="rect">
            <a:avLst/>
          </a:prstGeom>
          <a:noFill/>
          <a:ln/>
        </p:spPr>
        <p:txBody>
          <a:bodyPr wrap="square" lIns="0" tIns="0" rIns="0" bIns="0" rtlCol="0" anchor="ctr"/>
          <a:lstStyle/>
          <a:p>
            <a:pPr indent="0" marL="0">
              <a:buNone/>
            </a:pPr>
            <a:r>
              <a:rPr lang="en-US" sz="1000" dirty="0">
                <a:solidFill>
                  <a:srgbClr val="47596B"/>
                </a:solidFill>
                <a:latin typeface="Calibri" pitchFamily="34" charset="0"/>
                <a:ea typeface="Calibri" pitchFamily="34" charset="-122"/>
                <a:cs typeface="Calibri" pitchFamily="34" charset="-120"/>
              </a:rPr>
              <a:t>The ↔ cat ↔ sat ↔ on ↔ the ↔ mat  [all connected]</a:t>
            </a:r>
            <a:endParaRPr lang="en-US" sz="1000" dirty="0"/>
          </a:p>
        </p:txBody>
      </p:sp>
      <p:sp>
        <p:nvSpPr>
          <p:cNvPr id="20" name="Text 18"/>
          <p:cNvSpPr/>
          <p:nvPr/>
        </p:nvSpPr>
        <p:spPr>
          <a:xfrm>
            <a:off x="4846320" y="2578608"/>
            <a:ext cx="3840480" cy="310896"/>
          </a:xfrm>
          <a:prstGeom prst="rect">
            <a:avLst/>
          </a:prstGeom>
          <a:noFill/>
          <a:ln/>
        </p:spPr>
        <p:txBody>
          <a:bodyPr wrap="square" lIns="0" tIns="0" rIns="0" bIns="0" rtlCol="0" anchor="ctr"/>
          <a:lstStyle/>
          <a:p>
            <a:pPr indent="0" marL="0">
              <a:buNone/>
            </a:pPr>
            <a:r>
              <a:rPr lang="en-US" sz="900" dirty="0">
                <a:solidFill>
                  <a:srgbClr val="0F766E"/>
                </a:solidFill>
                <a:latin typeface="Calibri" pitchFamily="34" charset="0"/>
                <a:ea typeface="Calibri" pitchFamily="34" charset="-122"/>
                <a:cs typeface="Calibri" pitchFamily="34" charset="-120"/>
              </a:rPr>
              <a:t>Full context  ·  Parallel on GPUs  ·  Trillion-token scale</a:t>
            </a:r>
            <a:endParaRPr lang="en-US" sz="900" dirty="0"/>
          </a:p>
        </p:txBody>
      </p:sp>
      <p:sp>
        <p:nvSpPr>
          <p:cNvPr id="21" name="Shape 19"/>
          <p:cNvSpPr/>
          <p:nvPr/>
        </p:nvSpPr>
        <p:spPr>
          <a:xfrm>
            <a:off x="365760" y="3072384"/>
            <a:ext cx="8412480" cy="274320"/>
          </a:xfrm>
          <a:prstGeom prst="rect">
            <a:avLst/>
          </a:prstGeom>
          <a:solidFill>
            <a:srgbClr val="0A2540"/>
          </a:solidFill>
          <a:ln/>
        </p:spPr>
      </p:sp>
      <p:sp>
        <p:nvSpPr>
          <p:cNvPr id="22" name="Text 20"/>
          <p:cNvSpPr/>
          <p:nvPr/>
        </p:nvSpPr>
        <p:spPr>
          <a:xfrm>
            <a:off x="457200" y="3099816"/>
            <a:ext cx="8229600" cy="219456"/>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THE ATTENTION MECHANISM  ·  The key innovation inside every Transformer</a:t>
            </a:r>
            <a:endParaRPr lang="en-US" sz="1000" dirty="0"/>
          </a:p>
        </p:txBody>
      </p:sp>
      <p:sp>
        <p:nvSpPr>
          <p:cNvPr id="23" name="Shape 21"/>
          <p:cNvSpPr/>
          <p:nvPr/>
        </p:nvSpPr>
        <p:spPr>
          <a:xfrm>
            <a:off x="365760" y="3438144"/>
            <a:ext cx="3986784" cy="457200"/>
          </a:xfrm>
          <a:prstGeom prst="rect">
            <a:avLst/>
          </a:prstGeom>
          <a:solidFill>
            <a:srgbClr val="FAFBFD"/>
          </a:solidFill>
          <a:ln/>
        </p:spPr>
      </p:sp>
      <p:sp>
        <p:nvSpPr>
          <p:cNvPr id="24" name="Shape 22"/>
          <p:cNvSpPr/>
          <p:nvPr/>
        </p:nvSpPr>
        <p:spPr>
          <a:xfrm>
            <a:off x="365760" y="3438144"/>
            <a:ext cx="36576" cy="457200"/>
          </a:xfrm>
          <a:prstGeom prst="rect">
            <a:avLst/>
          </a:prstGeom>
          <a:solidFill>
            <a:srgbClr val="1E3A5F"/>
          </a:solidFill>
          <a:ln/>
        </p:spPr>
      </p:sp>
      <p:sp>
        <p:nvSpPr>
          <p:cNvPr id="25" name="Text 23"/>
          <p:cNvSpPr/>
          <p:nvPr/>
        </p:nvSpPr>
        <p:spPr>
          <a:xfrm>
            <a:off x="493776" y="3483864"/>
            <a:ext cx="1325880" cy="365760"/>
          </a:xfrm>
          <a:prstGeom prst="rect">
            <a:avLst/>
          </a:prstGeom>
          <a:noFill/>
          <a:ln/>
        </p:spPr>
        <p:txBody>
          <a:bodyPr wrap="square" lIns="0" tIns="0" rIns="0" bIns="0" rtlCol="0" anchor="ctr"/>
          <a:lstStyle/>
          <a:p>
            <a:pPr indent="0" marL="0">
              <a:buNone/>
            </a:pPr>
            <a:r>
              <a:rPr lang="en-US" sz="950" b="1" dirty="0">
                <a:solidFill>
                  <a:srgbClr val="1E3A5F"/>
                </a:solidFill>
                <a:latin typeface="Calibri" pitchFamily="34" charset="0"/>
                <a:ea typeface="Calibri" pitchFamily="34" charset="-122"/>
                <a:cs typeface="Calibri" pitchFamily="34" charset="-120"/>
              </a:rPr>
              <a:t>Weighs relationships</a:t>
            </a:r>
            <a:endParaRPr lang="en-US" sz="950" dirty="0"/>
          </a:p>
        </p:txBody>
      </p:sp>
      <p:sp>
        <p:nvSpPr>
          <p:cNvPr id="26" name="Text 24"/>
          <p:cNvSpPr/>
          <p:nvPr/>
        </p:nvSpPr>
        <p:spPr>
          <a:xfrm>
            <a:off x="1828800" y="3502152"/>
            <a:ext cx="2468880"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Every word asks: "how relevant is every other word to understanding me?"</a:t>
            </a:r>
            <a:endParaRPr lang="en-US" sz="850" dirty="0"/>
          </a:p>
        </p:txBody>
      </p:sp>
      <p:sp>
        <p:nvSpPr>
          <p:cNvPr id="27" name="Shape 25"/>
          <p:cNvSpPr/>
          <p:nvPr/>
        </p:nvSpPr>
        <p:spPr>
          <a:xfrm>
            <a:off x="4590288" y="3438144"/>
            <a:ext cx="3986784" cy="457200"/>
          </a:xfrm>
          <a:prstGeom prst="rect">
            <a:avLst/>
          </a:prstGeom>
          <a:solidFill>
            <a:srgbClr val="EDF1F7"/>
          </a:solidFill>
          <a:ln/>
        </p:spPr>
      </p:sp>
      <p:sp>
        <p:nvSpPr>
          <p:cNvPr id="28" name="Shape 26"/>
          <p:cNvSpPr/>
          <p:nvPr/>
        </p:nvSpPr>
        <p:spPr>
          <a:xfrm>
            <a:off x="4590288" y="3438144"/>
            <a:ext cx="36576" cy="457200"/>
          </a:xfrm>
          <a:prstGeom prst="rect">
            <a:avLst/>
          </a:prstGeom>
          <a:solidFill>
            <a:srgbClr val="1E3A5F"/>
          </a:solidFill>
          <a:ln/>
        </p:spPr>
      </p:sp>
      <p:sp>
        <p:nvSpPr>
          <p:cNvPr id="29" name="Text 27"/>
          <p:cNvSpPr/>
          <p:nvPr/>
        </p:nvSpPr>
        <p:spPr>
          <a:xfrm>
            <a:off x="4718304" y="3483864"/>
            <a:ext cx="1325880" cy="365760"/>
          </a:xfrm>
          <a:prstGeom prst="rect">
            <a:avLst/>
          </a:prstGeom>
          <a:noFill/>
          <a:ln/>
        </p:spPr>
        <p:txBody>
          <a:bodyPr wrap="square" lIns="0" tIns="0" rIns="0" bIns="0" rtlCol="0" anchor="ctr"/>
          <a:lstStyle/>
          <a:p>
            <a:pPr indent="0" marL="0">
              <a:buNone/>
            </a:pPr>
            <a:r>
              <a:rPr lang="en-US" sz="950" b="1" dirty="0">
                <a:solidFill>
                  <a:srgbClr val="1E3A5F"/>
                </a:solidFill>
                <a:latin typeface="Calibri" pitchFamily="34" charset="0"/>
                <a:ea typeface="Calibri" pitchFamily="34" charset="-122"/>
                <a:cs typeface="Calibri" pitchFamily="34" charset="-120"/>
              </a:rPr>
              <a:t>Resolves ambiguity</a:t>
            </a:r>
            <a:endParaRPr lang="en-US" sz="950" dirty="0"/>
          </a:p>
        </p:txBody>
      </p:sp>
      <p:sp>
        <p:nvSpPr>
          <p:cNvPr id="30" name="Text 28"/>
          <p:cNvSpPr/>
          <p:nvPr/>
        </p:nvSpPr>
        <p:spPr>
          <a:xfrm>
            <a:off x="6053328" y="3502152"/>
            <a:ext cx="2468880"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"Bank" in finance context attends to "loan", "interest" — not "river", "steep".</a:t>
            </a:r>
            <a:endParaRPr lang="en-US" sz="850" dirty="0"/>
          </a:p>
        </p:txBody>
      </p:sp>
      <p:sp>
        <p:nvSpPr>
          <p:cNvPr id="31" name="Shape 29"/>
          <p:cNvSpPr/>
          <p:nvPr/>
        </p:nvSpPr>
        <p:spPr>
          <a:xfrm>
            <a:off x="365760" y="3950208"/>
            <a:ext cx="3986784" cy="457200"/>
          </a:xfrm>
          <a:prstGeom prst="rect">
            <a:avLst/>
          </a:prstGeom>
          <a:solidFill>
            <a:srgbClr val="FAFBFD"/>
          </a:solidFill>
          <a:ln/>
        </p:spPr>
      </p:sp>
      <p:sp>
        <p:nvSpPr>
          <p:cNvPr id="32" name="Shape 30"/>
          <p:cNvSpPr/>
          <p:nvPr/>
        </p:nvSpPr>
        <p:spPr>
          <a:xfrm>
            <a:off x="365760" y="3950208"/>
            <a:ext cx="36576" cy="457200"/>
          </a:xfrm>
          <a:prstGeom prst="rect">
            <a:avLst/>
          </a:prstGeom>
          <a:solidFill>
            <a:srgbClr val="1E3A5F"/>
          </a:solidFill>
          <a:ln/>
        </p:spPr>
      </p:sp>
      <p:sp>
        <p:nvSpPr>
          <p:cNvPr id="33" name="Text 31"/>
          <p:cNvSpPr/>
          <p:nvPr/>
        </p:nvSpPr>
        <p:spPr>
          <a:xfrm>
            <a:off x="493776" y="3995928"/>
            <a:ext cx="1325880" cy="365760"/>
          </a:xfrm>
          <a:prstGeom prst="rect">
            <a:avLst/>
          </a:prstGeom>
          <a:noFill/>
          <a:ln/>
        </p:spPr>
        <p:txBody>
          <a:bodyPr wrap="square" lIns="0" tIns="0" rIns="0" bIns="0" rtlCol="0" anchor="ctr"/>
          <a:lstStyle/>
          <a:p>
            <a:pPr indent="0" marL="0">
              <a:buNone/>
            </a:pPr>
            <a:r>
              <a:rPr lang="en-US" sz="950" b="1" dirty="0">
                <a:solidFill>
                  <a:srgbClr val="1E3A5F"/>
                </a:solidFill>
                <a:latin typeface="Calibri" pitchFamily="34" charset="0"/>
                <a:ea typeface="Calibri" pitchFamily="34" charset="-122"/>
                <a:cs typeface="Calibri" pitchFamily="34" charset="-120"/>
              </a:rPr>
              <a:t>Long-range memory</a:t>
            </a:r>
            <a:endParaRPr lang="en-US" sz="950" dirty="0"/>
          </a:p>
        </p:txBody>
      </p:sp>
      <p:sp>
        <p:nvSpPr>
          <p:cNvPr id="34" name="Text 32"/>
          <p:cNvSpPr/>
          <p:nvPr/>
        </p:nvSpPr>
        <p:spPr>
          <a:xfrm>
            <a:off x="1828800" y="4014216"/>
            <a:ext cx="2468880"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On page 180 of a contract, can 'attend' to a definition on page 2.</a:t>
            </a:r>
            <a:endParaRPr lang="en-US" sz="850" dirty="0"/>
          </a:p>
        </p:txBody>
      </p:sp>
      <p:sp>
        <p:nvSpPr>
          <p:cNvPr id="35" name="Shape 33"/>
          <p:cNvSpPr/>
          <p:nvPr/>
        </p:nvSpPr>
        <p:spPr>
          <a:xfrm>
            <a:off x="4590288" y="3950208"/>
            <a:ext cx="3986784" cy="457200"/>
          </a:xfrm>
          <a:prstGeom prst="rect">
            <a:avLst/>
          </a:prstGeom>
          <a:solidFill>
            <a:srgbClr val="EDF1F7"/>
          </a:solidFill>
          <a:ln/>
        </p:spPr>
      </p:sp>
      <p:sp>
        <p:nvSpPr>
          <p:cNvPr id="36" name="Shape 34"/>
          <p:cNvSpPr/>
          <p:nvPr/>
        </p:nvSpPr>
        <p:spPr>
          <a:xfrm>
            <a:off x="4590288" y="3950208"/>
            <a:ext cx="36576" cy="457200"/>
          </a:xfrm>
          <a:prstGeom prst="rect">
            <a:avLst/>
          </a:prstGeom>
          <a:solidFill>
            <a:srgbClr val="1E3A5F"/>
          </a:solidFill>
          <a:ln/>
        </p:spPr>
      </p:sp>
      <p:sp>
        <p:nvSpPr>
          <p:cNvPr id="37" name="Text 35"/>
          <p:cNvSpPr/>
          <p:nvPr/>
        </p:nvSpPr>
        <p:spPr>
          <a:xfrm>
            <a:off x="4718304" y="3995928"/>
            <a:ext cx="1325880" cy="365760"/>
          </a:xfrm>
          <a:prstGeom prst="rect">
            <a:avLst/>
          </a:prstGeom>
          <a:noFill/>
          <a:ln/>
        </p:spPr>
        <p:txBody>
          <a:bodyPr wrap="square" lIns="0" tIns="0" rIns="0" bIns="0" rtlCol="0" anchor="ctr"/>
          <a:lstStyle/>
          <a:p>
            <a:pPr indent="0" marL="0">
              <a:buNone/>
            </a:pPr>
            <a:r>
              <a:rPr lang="en-US" sz="950" b="1" dirty="0">
                <a:solidFill>
                  <a:srgbClr val="1E3A5F"/>
                </a:solidFill>
                <a:latin typeface="Calibri" pitchFamily="34" charset="0"/>
                <a:ea typeface="Calibri" pitchFamily="34" charset="-122"/>
                <a:cs typeface="Calibri" pitchFamily="34" charset="-120"/>
              </a:rPr>
              <a:t>96 layers in GPT-4</a:t>
            </a:r>
            <a:endParaRPr lang="en-US" sz="950" dirty="0"/>
          </a:p>
        </p:txBody>
      </p:sp>
      <p:sp>
        <p:nvSpPr>
          <p:cNvPr id="38" name="Text 36"/>
          <p:cNvSpPr/>
          <p:nvPr/>
        </p:nvSpPr>
        <p:spPr>
          <a:xfrm>
            <a:off x="6053328" y="4014216"/>
            <a:ext cx="2468880"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Each layer builds richer understanding of every word relationship.</a:t>
            </a:r>
            <a:endParaRPr lang="en-US" sz="850" dirty="0"/>
          </a:p>
        </p:txBody>
      </p:sp>
      <p:sp>
        <p:nvSpPr>
          <p:cNvPr id="39" name="Shape 37"/>
          <p:cNvSpPr/>
          <p:nvPr/>
        </p:nvSpPr>
        <p:spPr>
          <a:xfrm>
            <a:off x="365760" y="4572000"/>
            <a:ext cx="8412480" cy="457200"/>
          </a:xfrm>
          <a:prstGeom prst="rect">
            <a:avLst/>
          </a:prstGeom>
          <a:solidFill>
            <a:srgbClr val="EDF1F7"/>
          </a:solidFill>
          <a:ln/>
        </p:spPr>
      </p:sp>
      <p:sp>
        <p:nvSpPr>
          <p:cNvPr id="40" name="Shape 38"/>
          <p:cNvSpPr/>
          <p:nvPr/>
        </p:nvSpPr>
        <p:spPr>
          <a:xfrm>
            <a:off x="365760" y="4572000"/>
            <a:ext cx="36576" cy="457200"/>
          </a:xfrm>
          <a:prstGeom prst="rect">
            <a:avLst/>
          </a:prstGeom>
          <a:solidFill>
            <a:srgbClr val="B8860B"/>
          </a:solidFill>
          <a:ln/>
        </p:spPr>
      </p:sp>
      <p:sp>
        <p:nvSpPr>
          <p:cNvPr id="41" name="Text 39"/>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42" name="Text 40"/>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The 2017 Transformer paper is the Big Bang of modern AI. Without it, ChatGPT, Claude, and Gemini would not exist.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HAPPENS WHEN YOU PRESS SEND</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 Very Fast Game of Predict-the-Next-Word — Played 500 Times</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The AI doesn't 'think' like a human — it plays 'predict the most likely next word' with access to patterns from everything ever written. It plays word-by-word until it decides to stop. The result looks like understanding because the patterns are incomprehensibly rich.</a:t>
            </a:r>
            <a:endParaRPr lang="en-US" sz="1000" dirty="0"/>
          </a:p>
        </p:txBody>
      </p:sp>
      <p:sp>
        <p:nvSpPr>
          <p:cNvPr id="11" name="Shape 9"/>
          <p:cNvSpPr/>
          <p:nvPr/>
        </p:nvSpPr>
        <p:spPr>
          <a:xfrm>
            <a:off x="365760" y="1847088"/>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36576" cy="1207008"/>
          </a:xfrm>
          <a:prstGeom prst="rect">
            <a:avLst/>
          </a:prstGeom>
          <a:solidFill>
            <a:srgbClr val="1E3A5F"/>
          </a:solidFill>
          <a:ln/>
        </p:spPr>
      </p:sp>
      <p:sp>
        <p:nvSpPr>
          <p:cNvPr id="13" name="Text 11"/>
          <p:cNvSpPr/>
          <p:nvPr/>
        </p:nvSpPr>
        <p:spPr>
          <a:xfrm>
            <a:off x="512064" y="1938528"/>
            <a:ext cx="365760" cy="420624"/>
          </a:xfrm>
          <a:prstGeom prst="rect">
            <a:avLst/>
          </a:prstGeom>
          <a:noFill/>
          <a:ln/>
        </p:spPr>
        <p:txBody>
          <a:bodyPr wrap="square" lIns="0" tIns="0" rIns="0" bIns="0" rtlCol="0" anchor="ctr"/>
          <a:lstStyle/>
          <a:p>
            <a:pPr indent="0" marL="0">
              <a:buNone/>
            </a:pPr>
            <a:r>
              <a:rPr lang="en-US" sz="2400" b="1" dirty="0">
                <a:solidFill>
                  <a:srgbClr val="1E3A5F"/>
                </a:solidFill>
                <a:latin typeface="Calibri" pitchFamily="34" charset="0"/>
                <a:ea typeface="Calibri" pitchFamily="34" charset="-122"/>
                <a:cs typeface="Calibri" pitchFamily="34" charset="-120"/>
              </a:rPr>
              <a:t>1</a:t>
            </a:r>
            <a:endParaRPr lang="en-US" sz="2400" dirty="0"/>
          </a:p>
        </p:txBody>
      </p:sp>
      <p:sp>
        <p:nvSpPr>
          <p:cNvPr id="14" name="Text 12"/>
          <p:cNvSpPr/>
          <p:nvPr/>
        </p:nvSpPr>
        <p:spPr>
          <a:xfrm>
            <a:off x="530352" y="2304288"/>
            <a:ext cx="365760" cy="128016"/>
          </a:xfrm>
          <a:prstGeom prst="rect">
            <a:avLst/>
          </a:prstGeom>
          <a:noFill/>
          <a:ln/>
        </p:spPr>
        <p:txBody>
          <a:bodyPr wrap="square" lIns="0" tIns="0" rIns="0" bIns="0" rtlCol="0" anchor="ctr"/>
          <a:lstStyle/>
          <a:p>
            <a:pPr indent="0" marL="0">
              <a:buNone/>
            </a:pPr>
            <a:r>
              <a:rPr lang="en-US" sz="650" spc="100" kern="0" dirty="0">
                <a:solidFill>
                  <a:srgbClr val="8898AA"/>
                </a:solidFill>
                <a:latin typeface="Calibri" pitchFamily="34" charset="0"/>
                <a:ea typeface="Calibri" pitchFamily="34" charset="-122"/>
                <a:cs typeface="Calibri" pitchFamily="34" charset="-120"/>
              </a:rPr>
              <a:t>STEP</a:t>
            </a:r>
            <a:endParaRPr lang="en-US" sz="650" dirty="0"/>
          </a:p>
        </p:txBody>
      </p:sp>
      <p:sp>
        <p:nvSpPr>
          <p:cNvPr id="15" name="Text 13"/>
          <p:cNvSpPr/>
          <p:nvPr/>
        </p:nvSpPr>
        <p:spPr>
          <a:xfrm>
            <a:off x="1005840" y="1956816"/>
            <a:ext cx="1883664" cy="274320"/>
          </a:xfrm>
          <a:prstGeom prst="rect">
            <a:avLst/>
          </a:prstGeom>
          <a:noFill/>
          <a:ln/>
        </p:spPr>
        <p:txBody>
          <a:bodyPr wrap="square" lIns="0" tIns="0" rIns="0" bIns="0" rtlCol="0" anchor="ctr"/>
          <a:lstStyle/>
          <a:p>
            <a:pPr indent="0" marL="0">
              <a:buNone/>
            </a:pPr>
            <a:r>
              <a:rPr lang="en-US" sz="1100" b="1" spc="50" kern="0" dirty="0">
                <a:solidFill>
                  <a:srgbClr val="0A2540"/>
                </a:solidFill>
                <a:latin typeface="Calibri" pitchFamily="34" charset="0"/>
                <a:ea typeface="Calibri" pitchFamily="34" charset="-122"/>
                <a:cs typeface="Calibri" pitchFamily="34" charset="-120"/>
              </a:rPr>
              <a:t>TOKENISE</a:t>
            </a:r>
            <a:endParaRPr lang="en-US" sz="1100" dirty="0"/>
          </a:p>
        </p:txBody>
      </p:sp>
      <p:sp>
        <p:nvSpPr>
          <p:cNvPr id="16" name="Text 14"/>
          <p:cNvSpPr/>
          <p:nvPr/>
        </p:nvSpPr>
        <p:spPr>
          <a:xfrm>
            <a:off x="1005840" y="2267712"/>
            <a:ext cx="1883664" cy="71323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Text split into tokens (~¾ of a word each).</a:t>
            </a:r>
            <a:endParaRPr lang="en-US" sz="850" dirty="0"/>
          </a:p>
        </p:txBody>
      </p:sp>
      <p:sp>
        <p:nvSpPr>
          <p:cNvPr id="17" name="Text 15"/>
          <p:cNvSpPr/>
          <p:nvPr/>
        </p:nvSpPr>
        <p:spPr>
          <a:xfrm>
            <a:off x="2980944" y="2359152"/>
            <a:ext cx="201168" cy="274320"/>
          </a:xfrm>
          <a:prstGeom prst="rect">
            <a:avLst/>
          </a:prstGeom>
          <a:noFill/>
          <a:ln/>
        </p:spPr>
        <p:txBody>
          <a:bodyPr wrap="square" lIns="0" tIns="0" rIns="0" bIns="0" rtlCol="0" anchor="ctr"/>
          <a:lstStyle/>
          <a:p>
            <a:pPr algn="ctr" indent="0" marL="0">
              <a:buNone/>
            </a:pPr>
            <a:r>
              <a:rPr lang="en-US" sz="1400" dirty="0">
                <a:solidFill>
                  <a:srgbClr val="8898AA"/>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3172968" y="1847088"/>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9" name="Shape 17"/>
          <p:cNvSpPr/>
          <p:nvPr/>
        </p:nvSpPr>
        <p:spPr>
          <a:xfrm>
            <a:off x="3172968" y="1847088"/>
            <a:ext cx="36576" cy="1207008"/>
          </a:xfrm>
          <a:prstGeom prst="rect">
            <a:avLst/>
          </a:prstGeom>
          <a:solidFill>
            <a:srgbClr val="1E3A5F"/>
          </a:solidFill>
          <a:ln/>
        </p:spPr>
      </p:sp>
      <p:sp>
        <p:nvSpPr>
          <p:cNvPr id="20" name="Text 18"/>
          <p:cNvSpPr/>
          <p:nvPr/>
        </p:nvSpPr>
        <p:spPr>
          <a:xfrm>
            <a:off x="3319272" y="1938528"/>
            <a:ext cx="365760" cy="420624"/>
          </a:xfrm>
          <a:prstGeom prst="rect">
            <a:avLst/>
          </a:prstGeom>
          <a:noFill/>
          <a:ln/>
        </p:spPr>
        <p:txBody>
          <a:bodyPr wrap="square" lIns="0" tIns="0" rIns="0" bIns="0" rtlCol="0" anchor="ctr"/>
          <a:lstStyle/>
          <a:p>
            <a:pPr indent="0" marL="0">
              <a:buNone/>
            </a:pPr>
            <a:r>
              <a:rPr lang="en-US" sz="2400" b="1" dirty="0">
                <a:solidFill>
                  <a:srgbClr val="1E3A5F"/>
                </a:solidFill>
                <a:latin typeface="Calibri" pitchFamily="34" charset="0"/>
                <a:ea typeface="Calibri" pitchFamily="34" charset="-122"/>
                <a:cs typeface="Calibri" pitchFamily="34" charset="-120"/>
              </a:rPr>
              <a:t>2</a:t>
            </a:r>
            <a:endParaRPr lang="en-US" sz="2400" dirty="0"/>
          </a:p>
        </p:txBody>
      </p:sp>
      <p:sp>
        <p:nvSpPr>
          <p:cNvPr id="21" name="Text 19"/>
          <p:cNvSpPr/>
          <p:nvPr/>
        </p:nvSpPr>
        <p:spPr>
          <a:xfrm>
            <a:off x="3337560" y="2304288"/>
            <a:ext cx="365760" cy="128016"/>
          </a:xfrm>
          <a:prstGeom prst="rect">
            <a:avLst/>
          </a:prstGeom>
          <a:noFill/>
          <a:ln/>
        </p:spPr>
        <p:txBody>
          <a:bodyPr wrap="square" lIns="0" tIns="0" rIns="0" bIns="0" rtlCol="0" anchor="ctr"/>
          <a:lstStyle/>
          <a:p>
            <a:pPr indent="0" marL="0">
              <a:buNone/>
            </a:pPr>
            <a:r>
              <a:rPr lang="en-US" sz="650" spc="100" kern="0" dirty="0">
                <a:solidFill>
                  <a:srgbClr val="8898AA"/>
                </a:solidFill>
                <a:latin typeface="Calibri" pitchFamily="34" charset="0"/>
                <a:ea typeface="Calibri" pitchFamily="34" charset="-122"/>
                <a:cs typeface="Calibri" pitchFamily="34" charset="-120"/>
              </a:rPr>
              <a:t>STEP</a:t>
            </a:r>
            <a:endParaRPr lang="en-US" sz="650" dirty="0"/>
          </a:p>
        </p:txBody>
      </p:sp>
      <p:sp>
        <p:nvSpPr>
          <p:cNvPr id="22" name="Text 20"/>
          <p:cNvSpPr/>
          <p:nvPr/>
        </p:nvSpPr>
        <p:spPr>
          <a:xfrm>
            <a:off x="3813048" y="1956816"/>
            <a:ext cx="1883664" cy="274320"/>
          </a:xfrm>
          <a:prstGeom prst="rect">
            <a:avLst/>
          </a:prstGeom>
          <a:noFill/>
          <a:ln/>
        </p:spPr>
        <p:txBody>
          <a:bodyPr wrap="square" lIns="0" tIns="0" rIns="0" bIns="0" rtlCol="0" anchor="ctr"/>
          <a:lstStyle/>
          <a:p>
            <a:pPr indent="0" marL="0">
              <a:buNone/>
            </a:pPr>
            <a:r>
              <a:rPr lang="en-US" sz="1100" b="1" spc="50" kern="0" dirty="0">
                <a:solidFill>
                  <a:srgbClr val="0A2540"/>
                </a:solidFill>
                <a:latin typeface="Calibri" pitchFamily="34" charset="0"/>
                <a:ea typeface="Calibri" pitchFamily="34" charset="-122"/>
                <a:cs typeface="Calibri" pitchFamily="34" charset="-120"/>
              </a:rPr>
              <a:t>EMBED</a:t>
            </a:r>
            <a:endParaRPr lang="en-US" sz="1100" dirty="0"/>
          </a:p>
        </p:txBody>
      </p:sp>
      <p:sp>
        <p:nvSpPr>
          <p:cNvPr id="23" name="Text 21"/>
          <p:cNvSpPr/>
          <p:nvPr/>
        </p:nvSpPr>
        <p:spPr>
          <a:xfrm>
            <a:off x="3813048" y="2267712"/>
            <a:ext cx="1883664" cy="71323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Each token becomes a vector — a point on the meaning map.</a:t>
            </a:r>
            <a:endParaRPr lang="en-US" sz="850" dirty="0"/>
          </a:p>
        </p:txBody>
      </p:sp>
      <p:sp>
        <p:nvSpPr>
          <p:cNvPr id="24" name="Text 22"/>
          <p:cNvSpPr/>
          <p:nvPr/>
        </p:nvSpPr>
        <p:spPr>
          <a:xfrm>
            <a:off x="5788152" y="2359152"/>
            <a:ext cx="201168" cy="274320"/>
          </a:xfrm>
          <a:prstGeom prst="rect">
            <a:avLst/>
          </a:prstGeom>
          <a:noFill/>
          <a:ln/>
        </p:spPr>
        <p:txBody>
          <a:bodyPr wrap="square" lIns="0" tIns="0" rIns="0" bIns="0" rtlCol="0" anchor="ctr"/>
          <a:lstStyle/>
          <a:p>
            <a:pPr algn="ctr" indent="0" marL="0">
              <a:buNone/>
            </a:pPr>
            <a:r>
              <a:rPr lang="en-US" sz="1400" dirty="0">
                <a:solidFill>
                  <a:srgbClr val="8898AA"/>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5980176" y="3145536"/>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6" name="Shape 24"/>
          <p:cNvSpPr/>
          <p:nvPr/>
        </p:nvSpPr>
        <p:spPr>
          <a:xfrm>
            <a:off x="5980176" y="3145536"/>
            <a:ext cx="36576" cy="1207008"/>
          </a:xfrm>
          <a:prstGeom prst="rect">
            <a:avLst/>
          </a:prstGeom>
          <a:solidFill>
            <a:srgbClr val="1E3A5F"/>
          </a:solidFill>
          <a:ln/>
        </p:spPr>
      </p:sp>
      <p:sp>
        <p:nvSpPr>
          <p:cNvPr id="27" name="Text 25"/>
          <p:cNvSpPr/>
          <p:nvPr/>
        </p:nvSpPr>
        <p:spPr>
          <a:xfrm>
            <a:off x="6126480" y="3236976"/>
            <a:ext cx="365760" cy="420624"/>
          </a:xfrm>
          <a:prstGeom prst="rect">
            <a:avLst/>
          </a:prstGeom>
          <a:noFill/>
          <a:ln/>
        </p:spPr>
        <p:txBody>
          <a:bodyPr wrap="square" lIns="0" tIns="0" rIns="0" bIns="0" rtlCol="0" anchor="ctr"/>
          <a:lstStyle/>
          <a:p>
            <a:pPr indent="0" marL="0">
              <a:buNone/>
            </a:pPr>
            <a:r>
              <a:rPr lang="en-US" sz="2400" b="1" dirty="0">
                <a:solidFill>
                  <a:srgbClr val="1E3A5F"/>
                </a:solidFill>
                <a:latin typeface="Calibri" pitchFamily="34" charset="0"/>
                <a:ea typeface="Calibri" pitchFamily="34" charset="-122"/>
                <a:cs typeface="Calibri" pitchFamily="34" charset="-120"/>
              </a:rPr>
              <a:t>3</a:t>
            </a:r>
            <a:endParaRPr lang="en-US" sz="2400" dirty="0"/>
          </a:p>
        </p:txBody>
      </p:sp>
      <p:sp>
        <p:nvSpPr>
          <p:cNvPr id="28" name="Text 26"/>
          <p:cNvSpPr/>
          <p:nvPr/>
        </p:nvSpPr>
        <p:spPr>
          <a:xfrm>
            <a:off x="6144768" y="3602736"/>
            <a:ext cx="365760" cy="128016"/>
          </a:xfrm>
          <a:prstGeom prst="rect">
            <a:avLst/>
          </a:prstGeom>
          <a:noFill/>
          <a:ln/>
        </p:spPr>
        <p:txBody>
          <a:bodyPr wrap="square" lIns="0" tIns="0" rIns="0" bIns="0" rtlCol="0" anchor="ctr"/>
          <a:lstStyle/>
          <a:p>
            <a:pPr indent="0" marL="0">
              <a:buNone/>
            </a:pPr>
            <a:r>
              <a:rPr lang="en-US" sz="650" spc="100" kern="0" dirty="0">
                <a:solidFill>
                  <a:srgbClr val="8898AA"/>
                </a:solidFill>
                <a:latin typeface="Calibri" pitchFamily="34" charset="0"/>
                <a:ea typeface="Calibri" pitchFamily="34" charset="-122"/>
                <a:cs typeface="Calibri" pitchFamily="34" charset="-120"/>
              </a:rPr>
              <a:t>STEP</a:t>
            </a:r>
            <a:endParaRPr lang="en-US" sz="650" dirty="0"/>
          </a:p>
        </p:txBody>
      </p:sp>
      <p:sp>
        <p:nvSpPr>
          <p:cNvPr id="29" name="Text 27"/>
          <p:cNvSpPr/>
          <p:nvPr/>
        </p:nvSpPr>
        <p:spPr>
          <a:xfrm>
            <a:off x="6620256" y="3255264"/>
            <a:ext cx="1883664" cy="274320"/>
          </a:xfrm>
          <a:prstGeom prst="rect">
            <a:avLst/>
          </a:prstGeom>
          <a:noFill/>
          <a:ln/>
        </p:spPr>
        <p:txBody>
          <a:bodyPr wrap="square" lIns="0" tIns="0" rIns="0" bIns="0" rtlCol="0" anchor="ctr"/>
          <a:lstStyle/>
          <a:p>
            <a:pPr indent="0" marL="0">
              <a:buNone/>
            </a:pPr>
            <a:r>
              <a:rPr lang="en-US" sz="1100" b="1" spc="50" kern="0" dirty="0">
                <a:solidFill>
                  <a:srgbClr val="0A2540"/>
                </a:solidFill>
                <a:latin typeface="Calibri" pitchFamily="34" charset="0"/>
                <a:ea typeface="Calibri" pitchFamily="34" charset="-122"/>
                <a:cs typeface="Calibri" pitchFamily="34" charset="-120"/>
              </a:rPr>
              <a:t>ATTEND</a:t>
            </a:r>
            <a:endParaRPr lang="en-US" sz="1100" dirty="0"/>
          </a:p>
        </p:txBody>
      </p:sp>
      <p:sp>
        <p:nvSpPr>
          <p:cNvPr id="30" name="Text 28"/>
          <p:cNvSpPr/>
          <p:nvPr/>
        </p:nvSpPr>
        <p:spPr>
          <a:xfrm>
            <a:off x="6620256" y="3566160"/>
            <a:ext cx="1883664" cy="71323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Every token attends to every other through 96 layers.</a:t>
            </a:r>
            <a:endParaRPr lang="en-US" sz="850" dirty="0"/>
          </a:p>
        </p:txBody>
      </p:sp>
      <p:sp>
        <p:nvSpPr>
          <p:cNvPr id="31" name="Shape 29"/>
          <p:cNvSpPr/>
          <p:nvPr/>
        </p:nvSpPr>
        <p:spPr>
          <a:xfrm>
            <a:off x="365760" y="3145536"/>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2" name="Shape 30"/>
          <p:cNvSpPr/>
          <p:nvPr/>
        </p:nvSpPr>
        <p:spPr>
          <a:xfrm>
            <a:off x="365760" y="3145536"/>
            <a:ext cx="36576" cy="1207008"/>
          </a:xfrm>
          <a:prstGeom prst="rect">
            <a:avLst/>
          </a:prstGeom>
          <a:solidFill>
            <a:srgbClr val="1E3A5F"/>
          </a:solidFill>
          <a:ln/>
        </p:spPr>
      </p:sp>
      <p:sp>
        <p:nvSpPr>
          <p:cNvPr id="33" name="Text 31"/>
          <p:cNvSpPr/>
          <p:nvPr/>
        </p:nvSpPr>
        <p:spPr>
          <a:xfrm>
            <a:off x="512064" y="3236976"/>
            <a:ext cx="365760" cy="420624"/>
          </a:xfrm>
          <a:prstGeom prst="rect">
            <a:avLst/>
          </a:prstGeom>
          <a:noFill/>
          <a:ln/>
        </p:spPr>
        <p:txBody>
          <a:bodyPr wrap="square" lIns="0" tIns="0" rIns="0" bIns="0" rtlCol="0" anchor="ctr"/>
          <a:lstStyle/>
          <a:p>
            <a:pPr indent="0" marL="0">
              <a:buNone/>
            </a:pPr>
            <a:r>
              <a:rPr lang="en-US" sz="2400" b="1" dirty="0">
                <a:solidFill>
                  <a:srgbClr val="1E3A5F"/>
                </a:solidFill>
                <a:latin typeface="Calibri" pitchFamily="34" charset="0"/>
                <a:ea typeface="Calibri" pitchFamily="34" charset="-122"/>
                <a:cs typeface="Calibri" pitchFamily="34" charset="-120"/>
              </a:rPr>
              <a:t>4</a:t>
            </a:r>
            <a:endParaRPr lang="en-US" sz="2400" dirty="0"/>
          </a:p>
        </p:txBody>
      </p:sp>
      <p:sp>
        <p:nvSpPr>
          <p:cNvPr id="34" name="Text 32"/>
          <p:cNvSpPr/>
          <p:nvPr/>
        </p:nvSpPr>
        <p:spPr>
          <a:xfrm>
            <a:off x="530352" y="3602736"/>
            <a:ext cx="365760" cy="128016"/>
          </a:xfrm>
          <a:prstGeom prst="rect">
            <a:avLst/>
          </a:prstGeom>
          <a:noFill/>
          <a:ln/>
        </p:spPr>
        <p:txBody>
          <a:bodyPr wrap="square" lIns="0" tIns="0" rIns="0" bIns="0" rtlCol="0" anchor="ctr"/>
          <a:lstStyle/>
          <a:p>
            <a:pPr indent="0" marL="0">
              <a:buNone/>
            </a:pPr>
            <a:r>
              <a:rPr lang="en-US" sz="650" spc="100" kern="0" dirty="0">
                <a:solidFill>
                  <a:srgbClr val="8898AA"/>
                </a:solidFill>
                <a:latin typeface="Calibri" pitchFamily="34" charset="0"/>
                <a:ea typeface="Calibri" pitchFamily="34" charset="-122"/>
                <a:cs typeface="Calibri" pitchFamily="34" charset="-120"/>
              </a:rPr>
              <a:t>STEP</a:t>
            </a:r>
            <a:endParaRPr lang="en-US" sz="650" dirty="0"/>
          </a:p>
        </p:txBody>
      </p:sp>
      <p:sp>
        <p:nvSpPr>
          <p:cNvPr id="35" name="Text 33"/>
          <p:cNvSpPr/>
          <p:nvPr/>
        </p:nvSpPr>
        <p:spPr>
          <a:xfrm>
            <a:off x="1005840" y="3255264"/>
            <a:ext cx="1883664" cy="274320"/>
          </a:xfrm>
          <a:prstGeom prst="rect">
            <a:avLst/>
          </a:prstGeom>
          <a:noFill/>
          <a:ln/>
        </p:spPr>
        <p:txBody>
          <a:bodyPr wrap="square" lIns="0" tIns="0" rIns="0" bIns="0" rtlCol="0" anchor="ctr"/>
          <a:lstStyle/>
          <a:p>
            <a:pPr indent="0" marL="0">
              <a:buNone/>
            </a:pPr>
            <a:r>
              <a:rPr lang="en-US" sz="1100" b="1" spc="50" kern="0" dirty="0">
                <a:solidFill>
                  <a:srgbClr val="0A2540"/>
                </a:solidFill>
                <a:latin typeface="Calibri" pitchFamily="34" charset="0"/>
                <a:ea typeface="Calibri" pitchFamily="34" charset="-122"/>
                <a:cs typeface="Calibri" pitchFamily="34" charset="-120"/>
              </a:rPr>
              <a:t>PREDICT</a:t>
            </a:r>
            <a:endParaRPr lang="en-US" sz="1100" dirty="0"/>
          </a:p>
        </p:txBody>
      </p:sp>
      <p:sp>
        <p:nvSpPr>
          <p:cNvPr id="36" name="Text 34"/>
          <p:cNvSpPr/>
          <p:nvPr/>
        </p:nvSpPr>
        <p:spPr>
          <a:xfrm>
            <a:off x="1005840" y="3566160"/>
            <a:ext cx="1883664" cy="71323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Final layer produces probabilities over 50,000+ next tokens.</a:t>
            </a:r>
            <a:endParaRPr lang="en-US" sz="850" dirty="0"/>
          </a:p>
        </p:txBody>
      </p:sp>
      <p:sp>
        <p:nvSpPr>
          <p:cNvPr id="37" name="Text 35"/>
          <p:cNvSpPr/>
          <p:nvPr/>
        </p:nvSpPr>
        <p:spPr>
          <a:xfrm>
            <a:off x="2980944" y="3657600"/>
            <a:ext cx="201168" cy="274320"/>
          </a:xfrm>
          <a:prstGeom prst="rect">
            <a:avLst/>
          </a:prstGeom>
          <a:noFill/>
          <a:ln/>
        </p:spPr>
        <p:txBody>
          <a:bodyPr wrap="square" lIns="0" tIns="0" rIns="0" bIns="0" rtlCol="0" anchor="ctr"/>
          <a:lstStyle/>
          <a:p>
            <a:pPr algn="ctr" indent="0" marL="0">
              <a:buNone/>
            </a:pPr>
            <a:r>
              <a:rPr lang="en-US" sz="1400" dirty="0">
                <a:solidFill>
                  <a:srgbClr val="8898AA"/>
                </a:solidFill>
                <a:latin typeface="Calibri" pitchFamily="34" charset="0"/>
                <a:ea typeface="Calibri" pitchFamily="34" charset="-122"/>
                <a:cs typeface="Calibri" pitchFamily="34" charset="-120"/>
              </a:rPr>
              <a:t>→</a:t>
            </a:r>
            <a:endParaRPr lang="en-US" sz="1400" dirty="0"/>
          </a:p>
        </p:txBody>
      </p:sp>
      <p:sp>
        <p:nvSpPr>
          <p:cNvPr id="38" name="Shape 36"/>
          <p:cNvSpPr/>
          <p:nvPr/>
        </p:nvSpPr>
        <p:spPr>
          <a:xfrm>
            <a:off x="3172968" y="4443984"/>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9" name="Shape 37"/>
          <p:cNvSpPr/>
          <p:nvPr/>
        </p:nvSpPr>
        <p:spPr>
          <a:xfrm>
            <a:off x="3172968" y="4443984"/>
            <a:ext cx="36576" cy="1207008"/>
          </a:xfrm>
          <a:prstGeom prst="rect">
            <a:avLst/>
          </a:prstGeom>
          <a:solidFill>
            <a:srgbClr val="1E3A5F"/>
          </a:solidFill>
          <a:ln/>
        </p:spPr>
      </p:sp>
      <p:sp>
        <p:nvSpPr>
          <p:cNvPr id="40" name="Text 38"/>
          <p:cNvSpPr/>
          <p:nvPr/>
        </p:nvSpPr>
        <p:spPr>
          <a:xfrm>
            <a:off x="3319272" y="4535424"/>
            <a:ext cx="365760" cy="420624"/>
          </a:xfrm>
          <a:prstGeom prst="rect">
            <a:avLst/>
          </a:prstGeom>
          <a:noFill/>
          <a:ln/>
        </p:spPr>
        <p:txBody>
          <a:bodyPr wrap="square" lIns="0" tIns="0" rIns="0" bIns="0" rtlCol="0" anchor="ctr"/>
          <a:lstStyle/>
          <a:p>
            <a:pPr indent="0" marL="0">
              <a:buNone/>
            </a:pPr>
            <a:r>
              <a:rPr lang="en-US" sz="2400" b="1" dirty="0">
                <a:solidFill>
                  <a:srgbClr val="1E3A5F"/>
                </a:solidFill>
                <a:latin typeface="Calibri" pitchFamily="34" charset="0"/>
                <a:ea typeface="Calibri" pitchFamily="34" charset="-122"/>
                <a:cs typeface="Calibri" pitchFamily="34" charset="-120"/>
              </a:rPr>
              <a:t>5</a:t>
            </a:r>
            <a:endParaRPr lang="en-US" sz="2400" dirty="0"/>
          </a:p>
        </p:txBody>
      </p:sp>
      <p:sp>
        <p:nvSpPr>
          <p:cNvPr id="41" name="Text 39"/>
          <p:cNvSpPr/>
          <p:nvPr/>
        </p:nvSpPr>
        <p:spPr>
          <a:xfrm>
            <a:off x="3337560" y="4901184"/>
            <a:ext cx="365760" cy="128016"/>
          </a:xfrm>
          <a:prstGeom prst="rect">
            <a:avLst/>
          </a:prstGeom>
          <a:noFill/>
          <a:ln/>
        </p:spPr>
        <p:txBody>
          <a:bodyPr wrap="square" lIns="0" tIns="0" rIns="0" bIns="0" rtlCol="0" anchor="ctr"/>
          <a:lstStyle/>
          <a:p>
            <a:pPr indent="0" marL="0">
              <a:buNone/>
            </a:pPr>
            <a:r>
              <a:rPr lang="en-US" sz="650" spc="100" kern="0" dirty="0">
                <a:solidFill>
                  <a:srgbClr val="8898AA"/>
                </a:solidFill>
                <a:latin typeface="Calibri" pitchFamily="34" charset="0"/>
                <a:ea typeface="Calibri" pitchFamily="34" charset="-122"/>
                <a:cs typeface="Calibri" pitchFamily="34" charset="-120"/>
              </a:rPr>
              <a:t>STEP</a:t>
            </a:r>
            <a:endParaRPr lang="en-US" sz="650" dirty="0"/>
          </a:p>
        </p:txBody>
      </p:sp>
      <p:sp>
        <p:nvSpPr>
          <p:cNvPr id="42" name="Text 40"/>
          <p:cNvSpPr/>
          <p:nvPr/>
        </p:nvSpPr>
        <p:spPr>
          <a:xfrm>
            <a:off x="3813048" y="4553712"/>
            <a:ext cx="1883664" cy="274320"/>
          </a:xfrm>
          <a:prstGeom prst="rect">
            <a:avLst/>
          </a:prstGeom>
          <a:noFill/>
          <a:ln/>
        </p:spPr>
        <p:txBody>
          <a:bodyPr wrap="square" lIns="0" tIns="0" rIns="0" bIns="0" rtlCol="0" anchor="ctr"/>
          <a:lstStyle/>
          <a:p>
            <a:pPr indent="0" marL="0">
              <a:buNone/>
            </a:pPr>
            <a:r>
              <a:rPr lang="en-US" sz="1100" b="1" spc="50" kern="0" dirty="0">
                <a:solidFill>
                  <a:srgbClr val="0A2540"/>
                </a:solidFill>
                <a:latin typeface="Calibri" pitchFamily="34" charset="0"/>
                <a:ea typeface="Calibri" pitchFamily="34" charset="-122"/>
                <a:cs typeface="Calibri" pitchFamily="34" charset="-120"/>
              </a:rPr>
              <a:t>SAMPLE</a:t>
            </a:r>
            <a:endParaRPr lang="en-US" sz="1100" dirty="0"/>
          </a:p>
        </p:txBody>
      </p:sp>
      <p:sp>
        <p:nvSpPr>
          <p:cNvPr id="43" name="Text 41"/>
          <p:cNvSpPr/>
          <p:nvPr/>
        </p:nvSpPr>
        <p:spPr>
          <a:xfrm>
            <a:off x="3813048" y="4864608"/>
            <a:ext cx="1883664" cy="71323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One token selected (shaped by temperature). Loop repeats.</a:t>
            </a:r>
            <a:endParaRPr lang="en-US" sz="850" dirty="0"/>
          </a:p>
        </p:txBody>
      </p:sp>
      <p:sp>
        <p:nvSpPr>
          <p:cNvPr id="44" name="Text 42"/>
          <p:cNvSpPr/>
          <p:nvPr/>
        </p:nvSpPr>
        <p:spPr>
          <a:xfrm>
            <a:off x="5788152" y="4956048"/>
            <a:ext cx="201168" cy="274320"/>
          </a:xfrm>
          <a:prstGeom prst="rect">
            <a:avLst/>
          </a:prstGeom>
          <a:noFill/>
          <a:ln/>
        </p:spPr>
        <p:txBody>
          <a:bodyPr wrap="square" lIns="0" tIns="0" rIns="0" bIns="0" rtlCol="0" anchor="ctr"/>
          <a:lstStyle/>
          <a:p>
            <a:pPr algn="ctr" indent="0" marL="0">
              <a:buNone/>
            </a:pPr>
            <a:r>
              <a:rPr lang="en-US" sz="1400" dirty="0">
                <a:solidFill>
                  <a:srgbClr val="8898AA"/>
                </a:solidFill>
                <a:latin typeface="Calibri" pitchFamily="34" charset="0"/>
                <a:ea typeface="Calibri" pitchFamily="34" charset="-122"/>
                <a:cs typeface="Calibri" pitchFamily="34" charset="-120"/>
              </a:rPr>
              <a:t>→</a:t>
            </a:r>
            <a:endParaRPr lang="en-US" sz="1400" dirty="0"/>
          </a:p>
        </p:txBody>
      </p:sp>
      <p:sp>
        <p:nvSpPr>
          <p:cNvPr id="45" name="Shape 43"/>
          <p:cNvSpPr/>
          <p:nvPr/>
        </p:nvSpPr>
        <p:spPr>
          <a:xfrm>
            <a:off x="5980176" y="4443984"/>
            <a:ext cx="2615184" cy="120700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6" name="Shape 44"/>
          <p:cNvSpPr/>
          <p:nvPr/>
        </p:nvSpPr>
        <p:spPr>
          <a:xfrm>
            <a:off x="5980176" y="4443984"/>
            <a:ext cx="36576" cy="1207008"/>
          </a:xfrm>
          <a:prstGeom prst="rect">
            <a:avLst/>
          </a:prstGeom>
          <a:solidFill>
            <a:srgbClr val="1E3A5F"/>
          </a:solidFill>
          <a:ln/>
        </p:spPr>
      </p:sp>
      <p:sp>
        <p:nvSpPr>
          <p:cNvPr id="47" name="Text 45"/>
          <p:cNvSpPr/>
          <p:nvPr/>
        </p:nvSpPr>
        <p:spPr>
          <a:xfrm>
            <a:off x="6126480" y="4535424"/>
            <a:ext cx="365760" cy="420624"/>
          </a:xfrm>
          <a:prstGeom prst="rect">
            <a:avLst/>
          </a:prstGeom>
          <a:noFill/>
          <a:ln/>
        </p:spPr>
        <p:txBody>
          <a:bodyPr wrap="square" lIns="0" tIns="0" rIns="0" bIns="0" rtlCol="0" anchor="ctr"/>
          <a:lstStyle/>
          <a:p>
            <a:pPr indent="0" marL="0">
              <a:buNone/>
            </a:pPr>
            <a:r>
              <a:rPr lang="en-US" sz="2400" b="1" dirty="0">
                <a:solidFill>
                  <a:srgbClr val="1E3A5F"/>
                </a:solidFill>
                <a:latin typeface="Calibri" pitchFamily="34" charset="0"/>
                <a:ea typeface="Calibri" pitchFamily="34" charset="-122"/>
                <a:cs typeface="Calibri" pitchFamily="34" charset="-120"/>
              </a:rPr>
              <a:t>6</a:t>
            </a:r>
            <a:endParaRPr lang="en-US" sz="2400" dirty="0"/>
          </a:p>
        </p:txBody>
      </p:sp>
      <p:sp>
        <p:nvSpPr>
          <p:cNvPr id="48" name="Text 46"/>
          <p:cNvSpPr/>
          <p:nvPr/>
        </p:nvSpPr>
        <p:spPr>
          <a:xfrm>
            <a:off x="6144768" y="4901184"/>
            <a:ext cx="365760" cy="128016"/>
          </a:xfrm>
          <a:prstGeom prst="rect">
            <a:avLst/>
          </a:prstGeom>
          <a:noFill/>
          <a:ln/>
        </p:spPr>
        <p:txBody>
          <a:bodyPr wrap="square" lIns="0" tIns="0" rIns="0" bIns="0" rtlCol="0" anchor="ctr"/>
          <a:lstStyle/>
          <a:p>
            <a:pPr indent="0" marL="0">
              <a:buNone/>
            </a:pPr>
            <a:r>
              <a:rPr lang="en-US" sz="650" spc="100" kern="0" dirty="0">
                <a:solidFill>
                  <a:srgbClr val="8898AA"/>
                </a:solidFill>
                <a:latin typeface="Calibri" pitchFamily="34" charset="0"/>
                <a:ea typeface="Calibri" pitchFamily="34" charset="-122"/>
                <a:cs typeface="Calibri" pitchFamily="34" charset="-120"/>
              </a:rPr>
              <a:t>STEP</a:t>
            </a:r>
            <a:endParaRPr lang="en-US" sz="650" dirty="0"/>
          </a:p>
        </p:txBody>
      </p:sp>
      <p:sp>
        <p:nvSpPr>
          <p:cNvPr id="49" name="Text 47"/>
          <p:cNvSpPr/>
          <p:nvPr/>
        </p:nvSpPr>
        <p:spPr>
          <a:xfrm>
            <a:off x="6620256" y="4553712"/>
            <a:ext cx="1883664" cy="274320"/>
          </a:xfrm>
          <a:prstGeom prst="rect">
            <a:avLst/>
          </a:prstGeom>
          <a:noFill/>
          <a:ln/>
        </p:spPr>
        <p:txBody>
          <a:bodyPr wrap="square" lIns="0" tIns="0" rIns="0" bIns="0" rtlCol="0" anchor="ctr"/>
          <a:lstStyle/>
          <a:p>
            <a:pPr indent="0" marL="0">
              <a:buNone/>
            </a:pPr>
            <a:r>
              <a:rPr lang="en-US" sz="1100" b="1" spc="50" kern="0" dirty="0">
                <a:solidFill>
                  <a:srgbClr val="0A2540"/>
                </a:solidFill>
                <a:latin typeface="Calibri" pitchFamily="34" charset="0"/>
                <a:ea typeface="Calibri" pitchFamily="34" charset="-122"/>
                <a:cs typeface="Calibri" pitchFamily="34" charset="-120"/>
              </a:rPr>
              <a:t>OUTPUT</a:t>
            </a:r>
            <a:endParaRPr lang="en-US" sz="1100" dirty="0"/>
          </a:p>
        </p:txBody>
      </p:sp>
      <p:sp>
        <p:nvSpPr>
          <p:cNvPr id="50" name="Text 48"/>
          <p:cNvSpPr/>
          <p:nvPr/>
        </p:nvSpPr>
        <p:spPr>
          <a:xfrm>
            <a:off x="6620256" y="4864608"/>
            <a:ext cx="1883664" cy="713232"/>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Word-by-word generation until model decides to stop.</a:t>
            </a:r>
            <a:endParaRPr lang="en-US" sz="850" dirty="0"/>
          </a:p>
        </p:txBody>
      </p:sp>
      <p:sp>
        <p:nvSpPr>
          <p:cNvPr id="51" name="Shape 49"/>
          <p:cNvSpPr/>
          <p:nvPr/>
        </p:nvSpPr>
        <p:spPr>
          <a:xfrm>
            <a:off x="365760" y="4572000"/>
            <a:ext cx="8412480" cy="457200"/>
          </a:xfrm>
          <a:prstGeom prst="rect">
            <a:avLst/>
          </a:prstGeom>
          <a:solidFill>
            <a:srgbClr val="EDF1F7"/>
          </a:solidFill>
          <a:ln/>
        </p:spPr>
      </p:sp>
      <p:sp>
        <p:nvSpPr>
          <p:cNvPr id="52" name="Shape 50"/>
          <p:cNvSpPr/>
          <p:nvPr/>
        </p:nvSpPr>
        <p:spPr>
          <a:xfrm>
            <a:off x="365760" y="4572000"/>
            <a:ext cx="36576" cy="457200"/>
          </a:xfrm>
          <a:prstGeom prst="rect">
            <a:avLst/>
          </a:prstGeom>
          <a:solidFill>
            <a:srgbClr val="B8860B"/>
          </a:solidFill>
          <a:ln/>
        </p:spPr>
      </p:sp>
      <p:sp>
        <p:nvSpPr>
          <p:cNvPr id="53" name="Text 51"/>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4" name="Text 52"/>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The AI is not thinking — it is doing extraordinarily sophisticated pattern completion at extreme speed. This explains both its remarkable capability and its structural limitations.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FIVE PROPERTIES THAT MAKE GenAI UNLIKE ANY PREVIOUS AI</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Text 5"/>
          <p:cNvSpPr/>
          <p:nvPr/>
        </p:nvSpPr>
        <p:spPr>
          <a:xfrm>
            <a:off x="365760" y="768096"/>
            <a:ext cx="8412480" cy="237744"/>
          </a:xfrm>
          <a:prstGeom prst="rect">
            <a:avLst/>
          </a:prstGeom>
          <a:noFill/>
          <a:ln/>
        </p:spPr>
        <p:txBody>
          <a:bodyPr wrap="square" lIns="0" tIns="0" rIns="0" bIns="0" rtlCol="0" anchor="ctr"/>
          <a:lstStyle/>
          <a:p>
            <a:pPr indent="0" marL="0">
              <a:buNone/>
            </a:pPr>
            <a:r>
              <a:rPr lang="en-US" sz="1050" i="1" dirty="0">
                <a:solidFill>
                  <a:srgbClr val="47596B"/>
                </a:solidFill>
                <a:latin typeface="Calibri" pitchFamily="34" charset="0"/>
                <a:ea typeface="Calibri" pitchFamily="34" charset="-122"/>
                <a:cs typeface="Calibri" pitchFamily="34" charset="-120"/>
              </a:rPr>
              <a:t>For the first time in AI history, all five of these properties exist simultaneously in a single system.</a:t>
            </a:r>
            <a:endParaRPr lang="en-US" sz="1050" dirty="0"/>
          </a:p>
        </p:txBody>
      </p:sp>
      <p:sp>
        <p:nvSpPr>
          <p:cNvPr id="8" name="Shape 6"/>
          <p:cNvSpPr/>
          <p:nvPr/>
        </p:nvSpPr>
        <p:spPr>
          <a:xfrm>
            <a:off x="365760" y="1078992"/>
            <a:ext cx="8412480" cy="62179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9" name="Shape 7"/>
          <p:cNvSpPr/>
          <p:nvPr/>
        </p:nvSpPr>
        <p:spPr>
          <a:xfrm>
            <a:off x="365760" y="1078992"/>
            <a:ext cx="36576" cy="621792"/>
          </a:xfrm>
          <a:prstGeom prst="rect">
            <a:avLst/>
          </a:prstGeom>
          <a:solidFill>
            <a:srgbClr val="1E3A5F"/>
          </a:solidFill>
          <a:ln/>
        </p:spPr>
      </p:sp>
      <p:sp>
        <p:nvSpPr>
          <p:cNvPr id="10" name="Text 8"/>
          <p:cNvSpPr/>
          <p:nvPr/>
        </p:nvSpPr>
        <p:spPr>
          <a:xfrm>
            <a:off x="512064" y="1225296"/>
            <a:ext cx="54864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01</a:t>
            </a:r>
            <a:endParaRPr lang="en-US" sz="2000" dirty="0"/>
          </a:p>
        </p:txBody>
      </p:sp>
      <p:sp>
        <p:nvSpPr>
          <p:cNvPr id="11" name="Text 9"/>
          <p:cNvSpPr/>
          <p:nvPr/>
        </p:nvSpPr>
        <p:spPr>
          <a:xfrm>
            <a:off x="1115568" y="1152144"/>
            <a:ext cx="1554480"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GENERATIVITY</a:t>
            </a:r>
            <a:endParaRPr lang="en-US" sz="1050" dirty="0"/>
          </a:p>
        </p:txBody>
      </p:sp>
      <p:sp>
        <p:nvSpPr>
          <p:cNvPr id="12" name="Text 10"/>
          <p:cNvSpPr/>
          <p:nvPr/>
        </p:nvSpPr>
        <p:spPr>
          <a:xfrm>
            <a:off x="1115568" y="1389888"/>
            <a:ext cx="3383280"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Creates genuinely new content — writes, draws, codes, composes original work.</a:t>
            </a:r>
            <a:endParaRPr lang="en-US" sz="850" dirty="0"/>
          </a:p>
        </p:txBody>
      </p:sp>
      <p:sp>
        <p:nvSpPr>
          <p:cNvPr id="13" name="Shape 11"/>
          <p:cNvSpPr/>
          <p:nvPr/>
        </p:nvSpPr>
        <p:spPr>
          <a:xfrm>
            <a:off x="4590288" y="1115568"/>
            <a:ext cx="4114800" cy="566928"/>
          </a:xfrm>
          <a:prstGeom prst="rect">
            <a:avLst/>
          </a:prstGeom>
          <a:solidFill>
            <a:srgbClr val="F4E4BC"/>
          </a:solidFill>
          <a:ln/>
        </p:spPr>
      </p:sp>
      <p:sp>
        <p:nvSpPr>
          <p:cNvPr id="14" name="Text 12"/>
          <p:cNvSpPr/>
          <p:nvPr/>
        </p:nvSpPr>
        <p:spPr>
          <a:xfrm>
            <a:off x="4663440" y="1133856"/>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Analogy</a:t>
            </a:r>
            <a:endParaRPr lang="en-US" sz="650" dirty="0"/>
          </a:p>
        </p:txBody>
      </p:sp>
      <p:sp>
        <p:nvSpPr>
          <p:cNvPr id="15" name="Text 13"/>
          <p:cNvSpPr/>
          <p:nvPr/>
        </p:nvSpPr>
        <p:spPr>
          <a:xfrm>
            <a:off x="4663440" y="1261872"/>
            <a:ext cx="3968496" cy="146304"/>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A musician improvising new music — not a jukebox playing recordings</a:t>
            </a:r>
            <a:endParaRPr lang="en-US" sz="750" dirty="0"/>
          </a:p>
        </p:txBody>
      </p:sp>
      <p:sp>
        <p:nvSpPr>
          <p:cNvPr id="16" name="Text 14"/>
          <p:cNvSpPr/>
          <p:nvPr/>
        </p:nvSpPr>
        <p:spPr>
          <a:xfrm>
            <a:off x="4663440" y="1426464"/>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17" name="Text 15"/>
          <p:cNvSpPr/>
          <p:nvPr/>
        </p:nvSpPr>
        <p:spPr>
          <a:xfrm>
            <a:off x="4663440" y="1536192"/>
            <a:ext cx="3968496" cy="128016"/>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ChatGPT writes a contract from scratch · DALL-E creates a brand-new product image · Copilot writes working code</a:t>
            </a:r>
            <a:endParaRPr lang="en-US" sz="700" dirty="0"/>
          </a:p>
        </p:txBody>
      </p:sp>
      <p:sp>
        <p:nvSpPr>
          <p:cNvPr id="18" name="Shape 16"/>
          <p:cNvSpPr/>
          <p:nvPr/>
        </p:nvSpPr>
        <p:spPr>
          <a:xfrm>
            <a:off x="365760" y="1773936"/>
            <a:ext cx="8412480" cy="62179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9" name="Shape 17"/>
          <p:cNvSpPr/>
          <p:nvPr/>
        </p:nvSpPr>
        <p:spPr>
          <a:xfrm>
            <a:off x="365760" y="1773936"/>
            <a:ext cx="36576" cy="621792"/>
          </a:xfrm>
          <a:prstGeom prst="rect">
            <a:avLst/>
          </a:prstGeom>
          <a:solidFill>
            <a:srgbClr val="1E3A5F"/>
          </a:solidFill>
          <a:ln/>
        </p:spPr>
      </p:sp>
      <p:sp>
        <p:nvSpPr>
          <p:cNvPr id="20" name="Text 18"/>
          <p:cNvSpPr/>
          <p:nvPr/>
        </p:nvSpPr>
        <p:spPr>
          <a:xfrm>
            <a:off x="512064" y="1920240"/>
            <a:ext cx="54864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02</a:t>
            </a:r>
            <a:endParaRPr lang="en-US" sz="2000" dirty="0"/>
          </a:p>
        </p:txBody>
      </p:sp>
      <p:sp>
        <p:nvSpPr>
          <p:cNvPr id="21" name="Text 19"/>
          <p:cNvSpPr/>
          <p:nvPr/>
        </p:nvSpPr>
        <p:spPr>
          <a:xfrm>
            <a:off x="1115568" y="1847088"/>
            <a:ext cx="1554480"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GENERALITY</a:t>
            </a:r>
            <a:endParaRPr lang="en-US" sz="1050" dirty="0"/>
          </a:p>
        </p:txBody>
      </p:sp>
      <p:sp>
        <p:nvSpPr>
          <p:cNvPr id="22" name="Text 20"/>
          <p:cNvSpPr/>
          <p:nvPr/>
        </p:nvSpPr>
        <p:spPr>
          <a:xfrm>
            <a:off x="1115568" y="2084832"/>
            <a:ext cx="3383280"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One model handles thousands of tasks without retraining. Summarise, translate, code, analyse — same model.</a:t>
            </a:r>
            <a:endParaRPr lang="en-US" sz="850" dirty="0"/>
          </a:p>
        </p:txBody>
      </p:sp>
      <p:sp>
        <p:nvSpPr>
          <p:cNvPr id="23" name="Shape 21"/>
          <p:cNvSpPr/>
          <p:nvPr/>
        </p:nvSpPr>
        <p:spPr>
          <a:xfrm>
            <a:off x="4590288" y="1810512"/>
            <a:ext cx="4114800" cy="566928"/>
          </a:xfrm>
          <a:prstGeom prst="rect">
            <a:avLst/>
          </a:prstGeom>
          <a:solidFill>
            <a:srgbClr val="F4E4BC"/>
          </a:solidFill>
          <a:ln/>
        </p:spPr>
      </p:sp>
      <p:sp>
        <p:nvSpPr>
          <p:cNvPr id="24" name="Text 22"/>
          <p:cNvSpPr/>
          <p:nvPr/>
        </p:nvSpPr>
        <p:spPr>
          <a:xfrm>
            <a:off x="4663440" y="1828800"/>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Analogy</a:t>
            </a:r>
            <a:endParaRPr lang="en-US" sz="650" dirty="0"/>
          </a:p>
        </p:txBody>
      </p:sp>
      <p:sp>
        <p:nvSpPr>
          <p:cNvPr id="25" name="Text 23"/>
          <p:cNvSpPr/>
          <p:nvPr/>
        </p:nvSpPr>
        <p:spPr>
          <a:xfrm>
            <a:off x="4663440" y="1956816"/>
            <a:ext cx="3968496" cy="146304"/>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One employee who can do every job in the company to a high standard</a:t>
            </a:r>
            <a:endParaRPr lang="en-US" sz="750" dirty="0"/>
          </a:p>
        </p:txBody>
      </p:sp>
      <p:sp>
        <p:nvSpPr>
          <p:cNvPr id="26" name="Text 24"/>
          <p:cNvSpPr/>
          <p:nvPr/>
        </p:nvSpPr>
        <p:spPr>
          <a:xfrm>
            <a:off x="4663440" y="2121408"/>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27" name="Text 25"/>
          <p:cNvSpPr/>
          <p:nvPr/>
        </p:nvSpPr>
        <p:spPr>
          <a:xfrm>
            <a:off x="4663440" y="2231136"/>
            <a:ext cx="3968496" cy="128016"/>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Claude translates a contract, analyses sentiment, drafts a response — all in one conversation</a:t>
            </a:r>
            <a:endParaRPr lang="en-US" sz="700" dirty="0"/>
          </a:p>
        </p:txBody>
      </p:sp>
      <p:sp>
        <p:nvSpPr>
          <p:cNvPr id="28" name="Shape 26"/>
          <p:cNvSpPr/>
          <p:nvPr/>
        </p:nvSpPr>
        <p:spPr>
          <a:xfrm>
            <a:off x="365760" y="2468880"/>
            <a:ext cx="8412480" cy="62179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9" name="Shape 27"/>
          <p:cNvSpPr/>
          <p:nvPr/>
        </p:nvSpPr>
        <p:spPr>
          <a:xfrm>
            <a:off x="365760" y="2468880"/>
            <a:ext cx="36576" cy="621792"/>
          </a:xfrm>
          <a:prstGeom prst="rect">
            <a:avLst/>
          </a:prstGeom>
          <a:solidFill>
            <a:srgbClr val="1E3A5F"/>
          </a:solidFill>
          <a:ln/>
        </p:spPr>
      </p:sp>
      <p:sp>
        <p:nvSpPr>
          <p:cNvPr id="30" name="Text 28"/>
          <p:cNvSpPr/>
          <p:nvPr/>
        </p:nvSpPr>
        <p:spPr>
          <a:xfrm>
            <a:off x="512064" y="2615184"/>
            <a:ext cx="54864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03</a:t>
            </a:r>
            <a:endParaRPr lang="en-US" sz="2000" dirty="0"/>
          </a:p>
        </p:txBody>
      </p:sp>
      <p:sp>
        <p:nvSpPr>
          <p:cNvPr id="31" name="Text 29"/>
          <p:cNvSpPr/>
          <p:nvPr/>
        </p:nvSpPr>
        <p:spPr>
          <a:xfrm>
            <a:off x="1115568" y="2542032"/>
            <a:ext cx="1554480"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FLUENCY</a:t>
            </a:r>
            <a:endParaRPr lang="en-US" sz="1050" dirty="0"/>
          </a:p>
        </p:txBody>
      </p:sp>
      <p:sp>
        <p:nvSpPr>
          <p:cNvPr id="32" name="Text 30"/>
          <p:cNvSpPr/>
          <p:nvPr/>
        </p:nvSpPr>
        <p:spPr>
          <a:xfrm>
            <a:off x="1115568" y="2779776"/>
            <a:ext cx="3383280"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Produces human-quality text, code, images. Previous AI outputs were robotic. GenAI is indistinguishable.</a:t>
            </a:r>
            <a:endParaRPr lang="en-US" sz="850" dirty="0"/>
          </a:p>
        </p:txBody>
      </p:sp>
      <p:sp>
        <p:nvSpPr>
          <p:cNvPr id="33" name="Shape 31"/>
          <p:cNvSpPr/>
          <p:nvPr/>
        </p:nvSpPr>
        <p:spPr>
          <a:xfrm>
            <a:off x="4590288" y="2505456"/>
            <a:ext cx="4114800" cy="566928"/>
          </a:xfrm>
          <a:prstGeom prst="rect">
            <a:avLst/>
          </a:prstGeom>
          <a:solidFill>
            <a:srgbClr val="F4E4BC"/>
          </a:solidFill>
          <a:ln/>
        </p:spPr>
      </p:sp>
      <p:sp>
        <p:nvSpPr>
          <p:cNvPr id="34" name="Text 32"/>
          <p:cNvSpPr/>
          <p:nvPr/>
        </p:nvSpPr>
        <p:spPr>
          <a:xfrm>
            <a:off x="4663440" y="2523744"/>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Analogy</a:t>
            </a:r>
            <a:endParaRPr lang="en-US" sz="650" dirty="0"/>
          </a:p>
        </p:txBody>
      </p:sp>
      <p:sp>
        <p:nvSpPr>
          <p:cNvPr id="35" name="Text 33"/>
          <p:cNvSpPr/>
          <p:nvPr/>
        </p:nvSpPr>
        <p:spPr>
          <a:xfrm>
            <a:off x="4663440" y="2651760"/>
            <a:ext cx="3968496" cy="146304"/>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A native speaker vs someone reading from a phrase book</a:t>
            </a:r>
            <a:endParaRPr lang="en-US" sz="750" dirty="0"/>
          </a:p>
        </p:txBody>
      </p:sp>
      <p:sp>
        <p:nvSpPr>
          <p:cNvPr id="36" name="Text 34"/>
          <p:cNvSpPr/>
          <p:nvPr/>
        </p:nvSpPr>
        <p:spPr>
          <a:xfrm>
            <a:off x="4663440" y="2816352"/>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37" name="Text 35"/>
          <p:cNvSpPr/>
          <p:nvPr/>
        </p:nvSpPr>
        <p:spPr>
          <a:xfrm>
            <a:off x="4663440" y="2926080"/>
            <a:ext cx="3968496" cy="128016"/>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GPT-4 scored in the top 10% of the US Bar Exam · Claude passed medical licensing tests</a:t>
            </a:r>
            <a:endParaRPr lang="en-US" sz="700" dirty="0"/>
          </a:p>
        </p:txBody>
      </p:sp>
      <p:sp>
        <p:nvSpPr>
          <p:cNvPr id="38" name="Shape 36"/>
          <p:cNvSpPr/>
          <p:nvPr/>
        </p:nvSpPr>
        <p:spPr>
          <a:xfrm>
            <a:off x="365760" y="3163824"/>
            <a:ext cx="8412480" cy="62179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9" name="Shape 37"/>
          <p:cNvSpPr/>
          <p:nvPr/>
        </p:nvSpPr>
        <p:spPr>
          <a:xfrm>
            <a:off x="365760" y="3163824"/>
            <a:ext cx="36576" cy="621792"/>
          </a:xfrm>
          <a:prstGeom prst="rect">
            <a:avLst/>
          </a:prstGeom>
          <a:solidFill>
            <a:srgbClr val="1E3A5F"/>
          </a:solidFill>
          <a:ln/>
        </p:spPr>
      </p:sp>
      <p:sp>
        <p:nvSpPr>
          <p:cNvPr id="40" name="Text 38"/>
          <p:cNvSpPr/>
          <p:nvPr/>
        </p:nvSpPr>
        <p:spPr>
          <a:xfrm>
            <a:off x="512064" y="3310128"/>
            <a:ext cx="54864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04</a:t>
            </a:r>
            <a:endParaRPr lang="en-US" sz="2000" dirty="0"/>
          </a:p>
        </p:txBody>
      </p:sp>
      <p:sp>
        <p:nvSpPr>
          <p:cNvPr id="41" name="Text 39"/>
          <p:cNvSpPr/>
          <p:nvPr/>
        </p:nvSpPr>
        <p:spPr>
          <a:xfrm>
            <a:off x="1115568" y="3236976"/>
            <a:ext cx="1554480"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EMERGENCE</a:t>
            </a:r>
            <a:endParaRPr lang="en-US" sz="1050" dirty="0"/>
          </a:p>
        </p:txBody>
      </p:sp>
      <p:sp>
        <p:nvSpPr>
          <p:cNvPr id="42" name="Text 40"/>
          <p:cNvSpPr/>
          <p:nvPr/>
        </p:nvSpPr>
        <p:spPr>
          <a:xfrm>
            <a:off x="1115568" y="3474720"/>
            <a:ext cx="3383280"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Capabilities appear at scale that nobody programmed — bigger models surprise their creators.</a:t>
            </a:r>
            <a:endParaRPr lang="en-US" sz="850" dirty="0"/>
          </a:p>
        </p:txBody>
      </p:sp>
      <p:sp>
        <p:nvSpPr>
          <p:cNvPr id="43" name="Shape 41"/>
          <p:cNvSpPr/>
          <p:nvPr/>
        </p:nvSpPr>
        <p:spPr>
          <a:xfrm>
            <a:off x="4590288" y="3200400"/>
            <a:ext cx="4114800" cy="566928"/>
          </a:xfrm>
          <a:prstGeom prst="rect">
            <a:avLst/>
          </a:prstGeom>
          <a:solidFill>
            <a:srgbClr val="F4E4BC"/>
          </a:solidFill>
          <a:ln/>
        </p:spPr>
      </p:sp>
      <p:sp>
        <p:nvSpPr>
          <p:cNvPr id="44" name="Text 42"/>
          <p:cNvSpPr/>
          <p:nvPr/>
        </p:nvSpPr>
        <p:spPr>
          <a:xfrm>
            <a:off x="4663440" y="3218688"/>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Analogy</a:t>
            </a:r>
            <a:endParaRPr lang="en-US" sz="650" dirty="0"/>
          </a:p>
        </p:txBody>
      </p:sp>
      <p:sp>
        <p:nvSpPr>
          <p:cNvPr id="45" name="Text 43"/>
          <p:cNvSpPr/>
          <p:nvPr/>
        </p:nvSpPr>
        <p:spPr>
          <a:xfrm>
            <a:off x="4663440" y="3346704"/>
            <a:ext cx="3968496" cy="146304"/>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You hire a mail sorter. They start fixing typos. Then writing letters. Nobody taught them.</a:t>
            </a:r>
            <a:endParaRPr lang="en-US" sz="750" dirty="0"/>
          </a:p>
        </p:txBody>
      </p:sp>
      <p:sp>
        <p:nvSpPr>
          <p:cNvPr id="46" name="Text 44"/>
          <p:cNvSpPr/>
          <p:nvPr/>
        </p:nvSpPr>
        <p:spPr>
          <a:xfrm>
            <a:off x="4663440" y="3511296"/>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47" name="Text 45"/>
          <p:cNvSpPr/>
          <p:nvPr/>
        </p:nvSpPr>
        <p:spPr>
          <a:xfrm>
            <a:off x="4663440" y="3621024"/>
            <a:ext cx="3968496" cy="128016"/>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GPT-3 solved arithmetic it was never trained on · Models learned Swahili from minimal examples</a:t>
            </a:r>
            <a:endParaRPr lang="en-US" sz="700" dirty="0"/>
          </a:p>
        </p:txBody>
      </p:sp>
      <p:sp>
        <p:nvSpPr>
          <p:cNvPr id="48" name="Shape 46"/>
          <p:cNvSpPr/>
          <p:nvPr/>
        </p:nvSpPr>
        <p:spPr>
          <a:xfrm>
            <a:off x="365760" y="3858768"/>
            <a:ext cx="8412480" cy="62179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9" name="Shape 47"/>
          <p:cNvSpPr/>
          <p:nvPr/>
        </p:nvSpPr>
        <p:spPr>
          <a:xfrm>
            <a:off x="365760" y="3858768"/>
            <a:ext cx="36576" cy="621792"/>
          </a:xfrm>
          <a:prstGeom prst="rect">
            <a:avLst/>
          </a:prstGeom>
          <a:solidFill>
            <a:srgbClr val="1E3A5F"/>
          </a:solidFill>
          <a:ln/>
        </p:spPr>
      </p:sp>
      <p:sp>
        <p:nvSpPr>
          <p:cNvPr id="50" name="Text 48"/>
          <p:cNvSpPr/>
          <p:nvPr/>
        </p:nvSpPr>
        <p:spPr>
          <a:xfrm>
            <a:off x="512064" y="4005072"/>
            <a:ext cx="548640" cy="365760"/>
          </a:xfrm>
          <a:prstGeom prst="rect">
            <a:avLst/>
          </a:prstGeom>
          <a:noFill/>
          <a:ln/>
        </p:spPr>
        <p:txBody>
          <a:bodyPr wrap="square" lIns="0" tIns="0" rIns="0" bIns="0"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05</a:t>
            </a:r>
            <a:endParaRPr lang="en-US" sz="2000" dirty="0"/>
          </a:p>
        </p:txBody>
      </p:sp>
      <p:sp>
        <p:nvSpPr>
          <p:cNvPr id="51" name="Text 49"/>
          <p:cNvSpPr/>
          <p:nvPr/>
        </p:nvSpPr>
        <p:spPr>
          <a:xfrm>
            <a:off x="1115568" y="3931920"/>
            <a:ext cx="1554480"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INSTRUCTIONS</a:t>
            </a:r>
            <a:endParaRPr lang="en-US" sz="1050" dirty="0"/>
          </a:p>
        </p:txBody>
      </p:sp>
      <p:sp>
        <p:nvSpPr>
          <p:cNvPr id="52" name="Text 50"/>
          <p:cNvSpPr/>
          <p:nvPr/>
        </p:nvSpPr>
        <p:spPr>
          <a:xfrm>
            <a:off x="1115568" y="4169664"/>
            <a:ext cx="3383280"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Understands complex, nuanced natural language. No coding required to unlock powerful outputs.</a:t>
            </a:r>
            <a:endParaRPr lang="en-US" sz="850" dirty="0"/>
          </a:p>
        </p:txBody>
      </p:sp>
      <p:sp>
        <p:nvSpPr>
          <p:cNvPr id="53" name="Shape 51"/>
          <p:cNvSpPr/>
          <p:nvPr/>
        </p:nvSpPr>
        <p:spPr>
          <a:xfrm>
            <a:off x="4590288" y="3895344"/>
            <a:ext cx="4114800" cy="566928"/>
          </a:xfrm>
          <a:prstGeom prst="rect">
            <a:avLst/>
          </a:prstGeom>
          <a:solidFill>
            <a:srgbClr val="F4E4BC"/>
          </a:solidFill>
          <a:ln/>
        </p:spPr>
      </p:sp>
      <p:sp>
        <p:nvSpPr>
          <p:cNvPr id="54" name="Text 52"/>
          <p:cNvSpPr/>
          <p:nvPr/>
        </p:nvSpPr>
        <p:spPr>
          <a:xfrm>
            <a:off x="4663440" y="3913632"/>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Analogy</a:t>
            </a:r>
            <a:endParaRPr lang="en-US" sz="650" dirty="0"/>
          </a:p>
        </p:txBody>
      </p:sp>
      <p:sp>
        <p:nvSpPr>
          <p:cNvPr id="55" name="Text 53"/>
          <p:cNvSpPr/>
          <p:nvPr/>
        </p:nvSpPr>
        <p:spPr>
          <a:xfrm>
            <a:off x="4663440" y="4041648"/>
            <a:ext cx="3968496" cy="146304"/>
          </a:xfrm>
          <a:prstGeom prst="rect">
            <a:avLst/>
          </a:prstGeom>
          <a:noFill/>
          <a:ln/>
        </p:spPr>
        <p:txBody>
          <a:bodyPr wrap="square" lIns="0" tIns="0" rIns="0" bIns="0" rtlCol="0" anchor="ctr"/>
          <a:lstStyle/>
          <a:p>
            <a:pPr indent="0" marL="0">
              <a:buNone/>
            </a:pPr>
            <a:r>
              <a:rPr lang="en-US" sz="750" i="1" dirty="0">
                <a:solidFill>
                  <a:srgbClr val="47596B"/>
                </a:solidFill>
                <a:latin typeface="Calibri" pitchFamily="34" charset="0"/>
                <a:ea typeface="Calibri" pitchFamily="34" charset="-122"/>
                <a:cs typeface="Calibri" pitchFamily="34" charset="-120"/>
              </a:rPr>
              <a:t>Asking a brilliant colleague in plain English vs writing a computer program</a:t>
            </a:r>
            <a:endParaRPr lang="en-US" sz="750" dirty="0"/>
          </a:p>
        </p:txBody>
      </p:sp>
      <p:sp>
        <p:nvSpPr>
          <p:cNvPr id="56" name="Text 54"/>
          <p:cNvSpPr/>
          <p:nvPr/>
        </p:nvSpPr>
        <p:spPr>
          <a:xfrm>
            <a:off x="4663440" y="4206240"/>
            <a:ext cx="731520" cy="128016"/>
          </a:xfrm>
          <a:prstGeom prst="rect">
            <a:avLst/>
          </a:prstGeom>
          <a:noFill/>
          <a:ln/>
        </p:spPr>
        <p:txBody>
          <a:bodyPr wrap="square" lIns="0" tIns="0" rIns="0" bIns="0" rtlCol="0" anchor="ctr"/>
          <a:lstStyle/>
          <a:p>
            <a:pPr indent="0" marL="0">
              <a:buNone/>
            </a:pPr>
            <a:r>
              <a:rPr lang="en-US" sz="650" b="1" spc="10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57" name="Text 55"/>
          <p:cNvSpPr/>
          <p:nvPr/>
        </p:nvSpPr>
        <p:spPr>
          <a:xfrm>
            <a:off x="4663440" y="4315968"/>
            <a:ext cx="3968496" cy="128016"/>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"Summarise this 200-page report for a non-technical board in 5 bullets" — works precisely</a:t>
            </a:r>
            <a:endParaRPr lang="en-US" sz="700" dirty="0"/>
          </a:p>
        </p:txBody>
      </p:sp>
      <p:sp>
        <p:nvSpPr>
          <p:cNvPr id="58" name="Shape 56"/>
          <p:cNvSpPr/>
          <p:nvPr/>
        </p:nvSpPr>
        <p:spPr>
          <a:xfrm>
            <a:off x="365760" y="4572000"/>
            <a:ext cx="8412480" cy="457200"/>
          </a:xfrm>
          <a:prstGeom prst="rect">
            <a:avLst/>
          </a:prstGeom>
          <a:solidFill>
            <a:srgbClr val="EDF1F7"/>
          </a:solidFill>
          <a:ln/>
        </p:spPr>
      </p:sp>
      <p:sp>
        <p:nvSpPr>
          <p:cNvPr id="59" name="Shape 57"/>
          <p:cNvSpPr/>
          <p:nvPr/>
        </p:nvSpPr>
        <p:spPr>
          <a:xfrm>
            <a:off x="365760" y="4572000"/>
            <a:ext cx="36576" cy="457200"/>
          </a:xfrm>
          <a:prstGeom prst="rect">
            <a:avLst/>
          </a:prstGeom>
          <a:solidFill>
            <a:srgbClr val="B8860B"/>
          </a:solidFill>
          <a:ln/>
        </p:spPr>
      </p:sp>
      <p:sp>
        <p:nvSpPr>
          <p:cNvPr id="60" name="Text 58"/>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61" name="Text 59"/>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Previous AI systems had 1–2 of these properties. GenAI has all 5 simultaneously — this combination is what makes it a genuine step-change, not just an improvement.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GenAI CAN AND CANNOT DO</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 Brilliant Ghostwriter — Not an Oracle</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GenAI is the most versatile ghostwriter ever — writes anything brilliantly, in any style, on any topic. But it is not an oracle: it cannot guarantee every fact, predict the future, or replace your judgment on decisions that matter.</a:t>
            </a:r>
            <a:endParaRPr lang="en-US" sz="1000" dirty="0"/>
          </a:p>
        </p:txBody>
      </p:sp>
      <p:sp>
        <p:nvSpPr>
          <p:cNvPr id="11" name="Shape 9"/>
          <p:cNvSpPr/>
          <p:nvPr/>
        </p:nvSpPr>
        <p:spPr>
          <a:xfrm>
            <a:off x="365760" y="1847088"/>
            <a:ext cx="4023360" cy="2615184"/>
          </a:xfrm>
          <a:prstGeom prst="rect">
            <a:avLst/>
          </a:prstGeom>
          <a:solidFill>
            <a:srgbClr val="E8F0EA"/>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4023360" cy="384048"/>
          </a:xfrm>
          <a:prstGeom prst="rect">
            <a:avLst/>
          </a:prstGeom>
          <a:solidFill>
            <a:srgbClr val="5B8C6B"/>
          </a:solidFill>
          <a:ln/>
        </p:spPr>
      </p:sp>
      <p:sp>
        <p:nvSpPr>
          <p:cNvPr id="13" name="Text 11"/>
          <p:cNvSpPr/>
          <p:nvPr/>
        </p:nvSpPr>
        <p:spPr>
          <a:xfrm>
            <a:off x="457200" y="1865376"/>
            <a:ext cx="3840480" cy="347472"/>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WHAT IT CAN DO</a:t>
            </a:r>
            <a:endParaRPr lang="en-US" sz="1050" dirty="0"/>
          </a:p>
        </p:txBody>
      </p:sp>
      <p:sp>
        <p:nvSpPr>
          <p:cNvPr id="14" name="Text 12"/>
          <p:cNvSpPr/>
          <p:nvPr/>
        </p:nvSpPr>
        <p:spPr>
          <a:xfrm>
            <a:off x="457200" y="2331720"/>
            <a:ext cx="164592" cy="201168"/>
          </a:xfrm>
          <a:prstGeom prst="rect">
            <a:avLst/>
          </a:prstGeom>
          <a:noFill/>
          <a:ln/>
        </p:spPr>
        <p:txBody>
          <a:bodyPr wrap="square" lIns="0" tIns="0" rIns="0" bIns="0" rtlCol="0" anchor="ctr"/>
          <a:lstStyle/>
          <a:p>
            <a:pP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15" name="Text 13"/>
          <p:cNvSpPr/>
          <p:nvPr/>
        </p:nvSpPr>
        <p:spPr>
          <a:xfrm>
            <a:off x="658368" y="2331720"/>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Generate text, code, images, audio, video</a:t>
            </a:r>
            <a:endParaRPr lang="en-US" sz="950" dirty="0"/>
          </a:p>
        </p:txBody>
      </p:sp>
      <p:sp>
        <p:nvSpPr>
          <p:cNvPr id="16" name="Text 14"/>
          <p:cNvSpPr/>
          <p:nvPr/>
        </p:nvSpPr>
        <p:spPr>
          <a:xfrm>
            <a:off x="457200" y="2578608"/>
            <a:ext cx="164592" cy="201168"/>
          </a:xfrm>
          <a:prstGeom prst="rect">
            <a:avLst/>
          </a:prstGeom>
          <a:noFill/>
          <a:ln/>
        </p:spPr>
        <p:txBody>
          <a:bodyPr wrap="square" lIns="0" tIns="0" rIns="0" bIns="0" rtlCol="0" anchor="ctr"/>
          <a:lstStyle/>
          <a:p>
            <a:pP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658368" y="2578608"/>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Summarise a 100-page document in seconds</a:t>
            </a:r>
            <a:endParaRPr lang="en-US" sz="950" dirty="0"/>
          </a:p>
        </p:txBody>
      </p:sp>
      <p:sp>
        <p:nvSpPr>
          <p:cNvPr id="18" name="Text 16"/>
          <p:cNvSpPr/>
          <p:nvPr/>
        </p:nvSpPr>
        <p:spPr>
          <a:xfrm>
            <a:off x="457200" y="2825496"/>
            <a:ext cx="164592" cy="201168"/>
          </a:xfrm>
          <a:prstGeom prst="rect">
            <a:avLst/>
          </a:prstGeom>
          <a:noFill/>
          <a:ln/>
        </p:spPr>
        <p:txBody>
          <a:bodyPr wrap="square" lIns="0" tIns="0" rIns="0" bIns="0" rtlCol="0" anchor="ctr"/>
          <a:lstStyle/>
          <a:p>
            <a:pP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19" name="Text 17"/>
          <p:cNvSpPr/>
          <p:nvPr/>
        </p:nvSpPr>
        <p:spPr>
          <a:xfrm>
            <a:off x="658368" y="2825496"/>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Translate between 100+ languages accurately</a:t>
            </a:r>
            <a:endParaRPr lang="en-US" sz="950" dirty="0"/>
          </a:p>
        </p:txBody>
      </p:sp>
      <p:sp>
        <p:nvSpPr>
          <p:cNvPr id="20" name="Text 18"/>
          <p:cNvSpPr/>
          <p:nvPr/>
        </p:nvSpPr>
        <p:spPr>
          <a:xfrm>
            <a:off x="457200" y="3072384"/>
            <a:ext cx="164592" cy="201168"/>
          </a:xfrm>
          <a:prstGeom prst="rect">
            <a:avLst/>
          </a:prstGeom>
          <a:noFill/>
          <a:ln/>
        </p:spPr>
        <p:txBody>
          <a:bodyPr wrap="square" lIns="0" tIns="0" rIns="0" bIns="0" rtlCol="0" anchor="ctr"/>
          <a:lstStyle/>
          <a:p>
            <a:pP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21" name="Text 19"/>
          <p:cNvSpPr/>
          <p:nvPr/>
        </p:nvSpPr>
        <p:spPr>
          <a:xfrm>
            <a:off x="658368" y="3072384"/>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Explain complex topics in plain English</a:t>
            </a:r>
            <a:endParaRPr lang="en-US" sz="950" dirty="0"/>
          </a:p>
        </p:txBody>
      </p:sp>
      <p:sp>
        <p:nvSpPr>
          <p:cNvPr id="22" name="Text 20"/>
          <p:cNvSpPr/>
          <p:nvPr/>
        </p:nvSpPr>
        <p:spPr>
          <a:xfrm>
            <a:off x="457200" y="3319272"/>
            <a:ext cx="164592" cy="201168"/>
          </a:xfrm>
          <a:prstGeom prst="rect">
            <a:avLst/>
          </a:prstGeom>
          <a:noFill/>
          <a:ln/>
        </p:spPr>
        <p:txBody>
          <a:bodyPr wrap="square" lIns="0" tIns="0" rIns="0" bIns="0" rtlCol="0" anchor="ctr"/>
          <a:lstStyle/>
          <a:p>
            <a:pP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23" name="Text 21"/>
          <p:cNvSpPr/>
          <p:nvPr/>
        </p:nvSpPr>
        <p:spPr>
          <a:xfrm>
            <a:off x="658368" y="3319272"/>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Write in any style, tone, or format</a:t>
            </a:r>
            <a:endParaRPr lang="en-US" sz="950" dirty="0"/>
          </a:p>
        </p:txBody>
      </p:sp>
      <p:sp>
        <p:nvSpPr>
          <p:cNvPr id="24" name="Text 22"/>
          <p:cNvSpPr/>
          <p:nvPr/>
        </p:nvSpPr>
        <p:spPr>
          <a:xfrm>
            <a:off x="457200" y="3566160"/>
            <a:ext cx="164592" cy="201168"/>
          </a:xfrm>
          <a:prstGeom prst="rect">
            <a:avLst/>
          </a:prstGeom>
          <a:noFill/>
          <a:ln/>
        </p:spPr>
        <p:txBody>
          <a:bodyPr wrap="square" lIns="0" tIns="0" rIns="0" bIns="0" rtlCol="0" anchor="ctr"/>
          <a:lstStyle/>
          <a:p>
            <a:pP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25" name="Text 23"/>
          <p:cNvSpPr/>
          <p:nvPr/>
        </p:nvSpPr>
        <p:spPr>
          <a:xfrm>
            <a:off x="658368" y="3566160"/>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Find patterns across large volumes of text</a:t>
            </a:r>
            <a:endParaRPr lang="en-US" sz="950" dirty="0"/>
          </a:p>
        </p:txBody>
      </p:sp>
      <p:sp>
        <p:nvSpPr>
          <p:cNvPr id="26" name="Text 24"/>
          <p:cNvSpPr/>
          <p:nvPr/>
        </p:nvSpPr>
        <p:spPr>
          <a:xfrm>
            <a:off x="457200" y="3813048"/>
            <a:ext cx="164592" cy="201168"/>
          </a:xfrm>
          <a:prstGeom prst="rect">
            <a:avLst/>
          </a:prstGeom>
          <a:noFill/>
          <a:ln/>
        </p:spPr>
        <p:txBody>
          <a:bodyPr wrap="square" lIns="0" tIns="0" rIns="0" bIns="0" rtlCol="0" anchor="ctr"/>
          <a:lstStyle/>
          <a:p>
            <a:pP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27" name="Text 25"/>
          <p:cNvSpPr/>
          <p:nvPr/>
        </p:nvSpPr>
        <p:spPr>
          <a:xfrm>
            <a:off x="658368" y="3813048"/>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Draft, iterate, and refine content rapidly</a:t>
            </a:r>
            <a:endParaRPr lang="en-US" sz="950" dirty="0"/>
          </a:p>
        </p:txBody>
      </p:sp>
      <p:sp>
        <p:nvSpPr>
          <p:cNvPr id="28" name="Text 26"/>
          <p:cNvSpPr/>
          <p:nvPr/>
        </p:nvSpPr>
        <p:spPr>
          <a:xfrm>
            <a:off x="457200" y="4059936"/>
            <a:ext cx="164592" cy="201168"/>
          </a:xfrm>
          <a:prstGeom prst="rect">
            <a:avLst/>
          </a:prstGeom>
          <a:noFill/>
          <a:ln/>
        </p:spPr>
        <p:txBody>
          <a:bodyPr wrap="square" lIns="0" tIns="0" rIns="0" bIns="0" rtlCol="0" anchor="ctr"/>
          <a:lstStyle/>
          <a:p>
            <a:pP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29" name="Text 27"/>
          <p:cNvSpPr/>
          <p:nvPr/>
        </p:nvSpPr>
        <p:spPr>
          <a:xfrm>
            <a:off x="658368" y="4059936"/>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Write, debug, and document software code</a:t>
            </a:r>
            <a:endParaRPr lang="en-US" sz="950" dirty="0"/>
          </a:p>
        </p:txBody>
      </p:sp>
      <p:sp>
        <p:nvSpPr>
          <p:cNvPr id="30" name="Shape 28"/>
          <p:cNvSpPr/>
          <p:nvPr/>
        </p:nvSpPr>
        <p:spPr>
          <a:xfrm>
            <a:off x="4754880" y="1847088"/>
            <a:ext cx="4023360" cy="2615184"/>
          </a:xfrm>
          <a:prstGeom prst="rect">
            <a:avLst/>
          </a:prstGeom>
          <a:solidFill>
            <a:srgbClr val="FCE8E6"/>
          </a:solidFill>
          <a:ln/>
          <a:effectLst>
            <a:outerShdw sx="100000" sy="100000" kx="0" ky="0" algn="bl" rotWithShape="0" blurRad="152400" dist="38100" dir="8100000">
              <a:srgbClr val="000000">
                <a:alpha val="6000"/>
              </a:srgbClr>
            </a:outerShdw>
          </a:effectLst>
        </p:spPr>
      </p:sp>
      <p:sp>
        <p:nvSpPr>
          <p:cNvPr id="31" name="Shape 29"/>
          <p:cNvSpPr/>
          <p:nvPr/>
        </p:nvSpPr>
        <p:spPr>
          <a:xfrm>
            <a:off x="4754880" y="1847088"/>
            <a:ext cx="4023360" cy="384048"/>
          </a:xfrm>
          <a:prstGeom prst="rect">
            <a:avLst/>
          </a:prstGeom>
          <a:solidFill>
            <a:srgbClr val="9A3324"/>
          </a:solidFill>
          <a:ln/>
        </p:spPr>
      </p:sp>
      <p:sp>
        <p:nvSpPr>
          <p:cNvPr id="32" name="Text 30"/>
          <p:cNvSpPr/>
          <p:nvPr/>
        </p:nvSpPr>
        <p:spPr>
          <a:xfrm>
            <a:off x="4846320" y="1865376"/>
            <a:ext cx="3840480" cy="347472"/>
          </a:xfrm>
          <a:prstGeom prst="rect">
            <a:avLst/>
          </a:prstGeom>
          <a:noFill/>
          <a:ln/>
        </p:spPr>
        <p:txBody>
          <a:bodyPr wrap="square" lIns="0" tIns="0" rIns="0" bIns="0" rtlCol="0" anchor="ctr"/>
          <a:lstStyle/>
          <a:p>
            <a:pPr indent="0" marL="0">
              <a:buNone/>
            </a:pPr>
            <a:r>
              <a:rPr lang="en-US" sz="1050" b="1" spc="100" kern="0" dirty="0">
                <a:solidFill>
                  <a:srgbClr val="FFFFFF"/>
                </a:solidFill>
                <a:latin typeface="Calibri" pitchFamily="34" charset="0"/>
                <a:ea typeface="Calibri" pitchFamily="34" charset="-122"/>
                <a:cs typeface="Calibri" pitchFamily="34" charset="-120"/>
              </a:rPr>
              <a:t>WHAT IT CANNOT DO</a:t>
            </a:r>
            <a:endParaRPr lang="en-US" sz="1050" dirty="0"/>
          </a:p>
        </p:txBody>
      </p:sp>
      <p:sp>
        <p:nvSpPr>
          <p:cNvPr id="33" name="Text 31"/>
          <p:cNvSpPr/>
          <p:nvPr/>
        </p:nvSpPr>
        <p:spPr>
          <a:xfrm>
            <a:off x="4846320" y="2331720"/>
            <a:ext cx="164592" cy="201168"/>
          </a:xfrm>
          <a:prstGeom prst="rect">
            <a:avLst/>
          </a:prstGeom>
          <a:noFill/>
          <a:ln/>
        </p:spPr>
        <p:txBody>
          <a:bodyPr wrap="square" lIns="0" tIns="0" rIns="0" bIns="0" rtlCol="0" anchor="ctr"/>
          <a:lstStyle/>
          <a:p>
            <a:pP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34" name="Text 32"/>
          <p:cNvSpPr/>
          <p:nvPr/>
        </p:nvSpPr>
        <p:spPr>
          <a:xfrm>
            <a:off x="5047488" y="2331720"/>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Access real-time info (without tools)</a:t>
            </a:r>
            <a:endParaRPr lang="en-US" sz="950" dirty="0"/>
          </a:p>
        </p:txBody>
      </p:sp>
      <p:sp>
        <p:nvSpPr>
          <p:cNvPr id="35" name="Text 33"/>
          <p:cNvSpPr/>
          <p:nvPr/>
        </p:nvSpPr>
        <p:spPr>
          <a:xfrm>
            <a:off x="4846320" y="2578608"/>
            <a:ext cx="164592" cy="201168"/>
          </a:xfrm>
          <a:prstGeom prst="rect">
            <a:avLst/>
          </a:prstGeom>
          <a:noFill/>
          <a:ln/>
        </p:spPr>
        <p:txBody>
          <a:bodyPr wrap="square" lIns="0" tIns="0" rIns="0" bIns="0" rtlCol="0" anchor="ctr"/>
          <a:lstStyle/>
          <a:p>
            <a:pP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36" name="Text 34"/>
          <p:cNvSpPr/>
          <p:nvPr/>
        </p:nvSpPr>
        <p:spPr>
          <a:xfrm>
            <a:off x="5047488" y="2578608"/>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Remember between sessions (without memory)</a:t>
            </a:r>
            <a:endParaRPr lang="en-US" sz="950" dirty="0"/>
          </a:p>
        </p:txBody>
      </p:sp>
      <p:sp>
        <p:nvSpPr>
          <p:cNvPr id="37" name="Text 35"/>
          <p:cNvSpPr/>
          <p:nvPr/>
        </p:nvSpPr>
        <p:spPr>
          <a:xfrm>
            <a:off x="4846320" y="2825496"/>
            <a:ext cx="164592" cy="201168"/>
          </a:xfrm>
          <a:prstGeom prst="rect">
            <a:avLst/>
          </a:prstGeom>
          <a:noFill/>
          <a:ln/>
        </p:spPr>
        <p:txBody>
          <a:bodyPr wrap="square" lIns="0" tIns="0" rIns="0" bIns="0" rtlCol="0" anchor="ctr"/>
          <a:lstStyle/>
          <a:p>
            <a:pP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38" name="Text 36"/>
          <p:cNvSpPr/>
          <p:nvPr/>
        </p:nvSpPr>
        <p:spPr>
          <a:xfrm>
            <a:off x="5047488" y="2825496"/>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Guarantee 100% factual accuracy</a:t>
            </a:r>
            <a:endParaRPr lang="en-US" sz="950" dirty="0"/>
          </a:p>
        </p:txBody>
      </p:sp>
      <p:sp>
        <p:nvSpPr>
          <p:cNvPr id="39" name="Text 37"/>
          <p:cNvSpPr/>
          <p:nvPr/>
        </p:nvSpPr>
        <p:spPr>
          <a:xfrm>
            <a:off x="4846320" y="3072384"/>
            <a:ext cx="164592" cy="201168"/>
          </a:xfrm>
          <a:prstGeom prst="rect">
            <a:avLst/>
          </a:prstGeom>
          <a:noFill/>
          <a:ln/>
        </p:spPr>
        <p:txBody>
          <a:bodyPr wrap="square" lIns="0" tIns="0" rIns="0" bIns="0" rtlCol="0" anchor="ctr"/>
          <a:lstStyle/>
          <a:p>
            <a:pP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40" name="Text 38"/>
          <p:cNvSpPr/>
          <p:nvPr/>
        </p:nvSpPr>
        <p:spPr>
          <a:xfrm>
            <a:off x="5047488" y="3072384"/>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Replace human judgment on high-stakes calls</a:t>
            </a:r>
            <a:endParaRPr lang="en-US" sz="950" dirty="0"/>
          </a:p>
        </p:txBody>
      </p:sp>
      <p:sp>
        <p:nvSpPr>
          <p:cNvPr id="41" name="Text 39"/>
          <p:cNvSpPr/>
          <p:nvPr/>
        </p:nvSpPr>
        <p:spPr>
          <a:xfrm>
            <a:off x="4846320" y="3319272"/>
            <a:ext cx="164592" cy="201168"/>
          </a:xfrm>
          <a:prstGeom prst="rect">
            <a:avLst/>
          </a:prstGeom>
          <a:noFill/>
          <a:ln/>
        </p:spPr>
        <p:txBody>
          <a:bodyPr wrap="square" lIns="0" tIns="0" rIns="0" bIns="0" rtlCol="0" anchor="ctr"/>
          <a:lstStyle/>
          <a:p>
            <a:pP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42" name="Text 40"/>
          <p:cNvSpPr/>
          <p:nvPr/>
        </p:nvSpPr>
        <p:spPr>
          <a:xfrm>
            <a:off x="5047488" y="3319272"/>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Verify its own outputs are correct</a:t>
            </a:r>
            <a:endParaRPr lang="en-US" sz="950" dirty="0"/>
          </a:p>
        </p:txBody>
      </p:sp>
      <p:sp>
        <p:nvSpPr>
          <p:cNvPr id="43" name="Text 41"/>
          <p:cNvSpPr/>
          <p:nvPr/>
        </p:nvSpPr>
        <p:spPr>
          <a:xfrm>
            <a:off x="4846320" y="3566160"/>
            <a:ext cx="164592" cy="201168"/>
          </a:xfrm>
          <a:prstGeom prst="rect">
            <a:avLst/>
          </a:prstGeom>
          <a:noFill/>
          <a:ln/>
        </p:spPr>
        <p:txBody>
          <a:bodyPr wrap="square" lIns="0" tIns="0" rIns="0" bIns="0" rtlCol="0" anchor="ctr"/>
          <a:lstStyle/>
          <a:p>
            <a:pP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44" name="Text 42"/>
          <p:cNvSpPr/>
          <p:nvPr/>
        </p:nvSpPr>
        <p:spPr>
          <a:xfrm>
            <a:off x="5047488" y="3566160"/>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Be held legally or ethically accountable</a:t>
            </a:r>
            <a:endParaRPr lang="en-US" sz="950" dirty="0"/>
          </a:p>
        </p:txBody>
      </p:sp>
      <p:sp>
        <p:nvSpPr>
          <p:cNvPr id="45" name="Text 43"/>
          <p:cNvSpPr/>
          <p:nvPr/>
        </p:nvSpPr>
        <p:spPr>
          <a:xfrm>
            <a:off x="4846320" y="3813048"/>
            <a:ext cx="164592" cy="201168"/>
          </a:xfrm>
          <a:prstGeom prst="rect">
            <a:avLst/>
          </a:prstGeom>
          <a:noFill/>
          <a:ln/>
        </p:spPr>
        <p:txBody>
          <a:bodyPr wrap="square" lIns="0" tIns="0" rIns="0" bIns="0" rtlCol="0" anchor="ctr"/>
          <a:lstStyle/>
          <a:p>
            <a:pP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46" name="Text 44"/>
          <p:cNvSpPr/>
          <p:nvPr/>
        </p:nvSpPr>
        <p:spPr>
          <a:xfrm>
            <a:off x="5047488" y="3813048"/>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Predict the future with reliability</a:t>
            </a:r>
            <a:endParaRPr lang="en-US" sz="950" dirty="0"/>
          </a:p>
        </p:txBody>
      </p:sp>
      <p:sp>
        <p:nvSpPr>
          <p:cNvPr id="47" name="Text 45"/>
          <p:cNvSpPr/>
          <p:nvPr/>
        </p:nvSpPr>
        <p:spPr>
          <a:xfrm>
            <a:off x="4846320" y="4059936"/>
            <a:ext cx="164592" cy="201168"/>
          </a:xfrm>
          <a:prstGeom prst="rect">
            <a:avLst/>
          </a:prstGeom>
          <a:noFill/>
          <a:ln/>
        </p:spPr>
        <p:txBody>
          <a:bodyPr wrap="square" lIns="0" tIns="0" rIns="0" bIns="0" rtlCol="0" anchor="ctr"/>
          <a:lstStyle/>
          <a:p>
            <a:pP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48" name="Text 46"/>
          <p:cNvSpPr/>
          <p:nvPr/>
        </p:nvSpPr>
        <p:spPr>
          <a:xfrm>
            <a:off x="5047488" y="4059936"/>
            <a:ext cx="3657600" cy="201168"/>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Feel, intend, or have genuine opinions</a:t>
            </a:r>
            <a:endParaRPr lang="en-US" sz="950" dirty="0"/>
          </a:p>
        </p:txBody>
      </p:sp>
      <p:sp>
        <p:nvSpPr>
          <p:cNvPr id="49" name="Shape 47"/>
          <p:cNvSpPr/>
          <p:nvPr/>
        </p:nvSpPr>
        <p:spPr>
          <a:xfrm>
            <a:off x="365760" y="4572000"/>
            <a:ext cx="8412480" cy="457200"/>
          </a:xfrm>
          <a:prstGeom prst="rect">
            <a:avLst/>
          </a:prstGeom>
          <a:solidFill>
            <a:srgbClr val="EDF1F7"/>
          </a:solidFill>
          <a:ln/>
        </p:spPr>
      </p:sp>
      <p:sp>
        <p:nvSpPr>
          <p:cNvPr id="50" name="Shape 48"/>
          <p:cNvSpPr/>
          <p:nvPr/>
        </p:nvSpPr>
        <p:spPr>
          <a:xfrm>
            <a:off x="365760" y="4572000"/>
            <a:ext cx="36576" cy="457200"/>
          </a:xfrm>
          <a:prstGeom prst="rect">
            <a:avLst/>
          </a:prstGeom>
          <a:solidFill>
            <a:srgbClr val="B8860B"/>
          </a:solidFill>
          <a:ln/>
        </p:spPr>
      </p:sp>
      <p:sp>
        <p:nvSpPr>
          <p:cNvPr id="51" name="Text 49"/>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2" name="Text 50"/>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Most dangerous misconception: assuming GenAI is always correct. Second most dangerous: dismissing it entirely. It is a powerful tool — not a magic oracle.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1E3A5F"/>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01</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HOW THE MODEL KNOWS THINGS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Intuition vs Looking It Up</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You 'know' Paris is the capital of France the same way you know your mother's face — from exposure, not from checking a database. LLMs know things the same way: through training exposure, stored as intuition in billions of numbers. But intuition can be wrong.</a:t>
            </a:r>
            <a:endParaRPr lang="en-US" sz="1000" dirty="0"/>
          </a:p>
        </p:txBody>
      </p:sp>
      <p:sp>
        <p:nvSpPr>
          <p:cNvPr id="11" name="Shape 9"/>
          <p:cNvSpPr/>
          <p:nvPr/>
        </p:nvSpPr>
        <p:spPr>
          <a:xfrm>
            <a:off x="365760" y="1847088"/>
            <a:ext cx="4078224" cy="261518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4078224" cy="384048"/>
          </a:xfrm>
          <a:prstGeom prst="rect">
            <a:avLst/>
          </a:prstGeom>
          <a:solidFill>
            <a:srgbClr val="1E3A5F"/>
          </a:solidFill>
          <a:ln/>
        </p:spPr>
      </p:sp>
      <p:sp>
        <p:nvSpPr>
          <p:cNvPr id="13" name="Text 11"/>
          <p:cNvSpPr/>
          <p:nvPr/>
        </p:nvSpPr>
        <p:spPr>
          <a:xfrm>
            <a:off x="365760" y="1865376"/>
            <a:ext cx="4078224"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PARAMETRIC KNOWLEDGE</a:t>
            </a:r>
            <a:endParaRPr lang="en-US" sz="1050" dirty="0"/>
          </a:p>
        </p:txBody>
      </p:sp>
      <p:sp>
        <p:nvSpPr>
          <p:cNvPr id="14" name="Text 12"/>
          <p:cNvSpPr/>
          <p:nvPr/>
        </p:nvSpPr>
        <p:spPr>
          <a:xfrm>
            <a:off x="457200" y="2304288"/>
            <a:ext cx="3895344" cy="201168"/>
          </a:xfrm>
          <a:prstGeom prst="rect">
            <a:avLst/>
          </a:prstGeom>
          <a:noFill/>
          <a:ln/>
        </p:spPr>
        <p:txBody>
          <a:bodyPr wrap="square" lIns="0" tIns="0" rIns="0" bIns="0" rtlCol="0" anchor="ctr"/>
          <a:lstStyle/>
          <a:p>
            <a:pPr indent="0" marL="0">
              <a:buNone/>
            </a:pPr>
            <a:r>
              <a:rPr lang="en-US" sz="900" i="1" dirty="0">
                <a:solidFill>
                  <a:srgbClr val="47596B"/>
                </a:solidFill>
                <a:latin typeface="Calibri" pitchFamily="34" charset="0"/>
                <a:ea typeface="Calibri" pitchFamily="34" charset="-122"/>
                <a:cs typeface="Calibri" pitchFamily="34" charset="-120"/>
              </a:rPr>
              <a:t>Baked into model weights during training</a:t>
            </a:r>
            <a:endParaRPr lang="en-US" sz="900" dirty="0"/>
          </a:p>
        </p:txBody>
      </p:sp>
      <p:sp>
        <p:nvSpPr>
          <p:cNvPr id="15" name="Shape 13"/>
          <p:cNvSpPr/>
          <p:nvPr/>
        </p:nvSpPr>
        <p:spPr>
          <a:xfrm>
            <a:off x="457200" y="2578608"/>
            <a:ext cx="3895344" cy="329184"/>
          </a:xfrm>
          <a:prstGeom prst="rect">
            <a:avLst/>
          </a:prstGeom>
          <a:solidFill>
            <a:srgbClr val="FFFFFF"/>
          </a:solidFill>
          <a:ln/>
        </p:spPr>
      </p:sp>
      <p:sp>
        <p:nvSpPr>
          <p:cNvPr id="16" name="Text 14"/>
          <p:cNvSpPr/>
          <p:nvPr/>
        </p:nvSpPr>
        <p:spPr>
          <a:xfrm>
            <a:off x="548640" y="2633472"/>
            <a:ext cx="1051560" cy="219456"/>
          </a:xfrm>
          <a:prstGeom prst="rect">
            <a:avLst/>
          </a:prstGeom>
          <a:noFill/>
          <a:ln/>
        </p:spPr>
        <p:txBody>
          <a:bodyPr wrap="square" lIns="0" tIns="0" rIns="0" bIns="0" rtlCol="0" anchor="ctr"/>
          <a:lstStyle/>
          <a:p>
            <a:pPr indent="0" marL="0">
              <a:buNone/>
            </a:pPr>
            <a:r>
              <a:rPr lang="en-US" sz="850" b="1" dirty="0">
                <a:solidFill>
                  <a:srgbClr val="1E3A5F"/>
                </a:solidFill>
                <a:latin typeface="Calibri" pitchFamily="34" charset="0"/>
                <a:ea typeface="Calibri" pitchFamily="34" charset="-122"/>
                <a:cs typeface="Calibri" pitchFamily="34" charset="-120"/>
              </a:rPr>
              <a:t>Stored in</a:t>
            </a:r>
            <a:endParaRPr lang="en-US" sz="850" dirty="0"/>
          </a:p>
        </p:txBody>
      </p:sp>
      <p:sp>
        <p:nvSpPr>
          <p:cNvPr id="17" name="Text 15"/>
          <p:cNvSpPr/>
          <p:nvPr/>
        </p:nvSpPr>
        <p:spPr>
          <a:xfrm>
            <a:off x="1645920" y="263347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~1.8 trillion parameters</a:t>
            </a:r>
            <a:endParaRPr lang="en-US" sz="850" dirty="0"/>
          </a:p>
        </p:txBody>
      </p:sp>
      <p:sp>
        <p:nvSpPr>
          <p:cNvPr id="18" name="Shape 16"/>
          <p:cNvSpPr/>
          <p:nvPr/>
        </p:nvSpPr>
        <p:spPr>
          <a:xfrm>
            <a:off x="457200" y="2944368"/>
            <a:ext cx="3895344" cy="329184"/>
          </a:xfrm>
          <a:prstGeom prst="rect">
            <a:avLst/>
          </a:prstGeom>
          <a:solidFill>
            <a:srgbClr val="EDF1F7"/>
          </a:solidFill>
          <a:ln/>
        </p:spPr>
      </p:sp>
      <p:sp>
        <p:nvSpPr>
          <p:cNvPr id="19" name="Text 17"/>
          <p:cNvSpPr/>
          <p:nvPr/>
        </p:nvSpPr>
        <p:spPr>
          <a:xfrm>
            <a:off x="548640" y="2999232"/>
            <a:ext cx="1051560" cy="219456"/>
          </a:xfrm>
          <a:prstGeom prst="rect">
            <a:avLst/>
          </a:prstGeom>
          <a:noFill/>
          <a:ln/>
        </p:spPr>
        <p:txBody>
          <a:bodyPr wrap="square" lIns="0" tIns="0" rIns="0" bIns="0" rtlCol="0" anchor="ctr"/>
          <a:lstStyle/>
          <a:p>
            <a:pPr indent="0" marL="0">
              <a:buNone/>
            </a:pPr>
            <a:r>
              <a:rPr lang="en-US" sz="850" b="1" dirty="0">
                <a:solidFill>
                  <a:srgbClr val="1E3A5F"/>
                </a:solidFill>
                <a:latin typeface="Calibri" pitchFamily="34" charset="0"/>
                <a:ea typeface="Calibri" pitchFamily="34" charset="-122"/>
                <a:cs typeface="Calibri" pitchFamily="34" charset="-120"/>
              </a:rPr>
              <a:t>How learned</a:t>
            </a:r>
            <a:endParaRPr lang="en-US" sz="850" dirty="0"/>
          </a:p>
        </p:txBody>
      </p:sp>
      <p:sp>
        <p:nvSpPr>
          <p:cNvPr id="20" name="Text 18"/>
          <p:cNvSpPr/>
          <p:nvPr/>
        </p:nvSpPr>
        <p:spPr>
          <a:xfrm>
            <a:off x="1645920" y="299923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Billions of training gradient updates</a:t>
            </a:r>
            <a:endParaRPr lang="en-US" sz="850" dirty="0"/>
          </a:p>
        </p:txBody>
      </p:sp>
      <p:sp>
        <p:nvSpPr>
          <p:cNvPr id="21" name="Shape 19"/>
          <p:cNvSpPr/>
          <p:nvPr/>
        </p:nvSpPr>
        <p:spPr>
          <a:xfrm>
            <a:off x="457200" y="3310128"/>
            <a:ext cx="3895344" cy="329184"/>
          </a:xfrm>
          <a:prstGeom prst="rect">
            <a:avLst/>
          </a:prstGeom>
          <a:solidFill>
            <a:srgbClr val="FFFFFF"/>
          </a:solidFill>
          <a:ln/>
        </p:spPr>
      </p:sp>
      <p:sp>
        <p:nvSpPr>
          <p:cNvPr id="22" name="Text 20"/>
          <p:cNvSpPr/>
          <p:nvPr/>
        </p:nvSpPr>
        <p:spPr>
          <a:xfrm>
            <a:off x="548640" y="3364992"/>
            <a:ext cx="1051560" cy="219456"/>
          </a:xfrm>
          <a:prstGeom prst="rect">
            <a:avLst/>
          </a:prstGeom>
          <a:noFill/>
          <a:ln/>
        </p:spPr>
        <p:txBody>
          <a:bodyPr wrap="square" lIns="0" tIns="0" rIns="0" bIns="0" rtlCol="0" anchor="ctr"/>
          <a:lstStyle/>
          <a:p>
            <a:pPr indent="0" marL="0">
              <a:buNone/>
            </a:pPr>
            <a:r>
              <a:rPr lang="en-US" sz="850" b="1" dirty="0">
                <a:solidFill>
                  <a:srgbClr val="1E3A5F"/>
                </a:solidFill>
                <a:latin typeface="Calibri" pitchFamily="34" charset="0"/>
                <a:ea typeface="Calibri" pitchFamily="34" charset="-122"/>
                <a:cs typeface="Calibri" pitchFamily="34" charset="-120"/>
              </a:rPr>
              <a:t>Strength</a:t>
            </a:r>
            <a:endParaRPr lang="en-US" sz="850" dirty="0"/>
          </a:p>
        </p:txBody>
      </p:sp>
      <p:sp>
        <p:nvSpPr>
          <p:cNvPr id="23" name="Text 21"/>
          <p:cNvSpPr/>
          <p:nvPr/>
        </p:nvSpPr>
        <p:spPr>
          <a:xfrm>
            <a:off x="1645920" y="336499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Vast breadth of public knowledge</a:t>
            </a:r>
            <a:endParaRPr lang="en-US" sz="850" dirty="0"/>
          </a:p>
        </p:txBody>
      </p:sp>
      <p:sp>
        <p:nvSpPr>
          <p:cNvPr id="24" name="Shape 22"/>
          <p:cNvSpPr/>
          <p:nvPr/>
        </p:nvSpPr>
        <p:spPr>
          <a:xfrm>
            <a:off x="457200" y="3675888"/>
            <a:ext cx="3895344" cy="329184"/>
          </a:xfrm>
          <a:prstGeom prst="rect">
            <a:avLst/>
          </a:prstGeom>
          <a:solidFill>
            <a:srgbClr val="EDF1F7"/>
          </a:solidFill>
          <a:ln/>
        </p:spPr>
      </p:sp>
      <p:sp>
        <p:nvSpPr>
          <p:cNvPr id="25" name="Text 23"/>
          <p:cNvSpPr/>
          <p:nvPr/>
        </p:nvSpPr>
        <p:spPr>
          <a:xfrm>
            <a:off x="548640" y="3730752"/>
            <a:ext cx="1051560" cy="219456"/>
          </a:xfrm>
          <a:prstGeom prst="rect">
            <a:avLst/>
          </a:prstGeom>
          <a:noFill/>
          <a:ln/>
        </p:spPr>
        <p:txBody>
          <a:bodyPr wrap="square" lIns="0" tIns="0" rIns="0" bIns="0" rtlCol="0" anchor="ctr"/>
          <a:lstStyle/>
          <a:p>
            <a:pPr indent="0" marL="0">
              <a:buNone/>
            </a:pPr>
            <a:r>
              <a:rPr lang="en-US" sz="850" b="1" dirty="0">
                <a:solidFill>
                  <a:srgbClr val="1E3A5F"/>
                </a:solidFill>
                <a:latin typeface="Calibri" pitchFamily="34" charset="0"/>
                <a:ea typeface="Calibri" pitchFamily="34" charset="-122"/>
                <a:cs typeface="Calibri" pitchFamily="34" charset="-120"/>
              </a:rPr>
              <a:t>Weakness</a:t>
            </a:r>
            <a:endParaRPr lang="en-US" sz="850" dirty="0"/>
          </a:p>
        </p:txBody>
      </p:sp>
      <p:sp>
        <p:nvSpPr>
          <p:cNvPr id="26" name="Text 24"/>
          <p:cNvSpPr/>
          <p:nvPr/>
        </p:nvSpPr>
        <p:spPr>
          <a:xfrm>
            <a:off x="1645920" y="373075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Has cutoff date · Can be wrong · No live updates</a:t>
            </a:r>
            <a:endParaRPr lang="en-US" sz="850" dirty="0"/>
          </a:p>
        </p:txBody>
      </p:sp>
      <p:sp>
        <p:nvSpPr>
          <p:cNvPr id="27" name="Shape 25"/>
          <p:cNvSpPr/>
          <p:nvPr/>
        </p:nvSpPr>
        <p:spPr>
          <a:xfrm>
            <a:off x="457200" y="4041648"/>
            <a:ext cx="3895344" cy="329184"/>
          </a:xfrm>
          <a:prstGeom prst="rect">
            <a:avLst/>
          </a:prstGeom>
          <a:solidFill>
            <a:srgbClr val="FFFFFF"/>
          </a:solidFill>
          <a:ln/>
        </p:spPr>
      </p:sp>
      <p:sp>
        <p:nvSpPr>
          <p:cNvPr id="28" name="Text 26"/>
          <p:cNvSpPr/>
          <p:nvPr/>
        </p:nvSpPr>
        <p:spPr>
          <a:xfrm>
            <a:off x="548640" y="4096512"/>
            <a:ext cx="1051560" cy="219456"/>
          </a:xfrm>
          <a:prstGeom prst="rect">
            <a:avLst/>
          </a:prstGeom>
          <a:noFill/>
          <a:ln/>
        </p:spPr>
        <p:txBody>
          <a:bodyPr wrap="square" lIns="0" tIns="0" rIns="0" bIns="0" rtlCol="0" anchor="ctr"/>
          <a:lstStyle/>
          <a:p>
            <a:pPr indent="0" marL="0">
              <a:buNone/>
            </a:pPr>
            <a:r>
              <a:rPr lang="en-US" sz="850" b="1" dirty="0">
                <a:solidFill>
                  <a:srgbClr val="1E3A5F"/>
                </a:solidFill>
                <a:latin typeface="Calibri" pitchFamily="34" charset="0"/>
                <a:ea typeface="Calibri" pitchFamily="34" charset="-122"/>
                <a:cs typeface="Calibri" pitchFamily="34" charset="-120"/>
              </a:rPr>
              <a:t>Example</a:t>
            </a:r>
            <a:endParaRPr lang="en-US" sz="850" dirty="0"/>
          </a:p>
        </p:txBody>
      </p:sp>
      <p:sp>
        <p:nvSpPr>
          <p:cNvPr id="29" name="Text 27"/>
          <p:cNvSpPr/>
          <p:nvPr/>
        </p:nvSpPr>
        <p:spPr>
          <a:xfrm>
            <a:off x="1645920" y="409651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"Paris is the capital of France" — no lookup</a:t>
            </a:r>
            <a:endParaRPr lang="en-US" sz="850" dirty="0"/>
          </a:p>
        </p:txBody>
      </p:sp>
      <p:sp>
        <p:nvSpPr>
          <p:cNvPr id="30" name="Shape 28"/>
          <p:cNvSpPr/>
          <p:nvPr/>
        </p:nvSpPr>
        <p:spPr>
          <a:xfrm>
            <a:off x="4700016" y="1847088"/>
            <a:ext cx="4078224" cy="2615184"/>
          </a:xfrm>
          <a:prstGeom prst="rect">
            <a:avLst/>
          </a:prstGeom>
          <a:solidFill>
            <a:srgbClr val="D1FAE5"/>
          </a:solidFill>
          <a:ln/>
          <a:effectLst>
            <a:outerShdw sx="100000" sy="100000" kx="0" ky="0" algn="bl" rotWithShape="0" blurRad="152400" dist="38100" dir="8100000">
              <a:srgbClr val="000000">
                <a:alpha val="6000"/>
              </a:srgbClr>
            </a:outerShdw>
          </a:effectLst>
        </p:spPr>
      </p:sp>
      <p:sp>
        <p:nvSpPr>
          <p:cNvPr id="31" name="Shape 29"/>
          <p:cNvSpPr/>
          <p:nvPr/>
        </p:nvSpPr>
        <p:spPr>
          <a:xfrm>
            <a:off x="4700016" y="1847088"/>
            <a:ext cx="4078224" cy="384048"/>
          </a:xfrm>
          <a:prstGeom prst="rect">
            <a:avLst/>
          </a:prstGeom>
          <a:solidFill>
            <a:srgbClr val="0F766E"/>
          </a:solidFill>
          <a:ln/>
        </p:spPr>
      </p:sp>
      <p:sp>
        <p:nvSpPr>
          <p:cNvPr id="32" name="Text 30"/>
          <p:cNvSpPr/>
          <p:nvPr/>
        </p:nvSpPr>
        <p:spPr>
          <a:xfrm>
            <a:off x="4700016" y="1865376"/>
            <a:ext cx="4078224"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RETRIEVED KNOWLEDGE (RAG)</a:t>
            </a:r>
            <a:endParaRPr lang="en-US" sz="1050" dirty="0"/>
          </a:p>
        </p:txBody>
      </p:sp>
      <p:sp>
        <p:nvSpPr>
          <p:cNvPr id="33" name="Text 31"/>
          <p:cNvSpPr/>
          <p:nvPr/>
        </p:nvSpPr>
        <p:spPr>
          <a:xfrm>
            <a:off x="4791456" y="2304288"/>
            <a:ext cx="3895344" cy="201168"/>
          </a:xfrm>
          <a:prstGeom prst="rect">
            <a:avLst/>
          </a:prstGeom>
          <a:noFill/>
          <a:ln/>
        </p:spPr>
        <p:txBody>
          <a:bodyPr wrap="square" lIns="0" tIns="0" rIns="0" bIns="0" rtlCol="0" anchor="ctr"/>
          <a:lstStyle/>
          <a:p>
            <a:pPr indent="0" marL="0">
              <a:buNone/>
            </a:pPr>
            <a:r>
              <a:rPr lang="en-US" sz="900" i="1" dirty="0">
                <a:solidFill>
                  <a:srgbClr val="47596B"/>
                </a:solidFill>
                <a:latin typeface="Calibri" pitchFamily="34" charset="0"/>
                <a:ea typeface="Calibri" pitchFamily="34" charset="-122"/>
                <a:cs typeface="Calibri" pitchFamily="34" charset="-120"/>
              </a:rPr>
              <a:t>Fetched from your documents at query time</a:t>
            </a:r>
            <a:endParaRPr lang="en-US" sz="900" dirty="0"/>
          </a:p>
        </p:txBody>
      </p:sp>
      <p:sp>
        <p:nvSpPr>
          <p:cNvPr id="34" name="Shape 32"/>
          <p:cNvSpPr/>
          <p:nvPr/>
        </p:nvSpPr>
        <p:spPr>
          <a:xfrm>
            <a:off x="4791456" y="2578608"/>
            <a:ext cx="3895344" cy="329184"/>
          </a:xfrm>
          <a:prstGeom prst="rect">
            <a:avLst/>
          </a:prstGeom>
          <a:solidFill>
            <a:srgbClr val="FFFFFF"/>
          </a:solidFill>
          <a:ln/>
        </p:spPr>
      </p:sp>
      <p:sp>
        <p:nvSpPr>
          <p:cNvPr id="35" name="Text 33"/>
          <p:cNvSpPr/>
          <p:nvPr/>
        </p:nvSpPr>
        <p:spPr>
          <a:xfrm>
            <a:off x="4882896" y="2633472"/>
            <a:ext cx="1051560" cy="219456"/>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Stored in</a:t>
            </a:r>
            <a:endParaRPr lang="en-US" sz="850" dirty="0"/>
          </a:p>
        </p:txBody>
      </p:sp>
      <p:sp>
        <p:nvSpPr>
          <p:cNvPr id="36" name="Text 34"/>
          <p:cNvSpPr/>
          <p:nvPr/>
        </p:nvSpPr>
        <p:spPr>
          <a:xfrm>
            <a:off x="5980176" y="263347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Vector databases, document stores</a:t>
            </a:r>
            <a:endParaRPr lang="en-US" sz="850" dirty="0"/>
          </a:p>
        </p:txBody>
      </p:sp>
      <p:sp>
        <p:nvSpPr>
          <p:cNvPr id="37" name="Shape 35"/>
          <p:cNvSpPr/>
          <p:nvPr/>
        </p:nvSpPr>
        <p:spPr>
          <a:xfrm>
            <a:off x="4791456" y="2944368"/>
            <a:ext cx="3895344" cy="329184"/>
          </a:xfrm>
          <a:prstGeom prst="rect">
            <a:avLst/>
          </a:prstGeom>
          <a:solidFill>
            <a:srgbClr val="EDF1F7"/>
          </a:solidFill>
          <a:ln/>
        </p:spPr>
      </p:sp>
      <p:sp>
        <p:nvSpPr>
          <p:cNvPr id="38" name="Text 36"/>
          <p:cNvSpPr/>
          <p:nvPr/>
        </p:nvSpPr>
        <p:spPr>
          <a:xfrm>
            <a:off x="4882896" y="2999232"/>
            <a:ext cx="1051560" cy="219456"/>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How accessed</a:t>
            </a:r>
            <a:endParaRPr lang="en-US" sz="850" dirty="0"/>
          </a:p>
        </p:txBody>
      </p:sp>
      <p:sp>
        <p:nvSpPr>
          <p:cNvPr id="39" name="Text 37"/>
          <p:cNvSpPr/>
          <p:nvPr/>
        </p:nvSpPr>
        <p:spPr>
          <a:xfrm>
            <a:off x="5980176" y="299923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Semantic search finds relevant chunks</a:t>
            </a:r>
            <a:endParaRPr lang="en-US" sz="850" dirty="0"/>
          </a:p>
        </p:txBody>
      </p:sp>
      <p:sp>
        <p:nvSpPr>
          <p:cNvPr id="40" name="Shape 38"/>
          <p:cNvSpPr/>
          <p:nvPr/>
        </p:nvSpPr>
        <p:spPr>
          <a:xfrm>
            <a:off x="4791456" y="3310128"/>
            <a:ext cx="3895344" cy="329184"/>
          </a:xfrm>
          <a:prstGeom prst="rect">
            <a:avLst/>
          </a:prstGeom>
          <a:solidFill>
            <a:srgbClr val="FFFFFF"/>
          </a:solidFill>
          <a:ln/>
        </p:spPr>
      </p:sp>
      <p:sp>
        <p:nvSpPr>
          <p:cNvPr id="41" name="Text 39"/>
          <p:cNvSpPr/>
          <p:nvPr/>
        </p:nvSpPr>
        <p:spPr>
          <a:xfrm>
            <a:off x="4882896" y="3364992"/>
            <a:ext cx="1051560" cy="219456"/>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Strength</a:t>
            </a:r>
            <a:endParaRPr lang="en-US" sz="850" dirty="0"/>
          </a:p>
        </p:txBody>
      </p:sp>
      <p:sp>
        <p:nvSpPr>
          <p:cNvPr id="42" name="Text 40"/>
          <p:cNvSpPr/>
          <p:nvPr/>
        </p:nvSpPr>
        <p:spPr>
          <a:xfrm>
            <a:off x="5980176" y="336499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Always current · Cites sources · Grounded</a:t>
            </a:r>
            <a:endParaRPr lang="en-US" sz="850" dirty="0"/>
          </a:p>
        </p:txBody>
      </p:sp>
      <p:sp>
        <p:nvSpPr>
          <p:cNvPr id="43" name="Shape 41"/>
          <p:cNvSpPr/>
          <p:nvPr/>
        </p:nvSpPr>
        <p:spPr>
          <a:xfrm>
            <a:off x="4791456" y="3675888"/>
            <a:ext cx="3895344" cy="329184"/>
          </a:xfrm>
          <a:prstGeom prst="rect">
            <a:avLst/>
          </a:prstGeom>
          <a:solidFill>
            <a:srgbClr val="EDF1F7"/>
          </a:solidFill>
          <a:ln/>
        </p:spPr>
      </p:sp>
      <p:sp>
        <p:nvSpPr>
          <p:cNvPr id="44" name="Text 42"/>
          <p:cNvSpPr/>
          <p:nvPr/>
        </p:nvSpPr>
        <p:spPr>
          <a:xfrm>
            <a:off x="4882896" y="3730752"/>
            <a:ext cx="1051560" cy="219456"/>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Weakness</a:t>
            </a:r>
            <a:endParaRPr lang="en-US" sz="850" dirty="0"/>
          </a:p>
        </p:txBody>
      </p:sp>
      <p:sp>
        <p:nvSpPr>
          <p:cNvPr id="45" name="Text 43"/>
          <p:cNvSpPr/>
          <p:nvPr/>
        </p:nvSpPr>
        <p:spPr>
          <a:xfrm>
            <a:off x="5980176" y="373075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Retrieval quality matters · Needs engineering</a:t>
            </a:r>
            <a:endParaRPr lang="en-US" sz="850" dirty="0"/>
          </a:p>
        </p:txBody>
      </p:sp>
      <p:sp>
        <p:nvSpPr>
          <p:cNvPr id="46" name="Shape 44"/>
          <p:cNvSpPr/>
          <p:nvPr/>
        </p:nvSpPr>
        <p:spPr>
          <a:xfrm>
            <a:off x="4791456" y="4041648"/>
            <a:ext cx="3895344" cy="329184"/>
          </a:xfrm>
          <a:prstGeom prst="rect">
            <a:avLst/>
          </a:prstGeom>
          <a:solidFill>
            <a:srgbClr val="FFFFFF"/>
          </a:solidFill>
          <a:ln/>
        </p:spPr>
      </p:sp>
      <p:sp>
        <p:nvSpPr>
          <p:cNvPr id="47" name="Text 45"/>
          <p:cNvSpPr/>
          <p:nvPr/>
        </p:nvSpPr>
        <p:spPr>
          <a:xfrm>
            <a:off x="4882896" y="4096512"/>
            <a:ext cx="1051560" cy="219456"/>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Example</a:t>
            </a:r>
            <a:endParaRPr lang="en-US" sz="850" dirty="0"/>
          </a:p>
        </p:txBody>
      </p:sp>
      <p:sp>
        <p:nvSpPr>
          <p:cNvPr id="48" name="Text 46"/>
          <p:cNvSpPr/>
          <p:nvPr/>
        </p:nvSpPr>
        <p:spPr>
          <a:xfrm>
            <a:off x="5980176" y="4096512"/>
            <a:ext cx="2651760"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Retrieves today's HR policy before answering</a:t>
            </a:r>
            <a:endParaRPr lang="en-US" sz="850" dirty="0"/>
          </a:p>
        </p:txBody>
      </p:sp>
      <p:sp>
        <p:nvSpPr>
          <p:cNvPr id="49" name="Shape 47"/>
          <p:cNvSpPr/>
          <p:nvPr/>
        </p:nvSpPr>
        <p:spPr>
          <a:xfrm>
            <a:off x="365760" y="4572000"/>
            <a:ext cx="8412480" cy="457200"/>
          </a:xfrm>
          <a:prstGeom prst="rect">
            <a:avLst/>
          </a:prstGeom>
          <a:solidFill>
            <a:srgbClr val="EDF1F7"/>
          </a:solidFill>
          <a:ln/>
        </p:spPr>
      </p:sp>
      <p:sp>
        <p:nvSpPr>
          <p:cNvPr id="50" name="Shape 48"/>
          <p:cNvSpPr/>
          <p:nvPr/>
        </p:nvSpPr>
        <p:spPr>
          <a:xfrm>
            <a:off x="365760" y="4572000"/>
            <a:ext cx="36576" cy="457200"/>
          </a:xfrm>
          <a:prstGeom prst="rect">
            <a:avLst/>
          </a:prstGeom>
          <a:solidFill>
            <a:srgbClr val="B8860B"/>
          </a:solidFill>
          <a:ln/>
        </p:spPr>
      </p:sp>
      <p:sp>
        <p:nvSpPr>
          <p:cNvPr id="51" name="Text 49"/>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2" name="Text 50"/>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Best enterprise AI combines both: parametric for reasoning and fluency, retrieved for accuracy, currency, and source citation.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5266"/>
          </a:solidFill>
          <a:ln/>
        </p:spPr>
      </p:sp>
      <p:sp>
        <p:nvSpPr>
          <p:cNvPr id="3" name="Shape 1"/>
          <p:cNvSpPr/>
          <p:nvPr/>
        </p:nvSpPr>
        <p:spPr>
          <a:xfrm>
            <a:off x="0" y="5084064"/>
            <a:ext cx="9144000" cy="54864"/>
          </a:xfrm>
          <a:prstGeom prst="rect">
            <a:avLst/>
          </a:prstGeom>
          <a:solidFill>
            <a:srgbClr val="B8860B"/>
          </a:solidFill>
          <a:ln/>
        </p:spPr>
      </p:sp>
      <p:sp>
        <p:nvSpPr>
          <p:cNvPr id="4" name="Text 2"/>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28000" b="1" dirty="0">
                <a:solidFill>
                  <a:srgbClr val="2E5266"/>
                </a:solidFill>
                <a:latin typeface="Calibri" pitchFamily="34" charset="0"/>
                <a:ea typeface="Calibri" pitchFamily="34" charset="-122"/>
                <a:cs typeface="Calibri" pitchFamily="34" charset="-120"/>
              </a:rPr>
              <a:t>02</a:t>
            </a:r>
            <a:endParaRPr lang="en-US" sz="28000" dirty="0"/>
          </a:p>
        </p:txBody>
      </p:sp>
      <p:sp>
        <p:nvSpPr>
          <p:cNvPr id="5" name="Text 3"/>
          <p:cNvSpPr/>
          <p:nvPr/>
        </p:nvSpPr>
        <p:spPr>
          <a:xfrm>
            <a:off x="457200" y="1097280"/>
            <a:ext cx="4572000" cy="329184"/>
          </a:xfrm>
          <a:prstGeom prst="rect">
            <a:avLst/>
          </a:prstGeom>
          <a:noFill/>
          <a:ln/>
        </p:spPr>
        <p:txBody>
          <a:bodyPr wrap="square" lIns="0" tIns="0" rIns="0" bIns="0" rtlCol="0" anchor="ctr"/>
          <a:lstStyle/>
          <a:p>
            <a:pPr indent="0" marL="0">
              <a:buNone/>
            </a:pPr>
            <a:r>
              <a:rPr lang="en-US" sz="1000" b="1" spc="400" kern="0" dirty="0">
                <a:solidFill>
                  <a:srgbClr val="B8860B"/>
                </a:solidFill>
                <a:latin typeface="Calibri" pitchFamily="34" charset="0"/>
                <a:ea typeface="Calibri" pitchFamily="34" charset="-122"/>
                <a:cs typeface="Calibri" pitchFamily="34" charset="-120"/>
              </a:rPr>
              <a:t>CHAPTER 02</a:t>
            </a:r>
            <a:endParaRPr lang="en-US" sz="1000" dirty="0"/>
          </a:p>
        </p:txBody>
      </p:sp>
      <p:sp>
        <p:nvSpPr>
          <p:cNvPr id="6" name="Text 4"/>
          <p:cNvSpPr/>
          <p:nvPr/>
        </p:nvSpPr>
        <p:spPr>
          <a:xfrm>
            <a:off x="457200" y="1463040"/>
            <a:ext cx="457200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How It Works</a:t>
            </a:r>
            <a:endParaRPr lang="en-US" sz="4000" dirty="0"/>
          </a:p>
        </p:txBody>
      </p:sp>
      <p:sp>
        <p:nvSpPr>
          <p:cNvPr id="7" name="Shape 5"/>
          <p:cNvSpPr/>
          <p:nvPr/>
        </p:nvSpPr>
        <p:spPr>
          <a:xfrm>
            <a:off x="457200" y="2834640"/>
            <a:ext cx="1097280" cy="36576"/>
          </a:xfrm>
          <a:prstGeom prst="rect">
            <a:avLst/>
          </a:prstGeom>
          <a:solidFill>
            <a:srgbClr val="B8860B"/>
          </a:solidFill>
          <a:ln/>
        </p:spPr>
      </p:sp>
      <p:sp>
        <p:nvSpPr>
          <p:cNvPr id="8" name="Text 6"/>
          <p:cNvSpPr/>
          <p:nvPr/>
        </p:nvSpPr>
        <p:spPr>
          <a:xfrm>
            <a:off x="457200" y="2962656"/>
            <a:ext cx="4572000" cy="548640"/>
          </a:xfrm>
          <a:prstGeom prst="rect">
            <a:avLst/>
          </a:prstGeom>
          <a:noFill/>
          <a:ln/>
        </p:spPr>
        <p:txBody>
          <a:bodyPr wrap="square" lIns="0" tIns="0" rIns="0" bIns="0" rtlCol="0" anchor="ctr"/>
          <a:lstStyle/>
          <a:p>
            <a:pPr indent="0" marL="0">
              <a:buNone/>
            </a:pPr>
            <a:r>
              <a:rPr lang="en-US" sz="1150" i="1" dirty="0">
                <a:solidFill>
                  <a:srgbClr val="EDF1F7"/>
                </a:solidFill>
                <a:latin typeface="Calibri" pitchFamily="34" charset="0"/>
                <a:ea typeface="Calibri" pitchFamily="34" charset="-122"/>
                <a:cs typeface="Calibri" pitchFamily="34" charset="-120"/>
              </a:rPr>
              <a:t>Every mechanism explained with plain English analogies and real business examples — before any jargon.</a:t>
            </a:r>
            <a:endParaRPr lang="en-US" sz="1150" dirty="0"/>
          </a:p>
        </p:txBody>
      </p:sp>
      <p:sp>
        <p:nvSpPr>
          <p:cNvPr id="9" name="Text 7"/>
          <p:cNvSpPr/>
          <p:nvPr/>
        </p:nvSpPr>
        <p:spPr>
          <a:xfrm>
            <a:off x="457200" y="3657600"/>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Tokens &amp; context window — with examples</a:t>
            </a:r>
            <a:endParaRPr lang="en-US" sz="950" dirty="0"/>
          </a:p>
        </p:txBody>
      </p:sp>
      <p:sp>
        <p:nvSpPr>
          <p:cNvPr id="10" name="Text 8"/>
          <p:cNvSpPr/>
          <p:nvPr/>
        </p:nvSpPr>
        <p:spPr>
          <a:xfrm>
            <a:off x="457200" y="3895344"/>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How LLMs are trained (4 stages)</a:t>
            </a:r>
            <a:endParaRPr lang="en-US" sz="950" dirty="0"/>
          </a:p>
        </p:txBody>
      </p:sp>
      <p:sp>
        <p:nvSpPr>
          <p:cNvPr id="11" name="Text 9"/>
          <p:cNvSpPr/>
          <p:nvPr/>
        </p:nvSpPr>
        <p:spPr>
          <a:xfrm>
            <a:off x="457200" y="4133088"/>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Prompt engineering — 6 techniques</a:t>
            </a:r>
            <a:endParaRPr lang="en-US" sz="950" dirty="0"/>
          </a:p>
        </p:txBody>
      </p:sp>
      <p:sp>
        <p:nvSpPr>
          <p:cNvPr id="12" name="Text 10"/>
          <p:cNvSpPr/>
          <p:nvPr/>
        </p:nvSpPr>
        <p:spPr>
          <a:xfrm>
            <a:off x="457200" y="4370832"/>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RAG — making AI know your business</a:t>
            </a:r>
            <a:endParaRPr lang="en-US" sz="950" dirty="0"/>
          </a:p>
        </p:txBody>
      </p:sp>
      <p:sp>
        <p:nvSpPr>
          <p:cNvPr id="13" name="Text 11"/>
          <p:cNvSpPr/>
          <p:nvPr/>
        </p:nvSpPr>
        <p:spPr>
          <a:xfrm>
            <a:off x="457200" y="4608576"/>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Embeddings &amp; vector databases</a:t>
            </a:r>
            <a:endParaRPr lang="en-US" sz="950" dirty="0"/>
          </a:p>
        </p:txBody>
      </p:sp>
      <p:sp>
        <p:nvSpPr>
          <p:cNvPr id="14" name="Text 12"/>
          <p:cNvSpPr/>
          <p:nvPr/>
        </p:nvSpPr>
        <p:spPr>
          <a:xfrm>
            <a:off x="457200" y="4846320"/>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Fine-tuning your own model</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2E5266"/>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02</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TOKENS &amp; CONTEXT WINDOW</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Post-it Notes &amp; a Whiteboard</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 token is like one Post-it note — roughly ¾ of a word. The context window is the size of your whiteboard: bigger whiteboard = more Post-its visible at once. When full, the AI 'forgets' the oldest notes to make room for new ones.</a:t>
            </a:r>
            <a:endParaRPr lang="en-US" sz="1000" dirty="0"/>
          </a:p>
        </p:txBody>
      </p:sp>
      <p:sp>
        <p:nvSpPr>
          <p:cNvPr id="11" name="Text 9"/>
          <p:cNvSpPr/>
          <p:nvPr/>
        </p:nvSpPr>
        <p:spPr>
          <a:xfrm>
            <a:off x="365760" y="1810512"/>
            <a:ext cx="8412480" cy="219456"/>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TOKEN EXAMPLES</a:t>
            </a:r>
            <a:endParaRPr lang="en-US" sz="850" dirty="0"/>
          </a:p>
        </p:txBody>
      </p:sp>
      <p:sp>
        <p:nvSpPr>
          <p:cNvPr id="12" name="Shape 10"/>
          <p:cNvSpPr/>
          <p:nvPr/>
        </p:nvSpPr>
        <p:spPr>
          <a:xfrm>
            <a:off x="365760" y="2066544"/>
            <a:ext cx="1591056" cy="73152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3" name="Shape 11"/>
          <p:cNvSpPr/>
          <p:nvPr/>
        </p:nvSpPr>
        <p:spPr>
          <a:xfrm>
            <a:off x="365760" y="2066544"/>
            <a:ext cx="36576" cy="731520"/>
          </a:xfrm>
          <a:prstGeom prst="rect">
            <a:avLst/>
          </a:prstGeom>
          <a:solidFill>
            <a:srgbClr val="2E5266"/>
          </a:solidFill>
          <a:ln/>
        </p:spPr>
      </p:sp>
      <p:sp>
        <p:nvSpPr>
          <p:cNvPr id="14" name="Text 12"/>
          <p:cNvSpPr/>
          <p:nvPr/>
        </p:nvSpPr>
        <p:spPr>
          <a:xfrm>
            <a:off x="438912" y="2121408"/>
            <a:ext cx="1481328" cy="292608"/>
          </a:xfrm>
          <a:prstGeom prst="rect">
            <a:avLst/>
          </a:prstGeom>
          <a:noFill/>
          <a:ln/>
        </p:spPr>
        <p:txBody>
          <a:bodyPr wrap="square" lIns="0" tIns="0" rIns="0" bIns="0" rtlCol="0" anchor="ctr"/>
          <a:lstStyle/>
          <a:p>
            <a:pPr algn="ctr" indent="0" marL="0">
              <a:buNone/>
            </a:pPr>
            <a:r>
              <a:rPr lang="en-US" sz="1000" b="1" dirty="0">
                <a:solidFill>
                  <a:srgbClr val="0A2540"/>
                </a:solidFill>
                <a:latin typeface="Calibri" pitchFamily="34" charset="0"/>
                <a:ea typeface="Calibri" pitchFamily="34" charset="-122"/>
                <a:cs typeface="Calibri" pitchFamily="34" charset="-120"/>
              </a:rPr>
              <a:t>"Hello"</a:t>
            </a:r>
            <a:endParaRPr lang="en-US" sz="1000" dirty="0"/>
          </a:p>
        </p:txBody>
      </p:sp>
      <p:sp>
        <p:nvSpPr>
          <p:cNvPr id="15" name="Text 13"/>
          <p:cNvSpPr/>
          <p:nvPr/>
        </p:nvSpPr>
        <p:spPr>
          <a:xfrm>
            <a:off x="438912" y="2432304"/>
            <a:ext cx="148132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1 token</a:t>
            </a:r>
            <a:endParaRPr lang="en-US" sz="1100" dirty="0"/>
          </a:p>
        </p:txBody>
      </p:sp>
      <p:sp>
        <p:nvSpPr>
          <p:cNvPr id="16" name="Shape 14"/>
          <p:cNvSpPr/>
          <p:nvPr/>
        </p:nvSpPr>
        <p:spPr>
          <a:xfrm>
            <a:off x="2084832" y="2066544"/>
            <a:ext cx="1591056" cy="73152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7" name="Shape 15"/>
          <p:cNvSpPr/>
          <p:nvPr/>
        </p:nvSpPr>
        <p:spPr>
          <a:xfrm>
            <a:off x="2084832" y="2066544"/>
            <a:ext cx="36576" cy="731520"/>
          </a:xfrm>
          <a:prstGeom prst="rect">
            <a:avLst/>
          </a:prstGeom>
          <a:solidFill>
            <a:srgbClr val="2E5266"/>
          </a:solidFill>
          <a:ln/>
        </p:spPr>
      </p:sp>
      <p:sp>
        <p:nvSpPr>
          <p:cNvPr id="18" name="Text 16"/>
          <p:cNvSpPr/>
          <p:nvPr/>
        </p:nvSpPr>
        <p:spPr>
          <a:xfrm>
            <a:off x="2157984" y="2121408"/>
            <a:ext cx="1481328" cy="292608"/>
          </a:xfrm>
          <a:prstGeom prst="rect">
            <a:avLst/>
          </a:prstGeom>
          <a:noFill/>
          <a:ln/>
        </p:spPr>
        <p:txBody>
          <a:bodyPr wrap="square" lIns="0" tIns="0" rIns="0" bIns="0" rtlCol="0" anchor="ctr"/>
          <a:lstStyle/>
          <a:p>
            <a:pPr algn="ctr" indent="0" marL="0">
              <a:buNone/>
            </a:pPr>
            <a:r>
              <a:rPr lang="en-US" sz="1000" b="1" dirty="0">
                <a:solidFill>
                  <a:srgbClr val="0A2540"/>
                </a:solidFill>
                <a:latin typeface="Calibri" pitchFamily="34" charset="0"/>
                <a:ea typeface="Calibri" pitchFamily="34" charset="-122"/>
                <a:cs typeface="Calibri" pitchFamily="34" charset="-120"/>
              </a:rPr>
              <a:t>"Artificial"</a:t>
            </a:r>
            <a:endParaRPr lang="en-US" sz="1000" dirty="0"/>
          </a:p>
        </p:txBody>
      </p:sp>
      <p:sp>
        <p:nvSpPr>
          <p:cNvPr id="19" name="Text 17"/>
          <p:cNvSpPr/>
          <p:nvPr/>
        </p:nvSpPr>
        <p:spPr>
          <a:xfrm>
            <a:off x="2157984" y="2432304"/>
            <a:ext cx="148132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3 tokens</a:t>
            </a:r>
            <a:endParaRPr lang="en-US" sz="1100" dirty="0"/>
          </a:p>
        </p:txBody>
      </p:sp>
      <p:sp>
        <p:nvSpPr>
          <p:cNvPr id="20" name="Shape 18"/>
          <p:cNvSpPr/>
          <p:nvPr/>
        </p:nvSpPr>
        <p:spPr>
          <a:xfrm>
            <a:off x="3803904" y="2066544"/>
            <a:ext cx="1591056" cy="73152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1" name="Shape 19"/>
          <p:cNvSpPr/>
          <p:nvPr/>
        </p:nvSpPr>
        <p:spPr>
          <a:xfrm>
            <a:off x="3803904" y="2066544"/>
            <a:ext cx="36576" cy="731520"/>
          </a:xfrm>
          <a:prstGeom prst="rect">
            <a:avLst/>
          </a:prstGeom>
          <a:solidFill>
            <a:srgbClr val="2E5266"/>
          </a:solidFill>
          <a:ln/>
        </p:spPr>
      </p:sp>
      <p:sp>
        <p:nvSpPr>
          <p:cNvPr id="22" name="Text 20"/>
          <p:cNvSpPr/>
          <p:nvPr/>
        </p:nvSpPr>
        <p:spPr>
          <a:xfrm>
            <a:off x="3877056" y="2121408"/>
            <a:ext cx="1481328" cy="292608"/>
          </a:xfrm>
          <a:prstGeom prst="rect">
            <a:avLst/>
          </a:prstGeom>
          <a:noFill/>
          <a:ln/>
        </p:spPr>
        <p:txBody>
          <a:bodyPr wrap="square" lIns="0" tIns="0" rIns="0" bIns="0" rtlCol="0" anchor="ctr"/>
          <a:lstStyle/>
          <a:p>
            <a:pPr algn="ctr" indent="0" marL="0">
              <a:buNone/>
            </a:pPr>
            <a:r>
              <a:rPr lang="en-US" sz="1000" b="1" dirty="0">
                <a:solidFill>
                  <a:srgbClr val="0A2540"/>
                </a:solidFill>
                <a:latin typeface="Calibri" pitchFamily="34" charset="0"/>
                <a:ea typeface="Calibri" pitchFamily="34" charset="-122"/>
                <a:cs typeface="Calibri" pitchFamily="34" charset="-120"/>
              </a:rPr>
              <a:t>"intelligence"</a:t>
            </a:r>
            <a:endParaRPr lang="en-US" sz="1000" dirty="0"/>
          </a:p>
        </p:txBody>
      </p:sp>
      <p:sp>
        <p:nvSpPr>
          <p:cNvPr id="23" name="Text 21"/>
          <p:cNvSpPr/>
          <p:nvPr/>
        </p:nvSpPr>
        <p:spPr>
          <a:xfrm>
            <a:off x="3877056" y="2432304"/>
            <a:ext cx="148132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4 tokens</a:t>
            </a:r>
            <a:endParaRPr lang="en-US" sz="1100" dirty="0"/>
          </a:p>
        </p:txBody>
      </p:sp>
      <p:sp>
        <p:nvSpPr>
          <p:cNvPr id="24" name="Shape 22"/>
          <p:cNvSpPr/>
          <p:nvPr/>
        </p:nvSpPr>
        <p:spPr>
          <a:xfrm>
            <a:off x="5522976" y="2066544"/>
            <a:ext cx="1591056" cy="73152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5" name="Shape 23"/>
          <p:cNvSpPr/>
          <p:nvPr/>
        </p:nvSpPr>
        <p:spPr>
          <a:xfrm>
            <a:off x="5522976" y="2066544"/>
            <a:ext cx="36576" cy="731520"/>
          </a:xfrm>
          <a:prstGeom prst="rect">
            <a:avLst/>
          </a:prstGeom>
          <a:solidFill>
            <a:srgbClr val="2E5266"/>
          </a:solidFill>
          <a:ln/>
        </p:spPr>
      </p:sp>
      <p:sp>
        <p:nvSpPr>
          <p:cNvPr id="26" name="Text 24"/>
          <p:cNvSpPr/>
          <p:nvPr/>
        </p:nvSpPr>
        <p:spPr>
          <a:xfrm>
            <a:off x="5596128" y="2121408"/>
            <a:ext cx="1481328" cy="292608"/>
          </a:xfrm>
          <a:prstGeom prst="rect">
            <a:avLst/>
          </a:prstGeom>
          <a:noFill/>
          <a:ln/>
        </p:spPr>
        <p:txBody>
          <a:bodyPr wrap="square" lIns="0" tIns="0" rIns="0" bIns="0" rtlCol="0" anchor="ctr"/>
          <a:lstStyle/>
          <a:p>
            <a:pPr algn="ctr" indent="0" marL="0">
              <a:buNone/>
            </a:pPr>
            <a:r>
              <a:rPr lang="en-US" sz="1000" b="1" dirty="0">
                <a:solidFill>
                  <a:srgbClr val="0A2540"/>
                </a:solidFill>
                <a:latin typeface="Calibri" pitchFamily="34" charset="0"/>
                <a:ea typeface="Calibri" pitchFamily="34" charset="-122"/>
                <a:cs typeface="Calibri" pitchFamily="34" charset="-120"/>
              </a:rPr>
              <a:t>"ChatGPT launched"</a:t>
            </a:r>
            <a:endParaRPr lang="en-US" sz="1000" dirty="0"/>
          </a:p>
        </p:txBody>
      </p:sp>
      <p:sp>
        <p:nvSpPr>
          <p:cNvPr id="27" name="Text 25"/>
          <p:cNvSpPr/>
          <p:nvPr/>
        </p:nvSpPr>
        <p:spPr>
          <a:xfrm>
            <a:off x="5596128" y="2432304"/>
            <a:ext cx="148132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4 tokens</a:t>
            </a:r>
            <a:endParaRPr lang="en-US" sz="1100" dirty="0"/>
          </a:p>
        </p:txBody>
      </p:sp>
      <p:sp>
        <p:nvSpPr>
          <p:cNvPr id="28" name="Shape 26"/>
          <p:cNvSpPr/>
          <p:nvPr/>
        </p:nvSpPr>
        <p:spPr>
          <a:xfrm>
            <a:off x="7242048" y="2066544"/>
            <a:ext cx="1591056" cy="73152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9" name="Shape 27"/>
          <p:cNvSpPr/>
          <p:nvPr/>
        </p:nvSpPr>
        <p:spPr>
          <a:xfrm>
            <a:off x="7242048" y="2066544"/>
            <a:ext cx="36576" cy="731520"/>
          </a:xfrm>
          <a:prstGeom prst="rect">
            <a:avLst/>
          </a:prstGeom>
          <a:solidFill>
            <a:srgbClr val="2E5266"/>
          </a:solidFill>
          <a:ln/>
        </p:spPr>
      </p:sp>
      <p:sp>
        <p:nvSpPr>
          <p:cNvPr id="30" name="Text 28"/>
          <p:cNvSpPr/>
          <p:nvPr/>
        </p:nvSpPr>
        <p:spPr>
          <a:xfrm>
            <a:off x="7315200" y="2121408"/>
            <a:ext cx="1481328" cy="292608"/>
          </a:xfrm>
          <a:prstGeom prst="rect">
            <a:avLst/>
          </a:prstGeom>
          <a:noFill/>
          <a:ln/>
        </p:spPr>
        <p:txBody>
          <a:bodyPr wrap="square" lIns="0" tIns="0" rIns="0" bIns="0" rtlCol="0" anchor="ctr"/>
          <a:lstStyle/>
          <a:p>
            <a:pPr algn="ctr" indent="0" marL="0">
              <a:buNone/>
            </a:pPr>
            <a:r>
              <a:rPr lang="en-US" sz="1000" b="1" dirty="0">
                <a:solidFill>
                  <a:srgbClr val="0A2540"/>
                </a:solidFill>
                <a:latin typeface="Calibri" pitchFamily="34" charset="0"/>
                <a:ea typeface="Calibri" pitchFamily="34" charset="-122"/>
                <a:cs typeface="Calibri" pitchFamily="34" charset="-120"/>
              </a:rPr>
              <a:t>1,000 words</a:t>
            </a:r>
            <a:endParaRPr lang="en-US" sz="1000" dirty="0"/>
          </a:p>
        </p:txBody>
      </p:sp>
      <p:sp>
        <p:nvSpPr>
          <p:cNvPr id="31" name="Text 29"/>
          <p:cNvSpPr/>
          <p:nvPr/>
        </p:nvSpPr>
        <p:spPr>
          <a:xfrm>
            <a:off x="7315200" y="2432304"/>
            <a:ext cx="1481328" cy="292608"/>
          </a:xfrm>
          <a:prstGeom prst="rect">
            <a:avLst/>
          </a:prstGeom>
          <a:noFill/>
          <a:ln/>
        </p:spPr>
        <p:txBody>
          <a:bodyPr wrap="square" lIns="0" tIns="0" rIns="0" bIns="0" rtlCol="0" anchor="ctr"/>
          <a:lstStyle/>
          <a:p>
            <a:pPr algn="ctr" indent="0" marL="0">
              <a:buNone/>
            </a:pPr>
            <a:r>
              <a:rPr lang="en-US" sz="1100" b="1" dirty="0">
                <a:solidFill>
                  <a:srgbClr val="2E5266"/>
                </a:solidFill>
                <a:latin typeface="Calibri" pitchFamily="34" charset="0"/>
                <a:ea typeface="Calibri" pitchFamily="34" charset="-122"/>
                <a:cs typeface="Calibri" pitchFamily="34" charset="-120"/>
              </a:rPr>
              <a:t>≈ 750 tokens</a:t>
            </a:r>
            <a:endParaRPr lang="en-US" sz="1100" dirty="0"/>
          </a:p>
        </p:txBody>
      </p:sp>
      <p:sp>
        <p:nvSpPr>
          <p:cNvPr id="32" name="Text 30"/>
          <p:cNvSpPr/>
          <p:nvPr/>
        </p:nvSpPr>
        <p:spPr>
          <a:xfrm>
            <a:off x="365760" y="2926080"/>
            <a:ext cx="8412480" cy="219456"/>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CONTEXT WINDOW  ·  How much the AI can see at once</a:t>
            </a:r>
            <a:endParaRPr lang="en-US" sz="850" dirty="0"/>
          </a:p>
        </p:txBody>
      </p:sp>
      <p:sp>
        <p:nvSpPr>
          <p:cNvPr id="33" name="Shape 31"/>
          <p:cNvSpPr/>
          <p:nvPr/>
        </p:nvSpPr>
        <p:spPr>
          <a:xfrm>
            <a:off x="365760" y="3182112"/>
            <a:ext cx="1591056" cy="1243584"/>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4" name="Shape 32"/>
          <p:cNvSpPr/>
          <p:nvPr/>
        </p:nvSpPr>
        <p:spPr>
          <a:xfrm>
            <a:off x="365760" y="3182112"/>
            <a:ext cx="1591056" cy="310896"/>
          </a:xfrm>
          <a:prstGeom prst="rect">
            <a:avLst/>
          </a:prstGeom>
          <a:solidFill>
            <a:srgbClr val="2E5266"/>
          </a:solidFill>
          <a:ln/>
        </p:spPr>
      </p:sp>
      <p:sp>
        <p:nvSpPr>
          <p:cNvPr id="35" name="Text 33"/>
          <p:cNvSpPr/>
          <p:nvPr/>
        </p:nvSpPr>
        <p:spPr>
          <a:xfrm>
            <a:off x="365760" y="3200400"/>
            <a:ext cx="159105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GPT-3.5</a:t>
            </a:r>
            <a:endParaRPr lang="en-US" sz="900" dirty="0"/>
          </a:p>
        </p:txBody>
      </p:sp>
      <p:sp>
        <p:nvSpPr>
          <p:cNvPr id="36" name="Text 34"/>
          <p:cNvSpPr/>
          <p:nvPr/>
        </p:nvSpPr>
        <p:spPr>
          <a:xfrm>
            <a:off x="365760" y="3547872"/>
            <a:ext cx="1591056" cy="384048"/>
          </a:xfrm>
          <a:prstGeom prst="rect">
            <a:avLst/>
          </a:prstGeom>
          <a:noFill/>
          <a:ln/>
        </p:spPr>
        <p:txBody>
          <a:bodyPr wrap="square" lIns="0" tIns="0" rIns="0" bIns="0" rtlCol="0" anchor="ctr"/>
          <a:lstStyle/>
          <a:p>
            <a:pPr algn="ctr" indent="0" marL="0">
              <a:buNone/>
            </a:pPr>
            <a:r>
              <a:rPr lang="en-US" sz="1800" b="1" dirty="0">
                <a:solidFill>
                  <a:srgbClr val="2E5266"/>
                </a:solidFill>
                <a:latin typeface="Calibri" pitchFamily="34" charset="0"/>
                <a:ea typeface="Calibri" pitchFamily="34" charset="-122"/>
                <a:cs typeface="Calibri" pitchFamily="34" charset="-120"/>
              </a:rPr>
              <a:t>16K</a:t>
            </a:r>
            <a:endParaRPr lang="en-US" sz="1800" dirty="0"/>
          </a:p>
        </p:txBody>
      </p:sp>
      <p:sp>
        <p:nvSpPr>
          <p:cNvPr id="37" name="Text 35"/>
          <p:cNvSpPr/>
          <p:nvPr/>
        </p:nvSpPr>
        <p:spPr>
          <a:xfrm>
            <a:off x="420624" y="3968496"/>
            <a:ext cx="1481328" cy="402336"/>
          </a:xfrm>
          <a:prstGeom prst="rect">
            <a:avLst/>
          </a:prstGeom>
          <a:noFill/>
          <a:ln/>
        </p:spPr>
        <p:txBody>
          <a:bodyPr wrap="square" lIns="0" tIns="0" rIns="0" bIns="0" rtlCol="0" anchor="ctr"/>
          <a:lstStyle/>
          <a:p>
            <a:pPr algn="ctr" indent="0" marL="0">
              <a:buNone/>
            </a:pPr>
            <a:r>
              <a:rPr lang="en-US" sz="850" dirty="0">
                <a:solidFill>
                  <a:srgbClr val="47596B"/>
                </a:solidFill>
                <a:latin typeface="Calibri" pitchFamily="34" charset="0"/>
                <a:ea typeface="Calibri" pitchFamily="34" charset="-122"/>
                <a:cs typeface="Calibri" pitchFamily="34" charset="-120"/>
              </a:rPr>
              <a:t>A short novel chapter</a:t>
            </a:r>
            <a:endParaRPr lang="en-US" sz="850" dirty="0"/>
          </a:p>
        </p:txBody>
      </p:sp>
      <p:sp>
        <p:nvSpPr>
          <p:cNvPr id="38" name="Shape 36"/>
          <p:cNvSpPr/>
          <p:nvPr/>
        </p:nvSpPr>
        <p:spPr>
          <a:xfrm>
            <a:off x="2084832" y="3182112"/>
            <a:ext cx="1591056" cy="1243584"/>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9" name="Shape 37"/>
          <p:cNvSpPr/>
          <p:nvPr/>
        </p:nvSpPr>
        <p:spPr>
          <a:xfrm>
            <a:off x="2084832" y="3182112"/>
            <a:ext cx="1591056" cy="310896"/>
          </a:xfrm>
          <a:prstGeom prst="rect">
            <a:avLst/>
          </a:prstGeom>
          <a:solidFill>
            <a:srgbClr val="2E5266"/>
          </a:solidFill>
          <a:ln/>
        </p:spPr>
      </p:sp>
      <p:sp>
        <p:nvSpPr>
          <p:cNvPr id="40" name="Text 38"/>
          <p:cNvSpPr/>
          <p:nvPr/>
        </p:nvSpPr>
        <p:spPr>
          <a:xfrm>
            <a:off x="2084832" y="3200400"/>
            <a:ext cx="159105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GPT-4 Turbo</a:t>
            </a:r>
            <a:endParaRPr lang="en-US" sz="900" dirty="0"/>
          </a:p>
        </p:txBody>
      </p:sp>
      <p:sp>
        <p:nvSpPr>
          <p:cNvPr id="41" name="Text 39"/>
          <p:cNvSpPr/>
          <p:nvPr/>
        </p:nvSpPr>
        <p:spPr>
          <a:xfrm>
            <a:off x="2084832" y="3547872"/>
            <a:ext cx="1591056" cy="384048"/>
          </a:xfrm>
          <a:prstGeom prst="rect">
            <a:avLst/>
          </a:prstGeom>
          <a:noFill/>
          <a:ln/>
        </p:spPr>
        <p:txBody>
          <a:bodyPr wrap="square" lIns="0" tIns="0" rIns="0" bIns="0" rtlCol="0" anchor="ctr"/>
          <a:lstStyle/>
          <a:p>
            <a:pPr algn="ctr" indent="0" marL="0">
              <a:buNone/>
            </a:pPr>
            <a:r>
              <a:rPr lang="en-US" sz="1800" b="1" dirty="0">
                <a:solidFill>
                  <a:srgbClr val="2E5266"/>
                </a:solidFill>
                <a:latin typeface="Calibri" pitchFamily="34" charset="0"/>
                <a:ea typeface="Calibri" pitchFamily="34" charset="-122"/>
                <a:cs typeface="Calibri" pitchFamily="34" charset="-120"/>
              </a:rPr>
              <a:t>128K</a:t>
            </a:r>
            <a:endParaRPr lang="en-US" sz="1800" dirty="0"/>
          </a:p>
        </p:txBody>
      </p:sp>
      <p:sp>
        <p:nvSpPr>
          <p:cNvPr id="42" name="Text 40"/>
          <p:cNvSpPr/>
          <p:nvPr/>
        </p:nvSpPr>
        <p:spPr>
          <a:xfrm>
            <a:off x="2139696" y="3968496"/>
            <a:ext cx="1481328" cy="402336"/>
          </a:xfrm>
          <a:prstGeom prst="rect">
            <a:avLst/>
          </a:prstGeom>
          <a:noFill/>
          <a:ln/>
        </p:spPr>
        <p:txBody>
          <a:bodyPr wrap="square" lIns="0" tIns="0" rIns="0" bIns="0" rtlCol="0" anchor="ctr"/>
          <a:lstStyle/>
          <a:p>
            <a:pPr algn="ctr" indent="0" marL="0">
              <a:buNone/>
            </a:pPr>
            <a:r>
              <a:rPr lang="en-US" sz="850" dirty="0">
                <a:solidFill>
                  <a:srgbClr val="47596B"/>
                </a:solidFill>
                <a:latin typeface="Calibri" pitchFamily="34" charset="0"/>
                <a:ea typeface="Calibri" pitchFamily="34" charset="-122"/>
                <a:cs typeface="Calibri" pitchFamily="34" charset="-120"/>
              </a:rPr>
              <a:t>A full annual report</a:t>
            </a:r>
            <a:endParaRPr lang="en-US" sz="850" dirty="0"/>
          </a:p>
        </p:txBody>
      </p:sp>
      <p:sp>
        <p:nvSpPr>
          <p:cNvPr id="43" name="Shape 41"/>
          <p:cNvSpPr/>
          <p:nvPr/>
        </p:nvSpPr>
        <p:spPr>
          <a:xfrm>
            <a:off x="3803904" y="3182112"/>
            <a:ext cx="1591056" cy="1243584"/>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4" name="Shape 42"/>
          <p:cNvSpPr/>
          <p:nvPr/>
        </p:nvSpPr>
        <p:spPr>
          <a:xfrm>
            <a:off x="3803904" y="3182112"/>
            <a:ext cx="1591056" cy="310896"/>
          </a:xfrm>
          <a:prstGeom prst="rect">
            <a:avLst/>
          </a:prstGeom>
          <a:solidFill>
            <a:srgbClr val="2E5266"/>
          </a:solidFill>
          <a:ln/>
        </p:spPr>
      </p:sp>
      <p:sp>
        <p:nvSpPr>
          <p:cNvPr id="45" name="Text 43"/>
          <p:cNvSpPr/>
          <p:nvPr/>
        </p:nvSpPr>
        <p:spPr>
          <a:xfrm>
            <a:off x="3803904" y="3200400"/>
            <a:ext cx="159105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Claude 3.5</a:t>
            </a:r>
            <a:endParaRPr lang="en-US" sz="900" dirty="0"/>
          </a:p>
        </p:txBody>
      </p:sp>
      <p:sp>
        <p:nvSpPr>
          <p:cNvPr id="46" name="Text 44"/>
          <p:cNvSpPr/>
          <p:nvPr/>
        </p:nvSpPr>
        <p:spPr>
          <a:xfrm>
            <a:off x="3803904" y="3547872"/>
            <a:ext cx="1591056" cy="384048"/>
          </a:xfrm>
          <a:prstGeom prst="rect">
            <a:avLst/>
          </a:prstGeom>
          <a:noFill/>
          <a:ln/>
        </p:spPr>
        <p:txBody>
          <a:bodyPr wrap="square" lIns="0" tIns="0" rIns="0" bIns="0" rtlCol="0" anchor="ctr"/>
          <a:lstStyle/>
          <a:p>
            <a:pPr algn="ctr" indent="0" marL="0">
              <a:buNone/>
            </a:pPr>
            <a:r>
              <a:rPr lang="en-US" sz="1800" b="1" dirty="0">
                <a:solidFill>
                  <a:srgbClr val="2E5266"/>
                </a:solidFill>
                <a:latin typeface="Calibri" pitchFamily="34" charset="0"/>
                <a:ea typeface="Calibri" pitchFamily="34" charset="-122"/>
                <a:cs typeface="Calibri" pitchFamily="34" charset="-120"/>
              </a:rPr>
              <a:t>200K</a:t>
            </a:r>
            <a:endParaRPr lang="en-US" sz="1800" dirty="0"/>
          </a:p>
        </p:txBody>
      </p:sp>
      <p:sp>
        <p:nvSpPr>
          <p:cNvPr id="47" name="Text 45"/>
          <p:cNvSpPr/>
          <p:nvPr/>
        </p:nvSpPr>
        <p:spPr>
          <a:xfrm>
            <a:off x="3858768" y="3968496"/>
            <a:ext cx="1481328" cy="402336"/>
          </a:xfrm>
          <a:prstGeom prst="rect">
            <a:avLst/>
          </a:prstGeom>
          <a:noFill/>
          <a:ln/>
        </p:spPr>
        <p:txBody>
          <a:bodyPr wrap="square" lIns="0" tIns="0" rIns="0" bIns="0" rtlCol="0" anchor="ctr"/>
          <a:lstStyle/>
          <a:p>
            <a:pPr algn="ctr" indent="0" marL="0">
              <a:buNone/>
            </a:pPr>
            <a:r>
              <a:rPr lang="en-US" sz="850" dirty="0">
                <a:solidFill>
                  <a:srgbClr val="47596B"/>
                </a:solidFill>
                <a:latin typeface="Calibri" pitchFamily="34" charset="0"/>
                <a:ea typeface="Calibri" pitchFamily="34" charset="-122"/>
                <a:cs typeface="Calibri" pitchFamily="34" charset="-120"/>
              </a:rPr>
              <a:t>A 400-page book</a:t>
            </a:r>
            <a:endParaRPr lang="en-US" sz="850" dirty="0"/>
          </a:p>
        </p:txBody>
      </p:sp>
      <p:sp>
        <p:nvSpPr>
          <p:cNvPr id="48" name="Shape 46"/>
          <p:cNvSpPr/>
          <p:nvPr/>
        </p:nvSpPr>
        <p:spPr>
          <a:xfrm>
            <a:off x="5522976" y="3182112"/>
            <a:ext cx="1591056" cy="1243584"/>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9" name="Shape 47"/>
          <p:cNvSpPr/>
          <p:nvPr/>
        </p:nvSpPr>
        <p:spPr>
          <a:xfrm>
            <a:off x="5522976" y="3182112"/>
            <a:ext cx="1591056" cy="310896"/>
          </a:xfrm>
          <a:prstGeom prst="rect">
            <a:avLst/>
          </a:prstGeom>
          <a:solidFill>
            <a:srgbClr val="2E5266"/>
          </a:solidFill>
          <a:ln/>
        </p:spPr>
      </p:sp>
      <p:sp>
        <p:nvSpPr>
          <p:cNvPr id="50" name="Text 48"/>
          <p:cNvSpPr/>
          <p:nvPr/>
        </p:nvSpPr>
        <p:spPr>
          <a:xfrm>
            <a:off x="5522976" y="3200400"/>
            <a:ext cx="159105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Gemini 1.5</a:t>
            </a:r>
            <a:endParaRPr lang="en-US" sz="900" dirty="0"/>
          </a:p>
        </p:txBody>
      </p:sp>
      <p:sp>
        <p:nvSpPr>
          <p:cNvPr id="51" name="Text 49"/>
          <p:cNvSpPr/>
          <p:nvPr/>
        </p:nvSpPr>
        <p:spPr>
          <a:xfrm>
            <a:off x="5522976" y="3547872"/>
            <a:ext cx="1591056" cy="384048"/>
          </a:xfrm>
          <a:prstGeom prst="rect">
            <a:avLst/>
          </a:prstGeom>
          <a:noFill/>
          <a:ln/>
        </p:spPr>
        <p:txBody>
          <a:bodyPr wrap="square" lIns="0" tIns="0" rIns="0" bIns="0" rtlCol="0" anchor="ctr"/>
          <a:lstStyle/>
          <a:p>
            <a:pPr algn="ctr" indent="0" marL="0">
              <a:buNone/>
            </a:pPr>
            <a:r>
              <a:rPr lang="en-US" sz="1800" b="1" dirty="0">
                <a:solidFill>
                  <a:srgbClr val="2E5266"/>
                </a:solidFill>
                <a:latin typeface="Calibri" pitchFamily="34" charset="0"/>
                <a:ea typeface="Calibri" pitchFamily="34" charset="-122"/>
                <a:cs typeface="Calibri" pitchFamily="34" charset="-120"/>
              </a:rPr>
              <a:t>1M</a:t>
            </a:r>
            <a:endParaRPr lang="en-US" sz="1800" dirty="0"/>
          </a:p>
        </p:txBody>
      </p:sp>
      <p:sp>
        <p:nvSpPr>
          <p:cNvPr id="52" name="Text 50"/>
          <p:cNvSpPr/>
          <p:nvPr/>
        </p:nvSpPr>
        <p:spPr>
          <a:xfrm>
            <a:off x="5577840" y="3968496"/>
            <a:ext cx="1481328" cy="402336"/>
          </a:xfrm>
          <a:prstGeom prst="rect">
            <a:avLst/>
          </a:prstGeom>
          <a:noFill/>
          <a:ln/>
        </p:spPr>
        <p:txBody>
          <a:bodyPr wrap="square" lIns="0" tIns="0" rIns="0" bIns="0" rtlCol="0" anchor="ctr"/>
          <a:lstStyle/>
          <a:p>
            <a:pPr algn="ctr" indent="0" marL="0">
              <a:buNone/>
            </a:pPr>
            <a:r>
              <a:rPr lang="en-US" sz="850" dirty="0">
                <a:solidFill>
                  <a:srgbClr val="47596B"/>
                </a:solidFill>
                <a:latin typeface="Calibri" pitchFamily="34" charset="0"/>
                <a:ea typeface="Calibri" pitchFamily="34" charset="-122"/>
                <a:cs typeface="Calibri" pitchFamily="34" charset="-120"/>
              </a:rPr>
              <a:t>An entire codebase</a:t>
            </a:r>
            <a:endParaRPr lang="en-US" sz="850" dirty="0"/>
          </a:p>
        </p:txBody>
      </p:sp>
      <p:sp>
        <p:nvSpPr>
          <p:cNvPr id="53" name="Shape 51"/>
          <p:cNvSpPr/>
          <p:nvPr/>
        </p:nvSpPr>
        <p:spPr>
          <a:xfrm>
            <a:off x="7242048" y="3182112"/>
            <a:ext cx="1591056" cy="1243584"/>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54" name="Shape 52"/>
          <p:cNvSpPr/>
          <p:nvPr/>
        </p:nvSpPr>
        <p:spPr>
          <a:xfrm>
            <a:off x="7242048" y="3182112"/>
            <a:ext cx="1591056" cy="310896"/>
          </a:xfrm>
          <a:prstGeom prst="rect">
            <a:avLst/>
          </a:prstGeom>
          <a:solidFill>
            <a:srgbClr val="2E5266"/>
          </a:solidFill>
          <a:ln/>
        </p:spPr>
      </p:sp>
      <p:sp>
        <p:nvSpPr>
          <p:cNvPr id="55" name="Text 53"/>
          <p:cNvSpPr/>
          <p:nvPr/>
        </p:nvSpPr>
        <p:spPr>
          <a:xfrm>
            <a:off x="7242048" y="3200400"/>
            <a:ext cx="1591056"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Gemini 2.0</a:t>
            </a:r>
            <a:endParaRPr lang="en-US" sz="900" dirty="0"/>
          </a:p>
        </p:txBody>
      </p:sp>
      <p:sp>
        <p:nvSpPr>
          <p:cNvPr id="56" name="Text 54"/>
          <p:cNvSpPr/>
          <p:nvPr/>
        </p:nvSpPr>
        <p:spPr>
          <a:xfrm>
            <a:off x="7242048" y="3547872"/>
            <a:ext cx="1591056" cy="384048"/>
          </a:xfrm>
          <a:prstGeom prst="rect">
            <a:avLst/>
          </a:prstGeom>
          <a:noFill/>
          <a:ln/>
        </p:spPr>
        <p:txBody>
          <a:bodyPr wrap="square" lIns="0" tIns="0" rIns="0" bIns="0" rtlCol="0" anchor="ctr"/>
          <a:lstStyle/>
          <a:p>
            <a:pPr algn="ctr" indent="0" marL="0">
              <a:buNone/>
            </a:pPr>
            <a:r>
              <a:rPr lang="en-US" sz="1800" b="1" dirty="0">
                <a:solidFill>
                  <a:srgbClr val="2E5266"/>
                </a:solidFill>
                <a:latin typeface="Calibri" pitchFamily="34" charset="0"/>
                <a:ea typeface="Calibri" pitchFamily="34" charset="-122"/>
                <a:cs typeface="Calibri" pitchFamily="34" charset="-120"/>
              </a:rPr>
              <a:t>2M+</a:t>
            </a:r>
            <a:endParaRPr lang="en-US" sz="1800" dirty="0"/>
          </a:p>
        </p:txBody>
      </p:sp>
      <p:sp>
        <p:nvSpPr>
          <p:cNvPr id="57" name="Text 55"/>
          <p:cNvSpPr/>
          <p:nvPr/>
        </p:nvSpPr>
        <p:spPr>
          <a:xfrm>
            <a:off x="7296912" y="3968496"/>
            <a:ext cx="1481328" cy="402336"/>
          </a:xfrm>
          <a:prstGeom prst="rect">
            <a:avLst/>
          </a:prstGeom>
          <a:noFill/>
          <a:ln/>
        </p:spPr>
        <p:txBody>
          <a:bodyPr wrap="square" lIns="0" tIns="0" rIns="0" bIns="0" rtlCol="0" anchor="ctr"/>
          <a:lstStyle/>
          <a:p>
            <a:pPr algn="ctr" indent="0" marL="0">
              <a:buNone/>
            </a:pPr>
            <a:r>
              <a:rPr lang="en-US" sz="850" dirty="0">
                <a:solidFill>
                  <a:srgbClr val="47596B"/>
                </a:solidFill>
                <a:latin typeface="Calibri" pitchFamily="34" charset="0"/>
                <a:ea typeface="Calibri" pitchFamily="34" charset="-122"/>
                <a:cs typeface="Calibri" pitchFamily="34" charset="-120"/>
              </a:rPr>
              <a:t>A year of meetings</a:t>
            </a:r>
            <a:endParaRPr lang="en-US" sz="850" dirty="0"/>
          </a:p>
        </p:txBody>
      </p:sp>
      <p:sp>
        <p:nvSpPr>
          <p:cNvPr id="58" name="Shape 56"/>
          <p:cNvSpPr/>
          <p:nvPr/>
        </p:nvSpPr>
        <p:spPr>
          <a:xfrm>
            <a:off x="365760" y="4572000"/>
            <a:ext cx="8412480" cy="457200"/>
          </a:xfrm>
          <a:prstGeom prst="rect">
            <a:avLst/>
          </a:prstGeom>
          <a:solidFill>
            <a:srgbClr val="EDF1F7"/>
          </a:solidFill>
          <a:ln/>
        </p:spPr>
      </p:sp>
      <p:sp>
        <p:nvSpPr>
          <p:cNvPr id="59" name="Shape 57"/>
          <p:cNvSpPr/>
          <p:nvPr/>
        </p:nvSpPr>
        <p:spPr>
          <a:xfrm>
            <a:off x="365760" y="4572000"/>
            <a:ext cx="36576" cy="457200"/>
          </a:xfrm>
          <a:prstGeom prst="rect">
            <a:avLst/>
          </a:prstGeom>
          <a:solidFill>
            <a:srgbClr val="B8860B"/>
          </a:solidFill>
          <a:ln/>
        </p:spPr>
      </p:sp>
      <p:sp>
        <p:nvSpPr>
          <p:cNvPr id="60" name="Text 58"/>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61" name="Text 59"/>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Bigger context = AI can analyse your whole contract library, a year of emails, or an entire codebase in one go. This unlocks entirely new enterprise use cases.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2E5266"/>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02</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HOW LLMs ARE TRAINED — THE FOUR-STAGE PIPELINE</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Training a Medical Specialist</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Stage 1: read every medical textbook. Stage 2: supervised residency with expert feedback. Stage 3: rated by patients and senior doctors. Stage 4: learn the hospital's ethics. Result: a brilliant doctor who follows your principles.</a:t>
            </a:r>
            <a:endParaRPr lang="en-US" sz="1000" dirty="0"/>
          </a:p>
        </p:txBody>
      </p:sp>
      <p:sp>
        <p:nvSpPr>
          <p:cNvPr id="11" name="Shape 9"/>
          <p:cNvSpPr/>
          <p:nvPr/>
        </p:nvSpPr>
        <p:spPr>
          <a:xfrm>
            <a:off x="365760" y="1847088"/>
            <a:ext cx="1975104" cy="279806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1975104" cy="512064"/>
          </a:xfrm>
          <a:prstGeom prst="rect">
            <a:avLst/>
          </a:prstGeom>
          <a:solidFill>
            <a:srgbClr val="2E5266"/>
          </a:solidFill>
          <a:ln/>
        </p:spPr>
      </p:sp>
      <p:sp>
        <p:nvSpPr>
          <p:cNvPr id="13" name="Text 11"/>
          <p:cNvSpPr/>
          <p:nvPr/>
        </p:nvSpPr>
        <p:spPr>
          <a:xfrm>
            <a:off x="457200" y="1883664"/>
            <a:ext cx="1828800" cy="182880"/>
          </a:xfrm>
          <a:prstGeom prst="rect">
            <a:avLst/>
          </a:prstGeom>
          <a:noFill/>
          <a:ln/>
        </p:spPr>
        <p:txBody>
          <a:bodyPr wrap="square" lIns="0" tIns="0" rIns="0" bIns="0" rtlCol="0" anchor="ctr"/>
          <a:lstStyle/>
          <a:p>
            <a:pPr indent="0" marL="0">
              <a:buNone/>
            </a:pPr>
            <a:r>
              <a:rPr lang="en-US" sz="750" b="1" spc="200" kern="0" dirty="0">
                <a:solidFill>
                  <a:srgbClr val="B8860B"/>
                </a:solidFill>
                <a:latin typeface="Calibri" pitchFamily="34" charset="0"/>
                <a:ea typeface="Calibri" pitchFamily="34" charset="-122"/>
                <a:cs typeface="Calibri" pitchFamily="34" charset="-120"/>
              </a:rPr>
              <a:t>STAGE 1</a:t>
            </a:r>
            <a:endParaRPr lang="en-US" sz="750" dirty="0"/>
          </a:p>
        </p:txBody>
      </p:sp>
      <p:sp>
        <p:nvSpPr>
          <p:cNvPr id="14" name="Text 12"/>
          <p:cNvSpPr/>
          <p:nvPr/>
        </p:nvSpPr>
        <p:spPr>
          <a:xfrm>
            <a:off x="457200" y="2066544"/>
            <a:ext cx="182880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PRE-TRAINING</a:t>
            </a:r>
            <a:endParaRPr lang="en-US" sz="1050" dirty="0"/>
          </a:p>
        </p:txBody>
      </p:sp>
      <p:sp>
        <p:nvSpPr>
          <p:cNvPr id="15" name="Shape 13"/>
          <p:cNvSpPr/>
          <p:nvPr/>
        </p:nvSpPr>
        <p:spPr>
          <a:xfrm>
            <a:off x="365760" y="2359152"/>
            <a:ext cx="1975104" cy="201168"/>
          </a:xfrm>
          <a:prstGeom prst="rect">
            <a:avLst/>
          </a:prstGeom>
          <a:solidFill>
            <a:srgbClr val="2E5266">
              <a:alpha val="25000"/>
            </a:srgbClr>
          </a:solidFill>
          <a:ln/>
        </p:spPr>
      </p:sp>
      <p:sp>
        <p:nvSpPr>
          <p:cNvPr id="16" name="Text 14"/>
          <p:cNvSpPr/>
          <p:nvPr/>
        </p:nvSpPr>
        <p:spPr>
          <a:xfrm>
            <a:off x="365760" y="2377440"/>
            <a:ext cx="1975104" cy="164592"/>
          </a:xfrm>
          <a:prstGeom prst="rect">
            <a:avLst/>
          </a:prstGeom>
          <a:noFill/>
          <a:ln/>
        </p:spPr>
        <p:txBody>
          <a:bodyPr wrap="square" lIns="0" tIns="0" rIns="0" bIns="0" rtlCol="0" anchor="ctr"/>
          <a:lstStyle/>
          <a:p>
            <a:pPr algn="ctr" indent="0" marL="0">
              <a:buNone/>
            </a:pPr>
            <a:r>
              <a:rPr lang="en-US" sz="800" i="1" dirty="0">
                <a:solidFill>
                  <a:srgbClr val="FFFFFF"/>
                </a:solidFill>
                <a:latin typeface="Calibri" pitchFamily="34" charset="0"/>
                <a:ea typeface="Calibri" pitchFamily="34" charset="-122"/>
                <a:cs typeface="Calibri" pitchFamily="34" charset="-120"/>
              </a:rPr>
              <a:t>The Foundation</a:t>
            </a:r>
            <a:endParaRPr lang="en-US" sz="800" dirty="0"/>
          </a:p>
        </p:txBody>
      </p:sp>
      <p:sp>
        <p:nvSpPr>
          <p:cNvPr id="17" name="Text 15"/>
          <p:cNvSpPr/>
          <p:nvPr/>
        </p:nvSpPr>
        <p:spPr>
          <a:xfrm>
            <a:off x="457200" y="2633472"/>
            <a:ext cx="1828800" cy="8229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Model reads trillions of tokens. Learns by predicting next word, billions of times.</a:t>
            </a:r>
            <a:endParaRPr lang="en-US" sz="850" dirty="0"/>
          </a:p>
        </p:txBody>
      </p:sp>
      <p:sp>
        <p:nvSpPr>
          <p:cNvPr id="18" name="Shape 16"/>
          <p:cNvSpPr/>
          <p:nvPr/>
        </p:nvSpPr>
        <p:spPr>
          <a:xfrm>
            <a:off x="457200" y="3511296"/>
            <a:ext cx="1828800" cy="457200"/>
          </a:xfrm>
          <a:prstGeom prst="rect">
            <a:avLst/>
          </a:prstGeom>
          <a:solidFill>
            <a:srgbClr val="F4E4BC"/>
          </a:solidFill>
          <a:ln/>
        </p:spPr>
      </p:sp>
      <p:sp>
        <p:nvSpPr>
          <p:cNvPr id="19" name="Text 17"/>
          <p:cNvSpPr/>
          <p:nvPr/>
        </p:nvSpPr>
        <p:spPr>
          <a:xfrm>
            <a:off x="493776" y="3529584"/>
            <a:ext cx="1755648" cy="42062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GPT-4 trained on ~13 trillion tokens — more than a human could read in lifetimes</a:t>
            </a:r>
            <a:endParaRPr lang="en-US" sz="700" dirty="0"/>
          </a:p>
        </p:txBody>
      </p:sp>
      <p:sp>
        <p:nvSpPr>
          <p:cNvPr id="20" name="Shape 18"/>
          <p:cNvSpPr/>
          <p:nvPr/>
        </p:nvSpPr>
        <p:spPr>
          <a:xfrm>
            <a:off x="457200" y="4023360"/>
            <a:ext cx="1828800" cy="548640"/>
          </a:xfrm>
          <a:prstGeom prst="rect">
            <a:avLst/>
          </a:prstGeom>
          <a:solidFill>
            <a:srgbClr val="EDF1F7"/>
          </a:solidFill>
          <a:ln/>
        </p:spPr>
      </p:sp>
      <p:sp>
        <p:nvSpPr>
          <p:cNvPr id="21" name="Text 19"/>
          <p:cNvSpPr/>
          <p:nvPr/>
        </p:nvSpPr>
        <p:spPr>
          <a:xfrm>
            <a:off x="457200" y="4041648"/>
            <a:ext cx="1828800" cy="292608"/>
          </a:xfrm>
          <a:prstGeom prst="rect">
            <a:avLst/>
          </a:prstGeom>
          <a:noFill/>
          <a:ln/>
        </p:spPr>
        <p:txBody>
          <a:bodyPr wrap="square" lIns="0" tIns="0" rIns="0" bIns="0" rtlCol="0" anchor="ctr"/>
          <a:lstStyle/>
          <a:p>
            <a:pPr algn="ctr" indent="0" marL="0">
              <a:buNone/>
            </a:pPr>
            <a:r>
              <a:rPr lang="en-US" sz="1400" b="1" dirty="0">
                <a:solidFill>
                  <a:srgbClr val="2E5266"/>
                </a:solidFill>
                <a:latin typeface="Calibri" pitchFamily="34" charset="0"/>
                <a:ea typeface="Calibri" pitchFamily="34" charset="-122"/>
                <a:cs typeface="Calibri" pitchFamily="34" charset="-120"/>
              </a:rPr>
              <a:t>$10–100M+</a:t>
            </a:r>
            <a:endParaRPr lang="en-US" sz="1400" dirty="0"/>
          </a:p>
        </p:txBody>
      </p:sp>
      <p:sp>
        <p:nvSpPr>
          <p:cNvPr id="22" name="Text 20"/>
          <p:cNvSpPr/>
          <p:nvPr/>
        </p:nvSpPr>
        <p:spPr>
          <a:xfrm>
            <a:off x="457200" y="4334256"/>
            <a:ext cx="1828800" cy="201168"/>
          </a:xfrm>
          <a:prstGeom prst="rect">
            <a:avLst/>
          </a:prstGeom>
          <a:noFill/>
          <a:ln/>
        </p:spPr>
        <p:txBody>
          <a:bodyPr wrap="square" lIns="0" tIns="0" rIns="0" bIns="0" rtlCol="0" anchor="ctr"/>
          <a:lstStyle/>
          <a:p>
            <a:pPr algn="ctr" indent="0" marL="0">
              <a:buNone/>
            </a:pPr>
            <a:r>
              <a:rPr lang="en-US" sz="750" dirty="0">
                <a:solidFill>
                  <a:srgbClr val="47596B"/>
                </a:solidFill>
                <a:latin typeface="Calibri" pitchFamily="34" charset="0"/>
                <a:ea typeface="Calibri" pitchFamily="34" charset="-122"/>
                <a:cs typeface="Calibri" pitchFamily="34" charset="-120"/>
              </a:rPr>
              <a:t>frontier model cost</a:t>
            </a:r>
            <a:endParaRPr lang="en-US" sz="750" dirty="0"/>
          </a:p>
        </p:txBody>
      </p:sp>
      <p:sp>
        <p:nvSpPr>
          <p:cNvPr id="23" name="Shape 21"/>
          <p:cNvSpPr/>
          <p:nvPr/>
        </p:nvSpPr>
        <p:spPr>
          <a:xfrm>
            <a:off x="2487168" y="1847088"/>
            <a:ext cx="1975104" cy="279806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4" name="Shape 22"/>
          <p:cNvSpPr/>
          <p:nvPr/>
        </p:nvSpPr>
        <p:spPr>
          <a:xfrm>
            <a:off x="2487168" y="1847088"/>
            <a:ext cx="1975104" cy="512064"/>
          </a:xfrm>
          <a:prstGeom prst="rect">
            <a:avLst/>
          </a:prstGeom>
          <a:solidFill>
            <a:srgbClr val="2E5266"/>
          </a:solidFill>
          <a:ln/>
        </p:spPr>
      </p:sp>
      <p:sp>
        <p:nvSpPr>
          <p:cNvPr id="25" name="Text 23"/>
          <p:cNvSpPr/>
          <p:nvPr/>
        </p:nvSpPr>
        <p:spPr>
          <a:xfrm>
            <a:off x="2578608" y="1883664"/>
            <a:ext cx="1828800" cy="182880"/>
          </a:xfrm>
          <a:prstGeom prst="rect">
            <a:avLst/>
          </a:prstGeom>
          <a:noFill/>
          <a:ln/>
        </p:spPr>
        <p:txBody>
          <a:bodyPr wrap="square" lIns="0" tIns="0" rIns="0" bIns="0" rtlCol="0" anchor="ctr"/>
          <a:lstStyle/>
          <a:p>
            <a:pPr indent="0" marL="0">
              <a:buNone/>
            </a:pPr>
            <a:r>
              <a:rPr lang="en-US" sz="750" b="1" spc="200" kern="0" dirty="0">
                <a:solidFill>
                  <a:srgbClr val="B8860B"/>
                </a:solidFill>
                <a:latin typeface="Calibri" pitchFamily="34" charset="0"/>
                <a:ea typeface="Calibri" pitchFamily="34" charset="-122"/>
                <a:cs typeface="Calibri" pitchFamily="34" charset="-120"/>
              </a:rPr>
              <a:t>STAGE 2</a:t>
            </a:r>
            <a:endParaRPr lang="en-US" sz="750" dirty="0"/>
          </a:p>
        </p:txBody>
      </p:sp>
      <p:sp>
        <p:nvSpPr>
          <p:cNvPr id="26" name="Text 24"/>
          <p:cNvSpPr/>
          <p:nvPr/>
        </p:nvSpPr>
        <p:spPr>
          <a:xfrm>
            <a:off x="2578608" y="2066544"/>
            <a:ext cx="182880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FINE-TUNING</a:t>
            </a:r>
            <a:endParaRPr lang="en-US" sz="1050" dirty="0"/>
          </a:p>
        </p:txBody>
      </p:sp>
      <p:sp>
        <p:nvSpPr>
          <p:cNvPr id="27" name="Shape 25"/>
          <p:cNvSpPr/>
          <p:nvPr/>
        </p:nvSpPr>
        <p:spPr>
          <a:xfrm>
            <a:off x="2487168" y="2359152"/>
            <a:ext cx="1975104" cy="201168"/>
          </a:xfrm>
          <a:prstGeom prst="rect">
            <a:avLst/>
          </a:prstGeom>
          <a:solidFill>
            <a:srgbClr val="2E5266">
              <a:alpha val="25000"/>
            </a:srgbClr>
          </a:solidFill>
          <a:ln/>
        </p:spPr>
      </p:sp>
      <p:sp>
        <p:nvSpPr>
          <p:cNvPr id="28" name="Text 26"/>
          <p:cNvSpPr/>
          <p:nvPr/>
        </p:nvSpPr>
        <p:spPr>
          <a:xfrm>
            <a:off x="2487168" y="2377440"/>
            <a:ext cx="1975104" cy="164592"/>
          </a:xfrm>
          <a:prstGeom prst="rect">
            <a:avLst/>
          </a:prstGeom>
          <a:noFill/>
          <a:ln/>
        </p:spPr>
        <p:txBody>
          <a:bodyPr wrap="square" lIns="0" tIns="0" rIns="0" bIns="0" rtlCol="0" anchor="ctr"/>
          <a:lstStyle/>
          <a:p>
            <a:pPr algn="ctr" indent="0" marL="0">
              <a:buNone/>
            </a:pPr>
            <a:r>
              <a:rPr lang="en-US" sz="800" i="1" dirty="0">
                <a:solidFill>
                  <a:srgbClr val="FFFFFF"/>
                </a:solidFill>
                <a:latin typeface="Calibri" pitchFamily="34" charset="0"/>
                <a:ea typeface="Calibri" pitchFamily="34" charset="-122"/>
                <a:cs typeface="Calibri" pitchFamily="34" charset="-120"/>
              </a:rPr>
              <a:t>Teaching Instructions</a:t>
            </a:r>
            <a:endParaRPr lang="en-US" sz="800" dirty="0"/>
          </a:p>
        </p:txBody>
      </p:sp>
      <p:sp>
        <p:nvSpPr>
          <p:cNvPr id="29" name="Text 27"/>
          <p:cNvSpPr/>
          <p:nvPr/>
        </p:nvSpPr>
        <p:spPr>
          <a:xfrm>
            <a:off x="2578608" y="2633472"/>
            <a:ext cx="1828800" cy="8229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Human experts write prompt-answer pairs. Model learns to follow instructions helpfully.</a:t>
            </a:r>
            <a:endParaRPr lang="en-US" sz="850" dirty="0"/>
          </a:p>
        </p:txBody>
      </p:sp>
      <p:sp>
        <p:nvSpPr>
          <p:cNvPr id="30" name="Shape 28"/>
          <p:cNvSpPr/>
          <p:nvPr/>
        </p:nvSpPr>
        <p:spPr>
          <a:xfrm>
            <a:off x="2578608" y="3511296"/>
            <a:ext cx="1828800" cy="457200"/>
          </a:xfrm>
          <a:prstGeom prst="rect">
            <a:avLst/>
          </a:prstGeom>
          <a:solidFill>
            <a:srgbClr val="F4E4BC"/>
          </a:solidFill>
          <a:ln/>
        </p:spPr>
      </p:sp>
      <p:sp>
        <p:nvSpPr>
          <p:cNvPr id="31" name="Text 29"/>
          <p:cNvSpPr/>
          <p:nvPr/>
        </p:nvSpPr>
        <p:spPr>
          <a:xfrm>
            <a:off x="2615184" y="3529584"/>
            <a:ext cx="1755648" cy="42062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OpenAI had contractors write 100,000+ ideal conversations for ChatGPT</a:t>
            </a:r>
            <a:endParaRPr lang="en-US" sz="700" dirty="0"/>
          </a:p>
        </p:txBody>
      </p:sp>
      <p:sp>
        <p:nvSpPr>
          <p:cNvPr id="32" name="Shape 30"/>
          <p:cNvSpPr/>
          <p:nvPr/>
        </p:nvSpPr>
        <p:spPr>
          <a:xfrm>
            <a:off x="2578608" y="4023360"/>
            <a:ext cx="1828800" cy="548640"/>
          </a:xfrm>
          <a:prstGeom prst="rect">
            <a:avLst/>
          </a:prstGeom>
          <a:solidFill>
            <a:srgbClr val="EDF1F7"/>
          </a:solidFill>
          <a:ln/>
        </p:spPr>
      </p:sp>
      <p:sp>
        <p:nvSpPr>
          <p:cNvPr id="33" name="Text 31"/>
          <p:cNvSpPr/>
          <p:nvPr/>
        </p:nvSpPr>
        <p:spPr>
          <a:xfrm>
            <a:off x="2578608" y="4041648"/>
            <a:ext cx="1828800" cy="292608"/>
          </a:xfrm>
          <a:prstGeom prst="rect">
            <a:avLst/>
          </a:prstGeom>
          <a:noFill/>
          <a:ln/>
        </p:spPr>
        <p:txBody>
          <a:bodyPr wrap="square" lIns="0" tIns="0" rIns="0" bIns="0" rtlCol="0" anchor="ctr"/>
          <a:lstStyle/>
          <a:p>
            <a:pPr algn="ctr" indent="0" marL="0">
              <a:buNone/>
            </a:pPr>
            <a:r>
              <a:rPr lang="en-US" sz="1400" b="1" dirty="0">
                <a:solidFill>
                  <a:srgbClr val="2E5266"/>
                </a:solidFill>
                <a:latin typeface="Calibri" pitchFamily="34" charset="0"/>
                <a:ea typeface="Calibri" pitchFamily="34" charset="-122"/>
                <a:cs typeface="Calibri" pitchFamily="34" charset="-120"/>
              </a:rPr>
              <a:t>~100K</a:t>
            </a:r>
            <a:endParaRPr lang="en-US" sz="1400" dirty="0"/>
          </a:p>
        </p:txBody>
      </p:sp>
      <p:sp>
        <p:nvSpPr>
          <p:cNvPr id="34" name="Text 32"/>
          <p:cNvSpPr/>
          <p:nvPr/>
        </p:nvSpPr>
        <p:spPr>
          <a:xfrm>
            <a:off x="2578608" y="4334256"/>
            <a:ext cx="1828800" cy="201168"/>
          </a:xfrm>
          <a:prstGeom prst="rect">
            <a:avLst/>
          </a:prstGeom>
          <a:noFill/>
          <a:ln/>
        </p:spPr>
        <p:txBody>
          <a:bodyPr wrap="square" lIns="0" tIns="0" rIns="0" bIns="0" rtlCol="0" anchor="ctr"/>
          <a:lstStyle/>
          <a:p>
            <a:pPr algn="ctr" indent="0" marL="0">
              <a:buNone/>
            </a:pPr>
            <a:r>
              <a:rPr lang="en-US" sz="750" dirty="0">
                <a:solidFill>
                  <a:srgbClr val="47596B"/>
                </a:solidFill>
                <a:latin typeface="Calibri" pitchFamily="34" charset="0"/>
                <a:ea typeface="Calibri" pitchFamily="34" charset="-122"/>
                <a:cs typeface="Calibri" pitchFamily="34" charset="-120"/>
              </a:rPr>
              <a:t>curated examples</a:t>
            </a:r>
            <a:endParaRPr lang="en-US" sz="750" dirty="0"/>
          </a:p>
        </p:txBody>
      </p:sp>
      <p:sp>
        <p:nvSpPr>
          <p:cNvPr id="35" name="Shape 33"/>
          <p:cNvSpPr/>
          <p:nvPr/>
        </p:nvSpPr>
        <p:spPr>
          <a:xfrm>
            <a:off x="4608576" y="1847088"/>
            <a:ext cx="1975104" cy="279806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6" name="Shape 34"/>
          <p:cNvSpPr/>
          <p:nvPr/>
        </p:nvSpPr>
        <p:spPr>
          <a:xfrm>
            <a:off x="4608576" y="1847088"/>
            <a:ext cx="1975104" cy="512064"/>
          </a:xfrm>
          <a:prstGeom prst="rect">
            <a:avLst/>
          </a:prstGeom>
          <a:solidFill>
            <a:srgbClr val="2E5266"/>
          </a:solidFill>
          <a:ln/>
        </p:spPr>
      </p:sp>
      <p:sp>
        <p:nvSpPr>
          <p:cNvPr id="37" name="Text 35"/>
          <p:cNvSpPr/>
          <p:nvPr/>
        </p:nvSpPr>
        <p:spPr>
          <a:xfrm>
            <a:off x="4700016" y="1883664"/>
            <a:ext cx="1828800" cy="182880"/>
          </a:xfrm>
          <a:prstGeom prst="rect">
            <a:avLst/>
          </a:prstGeom>
          <a:noFill/>
          <a:ln/>
        </p:spPr>
        <p:txBody>
          <a:bodyPr wrap="square" lIns="0" tIns="0" rIns="0" bIns="0" rtlCol="0" anchor="ctr"/>
          <a:lstStyle/>
          <a:p>
            <a:pPr indent="0" marL="0">
              <a:buNone/>
            </a:pPr>
            <a:r>
              <a:rPr lang="en-US" sz="750" b="1" spc="200" kern="0" dirty="0">
                <a:solidFill>
                  <a:srgbClr val="B8860B"/>
                </a:solidFill>
                <a:latin typeface="Calibri" pitchFamily="34" charset="0"/>
                <a:ea typeface="Calibri" pitchFamily="34" charset="-122"/>
                <a:cs typeface="Calibri" pitchFamily="34" charset="-120"/>
              </a:rPr>
              <a:t>STAGE 3</a:t>
            </a:r>
            <a:endParaRPr lang="en-US" sz="750" dirty="0"/>
          </a:p>
        </p:txBody>
      </p:sp>
      <p:sp>
        <p:nvSpPr>
          <p:cNvPr id="38" name="Text 36"/>
          <p:cNvSpPr/>
          <p:nvPr/>
        </p:nvSpPr>
        <p:spPr>
          <a:xfrm>
            <a:off x="4700016" y="2066544"/>
            <a:ext cx="182880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RLHF</a:t>
            </a:r>
            <a:endParaRPr lang="en-US" sz="1050" dirty="0"/>
          </a:p>
        </p:txBody>
      </p:sp>
      <p:sp>
        <p:nvSpPr>
          <p:cNvPr id="39" name="Shape 37"/>
          <p:cNvSpPr/>
          <p:nvPr/>
        </p:nvSpPr>
        <p:spPr>
          <a:xfrm>
            <a:off x="4608576" y="2359152"/>
            <a:ext cx="1975104" cy="201168"/>
          </a:xfrm>
          <a:prstGeom prst="rect">
            <a:avLst/>
          </a:prstGeom>
          <a:solidFill>
            <a:srgbClr val="2E5266">
              <a:alpha val="25000"/>
            </a:srgbClr>
          </a:solidFill>
          <a:ln/>
        </p:spPr>
      </p:sp>
      <p:sp>
        <p:nvSpPr>
          <p:cNvPr id="40" name="Text 38"/>
          <p:cNvSpPr/>
          <p:nvPr/>
        </p:nvSpPr>
        <p:spPr>
          <a:xfrm>
            <a:off x="4608576" y="2377440"/>
            <a:ext cx="1975104" cy="164592"/>
          </a:xfrm>
          <a:prstGeom prst="rect">
            <a:avLst/>
          </a:prstGeom>
          <a:noFill/>
          <a:ln/>
        </p:spPr>
        <p:txBody>
          <a:bodyPr wrap="square" lIns="0" tIns="0" rIns="0" bIns="0" rtlCol="0" anchor="ctr"/>
          <a:lstStyle/>
          <a:p>
            <a:pPr algn="ctr" indent="0" marL="0">
              <a:buNone/>
            </a:pPr>
            <a:r>
              <a:rPr lang="en-US" sz="800" i="1" dirty="0">
                <a:solidFill>
                  <a:srgbClr val="FFFFFF"/>
                </a:solidFill>
                <a:latin typeface="Calibri" pitchFamily="34" charset="0"/>
                <a:ea typeface="Calibri" pitchFamily="34" charset="-122"/>
                <a:cs typeface="Calibri" pitchFamily="34" charset="-120"/>
              </a:rPr>
              <a:t>Human Feedback</a:t>
            </a:r>
            <a:endParaRPr lang="en-US" sz="800" dirty="0"/>
          </a:p>
        </p:txBody>
      </p:sp>
      <p:sp>
        <p:nvSpPr>
          <p:cNvPr id="41" name="Text 39"/>
          <p:cNvSpPr/>
          <p:nvPr/>
        </p:nvSpPr>
        <p:spPr>
          <a:xfrm>
            <a:off x="4700016" y="2633472"/>
            <a:ext cx="1828800" cy="8229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Raters compare and rank responses. Reward model learns preferences. LLM trained to maximise.</a:t>
            </a:r>
            <a:endParaRPr lang="en-US" sz="850" dirty="0"/>
          </a:p>
        </p:txBody>
      </p:sp>
      <p:sp>
        <p:nvSpPr>
          <p:cNvPr id="42" name="Shape 40"/>
          <p:cNvSpPr/>
          <p:nvPr/>
        </p:nvSpPr>
        <p:spPr>
          <a:xfrm>
            <a:off x="4700016" y="3511296"/>
            <a:ext cx="1828800" cy="457200"/>
          </a:xfrm>
          <a:prstGeom prst="rect">
            <a:avLst/>
          </a:prstGeom>
          <a:solidFill>
            <a:srgbClr val="F4E4BC"/>
          </a:solidFill>
          <a:ln/>
        </p:spPr>
      </p:sp>
      <p:sp>
        <p:nvSpPr>
          <p:cNvPr id="43" name="Text 41"/>
          <p:cNvSpPr/>
          <p:nvPr/>
        </p:nvSpPr>
        <p:spPr>
          <a:xfrm>
            <a:off x="4736592" y="3529584"/>
            <a:ext cx="1755648" cy="42062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Raters chose: "Great question!" vs direct answer — RLHF learned humans prefer directness</a:t>
            </a:r>
            <a:endParaRPr lang="en-US" sz="700" dirty="0"/>
          </a:p>
        </p:txBody>
      </p:sp>
      <p:sp>
        <p:nvSpPr>
          <p:cNvPr id="44" name="Shape 42"/>
          <p:cNvSpPr/>
          <p:nvPr/>
        </p:nvSpPr>
        <p:spPr>
          <a:xfrm>
            <a:off x="4700016" y="4023360"/>
            <a:ext cx="1828800" cy="548640"/>
          </a:xfrm>
          <a:prstGeom prst="rect">
            <a:avLst/>
          </a:prstGeom>
          <a:solidFill>
            <a:srgbClr val="EDF1F7"/>
          </a:solidFill>
          <a:ln/>
        </p:spPr>
      </p:sp>
      <p:sp>
        <p:nvSpPr>
          <p:cNvPr id="45" name="Text 43"/>
          <p:cNvSpPr/>
          <p:nvPr/>
        </p:nvSpPr>
        <p:spPr>
          <a:xfrm>
            <a:off x="4700016" y="4041648"/>
            <a:ext cx="1828800" cy="292608"/>
          </a:xfrm>
          <a:prstGeom prst="rect">
            <a:avLst/>
          </a:prstGeom>
          <a:noFill/>
          <a:ln/>
        </p:spPr>
        <p:txBody>
          <a:bodyPr wrap="square" lIns="0" tIns="0" rIns="0" bIns="0" rtlCol="0" anchor="ctr"/>
          <a:lstStyle/>
          <a:p>
            <a:pPr algn="ctr" indent="0" marL="0">
              <a:buNone/>
            </a:pPr>
            <a:r>
              <a:rPr lang="en-US" sz="1400" b="1" dirty="0">
                <a:solidFill>
                  <a:srgbClr val="2E5266"/>
                </a:solidFill>
                <a:latin typeface="Calibri" pitchFamily="34" charset="0"/>
                <a:ea typeface="Calibri" pitchFamily="34" charset="-122"/>
                <a:cs typeface="Calibri" pitchFamily="34" charset="-120"/>
              </a:rPr>
              <a:t>Weeks</a:t>
            </a:r>
            <a:endParaRPr lang="en-US" sz="1400" dirty="0"/>
          </a:p>
        </p:txBody>
      </p:sp>
      <p:sp>
        <p:nvSpPr>
          <p:cNvPr id="46" name="Text 44"/>
          <p:cNvSpPr/>
          <p:nvPr/>
        </p:nvSpPr>
        <p:spPr>
          <a:xfrm>
            <a:off x="4700016" y="4334256"/>
            <a:ext cx="1828800" cy="201168"/>
          </a:xfrm>
          <a:prstGeom prst="rect">
            <a:avLst/>
          </a:prstGeom>
          <a:noFill/>
          <a:ln/>
        </p:spPr>
        <p:txBody>
          <a:bodyPr wrap="square" lIns="0" tIns="0" rIns="0" bIns="0" rtlCol="0" anchor="ctr"/>
          <a:lstStyle/>
          <a:p>
            <a:pPr algn="ctr" indent="0" marL="0">
              <a:buNone/>
            </a:pPr>
            <a:r>
              <a:rPr lang="en-US" sz="750" dirty="0">
                <a:solidFill>
                  <a:srgbClr val="47596B"/>
                </a:solidFill>
                <a:latin typeface="Calibri" pitchFamily="34" charset="0"/>
                <a:ea typeface="Calibri" pitchFamily="34" charset="-122"/>
                <a:cs typeface="Calibri" pitchFamily="34" charset="-120"/>
              </a:rPr>
              <a:t>of human rating</a:t>
            </a:r>
            <a:endParaRPr lang="en-US" sz="750" dirty="0"/>
          </a:p>
        </p:txBody>
      </p:sp>
      <p:sp>
        <p:nvSpPr>
          <p:cNvPr id="47" name="Shape 45"/>
          <p:cNvSpPr/>
          <p:nvPr/>
        </p:nvSpPr>
        <p:spPr>
          <a:xfrm>
            <a:off x="6729984" y="1847088"/>
            <a:ext cx="1975104" cy="279806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8" name="Shape 46"/>
          <p:cNvSpPr/>
          <p:nvPr/>
        </p:nvSpPr>
        <p:spPr>
          <a:xfrm>
            <a:off x="6729984" y="1847088"/>
            <a:ext cx="1975104" cy="512064"/>
          </a:xfrm>
          <a:prstGeom prst="rect">
            <a:avLst/>
          </a:prstGeom>
          <a:solidFill>
            <a:srgbClr val="2E5266"/>
          </a:solidFill>
          <a:ln/>
        </p:spPr>
      </p:sp>
      <p:sp>
        <p:nvSpPr>
          <p:cNvPr id="49" name="Text 47"/>
          <p:cNvSpPr/>
          <p:nvPr/>
        </p:nvSpPr>
        <p:spPr>
          <a:xfrm>
            <a:off x="6821424" y="1883664"/>
            <a:ext cx="1828800" cy="182880"/>
          </a:xfrm>
          <a:prstGeom prst="rect">
            <a:avLst/>
          </a:prstGeom>
          <a:noFill/>
          <a:ln/>
        </p:spPr>
        <p:txBody>
          <a:bodyPr wrap="square" lIns="0" tIns="0" rIns="0" bIns="0" rtlCol="0" anchor="ctr"/>
          <a:lstStyle/>
          <a:p>
            <a:pPr indent="0" marL="0">
              <a:buNone/>
            </a:pPr>
            <a:r>
              <a:rPr lang="en-US" sz="750" b="1" spc="200" kern="0" dirty="0">
                <a:solidFill>
                  <a:srgbClr val="B8860B"/>
                </a:solidFill>
                <a:latin typeface="Calibri" pitchFamily="34" charset="0"/>
                <a:ea typeface="Calibri" pitchFamily="34" charset="-122"/>
                <a:cs typeface="Calibri" pitchFamily="34" charset="-120"/>
              </a:rPr>
              <a:t>STAGE 4</a:t>
            </a:r>
            <a:endParaRPr lang="en-US" sz="750" dirty="0"/>
          </a:p>
        </p:txBody>
      </p:sp>
      <p:sp>
        <p:nvSpPr>
          <p:cNvPr id="50" name="Text 48"/>
          <p:cNvSpPr/>
          <p:nvPr/>
        </p:nvSpPr>
        <p:spPr>
          <a:xfrm>
            <a:off x="6821424" y="2066544"/>
            <a:ext cx="1828800" cy="25603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CONSTITUTIONAL</a:t>
            </a:r>
            <a:endParaRPr lang="en-US" sz="1050" dirty="0"/>
          </a:p>
        </p:txBody>
      </p:sp>
      <p:sp>
        <p:nvSpPr>
          <p:cNvPr id="51" name="Shape 49"/>
          <p:cNvSpPr/>
          <p:nvPr/>
        </p:nvSpPr>
        <p:spPr>
          <a:xfrm>
            <a:off x="6729984" y="2359152"/>
            <a:ext cx="1975104" cy="201168"/>
          </a:xfrm>
          <a:prstGeom prst="rect">
            <a:avLst/>
          </a:prstGeom>
          <a:solidFill>
            <a:srgbClr val="2E5266">
              <a:alpha val="25000"/>
            </a:srgbClr>
          </a:solidFill>
          <a:ln/>
        </p:spPr>
      </p:sp>
      <p:sp>
        <p:nvSpPr>
          <p:cNvPr id="52" name="Text 50"/>
          <p:cNvSpPr/>
          <p:nvPr/>
        </p:nvSpPr>
        <p:spPr>
          <a:xfrm>
            <a:off x="6729984" y="2377440"/>
            <a:ext cx="1975104" cy="164592"/>
          </a:xfrm>
          <a:prstGeom prst="rect">
            <a:avLst/>
          </a:prstGeom>
          <a:noFill/>
          <a:ln/>
        </p:spPr>
        <p:txBody>
          <a:bodyPr wrap="square" lIns="0" tIns="0" rIns="0" bIns="0" rtlCol="0" anchor="ctr"/>
          <a:lstStyle/>
          <a:p>
            <a:pPr algn="ctr" indent="0" marL="0">
              <a:buNone/>
            </a:pPr>
            <a:r>
              <a:rPr lang="en-US" sz="800" i="1" dirty="0">
                <a:solidFill>
                  <a:srgbClr val="FFFFFF"/>
                </a:solidFill>
                <a:latin typeface="Calibri" pitchFamily="34" charset="0"/>
                <a:ea typeface="Calibri" pitchFamily="34" charset="-122"/>
                <a:cs typeface="Calibri" pitchFamily="34" charset="-120"/>
              </a:rPr>
              <a:t>Anthropic's Method</a:t>
            </a:r>
            <a:endParaRPr lang="en-US" sz="800" dirty="0"/>
          </a:p>
        </p:txBody>
      </p:sp>
      <p:sp>
        <p:nvSpPr>
          <p:cNvPr id="53" name="Text 51"/>
          <p:cNvSpPr/>
          <p:nvPr/>
        </p:nvSpPr>
        <p:spPr>
          <a:xfrm>
            <a:off x="6821424" y="2633472"/>
            <a:ext cx="1828800" cy="8229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AI guided by written principles. Critiques its own outputs. Values baked directly in.</a:t>
            </a:r>
            <a:endParaRPr lang="en-US" sz="850" dirty="0"/>
          </a:p>
        </p:txBody>
      </p:sp>
      <p:sp>
        <p:nvSpPr>
          <p:cNvPr id="54" name="Shape 52"/>
          <p:cNvSpPr/>
          <p:nvPr/>
        </p:nvSpPr>
        <p:spPr>
          <a:xfrm>
            <a:off x="6821424" y="3511296"/>
            <a:ext cx="1828800" cy="457200"/>
          </a:xfrm>
          <a:prstGeom prst="rect">
            <a:avLst/>
          </a:prstGeom>
          <a:solidFill>
            <a:srgbClr val="F4E4BC"/>
          </a:solidFill>
          <a:ln/>
        </p:spPr>
      </p:sp>
      <p:sp>
        <p:nvSpPr>
          <p:cNvPr id="55" name="Text 53"/>
          <p:cNvSpPr/>
          <p:nvPr/>
        </p:nvSpPr>
        <p:spPr>
          <a:xfrm>
            <a:off x="6858000" y="3529584"/>
            <a:ext cx="1755648" cy="42062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Claude is trained to be "helpful, harmless, and honest" via self-critique</a:t>
            </a:r>
            <a:endParaRPr lang="en-US" sz="700" dirty="0"/>
          </a:p>
        </p:txBody>
      </p:sp>
      <p:sp>
        <p:nvSpPr>
          <p:cNvPr id="56" name="Shape 54"/>
          <p:cNvSpPr/>
          <p:nvPr/>
        </p:nvSpPr>
        <p:spPr>
          <a:xfrm>
            <a:off x="6821424" y="4023360"/>
            <a:ext cx="1828800" cy="548640"/>
          </a:xfrm>
          <a:prstGeom prst="rect">
            <a:avLst/>
          </a:prstGeom>
          <a:solidFill>
            <a:srgbClr val="EDF1F7"/>
          </a:solidFill>
          <a:ln/>
        </p:spPr>
      </p:sp>
      <p:sp>
        <p:nvSpPr>
          <p:cNvPr id="57" name="Text 55"/>
          <p:cNvSpPr/>
          <p:nvPr/>
        </p:nvSpPr>
        <p:spPr>
          <a:xfrm>
            <a:off x="6821424" y="4041648"/>
            <a:ext cx="1828800" cy="292608"/>
          </a:xfrm>
          <a:prstGeom prst="rect">
            <a:avLst/>
          </a:prstGeom>
          <a:noFill/>
          <a:ln/>
        </p:spPr>
        <p:txBody>
          <a:bodyPr wrap="square" lIns="0" tIns="0" rIns="0" bIns="0" rtlCol="0" anchor="ctr"/>
          <a:lstStyle/>
          <a:p>
            <a:pPr algn="ctr" indent="0" marL="0">
              <a:buNone/>
            </a:pPr>
            <a:r>
              <a:rPr lang="en-US" sz="1400" b="1" dirty="0">
                <a:solidFill>
                  <a:srgbClr val="2E5266"/>
                </a:solidFill>
                <a:latin typeface="Calibri" pitchFamily="34" charset="0"/>
                <a:ea typeface="Calibri" pitchFamily="34" charset="-122"/>
                <a:cs typeface="Calibri" pitchFamily="34" charset="-120"/>
              </a:rPr>
              <a:t>Principles</a:t>
            </a:r>
            <a:endParaRPr lang="en-US" sz="1400" dirty="0"/>
          </a:p>
        </p:txBody>
      </p:sp>
      <p:sp>
        <p:nvSpPr>
          <p:cNvPr id="58" name="Text 56"/>
          <p:cNvSpPr/>
          <p:nvPr/>
        </p:nvSpPr>
        <p:spPr>
          <a:xfrm>
            <a:off x="6821424" y="4334256"/>
            <a:ext cx="1828800" cy="201168"/>
          </a:xfrm>
          <a:prstGeom prst="rect">
            <a:avLst/>
          </a:prstGeom>
          <a:noFill/>
          <a:ln/>
        </p:spPr>
        <p:txBody>
          <a:bodyPr wrap="square" lIns="0" tIns="0" rIns="0" bIns="0" rtlCol="0" anchor="ctr"/>
          <a:lstStyle/>
          <a:p>
            <a:pPr algn="ctr" indent="0" marL="0">
              <a:buNone/>
            </a:pPr>
            <a:r>
              <a:rPr lang="en-US" sz="750" dirty="0">
                <a:solidFill>
                  <a:srgbClr val="47596B"/>
                </a:solidFill>
                <a:latin typeface="Calibri" pitchFamily="34" charset="0"/>
                <a:ea typeface="Calibri" pitchFamily="34" charset="-122"/>
                <a:cs typeface="Calibri" pitchFamily="34" charset="-120"/>
              </a:rPr>
              <a:t>over hard rules</a:t>
            </a:r>
            <a:endParaRPr lang="en-US" sz="750" dirty="0"/>
          </a:p>
        </p:txBody>
      </p:sp>
      <p:sp>
        <p:nvSpPr>
          <p:cNvPr id="59" name="Shape 57"/>
          <p:cNvSpPr/>
          <p:nvPr/>
        </p:nvSpPr>
        <p:spPr>
          <a:xfrm>
            <a:off x="365760" y="4572000"/>
            <a:ext cx="8412480" cy="457200"/>
          </a:xfrm>
          <a:prstGeom prst="rect">
            <a:avLst/>
          </a:prstGeom>
          <a:solidFill>
            <a:srgbClr val="EDF1F7"/>
          </a:solidFill>
          <a:ln/>
        </p:spPr>
      </p:sp>
      <p:sp>
        <p:nvSpPr>
          <p:cNvPr id="60" name="Shape 58"/>
          <p:cNvSpPr/>
          <p:nvPr/>
        </p:nvSpPr>
        <p:spPr>
          <a:xfrm>
            <a:off x="365760" y="4572000"/>
            <a:ext cx="36576" cy="457200"/>
          </a:xfrm>
          <a:prstGeom prst="rect">
            <a:avLst/>
          </a:prstGeom>
          <a:solidFill>
            <a:srgbClr val="B8860B"/>
          </a:solidFill>
          <a:ln/>
        </p:spPr>
      </p:sp>
      <p:sp>
        <p:nvSpPr>
          <p:cNvPr id="61" name="Text 59"/>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62" name="Text 60"/>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The model is NOT looking things up. It compressed human knowledge into billions of numbers and pattern-matches at a scale impossible for humans to comprehend.</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2E5266"/>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02</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PROMPT ENGINEERING — YOUR MOST ACCESSIBLE AI SKILL</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Briefing a New Employee</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 vague brief gets vague work. A detailed brief with context, examples, and clear expectations gets excellent work. Prompting an AI is exactly the same — quality of instruction determines quality of output.</a:t>
            </a:r>
            <a:endParaRPr lang="en-US" sz="1000" dirty="0"/>
          </a:p>
        </p:txBody>
      </p:sp>
      <p:sp>
        <p:nvSpPr>
          <p:cNvPr id="11" name="Shape 9"/>
          <p:cNvSpPr/>
          <p:nvPr/>
        </p:nvSpPr>
        <p:spPr>
          <a:xfrm>
            <a:off x="365760" y="1847088"/>
            <a:ext cx="2615184" cy="129844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2615184" cy="365760"/>
          </a:xfrm>
          <a:prstGeom prst="rect">
            <a:avLst/>
          </a:prstGeom>
          <a:solidFill>
            <a:srgbClr val="2E5266"/>
          </a:solidFill>
          <a:ln/>
        </p:spPr>
      </p:sp>
      <p:sp>
        <p:nvSpPr>
          <p:cNvPr id="13" name="Text 11"/>
          <p:cNvSpPr/>
          <p:nvPr/>
        </p:nvSpPr>
        <p:spPr>
          <a:xfrm>
            <a:off x="475488" y="1901952"/>
            <a:ext cx="243230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Zero-Shot</a:t>
            </a:r>
            <a:endParaRPr lang="en-US" sz="1150" dirty="0"/>
          </a:p>
        </p:txBody>
      </p:sp>
      <p:sp>
        <p:nvSpPr>
          <p:cNvPr id="14" name="Text 12"/>
          <p:cNvSpPr/>
          <p:nvPr/>
        </p:nvSpPr>
        <p:spPr>
          <a:xfrm>
            <a:off x="475488" y="2286000"/>
            <a:ext cx="243230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Just ask. Works for simple, well-defined tasks.</a:t>
            </a:r>
            <a:endParaRPr lang="en-US" sz="850" dirty="0"/>
          </a:p>
        </p:txBody>
      </p:sp>
      <p:sp>
        <p:nvSpPr>
          <p:cNvPr id="15" name="Shape 13"/>
          <p:cNvSpPr/>
          <p:nvPr/>
        </p:nvSpPr>
        <p:spPr>
          <a:xfrm>
            <a:off x="457200" y="2688336"/>
            <a:ext cx="2468880" cy="402336"/>
          </a:xfrm>
          <a:prstGeom prst="rect">
            <a:avLst/>
          </a:prstGeom>
          <a:solidFill>
            <a:srgbClr val="F4E4BC"/>
          </a:solidFill>
          <a:ln/>
        </p:spPr>
      </p:sp>
      <p:sp>
        <p:nvSpPr>
          <p:cNvPr id="16" name="Text 14"/>
          <p:cNvSpPr/>
          <p:nvPr/>
        </p:nvSpPr>
        <p:spPr>
          <a:xfrm>
            <a:off x="493776" y="2706624"/>
            <a:ext cx="2395728" cy="365760"/>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"Summarise this Q3 report in 3 bullet points for our board."</a:t>
            </a:r>
            <a:endParaRPr lang="en-US" sz="750" dirty="0"/>
          </a:p>
        </p:txBody>
      </p:sp>
      <p:sp>
        <p:nvSpPr>
          <p:cNvPr id="17" name="Shape 15"/>
          <p:cNvSpPr/>
          <p:nvPr/>
        </p:nvSpPr>
        <p:spPr>
          <a:xfrm>
            <a:off x="3172968" y="1847088"/>
            <a:ext cx="2615184" cy="129844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8" name="Shape 16"/>
          <p:cNvSpPr/>
          <p:nvPr/>
        </p:nvSpPr>
        <p:spPr>
          <a:xfrm>
            <a:off x="3172968" y="1847088"/>
            <a:ext cx="2615184" cy="365760"/>
          </a:xfrm>
          <a:prstGeom prst="rect">
            <a:avLst/>
          </a:prstGeom>
          <a:solidFill>
            <a:srgbClr val="2E5266"/>
          </a:solidFill>
          <a:ln/>
        </p:spPr>
      </p:sp>
      <p:sp>
        <p:nvSpPr>
          <p:cNvPr id="19" name="Text 17"/>
          <p:cNvSpPr/>
          <p:nvPr/>
        </p:nvSpPr>
        <p:spPr>
          <a:xfrm>
            <a:off x="3282696" y="1901952"/>
            <a:ext cx="243230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Few-Shot</a:t>
            </a:r>
            <a:endParaRPr lang="en-US" sz="1150" dirty="0"/>
          </a:p>
        </p:txBody>
      </p:sp>
      <p:sp>
        <p:nvSpPr>
          <p:cNvPr id="20" name="Text 18"/>
          <p:cNvSpPr/>
          <p:nvPr/>
        </p:nvSpPr>
        <p:spPr>
          <a:xfrm>
            <a:off x="3282696" y="2286000"/>
            <a:ext cx="243230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Give 2–3 examples of desired format first. Improves consistency.</a:t>
            </a:r>
            <a:endParaRPr lang="en-US" sz="850" dirty="0"/>
          </a:p>
        </p:txBody>
      </p:sp>
      <p:sp>
        <p:nvSpPr>
          <p:cNvPr id="21" name="Shape 19"/>
          <p:cNvSpPr/>
          <p:nvPr/>
        </p:nvSpPr>
        <p:spPr>
          <a:xfrm>
            <a:off x="3264408" y="2688336"/>
            <a:ext cx="2468880" cy="402336"/>
          </a:xfrm>
          <a:prstGeom prst="rect">
            <a:avLst/>
          </a:prstGeom>
          <a:solidFill>
            <a:srgbClr val="F4E4BC"/>
          </a:solidFill>
          <a:ln/>
        </p:spPr>
      </p:sp>
      <p:sp>
        <p:nvSpPr>
          <p:cNvPr id="22" name="Text 20"/>
          <p:cNvSpPr/>
          <p:nvPr/>
        </p:nvSpPr>
        <p:spPr>
          <a:xfrm>
            <a:off x="3300984" y="2706624"/>
            <a:ext cx="2395728" cy="365760"/>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"Here are 3 examples of meeting notes I want. Now do the same for this transcript."</a:t>
            </a:r>
            <a:endParaRPr lang="en-US" sz="750" dirty="0"/>
          </a:p>
        </p:txBody>
      </p:sp>
      <p:sp>
        <p:nvSpPr>
          <p:cNvPr id="23" name="Shape 21"/>
          <p:cNvSpPr/>
          <p:nvPr/>
        </p:nvSpPr>
        <p:spPr>
          <a:xfrm>
            <a:off x="5980176" y="3236976"/>
            <a:ext cx="2615184" cy="129844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4" name="Shape 22"/>
          <p:cNvSpPr/>
          <p:nvPr/>
        </p:nvSpPr>
        <p:spPr>
          <a:xfrm>
            <a:off x="5980176" y="3236976"/>
            <a:ext cx="2615184" cy="365760"/>
          </a:xfrm>
          <a:prstGeom prst="rect">
            <a:avLst/>
          </a:prstGeom>
          <a:solidFill>
            <a:srgbClr val="2E5266"/>
          </a:solidFill>
          <a:ln/>
        </p:spPr>
      </p:sp>
      <p:sp>
        <p:nvSpPr>
          <p:cNvPr id="25" name="Text 23"/>
          <p:cNvSpPr/>
          <p:nvPr/>
        </p:nvSpPr>
        <p:spPr>
          <a:xfrm>
            <a:off x="6089904" y="3291840"/>
            <a:ext cx="243230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Chain-of-Thought</a:t>
            </a:r>
            <a:endParaRPr lang="en-US" sz="1150" dirty="0"/>
          </a:p>
        </p:txBody>
      </p:sp>
      <p:sp>
        <p:nvSpPr>
          <p:cNvPr id="26" name="Text 24"/>
          <p:cNvSpPr/>
          <p:nvPr/>
        </p:nvSpPr>
        <p:spPr>
          <a:xfrm>
            <a:off x="6089904" y="3675888"/>
            <a:ext cx="243230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Ask it to reason step-by-step. Improves accuracy 30–40%.</a:t>
            </a:r>
            <a:endParaRPr lang="en-US" sz="850" dirty="0"/>
          </a:p>
        </p:txBody>
      </p:sp>
      <p:sp>
        <p:nvSpPr>
          <p:cNvPr id="27" name="Shape 25"/>
          <p:cNvSpPr/>
          <p:nvPr/>
        </p:nvSpPr>
        <p:spPr>
          <a:xfrm>
            <a:off x="6071616" y="4078224"/>
            <a:ext cx="2468880" cy="402336"/>
          </a:xfrm>
          <a:prstGeom prst="rect">
            <a:avLst/>
          </a:prstGeom>
          <a:solidFill>
            <a:srgbClr val="F4E4BC"/>
          </a:solidFill>
          <a:ln/>
        </p:spPr>
      </p:sp>
      <p:sp>
        <p:nvSpPr>
          <p:cNvPr id="28" name="Text 26"/>
          <p:cNvSpPr/>
          <p:nvPr/>
        </p:nvSpPr>
        <p:spPr>
          <a:xfrm>
            <a:off x="6108192" y="4096512"/>
            <a:ext cx="2395728" cy="365760"/>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"Think through legal implications step by step, then give your final view."</a:t>
            </a:r>
            <a:endParaRPr lang="en-US" sz="750" dirty="0"/>
          </a:p>
        </p:txBody>
      </p:sp>
      <p:sp>
        <p:nvSpPr>
          <p:cNvPr id="29" name="Shape 27"/>
          <p:cNvSpPr/>
          <p:nvPr/>
        </p:nvSpPr>
        <p:spPr>
          <a:xfrm>
            <a:off x="365760" y="3236976"/>
            <a:ext cx="2615184" cy="129844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0" name="Shape 28"/>
          <p:cNvSpPr/>
          <p:nvPr/>
        </p:nvSpPr>
        <p:spPr>
          <a:xfrm>
            <a:off x="365760" y="3236976"/>
            <a:ext cx="2615184" cy="365760"/>
          </a:xfrm>
          <a:prstGeom prst="rect">
            <a:avLst/>
          </a:prstGeom>
          <a:solidFill>
            <a:srgbClr val="2E5266"/>
          </a:solidFill>
          <a:ln/>
        </p:spPr>
      </p:sp>
      <p:sp>
        <p:nvSpPr>
          <p:cNvPr id="31" name="Text 29"/>
          <p:cNvSpPr/>
          <p:nvPr/>
        </p:nvSpPr>
        <p:spPr>
          <a:xfrm>
            <a:off x="475488" y="3291840"/>
            <a:ext cx="243230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Role Prompting</a:t>
            </a:r>
            <a:endParaRPr lang="en-US" sz="1150" dirty="0"/>
          </a:p>
        </p:txBody>
      </p:sp>
      <p:sp>
        <p:nvSpPr>
          <p:cNvPr id="32" name="Text 30"/>
          <p:cNvSpPr/>
          <p:nvPr/>
        </p:nvSpPr>
        <p:spPr>
          <a:xfrm>
            <a:off x="475488" y="3675888"/>
            <a:ext cx="243230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Assign a persona to activate relevant knowledge.</a:t>
            </a:r>
            <a:endParaRPr lang="en-US" sz="850" dirty="0"/>
          </a:p>
        </p:txBody>
      </p:sp>
      <p:sp>
        <p:nvSpPr>
          <p:cNvPr id="33" name="Shape 31"/>
          <p:cNvSpPr/>
          <p:nvPr/>
        </p:nvSpPr>
        <p:spPr>
          <a:xfrm>
            <a:off x="457200" y="4078224"/>
            <a:ext cx="2468880" cy="402336"/>
          </a:xfrm>
          <a:prstGeom prst="rect">
            <a:avLst/>
          </a:prstGeom>
          <a:solidFill>
            <a:srgbClr val="F4E4BC"/>
          </a:solidFill>
          <a:ln/>
        </p:spPr>
      </p:sp>
      <p:sp>
        <p:nvSpPr>
          <p:cNvPr id="34" name="Text 32"/>
          <p:cNvSpPr/>
          <p:nvPr/>
        </p:nvSpPr>
        <p:spPr>
          <a:xfrm>
            <a:off x="493776" y="4096512"/>
            <a:ext cx="2395728" cy="365760"/>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"You are a CFO reviewing this proposal. Identify the top 3 financial risks."</a:t>
            </a:r>
            <a:endParaRPr lang="en-US" sz="750" dirty="0"/>
          </a:p>
        </p:txBody>
      </p:sp>
      <p:sp>
        <p:nvSpPr>
          <p:cNvPr id="35" name="Shape 33"/>
          <p:cNvSpPr/>
          <p:nvPr/>
        </p:nvSpPr>
        <p:spPr>
          <a:xfrm>
            <a:off x="3172968" y="4626864"/>
            <a:ext cx="2615184" cy="129844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6" name="Shape 34"/>
          <p:cNvSpPr/>
          <p:nvPr/>
        </p:nvSpPr>
        <p:spPr>
          <a:xfrm>
            <a:off x="3172968" y="4626864"/>
            <a:ext cx="2615184" cy="365760"/>
          </a:xfrm>
          <a:prstGeom prst="rect">
            <a:avLst/>
          </a:prstGeom>
          <a:solidFill>
            <a:srgbClr val="2E5266"/>
          </a:solidFill>
          <a:ln/>
        </p:spPr>
      </p:sp>
      <p:sp>
        <p:nvSpPr>
          <p:cNvPr id="37" name="Text 35"/>
          <p:cNvSpPr/>
          <p:nvPr/>
        </p:nvSpPr>
        <p:spPr>
          <a:xfrm>
            <a:off x="3282696" y="4681728"/>
            <a:ext cx="243230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Structured Output</a:t>
            </a:r>
            <a:endParaRPr lang="en-US" sz="1150" dirty="0"/>
          </a:p>
        </p:txBody>
      </p:sp>
      <p:sp>
        <p:nvSpPr>
          <p:cNvPr id="38" name="Text 36"/>
          <p:cNvSpPr/>
          <p:nvPr/>
        </p:nvSpPr>
        <p:spPr>
          <a:xfrm>
            <a:off x="3282696" y="5065776"/>
            <a:ext cx="243230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Request specific formats for system integration.</a:t>
            </a:r>
            <a:endParaRPr lang="en-US" sz="850" dirty="0"/>
          </a:p>
        </p:txBody>
      </p:sp>
      <p:sp>
        <p:nvSpPr>
          <p:cNvPr id="39" name="Shape 37"/>
          <p:cNvSpPr/>
          <p:nvPr/>
        </p:nvSpPr>
        <p:spPr>
          <a:xfrm>
            <a:off x="3264408" y="5468112"/>
            <a:ext cx="2468880" cy="402336"/>
          </a:xfrm>
          <a:prstGeom prst="rect">
            <a:avLst/>
          </a:prstGeom>
          <a:solidFill>
            <a:srgbClr val="F4E4BC"/>
          </a:solidFill>
          <a:ln/>
        </p:spPr>
      </p:sp>
      <p:sp>
        <p:nvSpPr>
          <p:cNvPr id="40" name="Text 38"/>
          <p:cNvSpPr/>
          <p:nvPr/>
        </p:nvSpPr>
        <p:spPr>
          <a:xfrm>
            <a:off x="3300984" y="5486400"/>
            <a:ext cx="2395728" cy="365760"/>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"Return as JSON with fields: risk_name, likelihood (1-5), impact, mitigation."</a:t>
            </a:r>
            <a:endParaRPr lang="en-US" sz="750" dirty="0"/>
          </a:p>
        </p:txBody>
      </p:sp>
      <p:sp>
        <p:nvSpPr>
          <p:cNvPr id="41" name="Shape 39"/>
          <p:cNvSpPr/>
          <p:nvPr/>
        </p:nvSpPr>
        <p:spPr>
          <a:xfrm>
            <a:off x="5980176" y="4626864"/>
            <a:ext cx="2615184" cy="129844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2" name="Shape 40"/>
          <p:cNvSpPr/>
          <p:nvPr/>
        </p:nvSpPr>
        <p:spPr>
          <a:xfrm>
            <a:off x="5980176" y="4626864"/>
            <a:ext cx="2615184" cy="365760"/>
          </a:xfrm>
          <a:prstGeom prst="rect">
            <a:avLst/>
          </a:prstGeom>
          <a:solidFill>
            <a:srgbClr val="2E5266"/>
          </a:solidFill>
          <a:ln/>
        </p:spPr>
      </p:sp>
      <p:sp>
        <p:nvSpPr>
          <p:cNvPr id="43" name="Text 41"/>
          <p:cNvSpPr/>
          <p:nvPr/>
        </p:nvSpPr>
        <p:spPr>
          <a:xfrm>
            <a:off x="6089904" y="4681728"/>
            <a:ext cx="2432304"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System Prompt</a:t>
            </a:r>
            <a:endParaRPr lang="en-US" sz="1150" dirty="0"/>
          </a:p>
        </p:txBody>
      </p:sp>
      <p:sp>
        <p:nvSpPr>
          <p:cNvPr id="44" name="Text 42"/>
          <p:cNvSpPr/>
          <p:nvPr/>
        </p:nvSpPr>
        <p:spPr>
          <a:xfrm>
            <a:off x="6089904" y="5065776"/>
            <a:ext cx="243230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Pre-conversation instructions — the foundation of every AI product.</a:t>
            </a:r>
            <a:endParaRPr lang="en-US" sz="850" dirty="0"/>
          </a:p>
        </p:txBody>
      </p:sp>
      <p:sp>
        <p:nvSpPr>
          <p:cNvPr id="45" name="Shape 43"/>
          <p:cNvSpPr/>
          <p:nvPr/>
        </p:nvSpPr>
        <p:spPr>
          <a:xfrm>
            <a:off x="6071616" y="5468112"/>
            <a:ext cx="2468880" cy="402336"/>
          </a:xfrm>
          <a:prstGeom prst="rect">
            <a:avLst/>
          </a:prstGeom>
          <a:solidFill>
            <a:srgbClr val="F4E4BC"/>
          </a:solidFill>
          <a:ln/>
        </p:spPr>
      </p:sp>
      <p:sp>
        <p:nvSpPr>
          <p:cNvPr id="46" name="Text 44"/>
          <p:cNvSpPr/>
          <p:nvPr/>
        </p:nvSpPr>
        <p:spPr>
          <a:xfrm>
            <a:off x="6108192" y="5486400"/>
            <a:ext cx="2395728" cy="365760"/>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"You are a customer service agent. Be friendly, concise, always offer to escalate."</a:t>
            </a:r>
            <a:endParaRPr lang="en-US" sz="750" dirty="0"/>
          </a:p>
        </p:txBody>
      </p:sp>
      <p:sp>
        <p:nvSpPr>
          <p:cNvPr id="47" name="Shape 45"/>
          <p:cNvSpPr/>
          <p:nvPr/>
        </p:nvSpPr>
        <p:spPr>
          <a:xfrm>
            <a:off x="365760" y="4572000"/>
            <a:ext cx="8412480" cy="457200"/>
          </a:xfrm>
          <a:prstGeom prst="rect">
            <a:avLst/>
          </a:prstGeom>
          <a:solidFill>
            <a:srgbClr val="EDF1F7"/>
          </a:solidFill>
          <a:ln/>
        </p:spPr>
      </p:sp>
      <p:sp>
        <p:nvSpPr>
          <p:cNvPr id="48" name="Shape 46"/>
          <p:cNvSpPr/>
          <p:nvPr/>
        </p:nvSpPr>
        <p:spPr>
          <a:xfrm>
            <a:off x="365760" y="4572000"/>
            <a:ext cx="36576" cy="457200"/>
          </a:xfrm>
          <a:prstGeom prst="rect">
            <a:avLst/>
          </a:prstGeom>
          <a:solidFill>
            <a:srgbClr val="B8860B"/>
          </a:solidFill>
          <a:ln/>
        </p:spPr>
      </p:sp>
      <p:sp>
        <p:nvSpPr>
          <p:cNvPr id="49" name="Text 47"/>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0" name="Text 48"/>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Prompt engineering is the most accessible AI skill in any organisation. A well-crafted prompt from a leader can outperform a poorly-designed AI product.</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2E5266"/>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02</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RAG — MAKING AI KNOW YOUR BUSINESS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 Consultant With a Live Library Card</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 standard LLM graduated 2 years ago and hasn't read anything since. RAG gives them live access to your document library before answering — so they are brilliant AND current AND specific to your business, with cited sources.</a:t>
            </a:r>
            <a:endParaRPr lang="en-US" sz="1000" dirty="0"/>
          </a:p>
        </p:txBody>
      </p:sp>
      <p:sp>
        <p:nvSpPr>
          <p:cNvPr id="11" name="Shape 9"/>
          <p:cNvSpPr/>
          <p:nvPr/>
        </p:nvSpPr>
        <p:spPr>
          <a:xfrm>
            <a:off x="365760" y="1847088"/>
            <a:ext cx="1591056" cy="1060704"/>
          </a:xfrm>
          <a:prstGeom prst="rect">
            <a:avLst/>
          </a:prstGeom>
          <a:solidFill>
            <a:srgbClr val="2E5266"/>
          </a:solidFill>
          <a:ln/>
          <a:effectLst>
            <a:outerShdw sx="100000" sy="100000" kx="0" ky="0" algn="bl" rotWithShape="0" blurRad="76200" dist="25400" dir="8100000">
              <a:srgbClr val="000000">
                <a:alpha val="8000"/>
              </a:srgbClr>
            </a:outerShdw>
          </a:effectLst>
        </p:spPr>
      </p:sp>
      <p:sp>
        <p:nvSpPr>
          <p:cNvPr id="12" name="Text 10"/>
          <p:cNvSpPr/>
          <p:nvPr/>
        </p:nvSpPr>
        <p:spPr>
          <a:xfrm>
            <a:off x="365760" y="1901952"/>
            <a:ext cx="1591056" cy="384048"/>
          </a:xfrm>
          <a:prstGeom prst="rect">
            <a:avLst/>
          </a:prstGeom>
          <a:noFill/>
          <a:ln/>
        </p:spPr>
        <p:txBody>
          <a:bodyPr wrap="square" lIns="0" tIns="0" rIns="0" bIns="0" rtlCol="0" anchor="ctr"/>
          <a:lstStyle/>
          <a:p>
            <a:pPr algn="ctr" indent="0" marL="0">
              <a:buNone/>
            </a:pPr>
            <a:r>
              <a:rPr lang="en-US" sz="2200" b="1" dirty="0">
                <a:solidFill>
                  <a:srgbClr val="B8860B"/>
                </a:solidFill>
                <a:latin typeface="Calibri" pitchFamily="34" charset="0"/>
                <a:ea typeface="Calibri" pitchFamily="34" charset="-122"/>
                <a:cs typeface="Calibri" pitchFamily="34" charset="-120"/>
              </a:rPr>
              <a:t>1</a:t>
            </a:r>
            <a:endParaRPr lang="en-US" sz="2200" dirty="0"/>
          </a:p>
        </p:txBody>
      </p:sp>
      <p:sp>
        <p:nvSpPr>
          <p:cNvPr id="13" name="Text 11"/>
          <p:cNvSpPr/>
          <p:nvPr/>
        </p:nvSpPr>
        <p:spPr>
          <a:xfrm>
            <a:off x="438912" y="2322576"/>
            <a:ext cx="1444752" cy="54864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User asks</a:t>
            </a:r>
            <a:endParaRPr lang="en-US" sz="900" dirty="0"/>
          </a:p>
        </p:txBody>
      </p:sp>
      <p:sp>
        <p:nvSpPr>
          <p:cNvPr id="14" name="Text 12"/>
          <p:cNvSpPr/>
          <p:nvPr/>
        </p:nvSpPr>
        <p:spPr>
          <a:xfrm>
            <a:off x="1956816" y="2286000"/>
            <a:ext cx="128016" cy="274320"/>
          </a:xfrm>
          <a:prstGeom prst="rect">
            <a:avLst/>
          </a:prstGeom>
          <a:noFill/>
          <a:ln/>
        </p:spPr>
        <p:txBody>
          <a:bodyPr wrap="square" lIns="0" tIns="0" rIns="0" bIns="0" rtlCol="0" anchor="ctr"/>
          <a:lstStyle/>
          <a:p>
            <a:pPr algn="ctr" indent="0" marL="0">
              <a:buNone/>
            </a:pPr>
            <a:r>
              <a:rPr lang="en-US" sz="900" dirty="0">
                <a:solidFill>
                  <a:srgbClr val="8898AA"/>
                </a:solidFill>
                <a:latin typeface="Calibri" pitchFamily="34" charset="0"/>
                <a:ea typeface="Calibri" pitchFamily="34" charset="-122"/>
                <a:cs typeface="Calibri" pitchFamily="34" charset="-120"/>
              </a:rPr>
              <a:t>▶</a:t>
            </a:r>
            <a:endParaRPr lang="en-US" sz="900" dirty="0"/>
          </a:p>
        </p:txBody>
      </p:sp>
      <p:sp>
        <p:nvSpPr>
          <p:cNvPr id="15" name="Shape 13"/>
          <p:cNvSpPr/>
          <p:nvPr/>
        </p:nvSpPr>
        <p:spPr>
          <a:xfrm>
            <a:off x="2084832" y="1847088"/>
            <a:ext cx="1591056" cy="1060704"/>
          </a:xfrm>
          <a:prstGeom prst="rect">
            <a:avLst/>
          </a:prstGeom>
          <a:solidFill>
            <a:srgbClr val="2E5266"/>
          </a:solidFill>
          <a:ln/>
          <a:effectLst>
            <a:outerShdw sx="100000" sy="100000" kx="0" ky="0" algn="bl" rotWithShape="0" blurRad="76200" dist="25400" dir="8100000">
              <a:srgbClr val="000000">
                <a:alpha val="8000"/>
              </a:srgbClr>
            </a:outerShdw>
          </a:effectLst>
        </p:spPr>
      </p:sp>
      <p:sp>
        <p:nvSpPr>
          <p:cNvPr id="16" name="Text 14"/>
          <p:cNvSpPr/>
          <p:nvPr/>
        </p:nvSpPr>
        <p:spPr>
          <a:xfrm>
            <a:off x="2084832" y="1901952"/>
            <a:ext cx="1591056" cy="384048"/>
          </a:xfrm>
          <a:prstGeom prst="rect">
            <a:avLst/>
          </a:prstGeom>
          <a:noFill/>
          <a:ln/>
        </p:spPr>
        <p:txBody>
          <a:bodyPr wrap="square" lIns="0" tIns="0" rIns="0" bIns="0" rtlCol="0" anchor="ctr"/>
          <a:lstStyle/>
          <a:p>
            <a:pPr algn="ctr" indent="0" marL="0">
              <a:buNone/>
            </a:pPr>
            <a:r>
              <a:rPr lang="en-US" sz="2200" b="1" dirty="0">
                <a:solidFill>
                  <a:srgbClr val="B8860B"/>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2157984" y="2322576"/>
            <a:ext cx="1444752" cy="54864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Converted to embedding</a:t>
            </a:r>
            <a:endParaRPr lang="en-US" sz="900" dirty="0"/>
          </a:p>
        </p:txBody>
      </p:sp>
      <p:sp>
        <p:nvSpPr>
          <p:cNvPr id="18" name="Text 16"/>
          <p:cNvSpPr/>
          <p:nvPr/>
        </p:nvSpPr>
        <p:spPr>
          <a:xfrm>
            <a:off x="3675888" y="2286000"/>
            <a:ext cx="128016" cy="274320"/>
          </a:xfrm>
          <a:prstGeom prst="rect">
            <a:avLst/>
          </a:prstGeom>
          <a:noFill/>
          <a:ln/>
        </p:spPr>
        <p:txBody>
          <a:bodyPr wrap="square" lIns="0" tIns="0" rIns="0" bIns="0" rtlCol="0" anchor="ctr"/>
          <a:lstStyle/>
          <a:p>
            <a:pPr algn="ctr" indent="0" marL="0">
              <a:buNone/>
            </a:pPr>
            <a:r>
              <a:rPr lang="en-US" sz="900" dirty="0">
                <a:solidFill>
                  <a:srgbClr val="8898AA"/>
                </a:solidFill>
                <a:latin typeface="Calibri" pitchFamily="34" charset="0"/>
                <a:ea typeface="Calibri" pitchFamily="34" charset="-122"/>
                <a:cs typeface="Calibri" pitchFamily="34" charset="-120"/>
              </a:rPr>
              <a:t>▶</a:t>
            </a:r>
            <a:endParaRPr lang="en-US" sz="900" dirty="0"/>
          </a:p>
        </p:txBody>
      </p:sp>
      <p:sp>
        <p:nvSpPr>
          <p:cNvPr id="19" name="Shape 17"/>
          <p:cNvSpPr/>
          <p:nvPr/>
        </p:nvSpPr>
        <p:spPr>
          <a:xfrm>
            <a:off x="3803904" y="1847088"/>
            <a:ext cx="1591056" cy="1060704"/>
          </a:xfrm>
          <a:prstGeom prst="rect">
            <a:avLst/>
          </a:prstGeom>
          <a:solidFill>
            <a:srgbClr val="2E5266"/>
          </a:solidFill>
          <a:ln/>
          <a:effectLst>
            <a:outerShdw sx="100000" sy="100000" kx="0" ky="0" algn="bl" rotWithShape="0" blurRad="76200" dist="25400" dir="8100000">
              <a:srgbClr val="000000">
                <a:alpha val="8000"/>
              </a:srgbClr>
            </a:outerShdw>
          </a:effectLst>
        </p:spPr>
      </p:sp>
      <p:sp>
        <p:nvSpPr>
          <p:cNvPr id="20" name="Text 18"/>
          <p:cNvSpPr/>
          <p:nvPr/>
        </p:nvSpPr>
        <p:spPr>
          <a:xfrm>
            <a:off x="3803904" y="1901952"/>
            <a:ext cx="1591056" cy="384048"/>
          </a:xfrm>
          <a:prstGeom prst="rect">
            <a:avLst/>
          </a:prstGeom>
          <a:noFill/>
          <a:ln/>
        </p:spPr>
        <p:txBody>
          <a:bodyPr wrap="square" lIns="0" tIns="0" rIns="0" bIns="0" rtlCol="0" anchor="ctr"/>
          <a:lstStyle/>
          <a:p>
            <a:pPr algn="ctr" indent="0" marL="0">
              <a:buNone/>
            </a:pPr>
            <a:r>
              <a:rPr lang="en-US" sz="2200" b="1" dirty="0">
                <a:solidFill>
                  <a:srgbClr val="B8860B"/>
                </a:solidFill>
                <a:latin typeface="Calibri" pitchFamily="34" charset="0"/>
                <a:ea typeface="Calibri" pitchFamily="34" charset="-122"/>
                <a:cs typeface="Calibri" pitchFamily="34" charset="-120"/>
              </a:rPr>
              <a:t>3</a:t>
            </a:r>
            <a:endParaRPr lang="en-US" sz="2200" dirty="0"/>
          </a:p>
        </p:txBody>
      </p:sp>
      <p:sp>
        <p:nvSpPr>
          <p:cNvPr id="21" name="Text 19"/>
          <p:cNvSpPr/>
          <p:nvPr/>
        </p:nvSpPr>
        <p:spPr>
          <a:xfrm>
            <a:off x="3877056" y="2322576"/>
            <a:ext cx="1444752" cy="54864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Vector DB searched</a:t>
            </a:r>
            <a:endParaRPr lang="en-US" sz="900" dirty="0"/>
          </a:p>
        </p:txBody>
      </p:sp>
      <p:sp>
        <p:nvSpPr>
          <p:cNvPr id="22" name="Text 20"/>
          <p:cNvSpPr/>
          <p:nvPr/>
        </p:nvSpPr>
        <p:spPr>
          <a:xfrm>
            <a:off x="5394960" y="2286000"/>
            <a:ext cx="128016" cy="274320"/>
          </a:xfrm>
          <a:prstGeom prst="rect">
            <a:avLst/>
          </a:prstGeom>
          <a:noFill/>
          <a:ln/>
        </p:spPr>
        <p:txBody>
          <a:bodyPr wrap="square" lIns="0" tIns="0" rIns="0" bIns="0" rtlCol="0" anchor="ctr"/>
          <a:lstStyle/>
          <a:p>
            <a:pPr algn="ctr" indent="0" marL="0">
              <a:buNone/>
            </a:pPr>
            <a:r>
              <a:rPr lang="en-US" sz="900" dirty="0">
                <a:solidFill>
                  <a:srgbClr val="8898AA"/>
                </a:solidFill>
                <a:latin typeface="Calibri" pitchFamily="34" charset="0"/>
                <a:ea typeface="Calibri" pitchFamily="34" charset="-122"/>
                <a:cs typeface="Calibri" pitchFamily="34" charset="-120"/>
              </a:rPr>
              <a:t>▶</a:t>
            </a:r>
            <a:endParaRPr lang="en-US" sz="900" dirty="0"/>
          </a:p>
        </p:txBody>
      </p:sp>
      <p:sp>
        <p:nvSpPr>
          <p:cNvPr id="23" name="Shape 21"/>
          <p:cNvSpPr/>
          <p:nvPr/>
        </p:nvSpPr>
        <p:spPr>
          <a:xfrm>
            <a:off x="5522976" y="1847088"/>
            <a:ext cx="1591056" cy="1060704"/>
          </a:xfrm>
          <a:prstGeom prst="rect">
            <a:avLst/>
          </a:prstGeom>
          <a:solidFill>
            <a:srgbClr val="2E5266"/>
          </a:solidFill>
          <a:ln/>
          <a:effectLst>
            <a:outerShdw sx="100000" sy="100000" kx="0" ky="0" algn="bl" rotWithShape="0" blurRad="76200" dist="25400" dir="8100000">
              <a:srgbClr val="000000">
                <a:alpha val="8000"/>
              </a:srgbClr>
            </a:outerShdw>
          </a:effectLst>
        </p:spPr>
      </p:sp>
      <p:sp>
        <p:nvSpPr>
          <p:cNvPr id="24" name="Text 22"/>
          <p:cNvSpPr/>
          <p:nvPr/>
        </p:nvSpPr>
        <p:spPr>
          <a:xfrm>
            <a:off x="5522976" y="1901952"/>
            <a:ext cx="1591056" cy="384048"/>
          </a:xfrm>
          <a:prstGeom prst="rect">
            <a:avLst/>
          </a:prstGeom>
          <a:noFill/>
          <a:ln/>
        </p:spPr>
        <p:txBody>
          <a:bodyPr wrap="square" lIns="0" tIns="0" rIns="0" bIns="0" rtlCol="0" anchor="ctr"/>
          <a:lstStyle/>
          <a:p>
            <a:pPr algn="ctr" indent="0" marL="0">
              <a:buNone/>
            </a:pPr>
            <a:r>
              <a:rPr lang="en-US" sz="2200" b="1" dirty="0">
                <a:solidFill>
                  <a:srgbClr val="B8860B"/>
                </a:solidFill>
                <a:latin typeface="Calibri" pitchFamily="34" charset="0"/>
                <a:ea typeface="Calibri" pitchFamily="34" charset="-122"/>
                <a:cs typeface="Calibri" pitchFamily="34" charset="-120"/>
              </a:rPr>
              <a:t>4</a:t>
            </a:r>
            <a:endParaRPr lang="en-US" sz="2200" dirty="0"/>
          </a:p>
        </p:txBody>
      </p:sp>
      <p:sp>
        <p:nvSpPr>
          <p:cNvPr id="25" name="Text 23"/>
          <p:cNvSpPr/>
          <p:nvPr/>
        </p:nvSpPr>
        <p:spPr>
          <a:xfrm>
            <a:off x="5596128" y="2322576"/>
            <a:ext cx="1444752" cy="54864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Docs retrieved</a:t>
            </a:r>
            <a:endParaRPr lang="en-US" sz="900" dirty="0"/>
          </a:p>
        </p:txBody>
      </p:sp>
      <p:sp>
        <p:nvSpPr>
          <p:cNvPr id="26" name="Text 24"/>
          <p:cNvSpPr/>
          <p:nvPr/>
        </p:nvSpPr>
        <p:spPr>
          <a:xfrm>
            <a:off x="7114032" y="2286000"/>
            <a:ext cx="128016" cy="274320"/>
          </a:xfrm>
          <a:prstGeom prst="rect">
            <a:avLst/>
          </a:prstGeom>
          <a:noFill/>
          <a:ln/>
        </p:spPr>
        <p:txBody>
          <a:bodyPr wrap="square" lIns="0" tIns="0" rIns="0" bIns="0" rtlCol="0" anchor="ctr"/>
          <a:lstStyle/>
          <a:p>
            <a:pPr algn="ctr" indent="0" marL="0">
              <a:buNone/>
            </a:pPr>
            <a:r>
              <a:rPr lang="en-US" sz="900" dirty="0">
                <a:solidFill>
                  <a:srgbClr val="8898AA"/>
                </a:solidFill>
                <a:latin typeface="Calibri" pitchFamily="34" charset="0"/>
                <a:ea typeface="Calibri" pitchFamily="34" charset="-122"/>
                <a:cs typeface="Calibri" pitchFamily="34" charset="-120"/>
              </a:rPr>
              <a:t>▶</a:t>
            </a:r>
            <a:endParaRPr lang="en-US" sz="900" dirty="0"/>
          </a:p>
        </p:txBody>
      </p:sp>
      <p:sp>
        <p:nvSpPr>
          <p:cNvPr id="27" name="Shape 25"/>
          <p:cNvSpPr/>
          <p:nvPr/>
        </p:nvSpPr>
        <p:spPr>
          <a:xfrm>
            <a:off x="7242048" y="1847088"/>
            <a:ext cx="1591056" cy="1060704"/>
          </a:xfrm>
          <a:prstGeom prst="rect">
            <a:avLst/>
          </a:prstGeom>
          <a:solidFill>
            <a:srgbClr val="2E5266"/>
          </a:solidFill>
          <a:ln/>
          <a:effectLst>
            <a:outerShdw sx="100000" sy="100000" kx="0" ky="0" algn="bl" rotWithShape="0" blurRad="76200" dist="25400" dir="8100000">
              <a:srgbClr val="000000">
                <a:alpha val="8000"/>
              </a:srgbClr>
            </a:outerShdw>
          </a:effectLst>
        </p:spPr>
      </p:sp>
      <p:sp>
        <p:nvSpPr>
          <p:cNvPr id="28" name="Text 26"/>
          <p:cNvSpPr/>
          <p:nvPr/>
        </p:nvSpPr>
        <p:spPr>
          <a:xfrm>
            <a:off x="7242048" y="1901952"/>
            <a:ext cx="1591056" cy="384048"/>
          </a:xfrm>
          <a:prstGeom prst="rect">
            <a:avLst/>
          </a:prstGeom>
          <a:noFill/>
          <a:ln/>
        </p:spPr>
        <p:txBody>
          <a:bodyPr wrap="square" lIns="0" tIns="0" rIns="0" bIns="0" rtlCol="0" anchor="ctr"/>
          <a:lstStyle/>
          <a:p>
            <a:pPr algn="ctr" indent="0" marL="0">
              <a:buNone/>
            </a:pPr>
            <a:r>
              <a:rPr lang="en-US" sz="2200" b="1" dirty="0">
                <a:solidFill>
                  <a:srgbClr val="B8860B"/>
                </a:solidFill>
                <a:latin typeface="Calibri" pitchFamily="34" charset="0"/>
                <a:ea typeface="Calibri" pitchFamily="34" charset="-122"/>
                <a:cs typeface="Calibri" pitchFamily="34" charset="-120"/>
              </a:rPr>
              <a:t>5</a:t>
            </a:r>
            <a:endParaRPr lang="en-US" sz="2200" dirty="0"/>
          </a:p>
        </p:txBody>
      </p:sp>
      <p:sp>
        <p:nvSpPr>
          <p:cNvPr id="29" name="Text 27"/>
          <p:cNvSpPr/>
          <p:nvPr/>
        </p:nvSpPr>
        <p:spPr>
          <a:xfrm>
            <a:off x="7315200" y="2322576"/>
            <a:ext cx="1444752" cy="548640"/>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LLM answers with evidence</a:t>
            </a:r>
            <a:endParaRPr lang="en-US" sz="900" dirty="0"/>
          </a:p>
        </p:txBody>
      </p:sp>
      <p:sp>
        <p:nvSpPr>
          <p:cNvPr id="30" name="Shape 28"/>
          <p:cNvSpPr/>
          <p:nvPr/>
        </p:nvSpPr>
        <p:spPr>
          <a:xfrm>
            <a:off x="365760" y="3054096"/>
            <a:ext cx="4078224" cy="1463040"/>
          </a:xfrm>
          <a:prstGeom prst="rect">
            <a:avLst/>
          </a:prstGeom>
          <a:solidFill>
            <a:srgbClr val="E8F0EA"/>
          </a:solidFill>
          <a:ln/>
          <a:effectLst>
            <a:outerShdw sx="100000" sy="100000" kx="0" ky="0" algn="bl" rotWithShape="0" blurRad="76200" dist="25400" dir="8100000">
              <a:srgbClr val="000000">
                <a:alpha val="8000"/>
              </a:srgbClr>
            </a:outerShdw>
          </a:effectLst>
        </p:spPr>
      </p:sp>
      <p:sp>
        <p:nvSpPr>
          <p:cNvPr id="31" name="Shape 29"/>
          <p:cNvSpPr/>
          <p:nvPr/>
        </p:nvSpPr>
        <p:spPr>
          <a:xfrm>
            <a:off x="365760" y="3054096"/>
            <a:ext cx="36576" cy="1463040"/>
          </a:xfrm>
          <a:prstGeom prst="rect">
            <a:avLst/>
          </a:prstGeom>
          <a:solidFill>
            <a:srgbClr val="5B8C6B"/>
          </a:solidFill>
          <a:ln/>
        </p:spPr>
      </p:sp>
      <p:sp>
        <p:nvSpPr>
          <p:cNvPr id="32" name="Text 30"/>
          <p:cNvSpPr/>
          <p:nvPr/>
        </p:nvSpPr>
        <p:spPr>
          <a:xfrm>
            <a:off x="493776" y="3090672"/>
            <a:ext cx="3931920" cy="201168"/>
          </a:xfrm>
          <a:prstGeom prst="rect">
            <a:avLst/>
          </a:prstGeom>
          <a:noFill/>
          <a:ln/>
        </p:spPr>
        <p:txBody>
          <a:bodyPr wrap="square" lIns="0" tIns="0" rIns="0" bIns="0" rtlCol="0" anchor="ctr"/>
          <a:lstStyle/>
          <a:p>
            <a:pPr indent="0" marL="0">
              <a:buNone/>
            </a:pPr>
            <a:r>
              <a:rPr lang="en-US" sz="900" b="1" spc="150" kern="0" dirty="0">
                <a:solidFill>
                  <a:srgbClr val="5B8C6B"/>
                </a:solidFill>
                <a:latin typeface="Calibri" pitchFamily="34" charset="0"/>
                <a:ea typeface="Calibri" pitchFamily="34" charset="-122"/>
                <a:cs typeface="Calibri" pitchFamily="34" charset="-120"/>
              </a:rPr>
              <a:t>WHY RAG MATTERS</a:t>
            </a:r>
            <a:endParaRPr lang="en-US" sz="900" dirty="0"/>
          </a:p>
        </p:txBody>
      </p:sp>
      <p:sp>
        <p:nvSpPr>
          <p:cNvPr id="33" name="Text 31"/>
          <p:cNvSpPr/>
          <p:nvPr/>
        </p:nvSpPr>
        <p:spPr>
          <a:xfrm>
            <a:off x="493776" y="3346704"/>
            <a:ext cx="164592" cy="201168"/>
          </a:xfrm>
          <a:prstGeom prst="rect">
            <a:avLst/>
          </a:prstGeom>
          <a:noFill/>
          <a:ln/>
        </p:spPr>
        <p:txBody>
          <a:bodyPr wrap="square" lIns="0" tIns="0" rIns="0" bIns="0" rtlCol="0" anchor="ctr"/>
          <a:lstStyle/>
          <a:p>
            <a:pPr indent="0" marL="0">
              <a:buNone/>
            </a:pPr>
            <a:r>
              <a:rPr lang="en-US" sz="900" b="1" dirty="0">
                <a:solidFill>
                  <a:srgbClr val="5B8C6B"/>
                </a:solidFill>
                <a:latin typeface="Calibri" pitchFamily="34" charset="0"/>
                <a:ea typeface="Calibri" pitchFamily="34" charset="-122"/>
                <a:cs typeface="Calibri" pitchFamily="34" charset="-120"/>
              </a:rPr>
              <a:t>✓</a:t>
            </a:r>
            <a:endParaRPr lang="en-US" sz="900" dirty="0"/>
          </a:p>
        </p:txBody>
      </p:sp>
      <p:sp>
        <p:nvSpPr>
          <p:cNvPr id="34" name="Text 32"/>
          <p:cNvSpPr/>
          <p:nvPr/>
        </p:nvSpPr>
        <p:spPr>
          <a:xfrm>
            <a:off x="676656" y="3346704"/>
            <a:ext cx="3694176" cy="219456"/>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Reduces hallucinations — grounded in real documents</a:t>
            </a:r>
            <a:endParaRPr lang="en-US" sz="900" dirty="0"/>
          </a:p>
        </p:txBody>
      </p:sp>
      <p:sp>
        <p:nvSpPr>
          <p:cNvPr id="35" name="Text 33"/>
          <p:cNvSpPr/>
          <p:nvPr/>
        </p:nvSpPr>
        <p:spPr>
          <a:xfrm>
            <a:off x="493776" y="3602736"/>
            <a:ext cx="164592" cy="201168"/>
          </a:xfrm>
          <a:prstGeom prst="rect">
            <a:avLst/>
          </a:prstGeom>
          <a:noFill/>
          <a:ln/>
        </p:spPr>
        <p:txBody>
          <a:bodyPr wrap="square" lIns="0" tIns="0" rIns="0" bIns="0" rtlCol="0" anchor="ctr"/>
          <a:lstStyle/>
          <a:p>
            <a:pPr indent="0" marL="0">
              <a:buNone/>
            </a:pPr>
            <a:r>
              <a:rPr lang="en-US" sz="900" b="1" dirty="0">
                <a:solidFill>
                  <a:srgbClr val="5B8C6B"/>
                </a:solidFill>
                <a:latin typeface="Calibri" pitchFamily="34" charset="0"/>
                <a:ea typeface="Calibri" pitchFamily="34" charset="-122"/>
                <a:cs typeface="Calibri" pitchFamily="34" charset="-120"/>
              </a:rPr>
              <a:t>✓</a:t>
            </a:r>
            <a:endParaRPr lang="en-US" sz="900" dirty="0"/>
          </a:p>
        </p:txBody>
      </p:sp>
      <p:sp>
        <p:nvSpPr>
          <p:cNvPr id="36" name="Text 34"/>
          <p:cNvSpPr/>
          <p:nvPr/>
        </p:nvSpPr>
        <p:spPr>
          <a:xfrm>
            <a:off x="676656" y="3602736"/>
            <a:ext cx="3694176" cy="219456"/>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Always current — your latest policies and data</a:t>
            </a:r>
            <a:endParaRPr lang="en-US" sz="900" dirty="0"/>
          </a:p>
        </p:txBody>
      </p:sp>
      <p:sp>
        <p:nvSpPr>
          <p:cNvPr id="37" name="Text 35"/>
          <p:cNvSpPr/>
          <p:nvPr/>
        </p:nvSpPr>
        <p:spPr>
          <a:xfrm>
            <a:off x="493776" y="3858768"/>
            <a:ext cx="164592" cy="201168"/>
          </a:xfrm>
          <a:prstGeom prst="rect">
            <a:avLst/>
          </a:prstGeom>
          <a:noFill/>
          <a:ln/>
        </p:spPr>
        <p:txBody>
          <a:bodyPr wrap="square" lIns="0" tIns="0" rIns="0" bIns="0" rtlCol="0" anchor="ctr"/>
          <a:lstStyle/>
          <a:p>
            <a:pPr indent="0" marL="0">
              <a:buNone/>
            </a:pPr>
            <a:r>
              <a:rPr lang="en-US" sz="900" b="1" dirty="0">
                <a:solidFill>
                  <a:srgbClr val="5B8C6B"/>
                </a:solidFill>
                <a:latin typeface="Calibri" pitchFamily="34" charset="0"/>
                <a:ea typeface="Calibri" pitchFamily="34" charset="-122"/>
                <a:cs typeface="Calibri" pitchFamily="34" charset="-120"/>
              </a:rPr>
              <a:t>✓</a:t>
            </a:r>
            <a:endParaRPr lang="en-US" sz="900" dirty="0"/>
          </a:p>
        </p:txBody>
      </p:sp>
      <p:sp>
        <p:nvSpPr>
          <p:cNvPr id="38" name="Text 36"/>
          <p:cNvSpPr/>
          <p:nvPr/>
        </p:nvSpPr>
        <p:spPr>
          <a:xfrm>
            <a:off x="676656" y="3858768"/>
            <a:ext cx="3694176" cy="219456"/>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Cites sources — traceable, auditable, compliance-ready</a:t>
            </a:r>
            <a:endParaRPr lang="en-US" sz="900" dirty="0"/>
          </a:p>
        </p:txBody>
      </p:sp>
      <p:sp>
        <p:nvSpPr>
          <p:cNvPr id="39" name="Text 37"/>
          <p:cNvSpPr/>
          <p:nvPr/>
        </p:nvSpPr>
        <p:spPr>
          <a:xfrm>
            <a:off x="493776" y="4114800"/>
            <a:ext cx="164592" cy="201168"/>
          </a:xfrm>
          <a:prstGeom prst="rect">
            <a:avLst/>
          </a:prstGeom>
          <a:noFill/>
          <a:ln/>
        </p:spPr>
        <p:txBody>
          <a:bodyPr wrap="square" lIns="0" tIns="0" rIns="0" bIns="0" rtlCol="0" anchor="ctr"/>
          <a:lstStyle/>
          <a:p>
            <a:pPr indent="0" marL="0">
              <a:buNone/>
            </a:pPr>
            <a:r>
              <a:rPr lang="en-US" sz="900" b="1" dirty="0">
                <a:solidFill>
                  <a:srgbClr val="5B8C6B"/>
                </a:solidFill>
                <a:latin typeface="Calibri" pitchFamily="34" charset="0"/>
                <a:ea typeface="Calibri" pitchFamily="34" charset="-122"/>
                <a:cs typeface="Calibri" pitchFamily="34" charset="-120"/>
              </a:rPr>
              <a:t>✓</a:t>
            </a:r>
            <a:endParaRPr lang="en-US" sz="900" dirty="0"/>
          </a:p>
        </p:txBody>
      </p:sp>
      <p:sp>
        <p:nvSpPr>
          <p:cNvPr id="40" name="Text 38"/>
          <p:cNvSpPr/>
          <p:nvPr/>
        </p:nvSpPr>
        <p:spPr>
          <a:xfrm>
            <a:off x="676656" y="4114800"/>
            <a:ext cx="3694176" cy="219456"/>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No retraining needed — add documents any time</a:t>
            </a:r>
            <a:endParaRPr lang="en-US" sz="900" dirty="0"/>
          </a:p>
        </p:txBody>
      </p:sp>
      <p:sp>
        <p:nvSpPr>
          <p:cNvPr id="41" name="Shape 39"/>
          <p:cNvSpPr/>
          <p:nvPr/>
        </p:nvSpPr>
        <p:spPr>
          <a:xfrm>
            <a:off x="4700016" y="3054096"/>
            <a:ext cx="4078224" cy="274320"/>
          </a:xfrm>
          <a:prstGeom prst="rect">
            <a:avLst/>
          </a:prstGeom>
          <a:solidFill>
            <a:srgbClr val="0A2540"/>
          </a:solidFill>
          <a:ln/>
        </p:spPr>
      </p:sp>
      <p:sp>
        <p:nvSpPr>
          <p:cNvPr id="42" name="Text 40"/>
          <p:cNvSpPr/>
          <p:nvPr/>
        </p:nvSpPr>
        <p:spPr>
          <a:xfrm>
            <a:off x="4700016" y="3072384"/>
            <a:ext cx="4078224" cy="23774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RAG vs FINE-TUNING</a:t>
            </a:r>
            <a:endParaRPr lang="en-US" sz="950" dirty="0"/>
          </a:p>
        </p:txBody>
      </p:sp>
      <p:sp>
        <p:nvSpPr>
          <p:cNvPr id="43" name="Shape 41"/>
          <p:cNvSpPr/>
          <p:nvPr/>
        </p:nvSpPr>
        <p:spPr>
          <a:xfrm>
            <a:off x="4700016" y="3364992"/>
            <a:ext cx="4078224" cy="219456"/>
          </a:xfrm>
          <a:prstGeom prst="rect">
            <a:avLst/>
          </a:prstGeom>
          <a:solidFill>
            <a:srgbClr val="EDF1F7"/>
          </a:solidFill>
          <a:ln/>
        </p:spPr>
      </p:sp>
      <p:sp>
        <p:nvSpPr>
          <p:cNvPr id="44" name="Text 42"/>
          <p:cNvSpPr/>
          <p:nvPr/>
        </p:nvSpPr>
        <p:spPr>
          <a:xfrm>
            <a:off x="4773168" y="3383280"/>
            <a:ext cx="2377440" cy="182880"/>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Up-to-date information</a:t>
            </a:r>
            <a:endParaRPr lang="en-US" sz="850" dirty="0"/>
          </a:p>
        </p:txBody>
      </p:sp>
      <p:sp>
        <p:nvSpPr>
          <p:cNvPr id="45" name="Text 43"/>
          <p:cNvSpPr/>
          <p:nvPr/>
        </p:nvSpPr>
        <p:spPr>
          <a:xfrm>
            <a:off x="7150608" y="33832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RAG</a:t>
            </a:r>
            <a:endParaRPr lang="en-US" sz="700" dirty="0"/>
          </a:p>
        </p:txBody>
      </p:sp>
      <p:sp>
        <p:nvSpPr>
          <p:cNvPr id="46" name="Text 44"/>
          <p:cNvSpPr/>
          <p:nvPr/>
        </p:nvSpPr>
        <p:spPr>
          <a:xfrm>
            <a:off x="7150608" y="3383280"/>
            <a:ext cx="777240" cy="182880"/>
          </a:xfrm>
          <a:prstGeom prst="rect">
            <a:avLst/>
          </a:prstGeom>
          <a:noFill/>
          <a:ln/>
        </p:spPr>
        <p:txBody>
          <a:bodyPr wrap="square" lIns="0" tIns="0" rIns="0" bIns="0" rtlCol="0" anchor="ctr"/>
          <a:lstStyle/>
          <a:p>
            <a:pPr algn="ct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47" name="Text 45"/>
          <p:cNvSpPr/>
          <p:nvPr/>
        </p:nvSpPr>
        <p:spPr>
          <a:xfrm>
            <a:off x="7964424" y="33832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FT</a:t>
            </a:r>
            <a:endParaRPr lang="en-US" sz="700" dirty="0"/>
          </a:p>
        </p:txBody>
      </p:sp>
      <p:sp>
        <p:nvSpPr>
          <p:cNvPr id="48" name="Text 46"/>
          <p:cNvSpPr/>
          <p:nvPr/>
        </p:nvSpPr>
        <p:spPr>
          <a:xfrm>
            <a:off x="7964424" y="3383280"/>
            <a:ext cx="777240" cy="182880"/>
          </a:xfrm>
          <a:prstGeom prst="rect">
            <a:avLst/>
          </a:prstGeom>
          <a:noFill/>
          <a:ln/>
        </p:spPr>
        <p:txBody>
          <a:bodyPr wrap="square" lIns="0" tIns="0" rIns="0" bIns="0" rtlCol="0" anchor="ctr"/>
          <a:lstStyle/>
          <a:p>
            <a:pPr algn="ct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49" name="Shape 47"/>
          <p:cNvSpPr/>
          <p:nvPr/>
        </p:nvSpPr>
        <p:spPr>
          <a:xfrm>
            <a:off x="4700016" y="3593592"/>
            <a:ext cx="4078224" cy="219456"/>
          </a:xfrm>
          <a:prstGeom prst="rect">
            <a:avLst/>
          </a:prstGeom>
          <a:solidFill>
            <a:srgbClr val="FFFFFF"/>
          </a:solidFill>
          <a:ln/>
        </p:spPr>
      </p:sp>
      <p:sp>
        <p:nvSpPr>
          <p:cNvPr id="50" name="Text 48"/>
          <p:cNvSpPr/>
          <p:nvPr/>
        </p:nvSpPr>
        <p:spPr>
          <a:xfrm>
            <a:off x="4773168" y="3611880"/>
            <a:ext cx="2377440" cy="182880"/>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Your documents &amp; policies</a:t>
            </a:r>
            <a:endParaRPr lang="en-US" sz="850" dirty="0"/>
          </a:p>
        </p:txBody>
      </p:sp>
      <p:sp>
        <p:nvSpPr>
          <p:cNvPr id="51" name="Text 49"/>
          <p:cNvSpPr/>
          <p:nvPr/>
        </p:nvSpPr>
        <p:spPr>
          <a:xfrm>
            <a:off x="7150608" y="36118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RAG</a:t>
            </a:r>
            <a:endParaRPr lang="en-US" sz="700" dirty="0"/>
          </a:p>
        </p:txBody>
      </p:sp>
      <p:sp>
        <p:nvSpPr>
          <p:cNvPr id="52" name="Text 50"/>
          <p:cNvSpPr/>
          <p:nvPr/>
        </p:nvSpPr>
        <p:spPr>
          <a:xfrm>
            <a:off x="7150608" y="3611880"/>
            <a:ext cx="777240" cy="182880"/>
          </a:xfrm>
          <a:prstGeom prst="rect">
            <a:avLst/>
          </a:prstGeom>
          <a:noFill/>
          <a:ln/>
        </p:spPr>
        <p:txBody>
          <a:bodyPr wrap="square" lIns="0" tIns="0" rIns="0" bIns="0" rtlCol="0" anchor="ctr"/>
          <a:lstStyle/>
          <a:p>
            <a:pPr algn="ct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53" name="Text 51"/>
          <p:cNvSpPr/>
          <p:nvPr/>
        </p:nvSpPr>
        <p:spPr>
          <a:xfrm>
            <a:off x="7964424" y="36118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FT</a:t>
            </a:r>
            <a:endParaRPr lang="en-US" sz="700" dirty="0"/>
          </a:p>
        </p:txBody>
      </p:sp>
      <p:sp>
        <p:nvSpPr>
          <p:cNvPr id="54" name="Text 52"/>
          <p:cNvSpPr/>
          <p:nvPr/>
        </p:nvSpPr>
        <p:spPr>
          <a:xfrm>
            <a:off x="7964424" y="3611880"/>
            <a:ext cx="777240" cy="182880"/>
          </a:xfrm>
          <a:prstGeom prst="rect">
            <a:avLst/>
          </a:prstGeom>
          <a:noFill/>
          <a:ln/>
        </p:spPr>
        <p:txBody>
          <a:bodyPr wrap="square" lIns="0" tIns="0" rIns="0" bIns="0" rtlCol="0" anchor="ctr"/>
          <a:lstStyle/>
          <a:p>
            <a:pPr algn="ct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55" name="Shape 53"/>
          <p:cNvSpPr/>
          <p:nvPr/>
        </p:nvSpPr>
        <p:spPr>
          <a:xfrm>
            <a:off x="4700016" y="3822192"/>
            <a:ext cx="4078224" cy="219456"/>
          </a:xfrm>
          <a:prstGeom prst="rect">
            <a:avLst/>
          </a:prstGeom>
          <a:solidFill>
            <a:srgbClr val="EDF1F7"/>
          </a:solidFill>
          <a:ln/>
        </p:spPr>
      </p:sp>
      <p:sp>
        <p:nvSpPr>
          <p:cNvPr id="56" name="Text 54"/>
          <p:cNvSpPr/>
          <p:nvPr/>
        </p:nvSpPr>
        <p:spPr>
          <a:xfrm>
            <a:off x="4773168" y="3840480"/>
            <a:ext cx="2377440" cy="182880"/>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Fast &amp; cost-effective</a:t>
            </a:r>
            <a:endParaRPr lang="en-US" sz="850" dirty="0"/>
          </a:p>
        </p:txBody>
      </p:sp>
      <p:sp>
        <p:nvSpPr>
          <p:cNvPr id="57" name="Text 55"/>
          <p:cNvSpPr/>
          <p:nvPr/>
        </p:nvSpPr>
        <p:spPr>
          <a:xfrm>
            <a:off x="7150608" y="38404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RAG</a:t>
            </a:r>
            <a:endParaRPr lang="en-US" sz="700" dirty="0"/>
          </a:p>
        </p:txBody>
      </p:sp>
      <p:sp>
        <p:nvSpPr>
          <p:cNvPr id="58" name="Text 56"/>
          <p:cNvSpPr/>
          <p:nvPr/>
        </p:nvSpPr>
        <p:spPr>
          <a:xfrm>
            <a:off x="7150608" y="3840480"/>
            <a:ext cx="777240" cy="182880"/>
          </a:xfrm>
          <a:prstGeom prst="rect">
            <a:avLst/>
          </a:prstGeom>
          <a:noFill/>
          <a:ln/>
        </p:spPr>
        <p:txBody>
          <a:bodyPr wrap="square" lIns="0" tIns="0" rIns="0" bIns="0" rtlCol="0" anchor="ctr"/>
          <a:lstStyle/>
          <a:p>
            <a:pPr algn="ct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59" name="Text 57"/>
          <p:cNvSpPr/>
          <p:nvPr/>
        </p:nvSpPr>
        <p:spPr>
          <a:xfrm>
            <a:off x="7964424" y="38404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FT</a:t>
            </a:r>
            <a:endParaRPr lang="en-US" sz="700" dirty="0"/>
          </a:p>
        </p:txBody>
      </p:sp>
      <p:sp>
        <p:nvSpPr>
          <p:cNvPr id="60" name="Text 58"/>
          <p:cNvSpPr/>
          <p:nvPr/>
        </p:nvSpPr>
        <p:spPr>
          <a:xfrm>
            <a:off x="7964424" y="3840480"/>
            <a:ext cx="777240" cy="182880"/>
          </a:xfrm>
          <a:prstGeom prst="rect">
            <a:avLst/>
          </a:prstGeom>
          <a:noFill/>
          <a:ln/>
        </p:spPr>
        <p:txBody>
          <a:bodyPr wrap="square" lIns="0" tIns="0" rIns="0" bIns="0" rtlCol="0" anchor="ctr"/>
          <a:lstStyle/>
          <a:p>
            <a:pPr algn="ct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61" name="Shape 59"/>
          <p:cNvSpPr/>
          <p:nvPr/>
        </p:nvSpPr>
        <p:spPr>
          <a:xfrm>
            <a:off x="4700016" y="4050792"/>
            <a:ext cx="4078224" cy="219456"/>
          </a:xfrm>
          <a:prstGeom prst="rect">
            <a:avLst/>
          </a:prstGeom>
          <a:solidFill>
            <a:srgbClr val="FFFFFF"/>
          </a:solidFill>
          <a:ln/>
        </p:spPr>
      </p:sp>
      <p:sp>
        <p:nvSpPr>
          <p:cNvPr id="62" name="Text 60"/>
          <p:cNvSpPr/>
          <p:nvPr/>
        </p:nvSpPr>
        <p:spPr>
          <a:xfrm>
            <a:off x="4773168" y="4069080"/>
            <a:ext cx="2377440" cy="182880"/>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Specific writing style</a:t>
            </a:r>
            <a:endParaRPr lang="en-US" sz="850" dirty="0"/>
          </a:p>
        </p:txBody>
      </p:sp>
      <p:sp>
        <p:nvSpPr>
          <p:cNvPr id="63" name="Text 61"/>
          <p:cNvSpPr/>
          <p:nvPr/>
        </p:nvSpPr>
        <p:spPr>
          <a:xfrm>
            <a:off x="7150608" y="40690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RAG</a:t>
            </a:r>
            <a:endParaRPr lang="en-US" sz="700" dirty="0"/>
          </a:p>
        </p:txBody>
      </p:sp>
      <p:sp>
        <p:nvSpPr>
          <p:cNvPr id="64" name="Text 62"/>
          <p:cNvSpPr/>
          <p:nvPr/>
        </p:nvSpPr>
        <p:spPr>
          <a:xfrm>
            <a:off x="7150608" y="4069080"/>
            <a:ext cx="777240" cy="182880"/>
          </a:xfrm>
          <a:prstGeom prst="rect">
            <a:avLst/>
          </a:prstGeom>
          <a:noFill/>
          <a:ln/>
        </p:spPr>
        <p:txBody>
          <a:bodyPr wrap="square" lIns="0" tIns="0" rIns="0" bIns="0" rtlCol="0" anchor="ctr"/>
          <a:lstStyle/>
          <a:p>
            <a:pPr algn="ct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65" name="Text 63"/>
          <p:cNvSpPr/>
          <p:nvPr/>
        </p:nvSpPr>
        <p:spPr>
          <a:xfrm>
            <a:off x="7964424" y="40690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FT</a:t>
            </a:r>
            <a:endParaRPr lang="en-US" sz="700" dirty="0"/>
          </a:p>
        </p:txBody>
      </p:sp>
      <p:sp>
        <p:nvSpPr>
          <p:cNvPr id="66" name="Text 64"/>
          <p:cNvSpPr/>
          <p:nvPr/>
        </p:nvSpPr>
        <p:spPr>
          <a:xfrm>
            <a:off x="7964424" y="4069080"/>
            <a:ext cx="777240" cy="182880"/>
          </a:xfrm>
          <a:prstGeom prst="rect">
            <a:avLst/>
          </a:prstGeom>
          <a:noFill/>
          <a:ln/>
        </p:spPr>
        <p:txBody>
          <a:bodyPr wrap="square" lIns="0" tIns="0" rIns="0" bIns="0" rtlCol="0" anchor="ctr"/>
          <a:lstStyle/>
          <a:p>
            <a:pPr algn="ct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67" name="Shape 65"/>
          <p:cNvSpPr/>
          <p:nvPr/>
        </p:nvSpPr>
        <p:spPr>
          <a:xfrm>
            <a:off x="4700016" y="4279392"/>
            <a:ext cx="4078224" cy="219456"/>
          </a:xfrm>
          <a:prstGeom prst="rect">
            <a:avLst/>
          </a:prstGeom>
          <a:solidFill>
            <a:srgbClr val="EDF1F7"/>
          </a:solidFill>
          <a:ln/>
        </p:spPr>
      </p:sp>
      <p:sp>
        <p:nvSpPr>
          <p:cNvPr id="68" name="Text 66"/>
          <p:cNvSpPr/>
          <p:nvPr/>
        </p:nvSpPr>
        <p:spPr>
          <a:xfrm>
            <a:off x="4773168" y="4297680"/>
            <a:ext cx="2377440" cy="182880"/>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Deep domain knowledge</a:t>
            </a:r>
            <a:endParaRPr lang="en-US" sz="850" dirty="0"/>
          </a:p>
        </p:txBody>
      </p:sp>
      <p:sp>
        <p:nvSpPr>
          <p:cNvPr id="69" name="Text 67"/>
          <p:cNvSpPr/>
          <p:nvPr/>
        </p:nvSpPr>
        <p:spPr>
          <a:xfrm>
            <a:off x="7150608" y="42976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RAG</a:t>
            </a:r>
            <a:endParaRPr lang="en-US" sz="700" dirty="0"/>
          </a:p>
        </p:txBody>
      </p:sp>
      <p:sp>
        <p:nvSpPr>
          <p:cNvPr id="70" name="Text 68"/>
          <p:cNvSpPr/>
          <p:nvPr/>
        </p:nvSpPr>
        <p:spPr>
          <a:xfrm>
            <a:off x="7150608" y="4297680"/>
            <a:ext cx="777240" cy="182880"/>
          </a:xfrm>
          <a:prstGeom prst="rect">
            <a:avLst/>
          </a:prstGeom>
          <a:noFill/>
          <a:ln/>
        </p:spPr>
        <p:txBody>
          <a:bodyPr wrap="square" lIns="0" tIns="0" rIns="0" bIns="0" rtlCol="0" anchor="ctr"/>
          <a:lstStyle/>
          <a:p>
            <a:pPr algn="ctr" indent="0" marL="0">
              <a:buNone/>
            </a:pPr>
            <a:r>
              <a:rPr lang="en-US" sz="1000" b="1" dirty="0">
                <a:solidFill>
                  <a:srgbClr val="9A3324"/>
                </a:solidFill>
                <a:latin typeface="Calibri" pitchFamily="34" charset="0"/>
                <a:ea typeface="Calibri" pitchFamily="34" charset="-122"/>
                <a:cs typeface="Calibri" pitchFamily="34" charset="-120"/>
              </a:rPr>
              <a:t>✗</a:t>
            </a:r>
            <a:endParaRPr lang="en-US" sz="1000" dirty="0"/>
          </a:p>
        </p:txBody>
      </p:sp>
      <p:sp>
        <p:nvSpPr>
          <p:cNvPr id="71" name="Text 69"/>
          <p:cNvSpPr/>
          <p:nvPr/>
        </p:nvSpPr>
        <p:spPr>
          <a:xfrm>
            <a:off x="7964424" y="4297680"/>
            <a:ext cx="777240" cy="182880"/>
          </a:xfrm>
          <a:prstGeom prst="rect">
            <a:avLst/>
          </a:prstGeom>
          <a:noFill/>
          <a:ln/>
        </p:spPr>
        <p:txBody>
          <a:bodyPr wrap="square" lIns="0" tIns="0" rIns="0" bIns="0" rtlCol="0" anchor="ctr"/>
          <a:lstStyle/>
          <a:p>
            <a:pPr algn="r" indent="0" marL="0">
              <a:buNone/>
            </a:pPr>
            <a:r>
              <a:rPr lang="en-US" sz="700" spc="100" kern="0" dirty="0">
                <a:solidFill>
                  <a:srgbClr val="8898AA"/>
                </a:solidFill>
                <a:latin typeface="Calibri" pitchFamily="34" charset="0"/>
                <a:ea typeface="Calibri" pitchFamily="34" charset="-122"/>
                <a:cs typeface="Calibri" pitchFamily="34" charset="-120"/>
              </a:rPr>
              <a:t>FT</a:t>
            </a:r>
            <a:endParaRPr lang="en-US" sz="700" dirty="0"/>
          </a:p>
        </p:txBody>
      </p:sp>
      <p:sp>
        <p:nvSpPr>
          <p:cNvPr id="72" name="Text 70"/>
          <p:cNvSpPr/>
          <p:nvPr/>
        </p:nvSpPr>
        <p:spPr>
          <a:xfrm>
            <a:off x="7964424" y="4297680"/>
            <a:ext cx="777240" cy="182880"/>
          </a:xfrm>
          <a:prstGeom prst="rect">
            <a:avLst/>
          </a:prstGeom>
          <a:noFill/>
          <a:ln/>
        </p:spPr>
        <p:txBody>
          <a:bodyPr wrap="square" lIns="0" tIns="0" rIns="0" bIns="0" rtlCol="0" anchor="ctr"/>
          <a:lstStyle/>
          <a:p>
            <a:pPr algn="ctr" indent="0" marL="0">
              <a:buNone/>
            </a:pPr>
            <a:r>
              <a:rPr lang="en-US" sz="1000" b="1" dirty="0">
                <a:solidFill>
                  <a:srgbClr val="5B8C6B"/>
                </a:solidFill>
                <a:latin typeface="Calibri" pitchFamily="34" charset="0"/>
                <a:ea typeface="Calibri" pitchFamily="34" charset="-122"/>
                <a:cs typeface="Calibri" pitchFamily="34" charset="-120"/>
              </a:rPr>
              <a:t>✓</a:t>
            </a:r>
            <a:endParaRPr lang="en-US" sz="1000" dirty="0"/>
          </a:p>
        </p:txBody>
      </p:sp>
      <p:sp>
        <p:nvSpPr>
          <p:cNvPr id="73" name="Shape 71"/>
          <p:cNvSpPr/>
          <p:nvPr/>
        </p:nvSpPr>
        <p:spPr>
          <a:xfrm>
            <a:off x="365760" y="4572000"/>
            <a:ext cx="8412480" cy="457200"/>
          </a:xfrm>
          <a:prstGeom prst="rect">
            <a:avLst/>
          </a:prstGeom>
          <a:solidFill>
            <a:srgbClr val="EDF1F7"/>
          </a:solidFill>
          <a:ln/>
        </p:spPr>
      </p:sp>
      <p:sp>
        <p:nvSpPr>
          <p:cNvPr id="74" name="Shape 72"/>
          <p:cNvSpPr/>
          <p:nvPr/>
        </p:nvSpPr>
        <p:spPr>
          <a:xfrm>
            <a:off x="365760" y="4572000"/>
            <a:ext cx="36576" cy="457200"/>
          </a:xfrm>
          <a:prstGeom prst="rect">
            <a:avLst/>
          </a:prstGeom>
          <a:solidFill>
            <a:srgbClr val="B8860B"/>
          </a:solidFill>
          <a:ln/>
        </p:spPr>
      </p:sp>
      <p:sp>
        <p:nvSpPr>
          <p:cNvPr id="75" name="Text 73"/>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76" name="Text 74"/>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RAG is the right first move for most enterprise AI. Fast, cost-effective, reduces hallucinations, keeps AI current — without expensive retraining cycles.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2E5266"/>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02</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EMBEDDINGS — HOW AI SEARCHES BY MEANING, NOT KEYWORDS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 Map Where Similar Things Live Near Each Other</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Plot every word on a map where meaning determines location. 'King' and 'Queen' are close. 'Apple fruit' and 'Apple Inc' are far apart. An embedding is a mathematical coordinate that captures meaning. A vector database searches this map instantly.</a:t>
            </a:r>
            <a:endParaRPr lang="en-US" sz="1000" dirty="0"/>
          </a:p>
        </p:txBody>
      </p:sp>
      <p:sp>
        <p:nvSpPr>
          <p:cNvPr id="11" name="Shape 9"/>
          <p:cNvSpPr/>
          <p:nvPr/>
        </p:nvSpPr>
        <p:spPr>
          <a:xfrm>
            <a:off x="365760" y="1847088"/>
            <a:ext cx="4078224" cy="261518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Text 10"/>
          <p:cNvSpPr/>
          <p:nvPr/>
        </p:nvSpPr>
        <p:spPr>
          <a:xfrm>
            <a:off x="457200" y="1901952"/>
            <a:ext cx="3895344" cy="219456"/>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SEMANTIC MEANING MAP</a:t>
            </a:r>
            <a:endParaRPr lang="en-US" sz="850" dirty="0"/>
          </a:p>
        </p:txBody>
      </p:sp>
      <p:sp>
        <p:nvSpPr>
          <p:cNvPr id="13" name="Shape 11"/>
          <p:cNvSpPr/>
          <p:nvPr/>
        </p:nvSpPr>
        <p:spPr>
          <a:xfrm>
            <a:off x="960120" y="2286000"/>
            <a:ext cx="731520" cy="731520"/>
          </a:xfrm>
          <a:prstGeom prst="ellipse">
            <a:avLst/>
          </a:prstGeom>
          <a:solidFill>
            <a:srgbClr val="1E3A5F">
              <a:alpha val="12000"/>
            </a:srgbClr>
          </a:solidFill>
          <a:ln/>
        </p:spPr>
      </p:sp>
      <p:sp>
        <p:nvSpPr>
          <p:cNvPr id="14" name="Shape 12"/>
          <p:cNvSpPr/>
          <p:nvPr/>
        </p:nvSpPr>
        <p:spPr>
          <a:xfrm>
            <a:off x="2606040" y="2340864"/>
            <a:ext cx="731520" cy="694944"/>
          </a:xfrm>
          <a:prstGeom prst="ellipse">
            <a:avLst/>
          </a:prstGeom>
          <a:solidFill>
            <a:srgbClr val="5B8C6B">
              <a:alpha val="12000"/>
            </a:srgbClr>
          </a:solidFill>
          <a:ln/>
        </p:spPr>
      </p:sp>
      <p:sp>
        <p:nvSpPr>
          <p:cNvPr id="15" name="Shape 13"/>
          <p:cNvSpPr/>
          <p:nvPr/>
        </p:nvSpPr>
        <p:spPr>
          <a:xfrm>
            <a:off x="1901952" y="3063240"/>
            <a:ext cx="841248" cy="548640"/>
          </a:xfrm>
          <a:prstGeom prst="ellipse">
            <a:avLst/>
          </a:prstGeom>
          <a:solidFill>
            <a:srgbClr val="0F766E">
              <a:alpha val="12000"/>
            </a:srgbClr>
          </a:solidFill>
          <a:ln/>
        </p:spPr>
      </p:sp>
      <p:sp>
        <p:nvSpPr>
          <p:cNvPr id="16" name="Shape 14"/>
          <p:cNvSpPr/>
          <p:nvPr/>
        </p:nvSpPr>
        <p:spPr>
          <a:xfrm>
            <a:off x="1042416" y="2322576"/>
            <a:ext cx="109728" cy="109728"/>
          </a:xfrm>
          <a:prstGeom prst="ellipse">
            <a:avLst/>
          </a:prstGeom>
          <a:solidFill>
            <a:srgbClr val="1E3A5F"/>
          </a:solidFill>
          <a:ln/>
        </p:spPr>
      </p:sp>
      <p:sp>
        <p:nvSpPr>
          <p:cNvPr id="17" name="Text 15"/>
          <p:cNvSpPr/>
          <p:nvPr/>
        </p:nvSpPr>
        <p:spPr>
          <a:xfrm>
            <a:off x="1170432" y="2295144"/>
            <a:ext cx="621792" cy="182880"/>
          </a:xfrm>
          <a:prstGeom prst="rect">
            <a:avLst/>
          </a:prstGeom>
          <a:noFill/>
          <a:ln/>
        </p:spPr>
        <p:txBody>
          <a:bodyPr wrap="square" lIns="0" tIns="0" rIns="0" bIns="0"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King</a:t>
            </a:r>
            <a:endParaRPr lang="en-US" sz="800" dirty="0"/>
          </a:p>
        </p:txBody>
      </p:sp>
      <p:sp>
        <p:nvSpPr>
          <p:cNvPr id="18" name="Shape 16"/>
          <p:cNvSpPr/>
          <p:nvPr/>
        </p:nvSpPr>
        <p:spPr>
          <a:xfrm>
            <a:off x="1426464" y="2487168"/>
            <a:ext cx="109728" cy="109728"/>
          </a:xfrm>
          <a:prstGeom prst="ellipse">
            <a:avLst/>
          </a:prstGeom>
          <a:solidFill>
            <a:srgbClr val="1E3A5F"/>
          </a:solidFill>
          <a:ln/>
        </p:spPr>
      </p:sp>
      <p:sp>
        <p:nvSpPr>
          <p:cNvPr id="19" name="Text 17"/>
          <p:cNvSpPr/>
          <p:nvPr/>
        </p:nvSpPr>
        <p:spPr>
          <a:xfrm>
            <a:off x="1554480" y="2459736"/>
            <a:ext cx="621792" cy="182880"/>
          </a:xfrm>
          <a:prstGeom prst="rect">
            <a:avLst/>
          </a:prstGeom>
          <a:noFill/>
          <a:ln/>
        </p:spPr>
        <p:txBody>
          <a:bodyPr wrap="square" lIns="0" tIns="0" rIns="0" bIns="0"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Queen</a:t>
            </a:r>
            <a:endParaRPr lang="en-US" sz="800" dirty="0"/>
          </a:p>
        </p:txBody>
      </p:sp>
      <p:sp>
        <p:nvSpPr>
          <p:cNvPr id="20" name="Shape 18"/>
          <p:cNvSpPr/>
          <p:nvPr/>
        </p:nvSpPr>
        <p:spPr>
          <a:xfrm>
            <a:off x="1243584" y="2779776"/>
            <a:ext cx="109728" cy="109728"/>
          </a:xfrm>
          <a:prstGeom prst="ellipse">
            <a:avLst/>
          </a:prstGeom>
          <a:solidFill>
            <a:srgbClr val="1E3A5F"/>
          </a:solidFill>
          <a:ln/>
        </p:spPr>
      </p:sp>
      <p:sp>
        <p:nvSpPr>
          <p:cNvPr id="21" name="Text 19"/>
          <p:cNvSpPr/>
          <p:nvPr/>
        </p:nvSpPr>
        <p:spPr>
          <a:xfrm>
            <a:off x="1371600" y="2752344"/>
            <a:ext cx="621792" cy="182880"/>
          </a:xfrm>
          <a:prstGeom prst="rect">
            <a:avLst/>
          </a:prstGeom>
          <a:noFill/>
          <a:ln/>
        </p:spPr>
        <p:txBody>
          <a:bodyPr wrap="square" lIns="0" tIns="0" rIns="0" bIns="0"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Prince</a:t>
            </a:r>
            <a:endParaRPr lang="en-US" sz="800" dirty="0"/>
          </a:p>
        </p:txBody>
      </p:sp>
      <p:sp>
        <p:nvSpPr>
          <p:cNvPr id="22" name="Shape 20"/>
          <p:cNvSpPr/>
          <p:nvPr/>
        </p:nvSpPr>
        <p:spPr>
          <a:xfrm>
            <a:off x="2871216" y="2377440"/>
            <a:ext cx="109728" cy="109728"/>
          </a:xfrm>
          <a:prstGeom prst="ellipse">
            <a:avLst/>
          </a:prstGeom>
          <a:solidFill>
            <a:srgbClr val="5B8C6B"/>
          </a:solidFill>
          <a:ln/>
        </p:spPr>
      </p:sp>
      <p:sp>
        <p:nvSpPr>
          <p:cNvPr id="23" name="Text 21"/>
          <p:cNvSpPr/>
          <p:nvPr/>
        </p:nvSpPr>
        <p:spPr>
          <a:xfrm>
            <a:off x="2999232" y="2350008"/>
            <a:ext cx="621792" cy="182880"/>
          </a:xfrm>
          <a:prstGeom prst="rect">
            <a:avLst/>
          </a:prstGeom>
          <a:noFill/>
          <a:ln/>
        </p:spPr>
        <p:txBody>
          <a:bodyPr wrap="square" lIns="0" tIns="0" rIns="0" bIns="0" rtlCol="0" anchor="ctr"/>
          <a:lstStyle/>
          <a:p>
            <a:pPr indent="0" marL="0">
              <a:buNone/>
            </a:pPr>
            <a:r>
              <a:rPr lang="en-US" sz="800" b="1" dirty="0">
                <a:solidFill>
                  <a:srgbClr val="5B8C6B"/>
                </a:solidFill>
                <a:latin typeface="Calibri" pitchFamily="34" charset="0"/>
                <a:ea typeface="Calibri" pitchFamily="34" charset="-122"/>
                <a:cs typeface="Calibri" pitchFamily="34" charset="-120"/>
              </a:rPr>
              <a:t>Cat</a:t>
            </a:r>
            <a:endParaRPr lang="en-US" sz="800" dirty="0"/>
          </a:p>
        </p:txBody>
      </p:sp>
      <p:sp>
        <p:nvSpPr>
          <p:cNvPr id="24" name="Shape 22"/>
          <p:cNvSpPr/>
          <p:nvPr/>
        </p:nvSpPr>
        <p:spPr>
          <a:xfrm>
            <a:off x="3127248" y="2560320"/>
            <a:ext cx="109728" cy="109728"/>
          </a:xfrm>
          <a:prstGeom prst="ellipse">
            <a:avLst/>
          </a:prstGeom>
          <a:solidFill>
            <a:srgbClr val="5B8C6B"/>
          </a:solidFill>
          <a:ln/>
        </p:spPr>
      </p:sp>
      <p:sp>
        <p:nvSpPr>
          <p:cNvPr id="25" name="Text 23"/>
          <p:cNvSpPr/>
          <p:nvPr/>
        </p:nvSpPr>
        <p:spPr>
          <a:xfrm>
            <a:off x="3255264" y="2532888"/>
            <a:ext cx="621792" cy="182880"/>
          </a:xfrm>
          <a:prstGeom prst="rect">
            <a:avLst/>
          </a:prstGeom>
          <a:noFill/>
          <a:ln/>
        </p:spPr>
        <p:txBody>
          <a:bodyPr wrap="square" lIns="0" tIns="0" rIns="0" bIns="0" rtlCol="0" anchor="ctr"/>
          <a:lstStyle/>
          <a:p>
            <a:pPr indent="0" marL="0">
              <a:buNone/>
            </a:pPr>
            <a:r>
              <a:rPr lang="en-US" sz="800" b="1" dirty="0">
                <a:solidFill>
                  <a:srgbClr val="5B8C6B"/>
                </a:solidFill>
                <a:latin typeface="Calibri" pitchFamily="34" charset="0"/>
                <a:ea typeface="Calibri" pitchFamily="34" charset="-122"/>
                <a:cs typeface="Calibri" pitchFamily="34" charset="-120"/>
              </a:rPr>
              <a:t>Dog</a:t>
            </a:r>
            <a:endParaRPr lang="en-US" sz="800" dirty="0"/>
          </a:p>
        </p:txBody>
      </p:sp>
      <p:sp>
        <p:nvSpPr>
          <p:cNvPr id="26" name="Shape 24"/>
          <p:cNvSpPr/>
          <p:nvPr/>
        </p:nvSpPr>
        <p:spPr>
          <a:xfrm>
            <a:off x="2688336" y="2779776"/>
            <a:ext cx="109728" cy="109728"/>
          </a:xfrm>
          <a:prstGeom prst="ellipse">
            <a:avLst/>
          </a:prstGeom>
          <a:solidFill>
            <a:srgbClr val="5B8C6B"/>
          </a:solidFill>
          <a:ln/>
        </p:spPr>
      </p:sp>
      <p:sp>
        <p:nvSpPr>
          <p:cNvPr id="27" name="Text 25"/>
          <p:cNvSpPr/>
          <p:nvPr/>
        </p:nvSpPr>
        <p:spPr>
          <a:xfrm>
            <a:off x="2816352" y="2752344"/>
            <a:ext cx="621792" cy="182880"/>
          </a:xfrm>
          <a:prstGeom prst="rect">
            <a:avLst/>
          </a:prstGeom>
          <a:noFill/>
          <a:ln/>
        </p:spPr>
        <p:txBody>
          <a:bodyPr wrap="square" lIns="0" tIns="0" rIns="0" bIns="0" rtlCol="0" anchor="ctr"/>
          <a:lstStyle/>
          <a:p>
            <a:pPr indent="0" marL="0">
              <a:buNone/>
            </a:pPr>
            <a:r>
              <a:rPr lang="en-US" sz="800" b="1" dirty="0">
                <a:solidFill>
                  <a:srgbClr val="5B8C6B"/>
                </a:solidFill>
                <a:latin typeface="Calibri" pitchFamily="34" charset="0"/>
                <a:ea typeface="Calibri" pitchFamily="34" charset="-122"/>
                <a:cs typeface="Calibri" pitchFamily="34" charset="-120"/>
              </a:rPr>
              <a:t>Pet</a:t>
            </a:r>
            <a:endParaRPr lang="en-US" sz="800" dirty="0"/>
          </a:p>
        </p:txBody>
      </p:sp>
      <p:sp>
        <p:nvSpPr>
          <p:cNvPr id="28" name="Shape 26"/>
          <p:cNvSpPr/>
          <p:nvPr/>
        </p:nvSpPr>
        <p:spPr>
          <a:xfrm>
            <a:off x="1956816" y="3145536"/>
            <a:ext cx="109728" cy="109728"/>
          </a:xfrm>
          <a:prstGeom prst="ellipse">
            <a:avLst/>
          </a:prstGeom>
          <a:solidFill>
            <a:srgbClr val="0F766E"/>
          </a:solidFill>
          <a:ln/>
        </p:spPr>
      </p:sp>
      <p:sp>
        <p:nvSpPr>
          <p:cNvPr id="29" name="Text 27"/>
          <p:cNvSpPr/>
          <p:nvPr/>
        </p:nvSpPr>
        <p:spPr>
          <a:xfrm>
            <a:off x="2084832" y="3118104"/>
            <a:ext cx="621792" cy="18288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Paris</a:t>
            </a:r>
            <a:endParaRPr lang="en-US" sz="800" dirty="0"/>
          </a:p>
        </p:txBody>
      </p:sp>
      <p:sp>
        <p:nvSpPr>
          <p:cNvPr id="30" name="Shape 28"/>
          <p:cNvSpPr/>
          <p:nvPr/>
        </p:nvSpPr>
        <p:spPr>
          <a:xfrm>
            <a:off x="2231136" y="3291840"/>
            <a:ext cx="109728" cy="109728"/>
          </a:xfrm>
          <a:prstGeom prst="ellipse">
            <a:avLst/>
          </a:prstGeom>
          <a:solidFill>
            <a:srgbClr val="0F766E"/>
          </a:solidFill>
          <a:ln/>
        </p:spPr>
      </p:sp>
      <p:sp>
        <p:nvSpPr>
          <p:cNvPr id="31" name="Text 29"/>
          <p:cNvSpPr/>
          <p:nvPr/>
        </p:nvSpPr>
        <p:spPr>
          <a:xfrm>
            <a:off x="2359152" y="3264408"/>
            <a:ext cx="621792" cy="18288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London</a:t>
            </a:r>
            <a:endParaRPr lang="en-US" sz="800" dirty="0"/>
          </a:p>
        </p:txBody>
      </p:sp>
      <p:sp>
        <p:nvSpPr>
          <p:cNvPr id="32" name="Shape 30"/>
          <p:cNvSpPr/>
          <p:nvPr/>
        </p:nvSpPr>
        <p:spPr>
          <a:xfrm>
            <a:off x="2505456" y="3017520"/>
            <a:ext cx="109728" cy="109728"/>
          </a:xfrm>
          <a:prstGeom prst="ellipse">
            <a:avLst/>
          </a:prstGeom>
          <a:solidFill>
            <a:srgbClr val="0F766E"/>
          </a:solidFill>
          <a:ln/>
        </p:spPr>
      </p:sp>
      <p:sp>
        <p:nvSpPr>
          <p:cNvPr id="33" name="Text 31"/>
          <p:cNvSpPr/>
          <p:nvPr/>
        </p:nvSpPr>
        <p:spPr>
          <a:xfrm>
            <a:off x="2633472" y="2990088"/>
            <a:ext cx="621792" cy="18288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Tokyo</a:t>
            </a:r>
            <a:endParaRPr lang="en-US" sz="800" dirty="0"/>
          </a:p>
        </p:txBody>
      </p:sp>
      <p:sp>
        <p:nvSpPr>
          <p:cNvPr id="34" name="Text 32"/>
          <p:cNvSpPr/>
          <p:nvPr/>
        </p:nvSpPr>
        <p:spPr>
          <a:xfrm>
            <a:off x="960120" y="3054096"/>
            <a:ext cx="822960" cy="182880"/>
          </a:xfrm>
          <a:prstGeom prst="rect">
            <a:avLst/>
          </a:prstGeom>
          <a:noFill/>
          <a:ln/>
        </p:spPr>
        <p:txBody>
          <a:bodyPr wrap="square" lIns="0" tIns="0" rIns="0" bIns="0" rtlCol="0" anchor="ctr"/>
          <a:lstStyle/>
          <a:p>
            <a:pPr algn="ctr" indent="0" marL="0">
              <a:buNone/>
            </a:pPr>
            <a:r>
              <a:rPr lang="en-US" sz="750" spc="100" kern="0" dirty="0">
                <a:solidFill>
                  <a:srgbClr val="1E3A5F"/>
                </a:solidFill>
                <a:latin typeface="Calibri" pitchFamily="34" charset="0"/>
                <a:ea typeface="Calibri" pitchFamily="34" charset="-122"/>
                <a:cs typeface="Calibri" pitchFamily="34" charset="-120"/>
              </a:rPr>
              <a:t>Royalty</a:t>
            </a:r>
            <a:endParaRPr lang="en-US" sz="750" dirty="0"/>
          </a:p>
        </p:txBody>
      </p:sp>
      <p:sp>
        <p:nvSpPr>
          <p:cNvPr id="35" name="Text 33"/>
          <p:cNvSpPr/>
          <p:nvPr/>
        </p:nvSpPr>
        <p:spPr>
          <a:xfrm>
            <a:off x="2633472" y="3072384"/>
            <a:ext cx="822960" cy="182880"/>
          </a:xfrm>
          <a:prstGeom prst="rect">
            <a:avLst/>
          </a:prstGeom>
          <a:noFill/>
          <a:ln/>
        </p:spPr>
        <p:txBody>
          <a:bodyPr wrap="square" lIns="0" tIns="0" rIns="0" bIns="0" rtlCol="0" anchor="ctr"/>
          <a:lstStyle/>
          <a:p>
            <a:pPr algn="ctr" indent="0" marL="0">
              <a:buNone/>
            </a:pPr>
            <a:r>
              <a:rPr lang="en-US" sz="750" spc="100" kern="0" dirty="0">
                <a:solidFill>
                  <a:srgbClr val="5B8C6B"/>
                </a:solidFill>
                <a:latin typeface="Calibri" pitchFamily="34" charset="0"/>
                <a:ea typeface="Calibri" pitchFamily="34" charset="-122"/>
                <a:cs typeface="Calibri" pitchFamily="34" charset="-120"/>
              </a:rPr>
              <a:t>Animals</a:t>
            </a:r>
            <a:endParaRPr lang="en-US" sz="750" dirty="0"/>
          </a:p>
        </p:txBody>
      </p:sp>
      <p:sp>
        <p:nvSpPr>
          <p:cNvPr id="36" name="Text 34"/>
          <p:cNvSpPr/>
          <p:nvPr/>
        </p:nvSpPr>
        <p:spPr>
          <a:xfrm>
            <a:off x="1920240" y="3639312"/>
            <a:ext cx="822960" cy="182880"/>
          </a:xfrm>
          <a:prstGeom prst="rect">
            <a:avLst/>
          </a:prstGeom>
          <a:noFill/>
          <a:ln/>
        </p:spPr>
        <p:txBody>
          <a:bodyPr wrap="square" lIns="0" tIns="0" rIns="0" bIns="0" rtlCol="0" anchor="ctr"/>
          <a:lstStyle/>
          <a:p>
            <a:pPr algn="ctr" indent="0" marL="0">
              <a:buNone/>
            </a:pPr>
            <a:r>
              <a:rPr lang="en-US" sz="750" spc="100" kern="0" dirty="0">
                <a:solidFill>
                  <a:srgbClr val="0F766E"/>
                </a:solidFill>
                <a:latin typeface="Calibri" pitchFamily="34" charset="0"/>
                <a:ea typeface="Calibri" pitchFamily="34" charset="-122"/>
                <a:cs typeface="Calibri" pitchFamily="34" charset="-120"/>
              </a:rPr>
              <a:t>Cities</a:t>
            </a:r>
            <a:endParaRPr lang="en-US" sz="750" dirty="0"/>
          </a:p>
        </p:txBody>
      </p:sp>
      <p:sp>
        <p:nvSpPr>
          <p:cNvPr id="37" name="Text 35"/>
          <p:cNvSpPr/>
          <p:nvPr/>
        </p:nvSpPr>
        <p:spPr>
          <a:xfrm>
            <a:off x="457200" y="4023360"/>
            <a:ext cx="3895344" cy="201168"/>
          </a:xfrm>
          <a:prstGeom prst="rect">
            <a:avLst/>
          </a:prstGeom>
          <a:noFill/>
          <a:ln/>
        </p:spPr>
        <p:txBody>
          <a:bodyPr wrap="square" lIns="0" tIns="0" rIns="0" bIns="0" rtlCol="0" anchor="ctr"/>
          <a:lstStyle/>
          <a:p>
            <a:pPr algn="ctr" indent="0" marL="0">
              <a:buNone/>
            </a:pPr>
            <a:r>
              <a:rPr lang="en-US" sz="800" i="1" dirty="0">
                <a:solidFill>
                  <a:srgbClr val="8898AA"/>
                </a:solidFill>
                <a:latin typeface="Calibri" pitchFamily="34" charset="0"/>
                <a:ea typeface="Calibri" pitchFamily="34" charset="-122"/>
                <a:cs typeface="Calibri" pitchFamily="34" charset="-120"/>
              </a:rPr>
              <a:t>Distance = meaning</a:t>
            </a:r>
            <a:endParaRPr lang="en-US" sz="800" dirty="0"/>
          </a:p>
        </p:txBody>
      </p:sp>
      <p:sp>
        <p:nvSpPr>
          <p:cNvPr id="38" name="Text 36"/>
          <p:cNvSpPr/>
          <p:nvPr/>
        </p:nvSpPr>
        <p:spPr>
          <a:xfrm>
            <a:off x="457200" y="4224528"/>
            <a:ext cx="3895344" cy="182880"/>
          </a:xfrm>
          <a:prstGeom prst="rect">
            <a:avLst/>
          </a:prstGeom>
          <a:noFill/>
          <a:ln/>
        </p:spPr>
        <p:txBody>
          <a:bodyPr wrap="square" lIns="0" tIns="0" rIns="0" bIns="0" rtlCol="0" anchor="ctr"/>
          <a:lstStyle/>
          <a:p>
            <a:pPr algn="ctr" indent="0" marL="0">
              <a:buNone/>
            </a:pPr>
            <a:r>
              <a:rPr lang="en-US" sz="750" dirty="0">
                <a:solidFill>
                  <a:srgbClr val="47596B"/>
                </a:solidFill>
                <a:latin typeface="Calibri" pitchFamily="34" charset="0"/>
                <a:ea typeface="Calibri" pitchFamily="34" charset="-122"/>
                <a:cs typeface="Calibri" pitchFamily="34" charset="-120"/>
              </a:rPr>
              <a:t>Vector DBs: Pinecone · Weaviate · Chroma · pgvector</a:t>
            </a:r>
            <a:endParaRPr lang="en-US" sz="750" dirty="0"/>
          </a:p>
        </p:txBody>
      </p:sp>
      <p:sp>
        <p:nvSpPr>
          <p:cNvPr id="39" name="Shape 37"/>
          <p:cNvSpPr/>
          <p:nvPr/>
        </p:nvSpPr>
        <p:spPr>
          <a:xfrm>
            <a:off x="4700016" y="1847088"/>
            <a:ext cx="4078224" cy="2615184"/>
          </a:xfrm>
          <a:prstGeom prst="rect">
            <a:avLst/>
          </a:prstGeom>
          <a:solidFill>
            <a:srgbClr val="FFFFFF"/>
          </a:solidFill>
          <a:ln/>
          <a:effectLst>
            <a:outerShdw sx="100000" sy="100000" kx="0" ky="0" algn="bl" rotWithShape="0" blurRad="152400" dist="38100" dir="8100000">
              <a:srgbClr val="000000">
                <a:alpha val="6000"/>
              </a:srgbClr>
            </a:outerShdw>
          </a:effectLst>
        </p:spPr>
      </p:sp>
      <p:sp>
        <p:nvSpPr>
          <p:cNvPr id="40" name="Text 38"/>
          <p:cNvSpPr/>
          <p:nvPr/>
        </p:nvSpPr>
        <p:spPr>
          <a:xfrm>
            <a:off x="4791456" y="1901952"/>
            <a:ext cx="3895344" cy="219456"/>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BUSINESS APPLICATIONS</a:t>
            </a:r>
            <a:endParaRPr lang="en-US" sz="850" dirty="0"/>
          </a:p>
        </p:txBody>
      </p:sp>
      <p:sp>
        <p:nvSpPr>
          <p:cNvPr id="41" name="Shape 39"/>
          <p:cNvSpPr/>
          <p:nvPr/>
        </p:nvSpPr>
        <p:spPr>
          <a:xfrm>
            <a:off x="4791456" y="2194560"/>
            <a:ext cx="3895344" cy="493776"/>
          </a:xfrm>
          <a:prstGeom prst="rect">
            <a:avLst/>
          </a:prstGeom>
          <a:solidFill>
            <a:srgbClr val="EDF1F7"/>
          </a:solidFill>
          <a:ln/>
        </p:spPr>
      </p:sp>
      <p:sp>
        <p:nvSpPr>
          <p:cNvPr id="42" name="Shape 40"/>
          <p:cNvSpPr/>
          <p:nvPr/>
        </p:nvSpPr>
        <p:spPr>
          <a:xfrm>
            <a:off x="4791456" y="2194560"/>
            <a:ext cx="36576" cy="493776"/>
          </a:xfrm>
          <a:prstGeom prst="rect">
            <a:avLst/>
          </a:prstGeom>
          <a:solidFill>
            <a:srgbClr val="2E5266"/>
          </a:solidFill>
          <a:ln/>
        </p:spPr>
      </p:sp>
      <p:sp>
        <p:nvSpPr>
          <p:cNvPr id="43" name="Text 41"/>
          <p:cNvSpPr/>
          <p:nvPr/>
        </p:nvSpPr>
        <p:spPr>
          <a:xfrm>
            <a:off x="4882896" y="2212848"/>
            <a:ext cx="3767328" cy="164592"/>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Semantic Search</a:t>
            </a:r>
            <a:endParaRPr lang="en-US" sz="950" dirty="0"/>
          </a:p>
        </p:txBody>
      </p:sp>
      <p:sp>
        <p:nvSpPr>
          <p:cNvPr id="44" name="Text 42"/>
          <p:cNvSpPr/>
          <p:nvPr/>
        </p:nvSpPr>
        <p:spPr>
          <a:xfrm>
            <a:off x="4882896" y="2377440"/>
            <a:ext cx="3767328" cy="14630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Find documents by meaning, no keywords needed</a:t>
            </a:r>
            <a:endParaRPr lang="en-US" sz="800" dirty="0"/>
          </a:p>
        </p:txBody>
      </p:sp>
      <p:sp>
        <p:nvSpPr>
          <p:cNvPr id="45" name="Text 43"/>
          <p:cNvSpPr/>
          <p:nvPr/>
        </p:nvSpPr>
        <p:spPr>
          <a:xfrm>
            <a:off x="4882896" y="2523744"/>
            <a:ext cx="3767328" cy="146304"/>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Legal: all contracts about 'force majeure', even if worded differently</a:t>
            </a:r>
            <a:endParaRPr lang="en-US" sz="750" dirty="0"/>
          </a:p>
        </p:txBody>
      </p:sp>
      <p:sp>
        <p:nvSpPr>
          <p:cNvPr id="46" name="Shape 44"/>
          <p:cNvSpPr/>
          <p:nvPr/>
        </p:nvSpPr>
        <p:spPr>
          <a:xfrm>
            <a:off x="4791456" y="2743200"/>
            <a:ext cx="3895344" cy="493776"/>
          </a:xfrm>
          <a:prstGeom prst="rect">
            <a:avLst/>
          </a:prstGeom>
          <a:solidFill>
            <a:srgbClr val="FFFFFF"/>
          </a:solidFill>
          <a:ln/>
        </p:spPr>
      </p:sp>
      <p:sp>
        <p:nvSpPr>
          <p:cNvPr id="47" name="Shape 45"/>
          <p:cNvSpPr/>
          <p:nvPr/>
        </p:nvSpPr>
        <p:spPr>
          <a:xfrm>
            <a:off x="4791456" y="2743200"/>
            <a:ext cx="36576" cy="493776"/>
          </a:xfrm>
          <a:prstGeom prst="rect">
            <a:avLst/>
          </a:prstGeom>
          <a:solidFill>
            <a:srgbClr val="2E5266"/>
          </a:solidFill>
          <a:ln/>
        </p:spPr>
      </p:sp>
      <p:sp>
        <p:nvSpPr>
          <p:cNvPr id="48" name="Text 46"/>
          <p:cNvSpPr/>
          <p:nvPr/>
        </p:nvSpPr>
        <p:spPr>
          <a:xfrm>
            <a:off x="4882896" y="2761488"/>
            <a:ext cx="3767328" cy="164592"/>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RAG Foundation</a:t>
            </a:r>
            <a:endParaRPr lang="en-US" sz="950" dirty="0"/>
          </a:p>
        </p:txBody>
      </p:sp>
      <p:sp>
        <p:nvSpPr>
          <p:cNvPr id="49" name="Text 47"/>
          <p:cNvSpPr/>
          <p:nvPr/>
        </p:nvSpPr>
        <p:spPr>
          <a:xfrm>
            <a:off x="4882896" y="2926080"/>
            <a:ext cx="3767328" cy="14630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Finds the right document chunks to answer questions</a:t>
            </a:r>
            <a:endParaRPr lang="en-US" sz="800" dirty="0"/>
          </a:p>
        </p:txBody>
      </p:sp>
      <p:sp>
        <p:nvSpPr>
          <p:cNvPr id="50" name="Text 48"/>
          <p:cNvSpPr/>
          <p:nvPr/>
        </p:nvSpPr>
        <p:spPr>
          <a:xfrm>
            <a:off x="4882896" y="3072384"/>
            <a:ext cx="3767328" cy="146304"/>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HR bot retrieves the right policy for 'how many sick days?'</a:t>
            </a:r>
            <a:endParaRPr lang="en-US" sz="750" dirty="0"/>
          </a:p>
        </p:txBody>
      </p:sp>
      <p:sp>
        <p:nvSpPr>
          <p:cNvPr id="51" name="Shape 49"/>
          <p:cNvSpPr/>
          <p:nvPr/>
        </p:nvSpPr>
        <p:spPr>
          <a:xfrm>
            <a:off x="4791456" y="3291840"/>
            <a:ext cx="3895344" cy="493776"/>
          </a:xfrm>
          <a:prstGeom prst="rect">
            <a:avLst/>
          </a:prstGeom>
          <a:solidFill>
            <a:srgbClr val="EDF1F7"/>
          </a:solidFill>
          <a:ln/>
        </p:spPr>
      </p:sp>
      <p:sp>
        <p:nvSpPr>
          <p:cNvPr id="52" name="Shape 50"/>
          <p:cNvSpPr/>
          <p:nvPr/>
        </p:nvSpPr>
        <p:spPr>
          <a:xfrm>
            <a:off x="4791456" y="3291840"/>
            <a:ext cx="36576" cy="493776"/>
          </a:xfrm>
          <a:prstGeom prst="rect">
            <a:avLst/>
          </a:prstGeom>
          <a:solidFill>
            <a:srgbClr val="2E5266"/>
          </a:solidFill>
          <a:ln/>
        </p:spPr>
      </p:sp>
      <p:sp>
        <p:nvSpPr>
          <p:cNvPr id="53" name="Text 51"/>
          <p:cNvSpPr/>
          <p:nvPr/>
        </p:nvSpPr>
        <p:spPr>
          <a:xfrm>
            <a:off x="4882896" y="3310128"/>
            <a:ext cx="3767328" cy="164592"/>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Duplicate Detection</a:t>
            </a:r>
            <a:endParaRPr lang="en-US" sz="950" dirty="0"/>
          </a:p>
        </p:txBody>
      </p:sp>
      <p:sp>
        <p:nvSpPr>
          <p:cNvPr id="54" name="Text 52"/>
          <p:cNvSpPr/>
          <p:nvPr/>
        </p:nvSpPr>
        <p:spPr>
          <a:xfrm>
            <a:off x="4882896" y="3474720"/>
            <a:ext cx="3767328" cy="14630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Find near-duplicate contracts or records</a:t>
            </a:r>
            <a:endParaRPr lang="en-US" sz="800" dirty="0"/>
          </a:p>
        </p:txBody>
      </p:sp>
      <p:sp>
        <p:nvSpPr>
          <p:cNvPr id="55" name="Text 53"/>
          <p:cNvSpPr/>
          <p:nvPr/>
        </p:nvSpPr>
        <p:spPr>
          <a:xfrm>
            <a:off x="4882896" y="3621024"/>
            <a:ext cx="3767328" cy="146304"/>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M&amp;A: flag similar clauses across 500 target contracts</a:t>
            </a:r>
            <a:endParaRPr lang="en-US" sz="750" dirty="0"/>
          </a:p>
        </p:txBody>
      </p:sp>
      <p:sp>
        <p:nvSpPr>
          <p:cNvPr id="56" name="Shape 54"/>
          <p:cNvSpPr/>
          <p:nvPr/>
        </p:nvSpPr>
        <p:spPr>
          <a:xfrm>
            <a:off x="4791456" y="3840480"/>
            <a:ext cx="3895344" cy="493776"/>
          </a:xfrm>
          <a:prstGeom prst="rect">
            <a:avLst/>
          </a:prstGeom>
          <a:solidFill>
            <a:srgbClr val="FFFFFF"/>
          </a:solidFill>
          <a:ln/>
        </p:spPr>
      </p:sp>
      <p:sp>
        <p:nvSpPr>
          <p:cNvPr id="57" name="Shape 55"/>
          <p:cNvSpPr/>
          <p:nvPr/>
        </p:nvSpPr>
        <p:spPr>
          <a:xfrm>
            <a:off x="4791456" y="3840480"/>
            <a:ext cx="36576" cy="493776"/>
          </a:xfrm>
          <a:prstGeom prst="rect">
            <a:avLst/>
          </a:prstGeom>
          <a:solidFill>
            <a:srgbClr val="2E5266"/>
          </a:solidFill>
          <a:ln/>
        </p:spPr>
      </p:sp>
      <p:sp>
        <p:nvSpPr>
          <p:cNvPr id="58" name="Text 56"/>
          <p:cNvSpPr/>
          <p:nvPr/>
        </p:nvSpPr>
        <p:spPr>
          <a:xfrm>
            <a:off x="4882896" y="3858768"/>
            <a:ext cx="3767328" cy="164592"/>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Recommendations</a:t>
            </a:r>
            <a:endParaRPr lang="en-US" sz="950" dirty="0"/>
          </a:p>
        </p:txBody>
      </p:sp>
      <p:sp>
        <p:nvSpPr>
          <p:cNvPr id="59" name="Text 57"/>
          <p:cNvSpPr/>
          <p:nvPr/>
        </p:nvSpPr>
        <p:spPr>
          <a:xfrm>
            <a:off x="4882896" y="4023360"/>
            <a:ext cx="3767328" cy="14630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'Related content' based on meaning, not tags</a:t>
            </a:r>
            <a:endParaRPr lang="en-US" sz="800" dirty="0"/>
          </a:p>
        </p:txBody>
      </p:sp>
      <p:sp>
        <p:nvSpPr>
          <p:cNvPr id="60" name="Text 58"/>
          <p:cNvSpPr/>
          <p:nvPr/>
        </p:nvSpPr>
        <p:spPr>
          <a:xfrm>
            <a:off x="4882896" y="4169664"/>
            <a:ext cx="3767328" cy="146304"/>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Internal: connects related SOPs automatically</a:t>
            </a:r>
            <a:endParaRPr lang="en-US" sz="750" dirty="0"/>
          </a:p>
        </p:txBody>
      </p:sp>
      <p:sp>
        <p:nvSpPr>
          <p:cNvPr id="61" name="Shape 59"/>
          <p:cNvSpPr/>
          <p:nvPr/>
        </p:nvSpPr>
        <p:spPr>
          <a:xfrm>
            <a:off x="365760" y="4572000"/>
            <a:ext cx="8412480" cy="457200"/>
          </a:xfrm>
          <a:prstGeom prst="rect">
            <a:avLst/>
          </a:prstGeom>
          <a:solidFill>
            <a:srgbClr val="EDF1F7"/>
          </a:solidFill>
          <a:ln/>
        </p:spPr>
      </p:sp>
      <p:sp>
        <p:nvSpPr>
          <p:cNvPr id="62" name="Shape 60"/>
          <p:cNvSpPr/>
          <p:nvPr/>
        </p:nvSpPr>
        <p:spPr>
          <a:xfrm>
            <a:off x="365760" y="4572000"/>
            <a:ext cx="36576" cy="457200"/>
          </a:xfrm>
          <a:prstGeom prst="rect">
            <a:avLst/>
          </a:prstGeom>
          <a:solidFill>
            <a:srgbClr val="B8860B"/>
          </a:solidFill>
          <a:ln/>
        </p:spPr>
      </p:sp>
      <p:sp>
        <p:nvSpPr>
          <p:cNvPr id="63" name="Text 61"/>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64" name="Text 62"/>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Embeddings let AI find things by meaning — not keywords. This is the foundation of RAG and every modern AI knowledge system.</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2E5266"/>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02</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FINE-TUNING — TEACHING AN EXPERT YOUR DOMAIN</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 Harvard Graduate Doing Your Company Induction</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You hire a Harvard graduate — brilliant, broadly educated. But they don't know your company's processes, tone, jargon, or specialist domain. Fine-tuning is the induction: a focused programme that specialises general intelligence for your specific context.</a:t>
            </a:r>
            <a:endParaRPr lang="en-US" sz="1000" dirty="0"/>
          </a:p>
        </p:txBody>
      </p:sp>
      <p:sp>
        <p:nvSpPr>
          <p:cNvPr id="11" name="Shape 9"/>
          <p:cNvSpPr/>
          <p:nvPr/>
        </p:nvSpPr>
        <p:spPr>
          <a:xfrm>
            <a:off x="365760" y="1847088"/>
            <a:ext cx="4023360" cy="2468880"/>
          </a:xfrm>
          <a:prstGeom prst="rect">
            <a:avLst/>
          </a:prstGeom>
          <a:solidFill>
            <a:srgbClr val="EDF1F7"/>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4023360" cy="384048"/>
          </a:xfrm>
          <a:prstGeom prst="rect">
            <a:avLst/>
          </a:prstGeom>
          <a:solidFill>
            <a:srgbClr val="47596B"/>
          </a:solidFill>
          <a:ln/>
        </p:spPr>
      </p:sp>
      <p:sp>
        <p:nvSpPr>
          <p:cNvPr id="13" name="Text 11"/>
          <p:cNvSpPr/>
          <p:nvPr/>
        </p:nvSpPr>
        <p:spPr>
          <a:xfrm>
            <a:off x="365760" y="1865376"/>
            <a:ext cx="4023360"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FOUNDATION MODEL  ·  Before</a:t>
            </a:r>
            <a:endParaRPr lang="en-US" sz="1050" dirty="0"/>
          </a:p>
        </p:txBody>
      </p:sp>
      <p:sp>
        <p:nvSpPr>
          <p:cNvPr id="14" name="Text 12"/>
          <p:cNvSpPr/>
          <p:nvPr/>
        </p:nvSpPr>
        <p:spPr>
          <a:xfrm>
            <a:off x="502920" y="2359152"/>
            <a:ext cx="164592" cy="201168"/>
          </a:xfrm>
          <a:prstGeom prst="rect">
            <a:avLst/>
          </a:prstGeom>
          <a:noFill/>
          <a:ln/>
        </p:spPr>
        <p:txBody>
          <a:bodyPr wrap="square" lIns="0" tIns="0" rIns="0" bIns="0" rtlCol="0" anchor="ctr"/>
          <a:lstStyle/>
          <a:p>
            <a:pPr indent="0" marL="0">
              <a:buNone/>
            </a:pPr>
            <a:r>
              <a:rPr lang="en-US" sz="1100" b="1" dirty="0">
                <a:solidFill>
                  <a:srgbClr val="5B8C6B"/>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713232" y="235915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Knows everything broadly</a:t>
            </a:r>
            <a:endParaRPr lang="en-US" sz="950" dirty="0"/>
          </a:p>
        </p:txBody>
      </p:sp>
      <p:sp>
        <p:nvSpPr>
          <p:cNvPr id="16" name="Text 14"/>
          <p:cNvSpPr/>
          <p:nvPr/>
        </p:nvSpPr>
        <p:spPr>
          <a:xfrm>
            <a:off x="502920" y="2724912"/>
            <a:ext cx="164592" cy="201168"/>
          </a:xfrm>
          <a:prstGeom prst="rect">
            <a:avLst/>
          </a:prstGeom>
          <a:noFill/>
          <a:ln/>
        </p:spPr>
        <p:txBody>
          <a:bodyPr wrap="square" lIns="0" tIns="0" rIns="0" bIns="0" rtlCol="0" anchor="ctr"/>
          <a:lstStyle/>
          <a:p>
            <a:pPr indent="0" marL="0">
              <a:buNone/>
            </a:pPr>
            <a:r>
              <a:rPr lang="en-US" sz="1100" b="1" dirty="0">
                <a:solidFill>
                  <a:srgbClr val="8898AA"/>
                </a:solidFill>
                <a:latin typeface="Calibri" pitchFamily="34" charset="0"/>
                <a:ea typeface="Calibri" pitchFamily="34" charset="-122"/>
                <a:cs typeface="Calibri" pitchFamily="34" charset="-120"/>
              </a:rPr>
              <a:t>–</a:t>
            </a:r>
            <a:endParaRPr lang="en-US" sz="1100" dirty="0"/>
          </a:p>
        </p:txBody>
      </p:sp>
      <p:sp>
        <p:nvSpPr>
          <p:cNvPr id="17" name="Text 15"/>
          <p:cNvSpPr/>
          <p:nvPr/>
        </p:nvSpPr>
        <p:spPr>
          <a:xfrm>
            <a:off x="713232" y="272491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Doesn't know your domain specifics</a:t>
            </a:r>
            <a:endParaRPr lang="en-US" sz="950" dirty="0"/>
          </a:p>
        </p:txBody>
      </p:sp>
      <p:sp>
        <p:nvSpPr>
          <p:cNvPr id="18" name="Text 16"/>
          <p:cNvSpPr/>
          <p:nvPr/>
        </p:nvSpPr>
        <p:spPr>
          <a:xfrm>
            <a:off x="502920" y="3090672"/>
            <a:ext cx="164592" cy="201168"/>
          </a:xfrm>
          <a:prstGeom prst="rect">
            <a:avLst/>
          </a:prstGeom>
          <a:noFill/>
          <a:ln/>
        </p:spPr>
        <p:txBody>
          <a:bodyPr wrap="square" lIns="0" tIns="0" rIns="0" bIns="0" rtlCol="0" anchor="ctr"/>
          <a:lstStyle/>
          <a:p>
            <a:pPr indent="0" marL="0">
              <a:buNone/>
            </a:pPr>
            <a:r>
              <a:rPr lang="en-US" sz="1100" b="1" dirty="0">
                <a:solidFill>
                  <a:srgbClr val="8898AA"/>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713232" y="309067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Doesn't match your brand tone or style</a:t>
            </a:r>
            <a:endParaRPr lang="en-US" sz="950" dirty="0"/>
          </a:p>
        </p:txBody>
      </p:sp>
      <p:sp>
        <p:nvSpPr>
          <p:cNvPr id="20" name="Text 18"/>
          <p:cNvSpPr/>
          <p:nvPr/>
        </p:nvSpPr>
        <p:spPr>
          <a:xfrm>
            <a:off x="502920" y="3456432"/>
            <a:ext cx="164592" cy="201168"/>
          </a:xfrm>
          <a:prstGeom prst="rect">
            <a:avLst/>
          </a:prstGeom>
          <a:noFill/>
          <a:ln/>
        </p:spPr>
        <p:txBody>
          <a:bodyPr wrap="square" lIns="0" tIns="0" rIns="0" bIns="0" rtlCol="0" anchor="ctr"/>
          <a:lstStyle/>
          <a:p>
            <a:pPr indent="0" marL="0">
              <a:buNone/>
            </a:pPr>
            <a:r>
              <a:rPr lang="en-US" sz="1100" b="1" dirty="0">
                <a:solidFill>
                  <a:srgbClr val="8898AA"/>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713232" y="345643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Generic responses to specialist queries</a:t>
            </a:r>
            <a:endParaRPr lang="en-US" sz="950" dirty="0"/>
          </a:p>
        </p:txBody>
      </p:sp>
      <p:sp>
        <p:nvSpPr>
          <p:cNvPr id="22" name="Text 20"/>
          <p:cNvSpPr/>
          <p:nvPr/>
        </p:nvSpPr>
        <p:spPr>
          <a:xfrm>
            <a:off x="502920" y="3822192"/>
            <a:ext cx="164592" cy="201168"/>
          </a:xfrm>
          <a:prstGeom prst="rect">
            <a:avLst/>
          </a:prstGeom>
          <a:noFill/>
          <a:ln/>
        </p:spPr>
        <p:txBody>
          <a:bodyPr wrap="square" lIns="0" tIns="0" rIns="0" bIns="0" rtlCol="0" anchor="ctr"/>
          <a:lstStyle/>
          <a:p>
            <a:pPr indent="0" marL="0">
              <a:buNone/>
            </a:pPr>
            <a:r>
              <a:rPr lang="en-US" sz="1100" b="1" dirty="0">
                <a:solidFill>
                  <a:srgbClr val="8898AA"/>
                </a:solidFill>
                <a:latin typeface="Calibri" pitchFamily="34" charset="0"/>
                <a:ea typeface="Calibri" pitchFamily="34" charset="-122"/>
                <a:cs typeface="Calibri" pitchFamily="34" charset="-120"/>
              </a:rPr>
              <a:t>–</a:t>
            </a:r>
            <a:endParaRPr lang="en-US" sz="1100" dirty="0"/>
          </a:p>
        </p:txBody>
      </p:sp>
      <p:sp>
        <p:nvSpPr>
          <p:cNvPr id="23" name="Text 21"/>
          <p:cNvSpPr/>
          <p:nvPr/>
        </p:nvSpPr>
        <p:spPr>
          <a:xfrm>
            <a:off x="713232" y="382219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May use wrong terminology</a:t>
            </a:r>
            <a:endParaRPr lang="en-US" sz="950" dirty="0"/>
          </a:p>
        </p:txBody>
      </p:sp>
      <p:sp>
        <p:nvSpPr>
          <p:cNvPr id="24" name="Shape 22"/>
          <p:cNvSpPr/>
          <p:nvPr/>
        </p:nvSpPr>
        <p:spPr>
          <a:xfrm>
            <a:off x="4443984" y="2907792"/>
            <a:ext cx="256032" cy="365760"/>
          </a:xfrm>
          <a:prstGeom prst="rect">
            <a:avLst/>
          </a:prstGeom>
          <a:solidFill>
            <a:srgbClr val="B8860B"/>
          </a:solidFill>
          <a:ln/>
        </p:spPr>
      </p:sp>
      <p:sp>
        <p:nvSpPr>
          <p:cNvPr id="25" name="Text 23"/>
          <p:cNvSpPr/>
          <p:nvPr/>
        </p:nvSpPr>
        <p:spPr>
          <a:xfrm>
            <a:off x="4443984" y="2907792"/>
            <a:ext cx="25603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4297680" y="3310128"/>
            <a:ext cx="548640" cy="164592"/>
          </a:xfrm>
          <a:prstGeom prst="rect">
            <a:avLst/>
          </a:prstGeom>
          <a:noFill/>
          <a:ln/>
        </p:spPr>
        <p:txBody>
          <a:bodyPr wrap="square" lIns="0" tIns="0" rIns="0" bIns="0" rtlCol="0" anchor="ctr"/>
          <a:lstStyle/>
          <a:p>
            <a:pPr algn="ctr" indent="0" marL="0">
              <a:buNone/>
            </a:pPr>
            <a:r>
              <a:rPr lang="en-US" sz="650" b="1" spc="150" kern="0" dirty="0">
                <a:solidFill>
                  <a:srgbClr val="B8860B"/>
                </a:solidFill>
                <a:latin typeface="Calibri" pitchFamily="34" charset="0"/>
                <a:ea typeface="Calibri" pitchFamily="34" charset="-122"/>
                <a:cs typeface="Calibri" pitchFamily="34" charset="-120"/>
              </a:rPr>
              <a:t>YOUR DATA</a:t>
            </a:r>
            <a:endParaRPr lang="en-US" sz="650" dirty="0"/>
          </a:p>
        </p:txBody>
      </p:sp>
      <p:sp>
        <p:nvSpPr>
          <p:cNvPr id="27" name="Shape 25"/>
          <p:cNvSpPr/>
          <p:nvPr/>
        </p:nvSpPr>
        <p:spPr>
          <a:xfrm>
            <a:off x="4754880" y="1847088"/>
            <a:ext cx="4023360" cy="2468880"/>
          </a:xfrm>
          <a:prstGeom prst="rect">
            <a:avLst/>
          </a:prstGeom>
          <a:solidFill>
            <a:srgbClr val="D1FAE5"/>
          </a:solidFill>
          <a:ln/>
          <a:effectLst>
            <a:outerShdw sx="100000" sy="100000" kx="0" ky="0" algn="bl" rotWithShape="0" blurRad="152400" dist="38100" dir="8100000">
              <a:srgbClr val="000000">
                <a:alpha val="6000"/>
              </a:srgbClr>
            </a:outerShdw>
          </a:effectLst>
        </p:spPr>
      </p:sp>
      <p:sp>
        <p:nvSpPr>
          <p:cNvPr id="28" name="Shape 26"/>
          <p:cNvSpPr/>
          <p:nvPr/>
        </p:nvSpPr>
        <p:spPr>
          <a:xfrm>
            <a:off x="4754880" y="1847088"/>
            <a:ext cx="4023360" cy="384048"/>
          </a:xfrm>
          <a:prstGeom prst="rect">
            <a:avLst/>
          </a:prstGeom>
          <a:solidFill>
            <a:srgbClr val="0F766E"/>
          </a:solidFill>
          <a:ln/>
        </p:spPr>
      </p:sp>
      <p:sp>
        <p:nvSpPr>
          <p:cNvPr id="29" name="Text 27"/>
          <p:cNvSpPr/>
          <p:nvPr/>
        </p:nvSpPr>
        <p:spPr>
          <a:xfrm>
            <a:off x="4754880" y="1865376"/>
            <a:ext cx="4023360"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FINE-TUNED MODEL  ·  After</a:t>
            </a:r>
            <a:endParaRPr lang="en-US" sz="1050" dirty="0"/>
          </a:p>
        </p:txBody>
      </p:sp>
      <p:sp>
        <p:nvSpPr>
          <p:cNvPr id="30" name="Text 28"/>
          <p:cNvSpPr/>
          <p:nvPr/>
        </p:nvSpPr>
        <p:spPr>
          <a:xfrm>
            <a:off x="4892040" y="2359152"/>
            <a:ext cx="164592" cy="201168"/>
          </a:xfrm>
          <a:prstGeom prst="rect">
            <a:avLst/>
          </a:prstGeom>
          <a:noFill/>
          <a:ln/>
        </p:spPr>
        <p:txBody>
          <a:bodyPr wrap="square" lIns="0" tIns="0" rIns="0" bIns="0" rtlCol="0" anchor="ctr"/>
          <a:lstStyle/>
          <a:p>
            <a:pPr indent="0" marL="0">
              <a:buNone/>
            </a:pPr>
            <a:r>
              <a:rPr lang="en-US" sz="1100" b="1" dirty="0">
                <a:solidFill>
                  <a:srgbClr val="5B8C6B"/>
                </a:solidFill>
                <a:latin typeface="Calibri" pitchFamily="34" charset="0"/>
                <a:ea typeface="Calibri" pitchFamily="34" charset="-122"/>
                <a:cs typeface="Calibri" pitchFamily="34" charset="-120"/>
              </a:rPr>
              <a:t>✓</a:t>
            </a:r>
            <a:endParaRPr lang="en-US" sz="1100" dirty="0"/>
          </a:p>
        </p:txBody>
      </p:sp>
      <p:sp>
        <p:nvSpPr>
          <p:cNvPr id="31" name="Text 29"/>
          <p:cNvSpPr/>
          <p:nvPr/>
        </p:nvSpPr>
        <p:spPr>
          <a:xfrm>
            <a:off x="5102352" y="235915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Retains all general knowledge</a:t>
            </a:r>
            <a:endParaRPr lang="en-US" sz="950" dirty="0"/>
          </a:p>
        </p:txBody>
      </p:sp>
      <p:sp>
        <p:nvSpPr>
          <p:cNvPr id="32" name="Text 30"/>
          <p:cNvSpPr/>
          <p:nvPr/>
        </p:nvSpPr>
        <p:spPr>
          <a:xfrm>
            <a:off x="4892040" y="2724912"/>
            <a:ext cx="164592" cy="201168"/>
          </a:xfrm>
          <a:prstGeom prst="rect">
            <a:avLst/>
          </a:prstGeom>
          <a:noFill/>
          <a:ln/>
        </p:spPr>
        <p:txBody>
          <a:bodyPr wrap="square" lIns="0" tIns="0" rIns="0" bIns="0" rtlCol="0" anchor="ctr"/>
          <a:lstStyle/>
          <a:p>
            <a:pPr indent="0" marL="0">
              <a:buNone/>
            </a:pPr>
            <a:r>
              <a:rPr lang="en-US" sz="1100" b="1" dirty="0">
                <a:solidFill>
                  <a:srgbClr val="5B8C6B"/>
                </a:solidFill>
                <a:latin typeface="Calibri" pitchFamily="34" charset="0"/>
                <a:ea typeface="Calibri" pitchFamily="34" charset="-122"/>
                <a:cs typeface="Calibri" pitchFamily="34" charset="-120"/>
              </a:rPr>
              <a:t>✓</a:t>
            </a:r>
            <a:endParaRPr lang="en-US" sz="1100" dirty="0"/>
          </a:p>
        </p:txBody>
      </p:sp>
      <p:sp>
        <p:nvSpPr>
          <p:cNvPr id="33" name="Text 31"/>
          <p:cNvSpPr/>
          <p:nvPr/>
        </p:nvSpPr>
        <p:spPr>
          <a:xfrm>
            <a:off x="5102352" y="272491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Deep domain expertise baked in</a:t>
            </a:r>
            <a:endParaRPr lang="en-US" sz="950" dirty="0"/>
          </a:p>
        </p:txBody>
      </p:sp>
      <p:sp>
        <p:nvSpPr>
          <p:cNvPr id="34" name="Text 32"/>
          <p:cNvSpPr/>
          <p:nvPr/>
        </p:nvSpPr>
        <p:spPr>
          <a:xfrm>
            <a:off x="4892040" y="3090672"/>
            <a:ext cx="164592" cy="201168"/>
          </a:xfrm>
          <a:prstGeom prst="rect">
            <a:avLst/>
          </a:prstGeom>
          <a:noFill/>
          <a:ln/>
        </p:spPr>
        <p:txBody>
          <a:bodyPr wrap="square" lIns="0" tIns="0" rIns="0" bIns="0" rtlCol="0" anchor="ctr"/>
          <a:lstStyle/>
          <a:p>
            <a:pPr indent="0" marL="0">
              <a:buNone/>
            </a:pPr>
            <a:r>
              <a:rPr lang="en-US" sz="1100" b="1" dirty="0">
                <a:solidFill>
                  <a:srgbClr val="5B8C6B"/>
                </a:solidFill>
                <a:latin typeface="Calibri" pitchFamily="34" charset="0"/>
                <a:ea typeface="Calibri" pitchFamily="34" charset="-122"/>
                <a:cs typeface="Calibri" pitchFamily="34" charset="-120"/>
              </a:rPr>
              <a:t>✓</a:t>
            </a:r>
            <a:endParaRPr lang="en-US" sz="1100" dirty="0"/>
          </a:p>
        </p:txBody>
      </p:sp>
      <p:sp>
        <p:nvSpPr>
          <p:cNvPr id="35" name="Text 33"/>
          <p:cNvSpPr/>
          <p:nvPr/>
        </p:nvSpPr>
        <p:spPr>
          <a:xfrm>
            <a:off x="5102352" y="309067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Matches your brand tone and style</a:t>
            </a:r>
            <a:endParaRPr lang="en-US" sz="950" dirty="0"/>
          </a:p>
        </p:txBody>
      </p:sp>
      <p:sp>
        <p:nvSpPr>
          <p:cNvPr id="36" name="Text 34"/>
          <p:cNvSpPr/>
          <p:nvPr/>
        </p:nvSpPr>
        <p:spPr>
          <a:xfrm>
            <a:off x="4892040" y="3456432"/>
            <a:ext cx="164592" cy="201168"/>
          </a:xfrm>
          <a:prstGeom prst="rect">
            <a:avLst/>
          </a:prstGeom>
          <a:noFill/>
          <a:ln/>
        </p:spPr>
        <p:txBody>
          <a:bodyPr wrap="square" lIns="0" tIns="0" rIns="0" bIns="0" rtlCol="0" anchor="ctr"/>
          <a:lstStyle/>
          <a:p>
            <a:pPr indent="0" marL="0">
              <a:buNone/>
            </a:pPr>
            <a:r>
              <a:rPr lang="en-US" sz="1100" b="1" dirty="0">
                <a:solidFill>
                  <a:srgbClr val="5B8C6B"/>
                </a:solidFill>
                <a:latin typeface="Calibri" pitchFamily="34" charset="0"/>
                <a:ea typeface="Calibri" pitchFamily="34" charset="-122"/>
                <a:cs typeface="Calibri" pitchFamily="34" charset="-120"/>
              </a:rPr>
              <a:t>✓</a:t>
            </a:r>
            <a:endParaRPr lang="en-US" sz="1100" dirty="0"/>
          </a:p>
        </p:txBody>
      </p:sp>
      <p:sp>
        <p:nvSpPr>
          <p:cNvPr id="37" name="Text 35"/>
          <p:cNvSpPr/>
          <p:nvPr/>
        </p:nvSpPr>
        <p:spPr>
          <a:xfrm>
            <a:off x="5102352" y="345643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Specialised responses to your queries</a:t>
            </a:r>
            <a:endParaRPr lang="en-US" sz="950" dirty="0"/>
          </a:p>
        </p:txBody>
      </p:sp>
      <p:sp>
        <p:nvSpPr>
          <p:cNvPr id="38" name="Text 36"/>
          <p:cNvSpPr/>
          <p:nvPr/>
        </p:nvSpPr>
        <p:spPr>
          <a:xfrm>
            <a:off x="4892040" y="3822192"/>
            <a:ext cx="164592" cy="201168"/>
          </a:xfrm>
          <a:prstGeom prst="rect">
            <a:avLst/>
          </a:prstGeom>
          <a:noFill/>
          <a:ln/>
        </p:spPr>
        <p:txBody>
          <a:bodyPr wrap="square" lIns="0" tIns="0" rIns="0" bIns="0" rtlCol="0" anchor="ctr"/>
          <a:lstStyle/>
          <a:p>
            <a:pPr indent="0" marL="0">
              <a:buNone/>
            </a:pPr>
            <a:r>
              <a:rPr lang="en-US" sz="1100" b="1" dirty="0">
                <a:solidFill>
                  <a:srgbClr val="5B8C6B"/>
                </a:solidFill>
                <a:latin typeface="Calibri" pitchFamily="34" charset="0"/>
                <a:ea typeface="Calibri" pitchFamily="34" charset="-122"/>
                <a:cs typeface="Calibri" pitchFamily="34" charset="-120"/>
              </a:rPr>
              <a:t>✓</a:t>
            </a:r>
            <a:endParaRPr lang="en-US" sz="1100" dirty="0"/>
          </a:p>
        </p:txBody>
      </p:sp>
      <p:sp>
        <p:nvSpPr>
          <p:cNvPr id="39" name="Text 37"/>
          <p:cNvSpPr/>
          <p:nvPr/>
        </p:nvSpPr>
        <p:spPr>
          <a:xfrm>
            <a:off x="5102352" y="3822192"/>
            <a:ext cx="3584448" cy="292608"/>
          </a:xfrm>
          <a:prstGeom prst="rect">
            <a:avLst/>
          </a:prstGeom>
          <a:noFill/>
          <a:ln/>
        </p:spPr>
        <p:txBody>
          <a:bodyPr wrap="square" lIns="0" tIns="0" rIns="0" bIns="0" rtlCol="0" anchor="ctr"/>
          <a:lstStyle/>
          <a:p>
            <a:pPr indent="0" marL="0">
              <a:buNone/>
            </a:pPr>
            <a:r>
              <a:rPr lang="en-US" sz="950" dirty="0">
                <a:solidFill>
                  <a:srgbClr val="47596B"/>
                </a:solidFill>
                <a:latin typeface="Calibri" pitchFamily="34" charset="0"/>
                <a:ea typeface="Calibri" pitchFamily="34" charset="-122"/>
                <a:cs typeface="Calibri" pitchFamily="34" charset="-120"/>
              </a:rPr>
              <a:t>Uses your exact terminology</a:t>
            </a:r>
            <a:endParaRPr lang="en-US" sz="950" dirty="0"/>
          </a:p>
        </p:txBody>
      </p:sp>
      <p:sp>
        <p:nvSpPr>
          <p:cNvPr id="40" name="Shape 38"/>
          <p:cNvSpPr/>
          <p:nvPr/>
        </p:nvSpPr>
        <p:spPr>
          <a:xfrm>
            <a:off x="365760" y="4407408"/>
            <a:ext cx="8412480" cy="146304"/>
          </a:xfrm>
          <a:prstGeom prst="rect">
            <a:avLst/>
          </a:prstGeom>
          <a:solidFill>
            <a:srgbClr val="F4E4BC"/>
          </a:solidFill>
          <a:ln/>
        </p:spPr>
      </p:sp>
      <p:sp>
        <p:nvSpPr>
          <p:cNvPr id="41" name="Text 39"/>
          <p:cNvSpPr/>
          <p:nvPr/>
        </p:nvSpPr>
        <p:spPr>
          <a:xfrm>
            <a:off x="457200" y="4416552"/>
            <a:ext cx="8229600" cy="128016"/>
          </a:xfrm>
          <a:prstGeom prst="rect">
            <a:avLst/>
          </a:prstGeom>
          <a:noFill/>
          <a:ln/>
        </p:spPr>
        <p:txBody>
          <a:bodyPr wrap="square" lIns="0" tIns="0" rIns="0" bIns="0" rtlCol="0" anchor="ctr"/>
          <a:lstStyle/>
          <a:p>
            <a:pPr indent="0" marL="0">
              <a:buNone/>
            </a:pPr>
            <a:r>
              <a:rPr lang="en-US" sz="800" dirty="0">
                <a:solidFill>
                  <a:srgbClr val="0A2540"/>
                </a:solidFill>
                <a:latin typeface="Calibri" pitchFamily="34" charset="0"/>
                <a:ea typeface="Calibri" pitchFamily="34" charset="-122"/>
                <a:cs typeface="Calibri" pitchFamily="34" charset="-120"/>
              </a:rPr>
              <a:t>Cost: days to weeks  ·  Data: 1,000–100,000 quality examples  ·  Real examples: Bloomberg GPT (finance) · Med-PaLM (medicine) · Harvey AI (legal)</a:t>
            </a:r>
            <a:endParaRPr lang="en-US" sz="800" dirty="0"/>
          </a:p>
        </p:txBody>
      </p:sp>
      <p:sp>
        <p:nvSpPr>
          <p:cNvPr id="42" name="Shape 40"/>
          <p:cNvSpPr/>
          <p:nvPr/>
        </p:nvSpPr>
        <p:spPr>
          <a:xfrm>
            <a:off x="365760" y="4572000"/>
            <a:ext cx="8412480" cy="457200"/>
          </a:xfrm>
          <a:prstGeom prst="rect">
            <a:avLst/>
          </a:prstGeom>
          <a:solidFill>
            <a:srgbClr val="EDF1F7"/>
          </a:solidFill>
          <a:ln/>
        </p:spPr>
      </p:sp>
      <p:sp>
        <p:nvSpPr>
          <p:cNvPr id="43" name="Shape 41"/>
          <p:cNvSpPr/>
          <p:nvPr/>
        </p:nvSpPr>
        <p:spPr>
          <a:xfrm>
            <a:off x="365760" y="4572000"/>
            <a:ext cx="36576" cy="457200"/>
          </a:xfrm>
          <a:prstGeom prst="rect">
            <a:avLst/>
          </a:prstGeom>
          <a:solidFill>
            <a:srgbClr val="B8860B"/>
          </a:solidFill>
          <a:ln/>
        </p:spPr>
      </p:sp>
      <p:sp>
        <p:nvSpPr>
          <p:cNvPr id="44" name="Text 42"/>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45" name="Text 43"/>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Fine-tuning is the middle path between 'use a generic model' and 'train from scratch'. Best for domain-specific data, high-volume, and consistent tone requirements.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F766E"/>
          </a:solidFill>
          <a:ln/>
        </p:spPr>
      </p:sp>
      <p:sp>
        <p:nvSpPr>
          <p:cNvPr id="3" name="Shape 1"/>
          <p:cNvSpPr/>
          <p:nvPr/>
        </p:nvSpPr>
        <p:spPr>
          <a:xfrm>
            <a:off x="0" y="5084064"/>
            <a:ext cx="9144000" cy="54864"/>
          </a:xfrm>
          <a:prstGeom prst="rect">
            <a:avLst/>
          </a:prstGeom>
          <a:solidFill>
            <a:srgbClr val="B8860B"/>
          </a:solidFill>
          <a:ln/>
        </p:spPr>
      </p:sp>
      <p:sp>
        <p:nvSpPr>
          <p:cNvPr id="4" name="Text 2"/>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28000" b="1" dirty="0">
                <a:solidFill>
                  <a:srgbClr val="0F766E"/>
                </a:solidFill>
                <a:latin typeface="Calibri" pitchFamily="34" charset="0"/>
                <a:ea typeface="Calibri" pitchFamily="34" charset="-122"/>
                <a:cs typeface="Calibri" pitchFamily="34" charset="-120"/>
              </a:rPr>
              <a:t>03</a:t>
            </a:r>
            <a:endParaRPr lang="en-US" sz="28000" dirty="0"/>
          </a:p>
        </p:txBody>
      </p:sp>
      <p:sp>
        <p:nvSpPr>
          <p:cNvPr id="5" name="Text 3"/>
          <p:cNvSpPr/>
          <p:nvPr/>
        </p:nvSpPr>
        <p:spPr>
          <a:xfrm>
            <a:off x="457200" y="1097280"/>
            <a:ext cx="4572000" cy="329184"/>
          </a:xfrm>
          <a:prstGeom prst="rect">
            <a:avLst/>
          </a:prstGeom>
          <a:noFill/>
          <a:ln/>
        </p:spPr>
        <p:txBody>
          <a:bodyPr wrap="square" lIns="0" tIns="0" rIns="0" bIns="0" rtlCol="0" anchor="ctr"/>
          <a:lstStyle/>
          <a:p>
            <a:pPr indent="0" marL="0">
              <a:buNone/>
            </a:pPr>
            <a:r>
              <a:rPr lang="en-US" sz="1000" b="1" spc="400" kern="0" dirty="0">
                <a:solidFill>
                  <a:srgbClr val="B8860B"/>
                </a:solidFill>
                <a:latin typeface="Calibri" pitchFamily="34" charset="0"/>
                <a:ea typeface="Calibri" pitchFamily="34" charset="-122"/>
                <a:cs typeface="Calibri" pitchFamily="34" charset="-120"/>
              </a:rPr>
              <a:t>CHAPTER 03</a:t>
            </a:r>
            <a:endParaRPr lang="en-US" sz="1000" dirty="0"/>
          </a:p>
        </p:txBody>
      </p:sp>
      <p:sp>
        <p:nvSpPr>
          <p:cNvPr id="6" name="Text 4"/>
          <p:cNvSpPr/>
          <p:nvPr/>
        </p:nvSpPr>
        <p:spPr>
          <a:xfrm>
            <a:off x="457200" y="1463040"/>
            <a:ext cx="457200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GenAI In Depth</a:t>
            </a:r>
            <a:endParaRPr lang="en-US" sz="4000" dirty="0"/>
          </a:p>
        </p:txBody>
      </p:sp>
      <p:sp>
        <p:nvSpPr>
          <p:cNvPr id="7" name="Shape 5"/>
          <p:cNvSpPr/>
          <p:nvPr/>
        </p:nvSpPr>
        <p:spPr>
          <a:xfrm>
            <a:off x="457200" y="2834640"/>
            <a:ext cx="1097280" cy="36576"/>
          </a:xfrm>
          <a:prstGeom prst="rect">
            <a:avLst/>
          </a:prstGeom>
          <a:solidFill>
            <a:srgbClr val="B8860B"/>
          </a:solidFill>
          <a:ln/>
        </p:spPr>
      </p:sp>
      <p:sp>
        <p:nvSpPr>
          <p:cNvPr id="8" name="Text 6"/>
          <p:cNvSpPr/>
          <p:nvPr/>
        </p:nvSpPr>
        <p:spPr>
          <a:xfrm>
            <a:off x="457200" y="2962656"/>
            <a:ext cx="4572000" cy="548640"/>
          </a:xfrm>
          <a:prstGeom prst="rect">
            <a:avLst/>
          </a:prstGeom>
          <a:noFill/>
          <a:ln/>
        </p:spPr>
        <p:txBody>
          <a:bodyPr wrap="square" lIns="0" tIns="0" rIns="0" bIns="0" rtlCol="0" anchor="ctr"/>
          <a:lstStyle/>
          <a:p>
            <a:pPr indent="0" marL="0">
              <a:buNone/>
            </a:pPr>
            <a:r>
              <a:rPr lang="en-US" sz="1150" i="1" dirty="0">
                <a:solidFill>
                  <a:srgbClr val="EDF1F7"/>
                </a:solidFill>
                <a:latin typeface="Calibri" pitchFamily="34" charset="0"/>
                <a:ea typeface="Calibri" pitchFamily="34" charset="-122"/>
                <a:cs typeface="Calibri" pitchFamily="34" charset="-120"/>
              </a:rPr>
              <a:t>Model landscape, image and video generation, hallucinations, knowledge cutoffs, and the full GenAI family.</a:t>
            </a:r>
            <a:endParaRPr lang="en-US" sz="1150" dirty="0"/>
          </a:p>
        </p:txBody>
      </p:sp>
      <p:sp>
        <p:nvSpPr>
          <p:cNvPr id="9" name="Text 7"/>
          <p:cNvSpPr/>
          <p:nvPr/>
        </p:nvSpPr>
        <p:spPr>
          <a:xfrm>
            <a:off x="457200" y="3657600"/>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The GenAI family tree — not just chatbots</a:t>
            </a:r>
            <a:endParaRPr lang="en-US" sz="950" dirty="0"/>
          </a:p>
        </p:txBody>
      </p:sp>
      <p:sp>
        <p:nvSpPr>
          <p:cNvPr id="10" name="Text 8"/>
          <p:cNvSpPr/>
          <p:nvPr/>
        </p:nvSpPr>
        <p:spPr>
          <a:xfrm>
            <a:off x="457200" y="3895344"/>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The model landscape — who is who</a:t>
            </a:r>
            <a:endParaRPr lang="en-US" sz="950" dirty="0"/>
          </a:p>
        </p:txBody>
      </p:sp>
      <p:sp>
        <p:nvSpPr>
          <p:cNvPr id="11" name="Text 9"/>
          <p:cNvSpPr/>
          <p:nvPr/>
        </p:nvSpPr>
        <p:spPr>
          <a:xfrm>
            <a:off x="457200" y="4133088"/>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Hallucinations — the structural limitation</a:t>
            </a:r>
            <a:endParaRPr lang="en-US" sz="950" dirty="0"/>
          </a:p>
        </p:txBody>
      </p:sp>
      <p:sp>
        <p:nvSpPr>
          <p:cNvPr id="12" name="Text 10"/>
          <p:cNvSpPr/>
          <p:nvPr/>
        </p:nvSpPr>
        <p:spPr>
          <a:xfrm>
            <a:off x="457200" y="4370832"/>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The knowledge cutoff timeline</a:t>
            </a:r>
            <a:endParaRPr lang="en-US" sz="950" dirty="0"/>
          </a:p>
        </p:txBody>
      </p:sp>
      <p:sp>
        <p:nvSpPr>
          <p:cNvPr id="13" name="Text 11"/>
          <p:cNvSpPr/>
          <p:nvPr/>
        </p:nvSpPr>
        <p:spPr>
          <a:xfrm>
            <a:off x="457200" y="4608576"/>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How to bridge what the model doesn't know</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0F766E"/>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03</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GenAI FAMILY TREE — IT IS NOT JUST CHATBOTS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Text 5"/>
          <p:cNvSpPr/>
          <p:nvPr/>
        </p:nvSpPr>
        <p:spPr>
          <a:xfrm>
            <a:off x="365760" y="768096"/>
            <a:ext cx="8412480" cy="237744"/>
          </a:xfrm>
          <a:prstGeom prst="rect">
            <a:avLst/>
          </a:prstGeom>
          <a:noFill/>
          <a:ln/>
        </p:spPr>
        <p:txBody>
          <a:bodyPr wrap="square" lIns="0" tIns="0" rIns="0" bIns="0" rtlCol="0" anchor="ctr"/>
          <a:lstStyle/>
          <a:p>
            <a:pPr indent="0" marL="0">
              <a:buNone/>
            </a:pPr>
            <a:r>
              <a:rPr lang="en-US" sz="1050" i="1" dirty="0">
                <a:solidFill>
                  <a:srgbClr val="47596B"/>
                </a:solidFill>
                <a:latin typeface="Calibri" pitchFamily="34" charset="0"/>
                <a:ea typeface="Calibri" pitchFamily="34" charset="-122"/>
                <a:cs typeface="Calibri" pitchFamily="34" charset="-120"/>
              </a:rPr>
              <a:t>Most leadership discussions focus only on text chatbots — the tip of the iceberg. GenAI is a family of six distinct technologies.</a:t>
            </a:r>
            <a:endParaRPr lang="en-US" sz="1050" dirty="0"/>
          </a:p>
        </p:txBody>
      </p:sp>
      <p:sp>
        <p:nvSpPr>
          <p:cNvPr id="8" name="Shape 6"/>
          <p:cNvSpPr/>
          <p:nvPr/>
        </p:nvSpPr>
        <p:spPr>
          <a:xfrm>
            <a:off x="365760" y="1115568"/>
            <a:ext cx="3986784" cy="109728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9" name="Shape 7"/>
          <p:cNvSpPr/>
          <p:nvPr/>
        </p:nvSpPr>
        <p:spPr>
          <a:xfrm>
            <a:off x="365760" y="1115568"/>
            <a:ext cx="36576" cy="1097280"/>
          </a:xfrm>
          <a:prstGeom prst="rect">
            <a:avLst/>
          </a:prstGeom>
          <a:solidFill>
            <a:srgbClr val="0F766E"/>
          </a:solidFill>
          <a:ln/>
        </p:spPr>
      </p:sp>
      <p:sp>
        <p:nvSpPr>
          <p:cNvPr id="10" name="Text 8"/>
          <p:cNvSpPr/>
          <p:nvPr/>
        </p:nvSpPr>
        <p:spPr>
          <a:xfrm>
            <a:off x="493776" y="1188720"/>
            <a:ext cx="3803904"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TEXT &amp; LANGUAGE</a:t>
            </a:r>
            <a:endParaRPr lang="en-US" sz="1050" dirty="0"/>
          </a:p>
        </p:txBody>
      </p:sp>
      <p:sp>
        <p:nvSpPr>
          <p:cNvPr id="11" name="Text 9"/>
          <p:cNvSpPr/>
          <p:nvPr/>
        </p:nvSpPr>
        <p:spPr>
          <a:xfrm>
            <a:off x="493776" y="1426464"/>
            <a:ext cx="3803904" cy="18288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ChatGPT · Claude · Gemini · Mistral · LLaMA</a:t>
            </a:r>
            <a:endParaRPr lang="en-US" sz="800" dirty="0"/>
          </a:p>
        </p:txBody>
      </p:sp>
      <p:sp>
        <p:nvSpPr>
          <p:cNvPr id="12" name="Text 10"/>
          <p:cNvSpPr/>
          <p:nvPr/>
        </p:nvSpPr>
        <p:spPr>
          <a:xfrm>
            <a:off x="493776" y="1609344"/>
            <a:ext cx="3803904" cy="18288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Writing, summarising, analysis, Q&amp;A, translation, customer service</a:t>
            </a:r>
            <a:endParaRPr lang="en-US" sz="850" dirty="0"/>
          </a:p>
        </p:txBody>
      </p:sp>
      <p:sp>
        <p:nvSpPr>
          <p:cNvPr id="13" name="Shape 11"/>
          <p:cNvSpPr/>
          <p:nvPr/>
        </p:nvSpPr>
        <p:spPr>
          <a:xfrm>
            <a:off x="493776" y="1828800"/>
            <a:ext cx="3803904" cy="18288"/>
          </a:xfrm>
          <a:prstGeom prst="rect">
            <a:avLst/>
          </a:prstGeom>
          <a:solidFill>
            <a:srgbClr val="D8DEE9"/>
          </a:solidFill>
          <a:ln/>
        </p:spPr>
      </p:sp>
      <p:sp>
        <p:nvSpPr>
          <p:cNvPr id="14" name="Text 12"/>
          <p:cNvSpPr/>
          <p:nvPr/>
        </p:nvSpPr>
        <p:spPr>
          <a:xfrm>
            <a:off x="493776" y="1865376"/>
            <a:ext cx="3803904" cy="274320"/>
          </a:xfrm>
          <a:prstGeom prst="rect">
            <a:avLst/>
          </a:prstGeom>
          <a:noFill/>
          <a:ln/>
        </p:spPr>
        <p:txBody>
          <a:bodyPr wrap="square" lIns="0" tIns="0" rIns="0" bIns="0" rtlCol="0" anchor="ctr"/>
          <a:lstStyle/>
          <a:p>
            <a:pPr indent="0" marL="0">
              <a:buNone/>
            </a:pPr>
            <a:r>
              <a:rPr lang="en-US" sz="800" i="1" dirty="0">
                <a:solidFill>
                  <a:srgbClr val="B8860B"/>
                </a:solidFill>
                <a:latin typeface="Calibri" pitchFamily="34" charset="0"/>
                <a:ea typeface="Calibri" pitchFamily="34" charset="-122"/>
                <a:cs typeface="Calibri" pitchFamily="34" charset="-120"/>
              </a:rPr>
              <a:t>e.g.  A law firm uses Claude to summarise 500-page contracts in 2 minutes</a:t>
            </a:r>
            <a:endParaRPr lang="en-US" sz="800" dirty="0"/>
          </a:p>
        </p:txBody>
      </p:sp>
      <p:sp>
        <p:nvSpPr>
          <p:cNvPr id="15" name="Shape 13"/>
          <p:cNvSpPr/>
          <p:nvPr/>
        </p:nvSpPr>
        <p:spPr>
          <a:xfrm>
            <a:off x="4590288" y="1115568"/>
            <a:ext cx="3986784" cy="109728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6" name="Shape 14"/>
          <p:cNvSpPr/>
          <p:nvPr/>
        </p:nvSpPr>
        <p:spPr>
          <a:xfrm>
            <a:off x="4590288" y="1115568"/>
            <a:ext cx="36576" cy="1097280"/>
          </a:xfrm>
          <a:prstGeom prst="rect">
            <a:avLst/>
          </a:prstGeom>
          <a:solidFill>
            <a:srgbClr val="0F766E"/>
          </a:solidFill>
          <a:ln/>
        </p:spPr>
      </p:sp>
      <p:sp>
        <p:nvSpPr>
          <p:cNvPr id="17" name="Text 15"/>
          <p:cNvSpPr/>
          <p:nvPr/>
        </p:nvSpPr>
        <p:spPr>
          <a:xfrm>
            <a:off x="4718304" y="1188720"/>
            <a:ext cx="3803904"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CODE GENERATION</a:t>
            </a:r>
            <a:endParaRPr lang="en-US" sz="1050" dirty="0"/>
          </a:p>
        </p:txBody>
      </p:sp>
      <p:sp>
        <p:nvSpPr>
          <p:cNvPr id="18" name="Text 16"/>
          <p:cNvSpPr/>
          <p:nvPr/>
        </p:nvSpPr>
        <p:spPr>
          <a:xfrm>
            <a:off x="4718304" y="1426464"/>
            <a:ext cx="3803904" cy="18288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GitHub Copilot · Cursor · Devin · CodeWhisperer</a:t>
            </a:r>
            <a:endParaRPr lang="en-US" sz="800" dirty="0"/>
          </a:p>
        </p:txBody>
      </p:sp>
      <p:sp>
        <p:nvSpPr>
          <p:cNvPr id="19" name="Text 17"/>
          <p:cNvSpPr/>
          <p:nvPr/>
        </p:nvSpPr>
        <p:spPr>
          <a:xfrm>
            <a:off x="4718304" y="1609344"/>
            <a:ext cx="3803904" cy="18288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Write, review, debug, document, test software</a:t>
            </a:r>
            <a:endParaRPr lang="en-US" sz="850" dirty="0"/>
          </a:p>
        </p:txBody>
      </p:sp>
      <p:sp>
        <p:nvSpPr>
          <p:cNvPr id="20" name="Shape 18"/>
          <p:cNvSpPr/>
          <p:nvPr/>
        </p:nvSpPr>
        <p:spPr>
          <a:xfrm>
            <a:off x="4718304" y="1828800"/>
            <a:ext cx="3803904" cy="18288"/>
          </a:xfrm>
          <a:prstGeom prst="rect">
            <a:avLst/>
          </a:prstGeom>
          <a:solidFill>
            <a:srgbClr val="D8DEE9"/>
          </a:solidFill>
          <a:ln/>
        </p:spPr>
      </p:sp>
      <p:sp>
        <p:nvSpPr>
          <p:cNvPr id="21" name="Text 19"/>
          <p:cNvSpPr/>
          <p:nvPr/>
        </p:nvSpPr>
        <p:spPr>
          <a:xfrm>
            <a:off x="4718304" y="1865376"/>
            <a:ext cx="3803904" cy="274320"/>
          </a:xfrm>
          <a:prstGeom prst="rect">
            <a:avLst/>
          </a:prstGeom>
          <a:noFill/>
          <a:ln/>
        </p:spPr>
        <p:txBody>
          <a:bodyPr wrap="square" lIns="0" tIns="0" rIns="0" bIns="0" rtlCol="0" anchor="ctr"/>
          <a:lstStyle/>
          <a:p>
            <a:pPr indent="0" marL="0">
              <a:buNone/>
            </a:pPr>
            <a:r>
              <a:rPr lang="en-US" sz="800" i="1" dirty="0">
                <a:solidFill>
                  <a:srgbClr val="B8860B"/>
                </a:solidFill>
                <a:latin typeface="Calibri" pitchFamily="34" charset="0"/>
                <a:ea typeface="Calibri" pitchFamily="34" charset="-122"/>
                <a:cs typeface="Calibri" pitchFamily="34" charset="-120"/>
              </a:rPr>
              <a:t>e.g.  Developers using Copilot complete coding tasks 55% faster</a:t>
            </a:r>
            <a:endParaRPr lang="en-US" sz="800" dirty="0"/>
          </a:p>
        </p:txBody>
      </p:sp>
      <p:sp>
        <p:nvSpPr>
          <p:cNvPr id="22" name="Shape 20"/>
          <p:cNvSpPr/>
          <p:nvPr/>
        </p:nvSpPr>
        <p:spPr>
          <a:xfrm>
            <a:off x="365760" y="2304288"/>
            <a:ext cx="3986784" cy="109728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3" name="Shape 21"/>
          <p:cNvSpPr/>
          <p:nvPr/>
        </p:nvSpPr>
        <p:spPr>
          <a:xfrm>
            <a:off x="365760" y="2304288"/>
            <a:ext cx="36576" cy="1097280"/>
          </a:xfrm>
          <a:prstGeom prst="rect">
            <a:avLst/>
          </a:prstGeom>
          <a:solidFill>
            <a:srgbClr val="0F766E"/>
          </a:solidFill>
          <a:ln/>
        </p:spPr>
      </p:sp>
      <p:sp>
        <p:nvSpPr>
          <p:cNvPr id="24" name="Text 22"/>
          <p:cNvSpPr/>
          <p:nvPr/>
        </p:nvSpPr>
        <p:spPr>
          <a:xfrm>
            <a:off x="493776" y="2377440"/>
            <a:ext cx="3803904"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IMAGE GENERATION</a:t>
            </a:r>
            <a:endParaRPr lang="en-US" sz="1050" dirty="0"/>
          </a:p>
        </p:txBody>
      </p:sp>
      <p:sp>
        <p:nvSpPr>
          <p:cNvPr id="25" name="Text 23"/>
          <p:cNvSpPr/>
          <p:nvPr/>
        </p:nvSpPr>
        <p:spPr>
          <a:xfrm>
            <a:off x="493776" y="2615184"/>
            <a:ext cx="3803904" cy="18288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DALL-E 3 · Midjourney · Stable Diffusion · Adobe Firefly</a:t>
            </a:r>
            <a:endParaRPr lang="en-US" sz="800" dirty="0"/>
          </a:p>
        </p:txBody>
      </p:sp>
      <p:sp>
        <p:nvSpPr>
          <p:cNvPr id="26" name="Text 24"/>
          <p:cNvSpPr/>
          <p:nvPr/>
        </p:nvSpPr>
        <p:spPr>
          <a:xfrm>
            <a:off x="493776" y="2798064"/>
            <a:ext cx="3803904" cy="18288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Marketing assets, product visualisation, UI mockups</a:t>
            </a:r>
            <a:endParaRPr lang="en-US" sz="850" dirty="0"/>
          </a:p>
        </p:txBody>
      </p:sp>
      <p:sp>
        <p:nvSpPr>
          <p:cNvPr id="27" name="Shape 25"/>
          <p:cNvSpPr/>
          <p:nvPr/>
        </p:nvSpPr>
        <p:spPr>
          <a:xfrm>
            <a:off x="493776" y="3017520"/>
            <a:ext cx="3803904" cy="18288"/>
          </a:xfrm>
          <a:prstGeom prst="rect">
            <a:avLst/>
          </a:prstGeom>
          <a:solidFill>
            <a:srgbClr val="D8DEE9"/>
          </a:solidFill>
          <a:ln/>
        </p:spPr>
      </p:sp>
      <p:sp>
        <p:nvSpPr>
          <p:cNvPr id="28" name="Text 26"/>
          <p:cNvSpPr/>
          <p:nvPr/>
        </p:nvSpPr>
        <p:spPr>
          <a:xfrm>
            <a:off x="493776" y="3054096"/>
            <a:ext cx="3803904" cy="274320"/>
          </a:xfrm>
          <a:prstGeom prst="rect">
            <a:avLst/>
          </a:prstGeom>
          <a:noFill/>
          <a:ln/>
        </p:spPr>
        <p:txBody>
          <a:bodyPr wrap="square" lIns="0" tIns="0" rIns="0" bIns="0" rtlCol="0" anchor="ctr"/>
          <a:lstStyle/>
          <a:p>
            <a:pPr indent="0" marL="0">
              <a:buNone/>
            </a:pPr>
            <a:r>
              <a:rPr lang="en-US" sz="800" i="1" dirty="0">
                <a:solidFill>
                  <a:srgbClr val="B8860B"/>
                </a:solidFill>
                <a:latin typeface="Calibri" pitchFamily="34" charset="0"/>
                <a:ea typeface="Calibri" pitchFamily="34" charset="-122"/>
                <a:cs typeface="Calibri" pitchFamily="34" charset="-120"/>
              </a:rPr>
              <a:t>e.g.  Coca-Cola generated 100+ ad variants overnight</a:t>
            </a:r>
            <a:endParaRPr lang="en-US" sz="800" dirty="0"/>
          </a:p>
        </p:txBody>
      </p:sp>
      <p:sp>
        <p:nvSpPr>
          <p:cNvPr id="29" name="Shape 27"/>
          <p:cNvSpPr/>
          <p:nvPr/>
        </p:nvSpPr>
        <p:spPr>
          <a:xfrm>
            <a:off x="4590288" y="2304288"/>
            <a:ext cx="3986784" cy="109728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0" name="Shape 28"/>
          <p:cNvSpPr/>
          <p:nvPr/>
        </p:nvSpPr>
        <p:spPr>
          <a:xfrm>
            <a:off x="4590288" y="2304288"/>
            <a:ext cx="36576" cy="1097280"/>
          </a:xfrm>
          <a:prstGeom prst="rect">
            <a:avLst/>
          </a:prstGeom>
          <a:solidFill>
            <a:srgbClr val="0F766E"/>
          </a:solidFill>
          <a:ln/>
        </p:spPr>
      </p:sp>
      <p:sp>
        <p:nvSpPr>
          <p:cNvPr id="31" name="Text 29"/>
          <p:cNvSpPr/>
          <p:nvPr/>
        </p:nvSpPr>
        <p:spPr>
          <a:xfrm>
            <a:off x="4718304" y="2377440"/>
            <a:ext cx="3803904"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VIDEO GENERATION</a:t>
            </a:r>
            <a:endParaRPr lang="en-US" sz="1050" dirty="0"/>
          </a:p>
        </p:txBody>
      </p:sp>
      <p:sp>
        <p:nvSpPr>
          <p:cNvPr id="32" name="Text 30"/>
          <p:cNvSpPr/>
          <p:nvPr/>
        </p:nvSpPr>
        <p:spPr>
          <a:xfrm>
            <a:off x="4718304" y="2615184"/>
            <a:ext cx="3803904" cy="18288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Sora · Runway Gen-3 · HeyGen · Synthesia</a:t>
            </a:r>
            <a:endParaRPr lang="en-US" sz="800" dirty="0"/>
          </a:p>
        </p:txBody>
      </p:sp>
      <p:sp>
        <p:nvSpPr>
          <p:cNvPr id="33" name="Text 31"/>
          <p:cNvSpPr/>
          <p:nvPr/>
        </p:nvSpPr>
        <p:spPr>
          <a:xfrm>
            <a:off x="4718304" y="2798064"/>
            <a:ext cx="3803904" cy="18288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Training videos, product demos, marketing campaigns</a:t>
            </a:r>
            <a:endParaRPr lang="en-US" sz="850" dirty="0"/>
          </a:p>
        </p:txBody>
      </p:sp>
      <p:sp>
        <p:nvSpPr>
          <p:cNvPr id="34" name="Shape 32"/>
          <p:cNvSpPr/>
          <p:nvPr/>
        </p:nvSpPr>
        <p:spPr>
          <a:xfrm>
            <a:off x="4718304" y="3017520"/>
            <a:ext cx="3803904" cy="18288"/>
          </a:xfrm>
          <a:prstGeom prst="rect">
            <a:avLst/>
          </a:prstGeom>
          <a:solidFill>
            <a:srgbClr val="D8DEE9"/>
          </a:solidFill>
          <a:ln/>
        </p:spPr>
      </p:sp>
      <p:sp>
        <p:nvSpPr>
          <p:cNvPr id="35" name="Text 33"/>
          <p:cNvSpPr/>
          <p:nvPr/>
        </p:nvSpPr>
        <p:spPr>
          <a:xfrm>
            <a:off x="4718304" y="3054096"/>
            <a:ext cx="3803904" cy="274320"/>
          </a:xfrm>
          <a:prstGeom prst="rect">
            <a:avLst/>
          </a:prstGeom>
          <a:noFill/>
          <a:ln/>
        </p:spPr>
        <p:txBody>
          <a:bodyPr wrap="square" lIns="0" tIns="0" rIns="0" bIns="0" rtlCol="0" anchor="ctr"/>
          <a:lstStyle/>
          <a:p>
            <a:pPr indent="0" marL="0">
              <a:buNone/>
            </a:pPr>
            <a:r>
              <a:rPr lang="en-US" sz="800" i="1" dirty="0">
                <a:solidFill>
                  <a:srgbClr val="B8860B"/>
                </a:solidFill>
                <a:latin typeface="Calibri" pitchFamily="34" charset="0"/>
                <a:ea typeface="Calibri" pitchFamily="34" charset="-122"/>
                <a:cs typeface="Calibri" pitchFamily="34" charset="-120"/>
              </a:rPr>
              <a:t>e.g.  Synthesia creates training videos in any language in minutes</a:t>
            </a:r>
            <a:endParaRPr lang="en-US" sz="800" dirty="0"/>
          </a:p>
        </p:txBody>
      </p:sp>
      <p:sp>
        <p:nvSpPr>
          <p:cNvPr id="36" name="Shape 34"/>
          <p:cNvSpPr/>
          <p:nvPr/>
        </p:nvSpPr>
        <p:spPr>
          <a:xfrm>
            <a:off x="365760" y="3493008"/>
            <a:ext cx="3986784" cy="109728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7" name="Shape 35"/>
          <p:cNvSpPr/>
          <p:nvPr/>
        </p:nvSpPr>
        <p:spPr>
          <a:xfrm>
            <a:off x="365760" y="3493008"/>
            <a:ext cx="36576" cy="1097280"/>
          </a:xfrm>
          <a:prstGeom prst="rect">
            <a:avLst/>
          </a:prstGeom>
          <a:solidFill>
            <a:srgbClr val="0F766E"/>
          </a:solidFill>
          <a:ln/>
        </p:spPr>
      </p:sp>
      <p:sp>
        <p:nvSpPr>
          <p:cNvPr id="38" name="Text 36"/>
          <p:cNvSpPr/>
          <p:nvPr/>
        </p:nvSpPr>
        <p:spPr>
          <a:xfrm>
            <a:off x="493776" y="3566160"/>
            <a:ext cx="3803904"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AUDIO &amp; VOICE</a:t>
            </a:r>
            <a:endParaRPr lang="en-US" sz="1050" dirty="0"/>
          </a:p>
        </p:txBody>
      </p:sp>
      <p:sp>
        <p:nvSpPr>
          <p:cNvPr id="39" name="Text 37"/>
          <p:cNvSpPr/>
          <p:nvPr/>
        </p:nvSpPr>
        <p:spPr>
          <a:xfrm>
            <a:off x="493776" y="3803904"/>
            <a:ext cx="3803904" cy="18288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ElevenLabs · OpenAI TTS · Suno · Whisper</a:t>
            </a:r>
            <a:endParaRPr lang="en-US" sz="800" dirty="0"/>
          </a:p>
        </p:txBody>
      </p:sp>
      <p:sp>
        <p:nvSpPr>
          <p:cNvPr id="40" name="Text 38"/>
          <p:cNvSpPr/>
          <p:nvPr/>
        </p:nvSpPr>
        <p:spPr>
          <a:xfrm>
            <a:off x="493776" y="3986784"/>
            <a:ext cx="3803904" cy="18288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Voice cloning, text-to-speech, transcription at scale</a:t>
            </a:r>
            <a:endParaRPr lang="en-US" sz="850" dirty="0"/>
          </a:p>
        </p:txBody>
      </p:sp>
      <p:sp>
        <p:nvSpPr>
          <p:cNvPr id="41" name="Shape 39"/>
          <p:cNvSpPr/>
          <p:nvPr/>
        </p:nvSpPr>
        <p:spPr>
          <a:xfrm>
            <a:off x="493776" y="4206240"/>
            <a:ext cx="3803904" cy="18288"/>
          </a:xfrm>
          <a:prstGeom prst="rect">
            <a:avLst/>
          </a:prstGeom>
          <a:solidFill>
            <a:srgbClr val="D8DEE9"/>
          </a:solidFill>
          <a:ln/>
        </p:spPr>
      </p:sp>
      <p:sp>
        <p:nvSpPr>
          <p:cNvPr id="42" name="Text 40"/>
          <p:cNvSpPr/>
          <p:nvPr/>
        </p:nvSpPr>
        <p:spPr>
          <a:xfrm>
            <a:off x="493776" y="4242816"/>
            <a:ext cx="3803904" cy="274320"/>
          </a:xfrm>
          <a:prstGeom prst="rect">
            <a:avLst/>
          </a:prstGeom>
          <a:noFill/>
          <a:ln/>
        </p:spPr>
        <p:txBody>
          <a:bodyPr wrap="square" lIns="0" tIns="0" rIns="0" bIns="0" rtlCol="0" anchor="ctr"/>
          <a:lstStyle/>
          <a:p>
            <a:pPr indent="0" marL="0">
              <a:buNone/>
            </a:pPr>
            <a:r>
              <a:rPr lang="en-US" sz="800" i="1" dirty="0">
                <a:solidFill>
                  <a:srgbClr val="B8860B"/>
                </a:solidFill>
                <a:latin typeface="Calibri" pitchFamily="34" charset="0"/>
                <a:ea typeface="Calibri" pitchFamily="34" charset="-122"/>
                <a:cs typeface="Calibri" pitchFamily="34" charset="-120"/>
              </a:rPr>
              <a:t>e.g.  ElevenLabs cloned a CEO voice for 12 languages in one day</a:t>
            </a:r>
            <a:endParaRPr lang="en-US" sz="800" dirty="0"/>
          </a:p>
        </p:txBody>
      </p:sp>
      <p:sp>
        <p:nvSpPr>
          <p:cNvPr id="43" name="Shape 41"/>
          <p:cNvSpPr/>
          <p:nvPr/>
        </p:nvSpPr>
        <p:spPr>
          <a:xfrm>
            <a:off x="4590288" y="3493008"/>
            <a:ext cx="3986784" cy="109728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4" name="Shape 42"/>
          <p:cNvSpPr/>
          <p:nvPr/>
        </p:nvSpPr>
        <p:spPr>
          <a:xfrm>
            <a:off x="4590288" y="3493008"/>
            <a:ext cx="36576" cy="1097280"/>
          </a:xfrm>
          <a:prstGeom prst="rect">
            <a:avLst/>
          </a:prstGeom>
          <a:solidFill>
            <a:srgbClr val="0F766E"/>
          </a:solidFill>
          <a:ln/>
        </p:spPr>
      </p:sp>
      <p:sp>
        <p:nvSpPr>
          <p:cNvPr id="45" name="Text 43"/>
          <p:cNvSpPr/>
          <p:nvPr/>
        </p:nvSpPr>
        <p:spPr>
          <a:xfrm>
            <a:off x="4718304" y="3566160"/>
            <a:ext cx="3803904" cy="237744"/>
          </a:xfrm>
          <a:prstGeom prst="rect">
            <a:avLst/>
          </a:prstGeom>
          <a:noFill/>
          <a:ln/>
        </p:spPr>
        <p:txBody>
          <a:bodyPr wrap="square" lIns="0" tIns="0" rIns="0" bIns="0" rtlCol="0" anchor="ctr"/>
          <a:lstStyle/>
          <a:p>
            <a:pPr indent="0" marL="0">
              <a:buNone/>
            </a:pPr>
            <a:r>
              <a:rPr lang="en-US" sz="1050" b="1" spc="100" kern="0" dirty="0">
                <a:solidFill>
                  <a:srgbClr val="0A2540"/>
                </a:solidFill>
                <a:latin typeface="Calibri" pitchFamily="34" charset="0"/>
                <a:ea typeface="Calibri" pitchFamily="34" charset="-122"/>
                <a:cs typeface="Calibri" pitchFamily="34" charset="-120"/>
              </a:rPr>
              <a:t>MULTIMODAL</a:t>
            </a:r>
            <a:endParaRPr lang="en-US" sz="1050" dirty="0"/>
          </a:p>
        </p:txBody>
      </p:sp>
      <p:sp>
        <p:nvSpPr>
          <p:cNvPr id="46" name="Text 44"/>
          <p:cNvSpPr/>
          <p:nvPr/>
        </p:nvSpPr>
        <p:spPr>
          <a:xfrm>
            <a:off x="4718304" y="3803904"/>
            <a:ext cx="3803904" cy="18288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GPT-4o · Gemini 2.0 · Claude 3.5 Sonnet</a:t>
            </a:r>
            <a:endParaRPr lang="en-US" sz="800" dirty="0"/>
          </a:p>
        </p:txBody>
      </p:sp>
      <p:sp>
        <p:nvSpPr>
          <p:cNvPr id="47" name="Text 45"/>
          <p:cNvSpPr/>
          <p:nvPr/>
        </p:nvSpPr>
        <p:spPr>
          <a:xfrm>
            <a:off x="4718304" y="3986784"/>
            <a:ext cx="3803904" cy="18288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Text + image + audio + video + code in one model</a:t>
            </a:r>
            <a:endParaRPr lang="en-US" sz="850" dirty="0"/>
          </a:p>
        </p:txBody>
      </p:sp>
      <p:sp>
        <p:nvSpPr>
          <p:cNvPr id="48" name="Shape 46"/>
          <p:cNvSpPr/>
          <p:nvPr/>
        </p:nvSpPr>
        <p:spPr>
          <a:xfrm>
            <a:off x="4718304" y="4206240"/>
            <a:ext cx="3803904" cy="18288"/>
          </a:xfrm>
          <a:prstGeom prst="rect">
            <a:avLst/>
          </a:prstGeom>
          <a:solidFill>
            <a:srgbClr val="D8DEE9"/>
          </a:solidFill>
          <a:ln/>
        </p:spPr>
      </p:sp>
      <p:sp>
        <p:nvSpPr>
          <p:cNvPr id="49" name="Text 47"/>
          <p:cNvSpPr/>
          <p:nvPr/>
        </p:nvSpPr>
        <p:spPr>
          <a:xfrm>
            <a:off x="4718304" y="4242816"/>
            <a:ext cx="3803904" cy="274320"/>
          </a:xfrm>
          <a:prstGeom prst="rect">
            <a:avLst/>
          </a:prstGeom>
          <a:noFill/>
          <a:ln/>
        </p:spPr>
        <p:txBody>
          <a:bodyPr wrap="square" lIns="0" tIns="0" rIns="0" bIns="0" rtlCol="0" anchor="ctr"/>
          <a:lstStyle/>
          <a:p>
            <a:pPr indent="0" marL="0">
              <a:buNone/>
            </a:pPr>
            <a:r>
              <a:rPr lang="en-US" sz="800" i="1" dirty="0">
                <a:solidFill>
                  <a:srgbClr val="B8860B"/>
                </a:solidFill>
                <a:latin typeface="Calibri" pitchFamily="34" charset="0"/>
                <a:ea typeface="Calibri" pitchFamily="34" charset="-122"/>
                <a:cs typeface="Calibri" pitchFamily="34" charset="-120"/>
              </a:rPr>
              <a:t>e.g.  GPT-4o reads a whiteboard photo and writes the code it describes</a:t>
            </a:r>
            <a:endParaRPr lang="en-US" sz="800" dirty="0"/>
          </a:p>
        </p:txBody>
      </p:sp>
      <p:sp>
        <p:nvSpPr>
          <p:cNvPr id="50" name="Shape 48"/>
          <p:cNvSpPr/>
          <p:nvPr/>
        </p:nvSpPr>
        <p:spPr>
          <a:xfrm>
            <a:off x="365760" y="4572000"/>
            <a:ext cx="8412480" cy="457200"/>
          </a:xfrm>
          <a:prstGeom prst="rect">
            <a:avLst/>
          </a:prstGeom>
          <a:solidFill>
            <a:srgbClr val="EDF1F7"/>
          </a:solidFill>
          <a:ln/>
        </p:spPr>
      </p:sp>
      <p:sp>
        <p:nvSpPr>
          <p:cNvPr id="51" name="Shape 49"/>
          <p:cNvSpPr/>
          <p:nvPr/>
        </p:nvSpPr>
        <p:spPr>
          <a:xfrm>
            <a:off x="365760" y="4572000"/>
            <a:ext cx="36576" cy="457200"/>
          </a:xfrm>
          <a:prstGeom prst="rect">
            <a:avLst/>
          </a:prstGeom>
          <a:solidFill>
            <a:srgbClr val="B8860B"/>
          </a:solidFill>
          <a:ln/>
        </p:spPr>
      </p:sp>
      <p:sp>
        <p:nvSpPr>
          <p:cNvPr id="52" name="Text 50"/>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3" name="Text 51"/>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Your AI strategy should address all 6 modalities, not just chatbots. The highest ROI often comes from image, video, and code generation.</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0F766E"/>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03</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MODEL LANDSCAPE — WHO IS WHO</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4078224" cy="292608"/>
          </a:xfrm>
          <a:prstGeom prst="rect">
            <a:avLst/>
          </a:prstGeom>
          <a:solidFill>
            <a:srgbClr val="0F766E"/>
          </a:solidFill>
          <a:ln/>
        </p:spPr>
      </p:sp>
      <p:sp>
        <p:nvSpPr>
          <p:cNvPr id="8" name="Text 6"/>
          <p:cNvSpPr/>
          <p:nvPr/>
        </p:nvSpPr>
        <p:spPr>
          <a:xfrm>
            <a:off x="365760" y="859536"/>
            <a:ext cx="4078224" cy="256032"/>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CLOSED  ·  PROPRIETARY</a:t>
            </a:r>
            <a:endParaRPr lang="en-US" sz="1000" dirty="0"/>
          </a:p>
        </p:txBody>
      </p:sp>
      <p:sp>
        <p:nvSpPr>
          <p:cNvPr id="9" name="Shape 7"/>
          <p:cNvSpPr/>
          <p:nvPr/>
        </p:nvSpPr>
        <p:spPr>
          <a:xfrm>
            <a:off x="365760" y="1188720"/>
            <a:ext cx="4078224" cy="585216"/>
          </a:xfrm>
          <a:prstGeom prst="rect">
            <a:avLst/>
          </a:prstGeom>
          <a:solidFill>
            <a:srgbClr val="FFFFFF"/>
          </a:solidFill>
          <a:ln/>
        </p:spPr>
      </p:sp>
      <p:sp>
        <p:nvSpPr>
          <p:cNvPr id="10" name="Text 8"/>
          <p:cNvSpPr/>
          <p:nvPr/>
        </p:nvSpPr>
        <p:spPr>
          <a:xfrm>
            <a:off x="457200" y="1280160"/>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GPT-4o / o3</a:t>
            </a:r>
            <a:endParaRPr lang="en-US" sz="1000" dirty="0"/>
          </a:p>
        </p:txBody>
      </p:sp>
      <p:sp>
        <p:nvSpPr>
          <p:cNvPr id="11" name="Text 9"/>
          <p:cNvSpPr/>
          <p:nvPr/>
        </p:nvSpPr>
        <p:spPr>
          <a:xfrm>
            <a:off x="1847088" y="1280160"/>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OpenAI</a:t>
            </a:r>
            <a:endParaRPr lang="en-US" sz="900" dirty="0"/>
          </a:p>
        </p:txBody>
      </p:sp>
      <p:sp>
        <p:nvSpPr>
          <p:cNvPr id="12" name="Text 10"/>
          <p:cNvSpPr/>
          <p:nvPr/>
        </p:nvSpPr>
        <p:spPr>
          <a:xfrm>
            <a:off x="3072384" y="1280160"/>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Coding, reasoning, multimodal</a:t>
            </a:r>
            <a:endParaRPr lang="en-US" sz="850" dirty="0"/>
          </a:p>
        </p:txBody>
      </p:sp>
      <p:sp>
        <p:nvSpPr>
          <p:cNvPr id="13" name="Shape 11"/>
          <p:cNvSpPr/>
          <p:nvPr/>
        </p:nvSpPr>
        <p:spPr>
          <a:xfrm>
            <a:off x="365760" y="1792224"/>
            <a:ext cx="4078224" cy="585216"/>
          </a:xfrm>
          <a:prstGeom prst="rect">
            <a:avLst/>
          </a:prstGeom>
          <a:solidFill>
            <a:srgbClr val="FAFBFD"/>
          </a:solidFill>
          <a:ln/>
        </p:spPr>
      </p:sp>
      <p:sp>
        <p:nvSpPr>
          <p:cNvPr id="14" name="Text 12"/>
          <p:cNvSpPr/>
          <p:nvPr/>
        </p:nvSpPr>
        <p:spPr>
          <a:xfrm>
            <a:off x="457200" y="1883664"/>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Claude 3.5 / 4</a:t>
            </a:r>
            <a:endParaRPr lang="en-US" sz="1000" dirty="0"/>
          </a:p>
        </p:txBody>
      </p:sp>
      <p:sp>
        <p:nvSpPr>
          <p:cNvPr id="15" name="Text 13"/>
          <p:cNvSpPr/>
          <p:nvPr/>
        </p:nvSpPr>
        <p:spPr>
          <a:xfrm>
            <a:off x="1847088" y="1883664"/>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Anthropic</a:t>
            </a:r>
            <a:endParaRPr lang="en-US" sz="900" dirty="0"/>
          </a:p>
        </p:txBody>
      </p:sp>
      <p:sp>
        <p:nvSpPr>
          <p:cNvPr id="16" name="Text 14"/>
          <p:cNvSpPr/>
          <p:nvPr/>
        </p:nvSpPr>
        <p:spPr>
          <a:xfrm>
            <a:off x="3072384" y="1883664"/>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Safety, long context, nuanced writing</a:t>
            </a:r>
            <a:endParaRPr lang="en-US" sz="850" dirty="0"/>
          </a:p>
        </p:txBody>
      </p:sp>
      <p:sp>
        <p:nvSpPr>
          <p:cNvPr id="17" name="Shape 15"/>
          <p:cNvSpPr/>
          <p:nvPr/>
        </p:nvSpPr>
        <p:spPr>
          <a:xfrm>
            <a:off x="365760" y="2395728"/>
            <a:ext cx="4078224" cy="585216"/>
          </a:xfrm>
          <a:prstGeom prst="rect">
            <a:avLst/>
          </a:prstGeom>
          <a:solidFill>
            <a:srgbClr val="FFFFFF"/>
          </a:solidFill>
          <a:ln/>
        </p:spPr>
      </p:sp>
      <p:sp>
        <p:nvSpPr>
          <p:cNvPr id="18" name="Text 16"/>
          <p:cNvSpPr/>
          <p:nvPr/>
        </p:nvSpPr>
        <p:spPr>
          <a:xfrm>
            <a:off x="457200" y="2487168"/>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Gemini 2.0</a:t>
            </a:r>
            <a:endParaRPr lang="en-US" sz="1000" dirty="0"/>
          </a:p>
        </p:txBody>
      </p:sp>
      <p:sp>
        <p:nvSpPr>
          <p:cNvPr id="19" name="Text 17"/>
          <p:cNvSpPr/>
          <p:nvPr/>
        </p:nvSpPr>
        <p:spPr>
          <a:xfrm>
            <a:off x="1847088" y="2487168"/>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Google DeepMind</a:t>
            </a:r>
            <a:endParaRPr lang="en-US" sz="900" dirty="0"/>
          </a:p>
        </p:txBody>
      </p:sp>
      <p:sp>
        <p:nvSpPr>
          <p:cNvPr id="20" name="Text 18"/>
          <p:cNvSpPr/>
          <p:nvPr/>
        </p:nvSpPr>
        <p:spPr>
          <a:xfrm>
            <a:off x="3072384" y="2487168"/>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Multimodal, 2M token context</a:t>
            </a:r>
            <a:endParaRPr lang="en-US" sz="850" dirty="0"/>
          </a:p>
        </p:txBody>
      </p:sp>
      <p:sp>
        <p:nvSpPr>
          <p:cNvPr id="21" name="Shape 19"/>
          <p:cNvSpPr/>
          <p:nvPr/>
        </p:nvSpPr>
        <p:spPr>
          <a:xfrm>
            <a:off x="365760" y="2999232"/>
            <a:ext cx="4078224" cy="585216"/>
          </a:xfrm>
          <a:prstGeom prst="rect">
            <a:avLst/>
          </a:prstGeom>
          <a:solidFill>
            <a:srgbClr val="FAFBFD"/>
          </a:solidFill>
          <a:ln/>
        </p:spPr>
      </p:sp>
      <p:sp>
        <p:nvSpPr>
          <p:cNvPr id="22" name="Text 20"/>
          <p:cNvSpPr/>
          <p:nvPr/>
        </p:nvSpPr>
        <p:spPr>
          <a:xfrm>
            <a:off x="457200" y="3090672"/>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Grok 3</a:t>
            </a:r>
            <a:endParaRPr lang="en-US" sz="1000" dirty="0"/>
          </a:p>
        </p:txBody>
      </p:sp>
      <p:sp>
        <p:nvSpPr>
          <p:cNvPr id="23" name="Text 21"/>
          <p:cNvSpPr/>
          <p:nvPr/>
        </p:nvSpPr>
        <p:spPr>
          <a:xfrm>
            <a:off x="1847088" y="3090672"/>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xAI</a:t>
            </a:r>
            <a:endParaRPr lang="en-US" sz="900" dirty="0"/>
          </a:p>
        </p:txBody>
      </p:sp>
      <p:sp>
        <p:nvSpPr>
          <p:cNvPr id="24" name="Text 22"/>
          <p:cNvSpPr/>
          <p:nvPr/>
        </p:nvSpPr>
        <p:spPr>
          <a:xfrm>
            <a:off x="3072384" y="3090672"/>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Real-time data, current events</a:t>
            </a:r>
            <a:endParaRPr lang="en-US" sz="850" dirty="0"/>
          </a:p>
        </p:txBody>
      </p:sp>
      <p:sp>
        <p:nvSpPr>
          <p:cNvPr id="25" name="Shape 23"/>
          <p:cNvSpPr/>
          <p:nvPr/>
        </p:nvSpPr>
        <p:spPr>
          <a:xfrm>
            <a:off x="365760" y="3602736"/>
            <a:ext cx="4078224" cy="585216"/>
          </a:xfrm>
          <a:prstGeom prst="rect">
            <a:avLst/>
          </a:prstGeom>
          <a:solidFill>
            <a:srgbClr val="FFFFFF"/>
          </a:solidFill>
          <a:ln/>
        </p:spPr>
      </p:sp>
      <p:sp>
        <p:nvSpPr>
          <p:cNvPr id="26" name="Text 24"/>
          <p:cNvSpPr/>
          <p:nvPr/>
        </p:nvSpPr>
        <p:spPr>
          <a:xfrm>
            <a:off x="457200" y="3694176"/>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Mistral Large</a:t>
            </a:r>
            <a:endParaRPr lang="en-US" sz="1000" dirty="0"/>
          </a:p>
        </p:txBody>
      </p:sp>
      <p:sp>
        <p:nvSpPr>
          <p:cNvPr id="27" name="Text 25"/>
          <p:cNvSpPr/>
          <p:nvPr/>
        </p:nvSpPr>
        <p:spPr>
          <a:xfrm>
            <a:off x="1847088" y="3694176"/>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Mistral AI</a:t>
            </a:r>
            <a:endParaRPr lang="en-US" sz="900" dirty="0"/>
          </a:p>
        </p:txBody>
      </p:sp>
      <p:sp>
        <p:nvSpPr>
          <p:cNvPr id="28" name="Text 26"/>
          <p:cNvSpPr/>
          <p:nvPr/>
        </p:nvSpPr>
        <p:spPr>
          <a:xfrm>
            <a:off x="3072384" y="3694176"/>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European, efficient, reasoning</a:t>
            </a:r>
            <a:endParaRPr lang="en-US" sz="850" dirty="0"/>
          </a:p>
        </p:txBody>
      </p:sp>
      <p:sp>
        <p:nvSpPr>
          <p:cNvPr id="29" name="Shape 27"/>
          <p:cNvSpPr/>
          <p:nvPr/>
        </p:nvSpPr>
        <p:spPr>
          <a:xfrm>
            <a:off x="4700016" y="841248"/>
            <a:ext cx="4078224" cy="292608"/>
          </a:xfrm>
          <a:prstGeom prst="rect">
            <a:avLst/>
          </a:prstGeom>
          <a:solidFill>
            <a:srgbClr val="0F766E"/>
          </a:solidFill>
          <a:ln/>
        </p:spPr>
      </p:sp>
      <p:sp>
        <p:nvSpPr>
          <p:cNvPr id="30" name="Text 28"/>
          <p:cNvSpPr/>
          <p:nvPr/>
        </p:nvSpPr>
        <p:spPr>
          <a:xfrm>
            <a:off x="4700016" y="859536"/>
            <a:ext cx="4078224" cy="256032"/>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alibri" pitchFamily="34" charset="0"/>
                <a:ea typeface="Calibri" pitchFamily="34" charset="-122"/>
                <a:cs typeface="Calibri" pitchFamily="34" charset="-120"/>
              </a:rPr>
              <a:t>OPEN SOURCE  ·  OPEN WEIGHT</a:t>
            </a:r>
            <a:endParaRPr lang="en-US" sz="1000" dirty="0"/>
          </a:p>
        </p:txBody>
      </p:sp>
      <p:sp>
        <p:nvSpPr>
          <p:cNvPr id="31" name="Shape 29"/>
          <p:cNvSpPr/>
          <p:nvPr/>
        </p:nvSpPr>
        <p:spPr>
          <a:xfrm>
            <a:off x="4700016" y="1188720"/>
            <a:ext cx="4078224" cy="585216"/>
          </a:xfrm>
          <a:prstGeom prst="rect">
            <a:avLst/>
          </a:prstGeom>
          <a:solidFill>
            <a:srgbClr val="FFFFFF"/>
          </a:solidFill>
          <a:ln/>
        </p:spPr>
      </p:sp>
      <p:sp>
        <p:nvSpPr>
          <p:cNvPr id="32" name="Text 30"/>
          <p:cNvSpPr/>
          <p:nvPr/>
        </p:nvSpPr>
        <p:spPr>
          <a:xfrm>
            <a:off x="4791456" y="1280160"/>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LLaMA 3.1 / 3.3</a:t>
            </a:r>
            <a:endParaRPr lang="en-US" sz="1000" dirty="0"/>
          </a:p>
        </p:txBody>
      </p:sp>
      <p:sp>
        <p:nvSpPr>
          <p:cNvPr id="33" name="Text 31"/>
          <p:cNvSpPr/>
          <p:nvPr/>
        </p:nvSpPr>
        <p:spPr>
          <a:xfrm>
            <a:off x="6181344" y="1280160"/>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Meta</a:t>
            </a:r>
            <a:endParaRPr lang="en-US" sz="900" dirty="0"/>
          </a:p>
        </p:txBody>
      </p:sp>
      <p:sp>
        <p:nvSpPr>
          <p:cNvPr id="34" name="Text 32"/>
          <p:cNvSpPr/>
          <p:nvPr/>
        </p:nvSpPr>
        <p:spPr>
          <a:xfrm>
            <a:off x="7406640" y="1280160"/>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Most capable — rivals GPT-4</a:t>
            </a:r>
            <a:endParaRPr lang="en-US" sz="850" dirty="0"/>
          </a:p>
        </p:txBody>
      </p:sp>
      <p:sp>
        <p:nvSpPr>
          <p:cNvPr id="35" name="Shape 33"/>
          <p:cNvSpPr/>
          <p:nvPr/>
        </p:nvSpPr>
        <p:spPr>
          <a:xfrm>
            <a:off x="4700016" y="1792224"/>
            <a:ext cx="4078224" cy="585216"/>
          </a:xfrm>
          <a:prstGeom prst="rect">
            <a:avLst/>
          </a:prstGeom>
          <a:solidFill>
            <a:srgbClr val="FAFBFD"/>
          </a:solidFill>
          <a:ln/>
        </p:spPr>
      </p:sp>
      <p:sp>
        <p:nvSpPr>
          <p:cNvPr id="36" name="Text 34"/>
          <p:cNvSpPr/>
          <p:nvPr/>
        </p:nvSpPr>
        <p:spPr>
          <a:xfrm>
            <a:off x="4791456" y="1883664"/>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Mistral / Mixtral</a:t>
            </a:r>
            <a:endParaRPr lang="en-US" sz="1000" dirty="0"/>
          </a:p>
        </p:txBody>
      </p:sp>
      <p:sp>
        <p:nvSpPr>
          <p:cNvPr id="37" name="Text 35"/>
          <p:cNvSpPr/>
          <p:nvPr/>
        </p:nvSpPr>
        <p:spPr>
          <a:xfrm>
            <a:off x="6181344" y="1883664"/>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Mistral AI</a:t>
            </a:r>
            <a:endParaRPr lang="en-US" sz="900" dirty="0"/>
          </a:p>
        </p:txBody>
      </p:sp>
      <p:sp>
        <p:nvSpPr>
          <p:cNvPr id="38" name="Text 36"/>
          <p:cNvSpPr/>
          <p:nvPr/>
        </p:nvSpPr>
        <p:spPr>
          <a:xfrm>
            <a:off x="7406640" y="1883664"/>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Efficient MoE, modest hardware</a:t>
            </a:r>
            <a:endParaRPr lang="en-US" sz="850" dirty="0"/>
          </a:p>
        </p:txBody>
      </p:sp>
      <p:sp>
        <p:nvSpPr>
          <p:cNvPr id="39" name="Shape 37"/>
          <p:cNvSpPr/>
          <p:nvPr/>
        </p:nvSpPr>
        <p:spPr>
          <a:xfrm>
            <a:off x="4700016" y="2395728"/>
            <a:ext cx="4078224" cy="585216"/>
          </a:xfrm>
          <a:prstGeom prst="rect">
            <a:avLst/>
          </a:prstGeom>
          <a:solidFill>
            <a:srgbClr val="FFFFFF"/>
          </a:solidFill>
          <a:ln/>
        </p:spPr>
      </p:sp>
      <p:sp>
        <p:nvSpPr>
          <p:cNvPr id="40" name="Text 38"/>
          <p:cNvSpPr/>
          <p:nvPr/>
        </p:nvSpPr>
        <p:spPr>
          <a:xfrm>
            <a:off x="4791456" y="2487168"/>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Phi-3 / Phi-4</a:t>
            </a:r>
            <a:endParaRPr lang="en-US" sz="1000" dirty="0"/>
          </a:p>
        </p:txBody>
      </p:sp>
      <p:sp>
        <p:nvSpPr>
          <p:cNvPr id="41" name="Text 39"/>
          <p:cNvSpPr/>
          <p:nvPr/>
        </p:nvSpPr>
        <p:spPr>
          <a:xfrm>
            <a:off x="6181344" y="2487168"/>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Microsoft</a:t>
            </a:r>
            <a:endParaRPr lang="en-US" sz="900" dirty="0"/>
          </a:p>
        </p:txBody>
      </p:sp>
      <p:sp>
        <p:nvSpPr>
          <p:cNvPr id="42" name="Text 40"/>
          <p:cNvSpPr/>
          <p:nvPr/>
        </p:nvSpPr>
        <p:spPr>
          <a:xfrm>
            <a:off x="7406640" y="2487168"/>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Small but capable</a:t>
            </a:r>
            <a:endParaRPr lang="en-US" sz="850" dirty="0"/>
          </a:p>
        </p:txBody>
      </p:sp>
      <p:sp>
        <p:nvSpPr>
          <p:cNvPr id="43" name="Shape 41"/>
          <p:cNvSpPr/>
          <p:nvPr/>
        </p:nvSpPr>
        <p:spPr>
          <a:xfrm>
            <a:off x="4700016" y="2999232"/>
            <a:ext cx="4078224" cy="585216"/>
          </a:xfrm>
          <a:prstGeom prst="rect">
            <a:avLst/>
          </a:prstGeom>
          <a:solidFill>
            <a:srgbClr val="FAFBFD"/>
          </a:solidFill>
          <a:ln/>
        </p:spPr>
      </p:sp>
      <p:sp>
        <p:nvSpPr>
          <p:cNvPr id="44" name="Text 42"/>
          <p:cNvSpPr/>
          <p:nvPr/>
        </p:nvSpPr>
        <p:spPr>
          <a:xfrm>
            <a:off x="4791456" y="3090672"/>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Gemma 2</a:t>
            </a:r>
            <a:endParaRPr lang="en-US" sz="1000" dirty="0"/>
          </a:p>
        </p:txBody>
      </p:sp>
      <p:sp>
        <p:nvSpPr>
          <p:cNvPr id="45" name="Text 43"/>
          <p:cNvSpPr/>
          <p:nvPr/>
        </p:nvSpPr>
        <p:spPr>
          <a:xfrm>
            <a:off x="6181344" y="3090672"/>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Google</a:t>
            </a:r>
            <a:endParaRPr lang="en-US" sz="900" dirty="0"/>
          </a:p>
        </p:txBody>
      </p:sp>
      <p:sp>
        <p:nvSpPr>
          <p:cNvPr id="46" name="Text 44"/>
          <p:cNvSpPr/>
          <p:nvPr/>
        </p:nvSpPr>
        <p:spPr>
          <a:xfrm>
            <a:off x="7406640" y="3090672"/>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Lightweight, safety-focused</a:t>
            </a:r>
            <a:endParaRPr lang="en-US" sz="850" dirty="0"/>
          </a:p>
        </p:txBody>
      </p:sp>
      <p:sp>
        <p:nvSpPr>
          <p:cNvPr id="47" name="Shape 45"/>
          <p:cNvSpPr/>
          <p:nvPr/>
        </p:nvSpPr>
        <p:spPr>
          <a:xfrm>
            <a:off x="4700016" y="3602736"/>
            <a:ext cx="4078224" cy="585216"/>
          </a:xfrm>
          <a:prstGeom prst="rect">
            <a:avLst/>
          </a:prstGeom>
          <a:solidFill>
            <a:srgbClr val="FFFFFF"/>
          </a:solidFill>
          <a:ln/>
        </p:spPr>
      </p:sp>
      <p:sp>
        <p:nvSpPr>
          <p:cNvPr id="48" name="Text 46"/>
          <p:cNvSpPr/>
          <p:nvPr/>
        </p:nvSpPr>
        <p:spPr>
          <a:xfrm>
            <a:off x="4791456" y="3694176"/>
            <a:ext cx="1371600" cy="40233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Falcon 180B</a:t>
            </a:r>
            <a:endParaRPr lang="en-US" sz="1000" dirty="0"/>
          </a:p>
        </p:txBody>
      </p:sp>
      <p:sp>
        <p:nvSpPr>
          <p:cNvPr id="49" name="Text 47"/>
          <p:cNvSpPr/>
          <p:nvPr/>
        </p:nvSpPr>
        <p:spPr>
          <a:xfrm>
            <a:off x="6181344" y="3694176"/>
            <a:ext cx="1188720" cy="402336"/>
          </a:xfrm>
          <a:prstGeom prst="rect">
            <a:avLst/>
          </a:prstGeom>
          <a:noFill/>
          <a:ln/>
        </p:spPr>
        <p:txBody>
          <a:bodyPr wrap="square" lIns="0" tIns="0" rIns="0" bIns="0" rtlCol="0" anchor="ctr"/>
          <a:lstStyle/>
          <a:p>
            <a:pPr indent="0" marL="0">
              <a:buNone/>
            </a:pPr>
            <a:r>
              <a:rPr lang="en-US" sz="900" dirty="0">
                <a:solidFill>
                  <a:srgbClr val="B8860B"/>
                </a:solidFill>
                <a:latin typeface="Calibri" pitchFamily="34" charset="0"/>
                <a:ea typeface="Calibri" pitchFamily="34" charset="-122"/>
                <a:cs typeface="Calibri" pitchFamily="34" charset="-120"/>
              </a:rPr>
              <a:t>TII UAE</a:t>
            </a:r>
            <a:endParaRPr lang="en-US" sz="900" dirty="0"/>
          </a:p>
        </p:txBody>
      </p:sp>
      <p:sp>
        <p:nvSpPr>
          <p:cNvPr id="50" name="Text 48"/>
          <p:cNvSpPr/>
          <p:nvPr/>
        </p:nvSpPr>
        <p:spPr>
          <a:xfrm>
            <a:off x="7406640" y="3694176"/>
            <a:ext cx="1280160" cy="40233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Multilingual capability</a:t>
            </a:r>
            <a:endParaRPr lang="en-US" sz="850" dirty="0"/>
          </a:p>
        </p:txBody>
      </p:sp>
      <p:sp>
        <p:nvSpPr>
          <p:cNvPr id="51" name="Shape 49"/>
          <p:cNvSpPr/>
          <p:nvPr/>
        </p:nvSpPr>
        <p:spPr>
          <a:xfrm>
            <a:off x="365760" y="4224528"/>
            <a:ext cx="8412480" cy="329184"/>
          </a:xfrm>
          <a:prstGeom prst="rect">
            <a:avLst/>
          </a:prstGeom>
          <a:solidFill>
            <a:srgbClr val="F4E4BC"/>
          </a:solidFill>
          <a:ln/>
        </p:spPr>
      </p:sp>
      <p:sp>
        <p:nvSpPr>
          <p:cNvPr id="52" name="Text 50"/>
          <p:cNvSpPr/>
          <p:nvPr/>
        </p:nvSpPr>
        <p:spPr>
          <a:xfrm>
            <a:off x="457200" y="4251960"/>
            <a:ext cx="914400" cy="128016"/>
          </a:xfrm>
          <a:prstGeom prst="rect">
            <a:avLst/>
          </a:prstGeom>
          <a:noFill/>
          <a:ln/>
        </p:spPr>
        <p:txBody>
          <a:bodyPr wrap="square" lIns="0" tIns="0" rIns="0" bIns="0" rtlCol="0" anchor="ctr"/>
          <a:lstStyle/>
          <a:p>
            <a:pPr indent="0" marL="0">
              <a:buNone/>
            </a:pPr>
            <a:r>
              <a:rPr lang="en-US" sz="700" b="1" spc="150" kern="0" dirty="0">
                <a:solidFill>
                  <a:srgbClr val="B8860B"/>
                </a:solidFill>
                <a:latin typeface="Calibri" pitchFamily="34" charset="0"/>
                <a:ea typeface="Calibri" pitchFamily="34" charset="-122"/>
                <a:cs typeface="Calibri" pitchFamily="34" charset="-120"/>
              </a:rPr>
              <a:t>STRATEGY</a:t>
            </a:r>
            <a:endParaRPr lang="en-US" sz="700" dirty="0"/>
          </a:p>
        </p:txBody>
      </p:sp>
      <p:sp>
        <p:nvSpPr>
          <p:cNvPr id="53" name="Text 51"/>
          <p:cNvSpPr/>
          <p:nvPr/>
        </p:nvSpPr>
        <p:spPr>
          <a:xfrm>
            <a:off x="457200" y="4370832"/>
            <a:ext cx="8229600" cy="164592"/>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Gap between open and closed narrowed from 18 months to 3–6 months in 2024. Prototype with closed for speed. Self-host open at scale for cost and privacy control.</a:t>
            </a:r>
            <a:endParaRPr lang="en-US" sz="850" dirty="0"/>
          </a:p>
        </p:txBody>
      </p:sp>
      <p:sp>
        <p:nvSpPr>
          <p:cNvPr id="54" name="Shape 52"/>
          <p:cNvSpPr/>
          <p:nvPr/>
        </p:nvSpPr>
        <p:spPr>
          <a:xfrm>
            <a:off x="365760" y="4572000"/>
            <a:ext cx="8412480" cy="457200"/>
          </a:xfrm>
          <a:prstGeom prst="rect">
            <a:avLst/>
          </a:prstGeom>
          <a:solidFill>
            <a:srgbClr val="EDF1F7"/>
          </a:solidFill>
          <a:ln/>
        </p:spPr>
      </p:sp>
      <p:sp>
        <p:nvSpPr>
          <p:cNvPr id="55" name="Shape 53"/>
          <p:cNvSpPr/>
          <p:nvPr/>
        </p:nvSpPr>
        <p:spPr>
          <a:xfrm>
            <a:off x="365760" y="4572000"/>
            <a:ext cx="36576" cy="457200"/>
          </a:xfrm>
          <a:prstGeom prst="rect">
            <a:avLst/>
          </a:prstGeom>
          <a:solidFill>
            <a:srgbClr val="B8860B"/>
          </a:solidFill>
          <a:ln/>
        </p:spPr>
      </p:sp>
      <p:sp>
        <p:nvSpPr>
          <p:cNvPr id="56" name="Text 54"/>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7" name="Text 55"/>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Choosing the right model for the right task — and the right deployment pattern — is a strategic decision with major cost, security, and capability implications.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0F766E"/>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03</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HALLUCINATIONS — THE MOST IMPORTANT LIMITATION</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786384"/>
            <a:ext cx="8412480" cy="329184"/>
          </a:xfrm>
          <a:prstGeom prst="rect">
            <a:avLst/>
          </a:prstGeom>
          <a:solidFill>
            <a:srgbClr val="FCE8E6"/>
          </a:solidFill>
          <a:ln/>
        </p:spPr>
      </p:sp>
      <p:sp>
        <p:nvSpPr>
          <p:cNvPr id="8" name="Shape 6"/>
          <p:cNvSpPr/>
          <p:nvPr/>
        </p:nvSpPr>
        <p:spPr>
          <a:xfrm>
            <a:off x="365760" y="786384"/>
            <a:ext cx="36576" cy="329184"/>
          </a:xfrm>
          <a:prstGeom prst="rect">
            <a:avLst/>
          </a:prstGeom>
          <a:solidFill>
            <a:srgbClr val="9A3324"/>
          </a:solidFill>
          <a:ln/>
        </p:spPr>
      </p:sp>
      <p:sp>
        <p:nvSpPr>
          <p:cNvPr id="9" name="Text 7"/>
          <p:cNvSpPr/>
          <p:nvPr/>
        </p:nvSpPr>
        <p:spPr>
          <a:xfrm>
            <a:off x="493776" y="822960"/>
            <a:ext cx="8229600" cy="256032"/>
          </a:xfrm>
          <a:prstGeom prst="rect">
            <a:avLst/>
          </a:prstGeom>
          <a:noFill/>
          <a:ln/>
        </p:spPr>
        <p:txBody>
          <a:bodyPr wrap="square" lIns="0" tIns="0" rIns="0" bIns="0" rtlCol="0" anchor="ctr"/>
          <a:lstStyle/>
          <a:p>
            <a:pPr indent="0" marL="0">
              <a:buNone/>
            </a:pPr>
            <a:r>
              <a:rPr lang="en-US" sz="1050" b="1" dirty="0">
                <a:solidFill>
                  <a:srgbClr val="9A3324"/>
                </a:solidFill>
                <a:latin typeface="Calibri" pitchFamily="34" charset="0"/>
                <a:ea typeface="Calibri" pitchFamily="34" charset="-122"/>
                <a:cs typeface="Calibri" pitchFamily="34" charset="-120"/>
              </a:rPr>
              <a:t>A hallucination is when AI confidently generates false or fabricated information — and does not know it is wrong.</a:t>
            </a:r>
            <a:endParaRPr lang="en-US" sz="1050" dirty="0"/>
          </a:p>
        </p:txBody>
      </p:sp>
      <p:sp>
        <p:nvSpPr>
          <p:cNvPr id="10" name="Shape 8"/>
          <p:cNvSpPr/>
          <p:nvPr/>
        </p:nvSpPr>
        <p:spPr>
          <a:xfrm>
            <a:off x="365760" y="1188720"/>
            <a:ext cx="8412480" cy="713232"/>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11" name="Shape 9"/>
          <p:cNvSpPr/>
          <p:nvPr/>
        </p:nvSpPr>
        <p:spPr>
          <a:xfrm>
            <a:off x="365760" y="1188720"/>
            <a:ext cx="36576" cy="713232"/>
          </a:xfrm>
          <a:prstGeom prst="rect">
            <a:avLst/>
          </a:prstGeom>
          <a:solidFill>
            <a:srgbClr val="B8860B"/>
          </a:solidFill>
          <a:ln/>
        </p:spPr>
      </p:sp>
      <p:sp>
        <p:nvSpPr>
          <p:cNvPr id="12" name="Text 10"/>
          <p:cNvSpPr/>
          <p:nvPr/>
        </p:nvSpPr>
        <p:spPr>
          <a:xfrm>
            <a:off x="548640" y="1207008"/>
            <a:ext cx="8183880" cy="201168"/>
          </a:xfrm>
          <a:prstGeom prst="rect">
            <a:avLst/>
          </a:prstGeom>
          <a:noFill/>
          <a:ln/>
        </p:spPr>
        <p:txBody>
          <a:bodyPr wrap="square" lIns="0" tIns="0" rIns="0" bIns="0" rtlCol="0" anchor="ctr"/>
          <a:lstStyle/>
          <a:p>
            <a:pPr indent="0" marL="0">
              <a:buNone/>
            </a:pPr>
            <a:r>
              <a:rPr lang="en-US" sz="850" b="1" spc="150" kern="0" dirty="0">
                <a:solidFill>
                  <a:srgbClr val="B8860B"/>
                </a:solidFill>
                <a:latin typeface="Calibri" pitchFamily="34" charset="0"/>
                <a:ea typeface="Calibri" pitchFamily="34" charset="-122"/>
                <a:cs typeface="Calibri" pitchFamily="34" charset="-120"/>
              </a:rPr>
              <a:t>ANALOGY  ·  The Confident Student Who Never Says 'I Don't Know'</a:t>
            </a:r>
            <a:endParaRPr lang="en-US" sz="850" dirty="0"/>
          </a:p>
        </p:txBody>
      </p:sp>
      <p:sp>
        <p:nvSpPr>
          <p:cNvPr id="13" name="Text 11"/>
          <p:cNvSpPr/>
          <p:nvPr/>
        </p:nvSpPr>
        <p:spPr>
          <a:xfrm>
            <a:off x="548640" y="1408176"/>
            <a:ext cx="8183880" cy="475488"/>
          </a:xfrm>
          <a:prstGeom prst="rect">
            <a:avLst/>
          </a:prstGeom>
          <a:noFill/>
          <a:ln/>
        </p:spPr>
        <p:txBody>
          <a:bodyPr wrap="square" lIns="0" tIns="0" rIns="0" bIns="0" rtlCol="0" anchor="ctr"/>
          <a:lstStyle/>
          <a:p>
            <a:pPr indent="0" marL="0">
              <a:buNone/>
            </a:pPr>
            <a:r>
              <a:rPr lang="en-US" sz="950" i="1" dirty="0">
                <a:solidFill>
                  <a:srgbClr val="47596B"/>
                </a:solidFill>
                <a:latin typeface="Calibri" pitchFamily="34" charset="0"/>
                <a:ea typeface="Calibri" pitchFamily="34" charset="-122"/>
                <a:cs typeface="Calibri" pitchFamily="34" charset="-120"/>
              </a:rPr>
              <a:t>A brilliant student who has read every book — but never admits uncertainty. When they don't know, they invent a fluent, authoritative answer. You can't tell from tone whether it's correct.</a:t>
            </a:r>
            <a:endParaRPr lang="en-US" sz="950" dirty="0"/>
          </a:p>
        </p:txBody>
      </p:sp>
      <p:sp>
        <p:nvSpPr>
          <p:cNvPr id="14" name="Shape 12"/>
          <p:cNvSpPr/>
          <p:nvPr/>
        </p:nvSpPr>
        <p:spPr>
          <a:xfrm>
            <a:off x="365760" y="2048256"/>
            <a:ext cx="2615184" cy="246888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5" name="Shape 13"/>
          <p:cNvSpPr/>
          <p:nvPr/>
        </p:nvSpPr>
        <p:spPr>
          <a:xfrm>
            <a:off x="365760" y="2048256"/>
            <a:ext cx="2615184" cy="347472"/>
          </a:xfrm>
          <a:prstGeom prst="rect">
            <a:avLst/>
          </a:prstGeom>
          <a:solidFill>
            <a:srgbClr val="1E3A5F"/>
          </a:solidFill>
          <a:ln/>
        </p:spPr>
      </p:sp>
      <p:sp>
        <p:nvSpPr>
          <p:cNvPr id="16" name="Text 14"/>
          <p:cNvSpPr/>
          <p:nvPr/>
        </p:nvSpPr>
        <p:spPr>
          <a:xfrm>
            <a:off x="475488" y="2075688"/>
            <a:ext cx="2432304" cy="292608"/>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WHY IT HAPPENS</a:t>
            </a:r>
            <a:endParaRPr lang="en-US" sz="950" dirty="0"/>
          </a:p>
        </p:txBody>
      </p:sp>
      <p:sp>
        <p:nvSpPr>
          <p:cNvPr id="17" name="Shape 15"/>
          <p:cNvSpPr/>
          <p:nvPr/>
        </p:nvSpPr>
        <p:spPr>
          <a:xfrm>
            <a:off x="475488" y="2505456"/>
            <a:ext cx="36576" cy="36576"/>
          </a:xfrm>
          <a:prstGeom prst="rect">
            <a:avLst/>
          </a:prstGeom>
          <a:solidFill>
            <a:srgbClr val="1E3A5F"/>
          </a:solidFill>
          <a:ln/>
        </p:spPr>
      </p:sp>
      <p:sp>
        <p:nvSpPr>
          <p:cNvPr id="18" name="Text 16"/>
          <p:cNvSpPr/>
          <p:nvPr/>
        </p:nvSpPr>
        <p:spPr>
          <a:xfrm>
            <a:off x="566928" y="2432304"/>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Predicts most plausible next token — not the most accurate</a:t>
            </a:r>
            <a:endParaRPr lang="en-US" sz="850" dirty="0"/>
          </a:p>
        </p:txBody>
      </p:sp>
      <p:sp>
        <p:nvSpPr>
          <p:cNvPr id="19" name="Shape 17"/>
          <p:cNvSpPr/>
          <p:nvPr/>
        </p:nvSpPr>
        <p:spPr>
          <a:xfrm>
            <a:off x="475488" y="2889504"/>
            <a:ext cx="36576" cy="36576"/>
          </a:xfrm>
          <a:prstGeom prst="rect">
            <a:avLst/>
          </a:prstGeom>
          <a:solidFill>
            <a:srgbClr val="1E3A5F"/>
          </a:solidFill>
          <a:ln/>
        </p:spPr>
      </p:sp>
      <p:sp>
        <p:nvSpPr>
          <p:cNvPr id="20" name="Text 18"/>
          <p:cNvSpPr/>
          <p:nvPr/>
        </p:nvSpPr>
        <p:spPr>
          <a:xfrm>
            <a:off x="566928" y="2816352"/>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No internal 'I don't know' mechanism</a:t>
            </a:r>
            <a:endParaRPr lang="en-US" sz="850" dirty="0"/>
          </a:p>
        </p:txBody>
      </p:sp>
      <p:sp>
        <p:nvSpPr>
          <p:cNvPr id="21" name="Shape 19"/>
          <p:cNvSpPr/>
          <p:nvPr/>
        </p:nvSpPr>
        <p:spPr>
          <a:xfrm>
            <a:off x="475488" y="3273552"/>
            <a:ext cx="36576" cy="36576"/>
          </a:xfrm>
          <a:prstGeom prst="rect">
            <a:avLst/>
          </a:prstGeom>
          <a:solidFill>
            <a:srgbClr val="1E3A5F"/>
          </a:solidFill>
          <a:ln/>
        </p:spPr>
      </p:sp>
      <p:sp>
        <p:nvSpPr>
          <p:cNvPr id="22" name="Text 20"/>
          <p:cNvSpPr/>
          <p:nvPr/>
        </p:nvSpPr>
        <p:spPr>
          <a:xfrm>
            <a:off x="566928" y="3200400"/>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Knowledge cutoff — no info after training</a:t>
            </a:r>
            <a:endParaRPr lang="en-US" sz="850" dirty="0"/>
          </a:p>
        </p:txBody>
      </p:sp>
      <p:sp>
        <p:nvSpPr>
          <p:cNvPr id="23" name="Shape 21"/>
          <p:cNvSpPr/>
          <p:nvPr/>
        </p:nvSpPr>
        <p:spPr>
          <a:xfrm>
            <a:off x="475488" y="3657600"/>
            <a:ext cx="36576" cy="36576"/>
          </a:xfrm>
          <a:prstGeom prst="rect">
            <a:avLst/>
          </a:prstGeom>
          <a:solidFill>
            <a:srgbClr val="1E3A5F"/>
          </a:solidFill>
          <a:ln/>
        </p:spPr>
      </p:sp>
      <p:sp>
        <p:nvSpPr>
          <p:cNvPr id="24" name="Text 22"/>
          <p:cNvSpPr/>
          <p:nvPr/>
        </p:nvSpPr>
        <p:spPr>
          <a:xfrm>
            <a:off x="566928" y="3584448"/>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Confidence in tone ≠ factual accuracy</a:t>
            </a:r>
            <a:endParaRPr lang="en-US" sz="850" dirty="0"/>
          </a:p>
        </p:txBody>
      </p:sp>
      <p:sp>
        <p:nvSpPr>
          <p:cNvPr id="25" name="Shape 23"/>
          <p:cNvSpPr/>
          <p:nvPr/>
        </p:nvSpPr>
        <p:spPr>
          <a:xfrm>
            <a:off x="457200" y="4114800"/>
            <a:ext cx="2432304" cy="365760"/>
          </a:xfrm>
          <a:prstGeom prst="rect">
            <a:avLst/>
          </a:prstGeom>
          <a:solidFill>
            <a:srgbClr val="F4E4BC"/>
          </a:solidFill>
          <a:ln/>
        </p:spPr>
      </p:sp>
      <p:sp>
        <p:nvSpPr>
          <p:cNvPr id="26" name="Text 24"/>
          <p:cNvSpPr/>
          <p:nvPr/>
        </p:nvSpPr>
        <p:spPr>
          <a:xfrm>
            <a:off x="493776" y="4133088"/>
            <a:ext cx="2359152" cy="32918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e.g. Asked about a 2024 legal case, model invents plausible (but fake) references</a:t>
            </a:r>
            <a:endParaRPr lang="en-US" sz="750" dirty="0"/>
          </a:p>
        </p:txBody>
      </p:sp>
      <p:sp>
        <p:nvSpPr>
          <p:cNvPr id="27" name="Shape 25"/>
          <p:cNvSpPr/>
          <p:nvPr/>
        </p:nvSpPr>
        <p:spPr>
          <a:xfrm>
            <a:off x="3172968" y="2048256"/>
            <a:ext cx="2615184" cy="246888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8" name="Shape 26"/>
          <p:cNvSpPr/>
          <p:nvPr/>
        </p:nvSpPr>
        <p:spPr>
          <a:xfrm>
            <a:off x="3172968" y="2048256"/>
            <a:ext cx="2615184" cy="347472"/>
          </a:xfrm>
          <a:prstGeom prst="rect">
            <a:avLst/>
          </a:prstGeom>
          <a:solidFill>
            <a:srgbClr val="9A3324"/>
          </a:solidFill>
          <a:ln/>
        </p:spPr>
      </p:sp>
      <p:sp>
        <p:nvSpPr>
          <p:cNvPr id="29" name="Text 27"/>
          <p:cNvSpPr/>
          <p:nvPr/>
        </p:nvSpPr>
        <p:spPr>
          <a:xfrm>
            <a:off x="3282696" y="2075688"/>
            <a:ext cx="2432304" cy="292608"/>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HIGH-RISK SCENARIOS</a:t>
            </a:r>
            <a:endParaRPr lang="en-US" sz="950" dirty="0"/>
          </a:p>
        </p:txBody>
      </p:sp>
      <p:sp>
        <p:nvSpPr>
          <p:cNvPr id="30" name="Shape 28"/>
          <p:cNvSpPr/>
          <p:nvPr/>
        </p:nvSpPr>
        <p:spPr>
          <a:xfrm>
            <a:off x="3282696" y="2505456"/>
            <a:ext cx="36576" cy="36576"/>
          </a:xfrm>
          <a:prstGeom prst="rect">
            <a:avLst/>
          </a:prstGeom>
          <a:solidFill>
            <a:srgbClr val="9A3324"/>
          </a:solidFill>
          <a:ln/>
        </p:spPr>
      </p:sp>
      <p:sp>
        <p:nvSpPr>
          <p:cNvPr id="31" name="Text 29"/>
          <p:cNvSpPr/>
          <p:nvPr/>
        </p:nvSpPr>
        <p:spPr>
          <a:xfrm>
            <a:off x="3374136" y="2432304"/>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Specific statistics, studies, or case law</a:t>
            </a:r>
            <a:endParaRPr lang="en-US" sz="850" dirty="0"/>
          </a:p>
        </p:txBody>
      </p:sp>
      <p:sp>
        <p:nvSpPr>
          <p:cNvPr id="32" name="Shape 30"/>
          <p:cNvSpPr/>
          <p:nvPr/>
        </p:nvSpPr>
        <p:spPr>
          <a:xfrm>
            <a:off x="3282696" y="2889504"/>
            <a:ext cx="36576" cy="36576"/>
          </a:xfrm>
          <a:prstGeom prst="rect">
            <a:avLst/>
          </a:prstGeom>
          <a:solidFill>
            <a:srgbClr val="9A3324"/>
          </a:solidFill>
          <a:ln/>
        </p:spPr>
      </p:sp>
      <p:sp>
        <p:nvSpPr>
          <p:cNvPr id="33" name="Text 31"/>
          <p:cNvSpPr/>
          <p:nvPr/>
        </p:nvSpPr>
        <p:spPr>
          <a:xfrm>
            <a:off x="3374136" y="2816352"/>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Legal, medical, or regulatory questions</a:t>
            </a:r>
            <a:endParaRPr lang="en-US" sz="850" dirty="0"/>
          </a:p>
        </p:txBody>
      </p:sp>
      <p:sp>
        <p:nvSpPr>
          <p:cNvPr id="34" name="Shape 32"/>
          <p:cNvSpPr/>
          <p:nvPr/>
        </p:nvSpPr>
        <p:spPr>
          <a:xfrm>
            <a:off x="3282696" y="3273552"/>
            <a:ext cx="36576" cy="36576"/>
          </a:xfrm>
          <a:prstGeom prst="rect">
            <a:avLst/>
          </a:prstGeom>
          <a:solidFill>
            <a:srgbClr val="9A3324"/>
          </a:solidFill>
          <a:ln/>
        </p:spPr>
      </p:sp>
      <p:sp>
        <p:nvSpPr>
          <p:cNvPr id="35" name="Text 33"/>
          <p:cNvSpPr/>
          <p:nvPr/>
        </p:nvSpPr>
        <p:spPr>
          <a:xfrm>
            <a:off x="3374136" y="3200400"/>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Events after the model's knowledge cutoff</a:t>
            </a:r>
            <a:endParaRPr lang="en-US" sz="850" dirty="0"/>
          </a:p>
        </p:txBody>
      </p:sp>
      <p:sp>
        <p:nvSpPr>
          <p:cNvPr id="36" name="Shape 34"/>
          <p:cNvSpPr/>
          <p:nvPr/>
        </p:nvSpPr>
        <p:spPr>
          <a:xfrm>
            <a:off x="3282696" y="3657600"/>
            <a:ext cx="36576" cy="36576"/>
          </a:xfrm>
          <a:prstGeom prst="rect">
            <a:avLst/>
          </a:prstGeom>
          <a:solidFill>
            <a:srgbClr val="9A3324"/>
          </a:solidFill>
          <a:ln/>
        </p:spPr>
      </p:sp>
      <p:sp>
        <p:nvSpPr>
          <p:cNvPr id="37" name="Text 35"/>
          <p:cNvSpPr/>
          <p:nvPr/>
        </p:nvSpPr>
        <p:spPr>
          <a:xfrm>
            <a:off x="3374136" y="3584448"/>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Highly specific or niche factual queries</a:t>
            </a:r>
            <a:endParaRPr lang="en-US" sz="850" dirty="0"/>
          </a:p>
        </p:txBody>
      </p:sp>
      <p:sp>
        <p:nvSpPr>
          <p:cNvPr id="38" name="Shape 36"/>
          <p:cNvSpPr/>
          <p:nvPr/>
        </p:nvSpPr>
        <p:spPr>
          <a:xfrm>
            <a:off x="3264408" y="4114800"/>
            <a:ext cx="2432304" cy="365760"/>
          </a:xfrm>
          <a:prstGeom prst="rect">
            <a:avLst/>
          </a:prstGeom>
          <a:solidFill>
            <a:srgbClr val="F4E4BC"/>
          </a:solidFill>
          <a:ln/>
        </p:spPr>
      </p:sp>
      <p:sp>
        <p:nvSpPr>
          <p:cNvPr id="39" name="Text 37"/>
          <p:cNvSpPr/>
          <p:nvPr/>
        </p:nvSpPr>
        <p:spPr>
          <a:xfrm>
            <a:off x="3300984" y="4133088"/>
            <a:ext cx="2359152" cy="32918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e.g. "What did the CMA rule on X?" — model may invent details that sound convincing</a:t>
            </a:r>
            <a:endParaRPr lang="en-US" sz="750" dirty="0"/>
          </a:p>
        </p:txBody>
      </p:sp>
      <p:sp>
        <p:nvSpPr>
          <p:cNvPr id="40" name="Shape 38"/>
          <p:cNvSpPr/>
          <p:nvPr/>
        </p:nvSpPr>
        <p:spPr>
          <a:xfrm>
            <a:off x="5980176" y="2048256"/>
            <a:ext cx="2615184" cy="246888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1" name="Shape 39"/>
          <p:cNvSpPr/>
          <p:nvPr/>
        </p:nvSpPr>
        <p:spPr>
          <a:xfrm>
            <a:off x="5980176" y="2048256"/>
            <a:ext cx="2615184" cy="347472"/>
          </a:xfrm>
          <a:prstGeom prst="rect">
            <a:avLst/>
          </a:prstGeom>
          <a:solidFill>
            <a:srgbClr val="0F766E"/>
          </a:solidFill>
          <a:ln/>
        </p:spPr>
      </p:sp>
      <p:sp>
        <p:nvSpPr>
          <p:cNvPr id="42" name="Text 40"/>
          <p:cNvSpPr/>
          <p:nvPr/>
        </p:nvSpPr>
        <p:spPr>
          <a:xfrm>
            <a:off x="6089904" y="2075688"/>
            <a:ext cx="2432304" cy="292608"/>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HOW TO MITIGATE</a:t>
            </a:r>
            <a:endParaRPr lang="en-US" sz="950" dirty="0"/>
          </a:p>
        </p:txBody>
      </p:sp>
      <p:sp>
        <p:nvSpPr>
          <p:cNvPr id="43" name="Shape 41"/>
          <p:cNvSpPr/>
          <p:nvPr/>
        </p:nvSpPr>
        <p:spPr>
          <a:xfrm>
            <a:off x="6089904" y="2505456"/>
            <a:ext cx="36576" cy="36576"/>
          </a:xfrm>
          <a:prstGeom prst="rect">
            <a:avLst/>
          </a:prstGeom>
          <a:solidFill>
            <a:srgbClr val="0F766E"/>
          </a:solidFill>
          <a:ln/>
        </p:spPr>
      </p:sp>
      <p:sp>
        <p:nvSpPr>
          <p:cNvPr id="44" name="Text 42"/>
          <p:cNvSpPr/>
          <p:nvPr/>
        </p:nvSpPr>
        <p:spPr>
          <a:xfrm>
            <a:off x="6181344" y="2432304"/>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RAG: ground answers in verified documents</a:t>
            </a:r>
            <a:endParaRPr lang="en-US" sz="850" dirty="0"/>
          </a:p>
        </p:txBody>
      </p:sp>
      <p:sp>
        <p:nvSpPr>
          <p:cNvPr id="45" name="Shape 43"/>
          <p:cNvSpPr/>
          <p:nvPr/>
        </p:nvSpPr>
        <p:spPr>
          <a:xfrm>
            <a:off x="6089904" y="2889504"/>
            <a:ext cx="36576" cy="36576"/>
          </a:xfrm>
          <a:prstGeom prst="rect">
            <a:avLst/>
          </a:prstGeom>
          <a:solidFill>
            <a:srgbClr val="0F766E"/>
          </a:solidFill>
          <a:ln/>
        </p:spPr>
      </p:sp>
      <p:sp>
        <p:nvSpPr>
          <p:cNvPr id="46" name="Text 44"/>
          <p:cNvSpPr/>
          <p:nvPr/>
        </p:nvSpPr>
        <p:spPr>
          <a:xfrm>
            <a:off x="6181344" y="2816352"/>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Human-review all high-stakes outputs</a:t>
            </a:r>
            <a:endParaRPr lang="en-US" sz="850" dirty="0"/>
          </a:p>
        </p:txBody>
      </p:sp>
      <p:sp>
        <p:nvSpPr>
          <p:cNvPr id="47" name="Shape 45"/>
          <p:cNvSpPr/>
          <p:nvPr/>
        </p:nvSpPr>
        <p:spPr>
          <a:xfrm>
            <a:off x="6089904" y="3273552"/>
            <a:ext cx="36576" cy="36576"/>
          </a:xfrm>
          <a:prstGeom prst="rect">
            <a:avLst/>
          </a:prstGeom>
          <a:solidFill>
            <a:srgbClr val="0F766E"/>
          </a:solidFill>
          <a:ln/>
        </p:spPr>
      </p:sp>
      <p:sp>
        <p:nvSpPr>
          <p:cNvPr id="48" name="Text 46"/>
          <p:cNvSpPr/>
          <p:nvPr/>
        </p:nvSpPr>
        <p:spPr>
          <a:xfrm>
            <a:off x="6181344" y="3200400"/>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Ask for sources — then verify each one</a:t>
            </a:r>
            <a:endParaRPr lang="en-US" sz="850" dirty="0"/>
          </a:p>
        </p:txBody>
      </p:sp>
      <p:sp>
        <p:nvSpPr>
          <p:cNvPr id="49" name="Shape 47"/>
          <p:cNvSpPr/>
          <p:nvPr/>
        </p:nvSpPr>
        <p:spPr>
          <a:xfrm>
            <a:off x="6089904" y="3657600"/>
            <a:ext cx="36576" cy="36576"/>
          </a:xfrm>
          <a:prstGeom prst="rect">
            <a:avLst/>
          </a:prstGeom>
          <a:solidFill>
            <a:srgbClr val="0F766E"/>
          </a:solidFill>
          <a:ln/>
        </p:spPr>
      </p:sp>
      <p:sp>
        <p:nvSpPr>
          <p:cNvPr id="50" name="Text 48"/>
          <p:cNvSpPr/>
          <p:nvPr/>
        </p:nvSpPr>
        <p:spPr>
          <a:xfrm>
            <a:off x="6181344" y="3584448"/>
            <a:ext cx="234086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Build verification checkpoints into workflows</a:t>
            </a:r>
            <a:endParaRPr lang="en-US" sz="850" dirty="0"/>
          </a:p>
        </p:txBody>
      </p:sp>
      <p:sp>
        <p:nvSpPr>
          <p:cNvPr id="51" name="Shape 49"/>
          <p:cNvSpPr/>
          <p:nvPr/>
        </p:nvSpPr>
        <p:spPr>
          <a:xfrm>
            <a:off x="6071616" y="4114800"/>
            <a:ext cx="2432304" cy="365760"/>
          </a:xfrm>
          <a:prstGeom prst="rect">
            <a:avLst/>
          </a:prstGeom>
          <a:solidFill>
            <a:srgbClr val="F4E4BC"/>
          </a:solidFill>
          <a:ln/>
        </p:spPr>
      </p:sp>
      <p:sp>
        <p:nvSpPr>
          <p:cNvPr id="52" name="Text 50"/>
          <p:cNvSpPr/>
          <p:nvPr/>
        </p:nvSpPr>
        <p:spPr>
          <a:xfrm>
            <a:off x="6108192" y="4133088"/>
            <a:ext cx="2359152" cy="32918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e.g. All legal AI outputs reviewed by a qualified lawyer before use — policy</a:t>
            </a:r>
            <a:endParaRPr lang="en-US" sz="750" dirty="0"/>
          </a:p>
        </p:txBody>
      </p:sp>
      <p:sp>
        <p:nvSpPr>
          <p:cNvPr id="53" name="Shape 51"/>
          <p:cNvSpPr/>
          <p:nvPr/>
        </p:nvSpPr>
        <p:spPr>
          <a:xfrm>
            <a:off x="365760" y="4626864"/>
            <a:ext cx="8412480" cy="384048"/>
          </a:xfrm>
          <a:prstGeom prst="rect">
            <a:avLst/>
          </a:prstGeom>
          <a:solidFill>
            <a:srgbClr val="9A3324"/>
          </a:solidFill>
          <a:ln/>
        </p:spPr>
      </p:sp>
      <p:sp>
        <p:nvSpPr>
          <p:cNvPr id="54" name="Text 52"/>
          <p:cNvSpPr/>
          <p:nvPr/>
        </p:nvSpPr>
        <p:spPr>
          <a:xfrm>
            <a:off x="457200" y="4663440"/>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RULE OF THUMB  ·  The more specific the claim — a statistic, name, URL, legal precedent — the higher the hallucination risk. Always verify before acting.</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0F766E"/>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03</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KNOWLEDGE CUTOFF</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 Brilliant Analyst Who Went Into a Coma</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Your best analyst went into a coma on a specific date and just woke up today. Everything before: expert knowledge. Everything after: complete blank. They won't know last year's regulations or yesterday's news — unless you tell them.</a:t>
            </a:r>
            <a:endParaRPr lang="en-US" sz="1000" dirty="0"/>
          </a:p>
        </p:txBody>
      </p:sp>
      <p:sp>
        <p:nvSpPr>
          <p:cNvPr id="11" name="Shape 9"/>
          <p:cNvSpPr/>
          <p:nvPr/>
        </p:nvSpPr>
        <p:spPr>
          <a:xfrm>
            <a:off x="365760" y="1847088"/>
            <a:ext cx="8412480" cy="73152"/>
          </a:xfrm>
          <a:prstGeom prst="rect">
            <a:avLst/>
          </a:prstGeom>
          <a:solidFill>
            <a:srgbClr val="D8DEE9"/>
          </a:solidFill>
          <a:ln/>
        </p:spPr>
      </p:sp>
      <p:sp>
        <p:nvSpPr>
          <p:cNvPr id="12" name="Shape 10"/>
          <p:cNvSpPr/>
          <p:nvPr/>
        </p:nvSpPr>
        <p:spPr>
          <a:xfrm>
            <a:off x="841248" y="1810512"/>
            <a:ext cx="146304" cy="146304"/>
          </a:xfrm>
          <a:prstGeom prst="ellipse">
            <a:avLst/>
          </a:prstGeom>
          <a:solidFill>
            <a:srgbClr val="47596B"/>
          </a:solidFill>
          <a:ln/>
        </p:spPr>
      </p:sp>
      <p:sp>
        <p:nvSpPr>
          <p:cNvPr id="13" name="Shape 11"/>
          <p:cNvSpPr/>
          <p:nvPr/>
        </p:nvSpPr>
        <p:spPr>
          <a:xfrm>
            <a:off x="914400" y="1975104"/>
            <a:ext cx="18288" cy="365760"/>
          </a:xfrm>
          <a:prstGeom prst="rect">
            <a:avLst/>
          </a:prstGeom>
          <a:solidFill>
            <a:srgbClr val="47596B"/>
          </a:solidFill>
          <a:ln/>
        </p:spPr>
      </p:sp>
      <p:sp>
        <p:nvSpPr>
          <p:cNvPr id="14" name="Text 12"/>
          <p:cNvSpPr/>
          <p:nvPr/>
        </p:nvSpPr>
        <p:spPr>
          <a:xfrm>
            <a:off x="411480" y="2377440"/>
            <a:ext cx="1005840" cy="201168"/>
          </a:xfrm>
          <a:prstGeom prst="rect">
            <a:avLst/>
          </a:prstGeom>
          <a:noFill/>
          <a:ln/>
        </p:spPr>
        <p:txBody>
          <a:bodyPr wrap="square" lIns="0" tIns="0" rIns="0" bIns="0" rtlCol="0" anchor="ctr"/>
          <a:lstStyle/>
          <a:p>
            <a:pPr algn="ctr" indent="0" marL="0">
              <a:buNone/>
            </a:pPr>
            <a:r>
              <a:rPr lang="en-US" sz="850" b="1" dirty="0">
                <a:solidFill>
                  <a:srgbClr val="47596B"/>
                </a:solidFill>
                <a:latin typeface="Calibri" pitchFamily="34" charset="0"/>
                <a:ea typeface="Calibri" pitchFamily="34" charset="-122"/>
                <a:cs typeface="Calibri" pitchFamily="34" charset="-120"/>
              </a:rPr>
              <a:t>GPT-3</a:t>
            </a:r>
            <a:endParaRPr lang="en-US" sz="850" dirty="0"/>
          </a:p>
        </p:txBody>
      </p:sp>
      <p:sp>
        <p:nvSpPr>
          <p:cNvPr id="15" name="Text 13"/>
          <p:cNvSpPr/>
          <p:nvPr/>
        </p:nvSpPr>
        <p:spPr>
          <a:xfrm>
            <a:off x="411480" y="2578608"/>
            <a:ext cx="1005840" cy="182880"/>
          </a:xfrm>
          <a:prstGeom prst="rect">
            <a:avLst/>
          </a:prstGeom>
          <a:noFill/>
          <a:ln/>
        </p:spPr>
        <p:txBody>
          <a:bodyPr wrap="square" lIns="0" tIns="0" rIns="0" bIns="0" rtlCol="0" anchor="ctr"/>
          <a:lstStyle/>
          <a:p>
            <a:pPr algn="ctr" indent="0" marL="0">
              <a:buNone/>
            </a:pPr>
            <a:r>
              <a:rPr lang="en-US" sz="750" dirty="0">
                <a:solidFill>
                  <a:srgbClr val="8898AA"/>
                </a:solidFill>
                <a:latin typeface="Calibri" pitchFamily="34" charset="0"/>
                <a:ea typeface="Calibri" pitchFamily="34" charset="-122"/>
                <a:cs typeface="Calibri" pitchFamily="34" charset="-120"/>
              </a:rPr>
              <a:t>2021</a:t>
            </a:r>
            <a:endParaRPr lang="en-US" sz="750" dirty="0"/>
          </a:p>
        </p:txBody>
      </p:sp>
      <p:sp>
        <p:nvSpPr>
          <p:cNvPr id="16" name="Shape 14"/>
          <p:cNvSpPr/>
          <p:nvPr/>
        </p:nvSpPr>
        <p:spPr>
          <a:xfrm>
            <a:off x="2487168" y="1810512"/>
            <a:ext cx="146304" cy="146304"/>
          </a:xfrm>
          <a:prstGeom prst="ellipse">
            <a:avLst/>
          </a:prstGeom>
          <a:solidFill>
            <a:srgbClr val="1E3A5F"/>
          </a:solidFill>
          <a:ln/>
        </p:spPr>
      </p:sp>
      <p:sp>
        <p:nvSpPr>
          <p:cNvPr id="17" name="Shape 15"/>
          <p:cNvSpPr/>
          <p:nvPr/>
        </p:nvSpPr>
        <p:spPr>
          <a:xfrm>
            <a:off x="2560320" y="1975104"/>
            <a:ext cx="18288" cy="365760"/>
          </a:xfrm>
          <a:prstGeom prst="rect">
            <a:avLst/>
          </a:prstGeom>
          <a:solidFill>
            <a:srgbClr val="1E3A5F"/>
          </a:solidFill>
          <a:ln/>
        </p:spPr>
      </p:sp>
      <p:sp>
        <p:nvSpPr>
          <p:cNvPr id="18" name="Text 16"/>
          <p:cNvSpPr/>
          <p:nvPr/>
        </p:nvSpPr>
        <p:spPr>
          <a:xfrm>
            <a:off x="2057400" y="2377440"/>
            <a:ext cx="1005840" cy="201168"/>
          </a:xfrm>
          <a:prstGeom prst="rect">
            <a:avLst/>
          </a:prstGeom>
          <a:noFill/>
          <a:ln/>
        </p:spPr>
        <p:txBody>
          <a:bodyPr wrap="square" lIns="0" tIns="0" rIns="0" bIns="0" rtlCol="0" anchor="ctr"/>
          <a:lstStyle/>
          <a:p>
            <a:pPr algn="ctr" indent="0" marL="0">
              <a:buNone/>
            </a:pPr>
            <a:r>
              <a:rPr lang="en-US" sz="850" b="1" dirty="0">
                <a:solidFill>
                  <a:srgbClr val="1E3A5F"/>
                </a:solidFill>
                <a:latin typeface="Calibri" pitchFamily="34" charset="0"/>
                <a:ea typeface="Calibri" pitchFamily="34" charset="-122"/>
                <a:cs typeface="Calibri" pitchFamily="34" charset="-120"/>
              </a:rPr>
              <a:t>GPT-4</a:t>
            </a:r>
            <a:endParaRPr lang="en-US" sz="850" dirty="0"/>
          </a:p>
        </p:txBody>
      </p:sp>
      <p:sp>
        <p:nvSpPr>
          <p:cNvPr id="19" name="Text 17"/>
          <p:cNvSpPr/>
          <p:nvPr/>
        </p:nvSpPr>
        <p:spPr>
          <a:xfrm>
            <a:off x="2057400" y="2578608"/>
            <a:ext cx="1005840" cy="182880"/>
          </a:xfrm>
          <a:prstGeom prst="rect">
            <a:avLst/>
          </a:prstGeom>
          <a:noFill/>
          <a:ln/>
        </p:spPr>
        <p:txBody>
          <a:bodyPr wrap="square" lIns="0" tIns="0" rIns="0" bIns="0" rtlCol="0" anchor="ctr"/>
          <a:lstStyle/>
          <a:p>
            <a:pPr algn="ctr" indent="0" marL="0">
              <a:buNone/>
            </a:pPr>
            <a:r>
              <a:rPr lang="en-US" sz="750" dirty="0">
                <a:solidFill>
                  <a:srgbClr val="8898AA"/>
                </a:solidFill>
                <a:latin typeface="Calibri" pitchFamily="34" charset="0"/>
                <a:ea typeface="Calibri" pitchFamily="34" charset="-122"/>
                <a:cs typeface="Calibri" pitchFamily="34" charset="-120"/>
              </a:rPr>
              <a:t>Apr 2023</a:t>
            </a:r>
            <a:endParaRPr lang="en-US" sz="750" dirty="0"/>
          </a:p>
        </p:txBody>
      </p:sp>
      <p:sp>
        <p:nvSpPr>
          <p:cNvPr id="20" name="Shape 18"/>
          <p:cNvSpPr/>
          <p:nvPr/>
        </p:nvSpPr>
        <p:spPr>
          <a:xfrm>
            <a:off x="4224528" y="1810512"/>
            <a:ext cx="146304" cy="146304"/>
          </a:xfrm>
          <a:prstGeom prst="ellipse">
            <a:avLst/>
          </a:prstGeom>
          <a:solidFill>
            <a:srgbClr val="0F766E"/>
          </a:solidFill>
          <a:ln/>
        </p:spPr>
      </p:sp>
      <p:sp>
        <p:nvSpPr>
          <p:cNvPr id="21" name="Shape 19"/>
          <p:cNvSpPr/>
          <p:nvPr/>
        </p:nvSpPr>
        <p:spPr>
          <a:xfrm>
            <a:off x="4297680" y="1975104"/>
            <a:ext cx="18288" cy="365760"/>
          </a:xfrm>
          <a:prstGeom prst="rect">
            <a:avLst/>
          </a:prstGeom>
          <a:solidFill>
            <a:srgbClr val="0F766E"/>
          </a:solidFill>
          <a:ln/>
        </p:spPr>
      </p:sp>
      <p:sp>
        <p:nvSpPr>
          <p:cNvPr id="22" name="Text 20"/>
          <p:cNvSpPr/>
          <p:nvPr/>
        </p:nvSpPr>
        <p:spPr>
          <a:xfrm>
            <a:off x="3794760" y="2377440"/>
            <a:ext cx="1005840" cy="201168"/>
          </a:xfrm>
          <a:prstGeom prst="rect">
            <a:avLst/>
          </a:prstGeom>
          <a:noFill/>
          <a:ln/>
        </p:spPr>
        <p:txBody>
          <a:bodyPr wrap="square" lIns="0" tIns="0" rIns="0" bIns="0" rtlCol="0" anchor="ctr"/>
          <a:lstStyle/>
          <a:p>
            <a:pPr algn="ctr" indent="0" marL="0">
              <a:buNone/>
            </a:pPr>
            <a:r>
              <a:rPr lang="en-US" sz="850" b="1" dirty="0">
                <a:solidFill>
                  <a:srgbClr val="0F766E"/>
                </a:solidFill>
                <a:latin typeface="Calibri" pitchFamily="34" charset="0"/>
                <a:ea typeface="Calibri" pitchFamily="34" charset="-122"/>
                <a:cs typeface="Calibri" pitchFamily="34" charset="-120"/>
              </a:rPr>
              <a:t>Claude 3.5</a:t>
            </a:r>
            <a:endParaRPr lang="en-US" sz="850" dirty="0"/>
          </a:p>
        </p:txBody>
      </p:sp>
      <p:sp>
        <p:nvSpPr>
          <p:cNvPr id="23" name="Text 21"/>
          <p:cNvSpPr/>
          <p:nvPr/>
        </p:nvSpPr>
        <p:spPr>
          <a:xfrm>
            <a:off x="3794760" y="2578608"/>
            <a:ext cx="1005840" cy="182880"/>
          </a:xfrm>
          <a:prstGeom prst="rect">
            <a:avLst/>
          </a:prstGeom>
          <a:noFill/>
          <a:ln/>
        </p:spPr>
        <p:txBody>
          <a:bodyPr wrap="square" lIns="0" tIns="0" rIns="0" bIns="0" rtlCol="0" anchor="ctr"/>
          <a:lstStyle/>
          <a:p>
            <a:pPr algn="ctr" indent="0" marL="0">
              <a:buNone/>
            </a:pPr>
            <a:r>
              <a:rPr lang="en-US" sz="750" dirty="0">
                <a:solidFill>
                  <a:srgbClr val="8898AA"/>
                </a:solidFill>
                <a:latin typeface="Calibri" pitchFamily="34" charset="0"/>
                <a:ea typeface="Calibri" pitchFamily="34" charset="-122"/>
                <a:cs typeface="Calibri" pitchFamily="34" charset="-120"/>
              </a:rPr>
              <a:t>Apr 2024</a:t>
            </a:r>
            <a:endParaRPr lang="en-US" sz="750" dirty="0"/>
          </a:p>
        </p:txBody>
      </p:sp>
      <p:sp>
        <p:nvSpPr>
          <p:cNvPr id="24" name="Shape 22"/>
          <p:cNvSpPr/>
          <p:nvPr/>
        </p:nvSpPr>
        <p:spPr>
          <a:xfrm>
            <a:off x="5870448" y="1810512"/>
            <a:ext cx="146304" cy="146304"/>
          </a:xfrm>
          <a:prstGeom prst="ellipse">
            <a:avLst/>
          </a:prstGeom>
          <a:solidFill>
            <a:srgbClr val="0F766E"/>
          </a:solidFill>
          <a:ln/>
        </p:spPr>
      </p:sp>
      <p:sp>
        <p:nvSpPr>
          <p:cNvPr id="25" name="Shape 23"/>
          <p:cNvSpPr/>
          <p:nvPr/>
        </p:nvSpPr>
        <p:spPr>
          <a:xfrm>
            <a:off x="5943600" y="1975104"/>
            <a:ext cx="18288" cy="365760"/>
          </a:xfrm>
          <a:prstGeom prst="rect">
            <a:avLst/>
          </a:prstGeom>
          <a:solidFill>
            <a:srgbClr val="0F766E"/>
          </a:solidFill>
          <a:ln/>
        </p:spPr>
      </p:sp>
      <p:sp>
        <p:nvSpPr>
          <p:cNvPr id="26" name="Text 24"/>
          <p:cNvSpPr/>
          <p:nvPr/>
        </p:nvSpPr>
        <p:spPr>
          <a:xfrm>
            <a:off x="5440680" y="2377440"/>
            <a:ext cx="1005840" cy="201168"/>
          </a:xfrm>
          <a:prstGeom prst="rect">
            <a:avLst/>
          </a:prstGeom>
          <a:noFill/>
          <a:ln/>
        </p:spPr>
        <p:txBody>
          <a:bodyPr wrap="square" lIns="0" tIns="0" rIns="0" bIns="0" rtlCol="0" anchor="ctr"/>
          <a:lstStyle/>
          <a:p>
            <a:pPr algn="ctr" indent="0" marL="0">
              <a:buNone/>
            </a:pPr>
            <a:r>
              <a:rPr lang="en-US" sz="850" b="1" dirty="0">
                <a:solidFill>
                  <a:srgbClr val="0F766E"/>
                </a:solidFill>
                <a:latin typeface="Calibri" pitchFamily="34" charset="0"/>
                <a:ea typeface="Calibri" pitchFamily="34" charset="-122"/>
                <a:cs typeface="Calibri" pitchFamily="34" charset="-120"/>
              </a:rPr>
              <a:t>Gemini 2.0</a:t>
            </a:r>
            <a:endParaRPr lang="en-US" sz="850" dirty="0"/>
          </a:p>
        </p:txBody>
      </p:sp>
      <p:sp>
        <p:nvSpPr>
          <p:cNvPr id="27" name="Text 25"/>
          <p:cNvSpPr/>
          <p:nvPr/>
        </p:nvSpPr>
        <p:spPr>
          <a:xfrm>
            <a:off x="5440680" y="2578608"/>
            <a:ext cx="1005840" cy="182880"/>
          </a:xfrm>
          <a:prstGeom prst="rect">
            <a:avLst/>
          </a:prstGeom>
          <a:noFill/>
          <a:ln/>
        </p:spPr>
        <p:txBody>
          <a:bodyPr wrap="square" lIns="0" tIns="0" rIns="0" bIns="0" rtlCol="0" anchor="ctr"/>
          <a:lstStyle/>
          <a:p>
            <a:pPr algn="ctr" indent="0" marL="0">
              <a:buNone/>
            </a:pPr>
            <a:r>
              <a:rPr lang="en-US" sz="750" dirty="0">
                <a:solidFill>
                  <a:srgbClr val="8898AA"/>
                </a:solidFill>
                <a:latin typeface="Calibri" pitchFamily="34" charset="0"/>
                <a:ea typeface="Calibri" pitchFamily="34" charset="-122"/>
                <a:cs typeface="Calibri" pitchFamily="34" charset="-120"/>
              </a:rPr>
              <a:t>~2024</a:t>
            </a:r>
            <a:endParaRPr lang="en-US" sz="750" dirty="0"/>
          </a:p>
        </p:txBody>
      </p:sp>
      <p:sp>
        <p:nvSpPr>
          <p:cNvPr id="28" name="Shape 26"/>
          <p:cNvSpPr/>
          <p:nvPr/>
        </p:nvSpPr>
        <p:spPr>
          <a:xfrm>
            <a:off x="7790688" y="1810512"/>
            <a:ext cx="146304" cy="146304"/>
          </a:xfrm>
          <a:prstGeom prst="ellipse">
            <a:avLst/>
          </a:prstGeom>
          <a:solidFill>
            <a:srgbClr val="9A3324"/>
          </a:solidFill>
          <a:ln/>
        </p:spPr>
      </p:sp>
      <p:sp>
        <p:nvSpPr>
          <p:cNvPr id="29" name="Shape 27"/>
          <p:cNvSpPr/>
          <p:nvPr/>
        </p:nvSpPr>
        <p:spPr>
          <a:xfrm>
            <a:off x="7863840" y="1975104"/>
            <a:ext cx="18288" cy="365760"/>
          </a:xfrm>
          <a:prstGeom prst="rect">
            <a:avLst/>
          </a:prstGeom>
          <a:solidFill>
            <a:srgbClr val="9A3324"/>
          </a:solidFill>
          <a:ln/>
        </p:spPr>
      </p:sp>
      <p:sp>
        <p:nvSpPr>
          <p:cNvPr id="30" name="Text 28"/>
          <p:cNvSpPr/>
          <p:nvPr/>
        </p:nvSpPr>
        <p:spPr>
          <a:xfrm>
            <a:off x="7360920" y="2377440"/>
            <a:ext cx="1005840" cy="201168"/>
          </a:xfrm>
          <a:prstGeom prst="rect">
            <a:avLst/>
          </a:prstGeom>
          <a:noFill/>
          <a:ln/>
        </p:spPr>
        <p:txBody>
          <a:bodyPr wrap="square" lIns="0" tIns="0" rIns="0" bIns="0" rtlCol="0" anchor="ctr"/>
          <a:lstStyle/>
          <a:p>
            <a:pPr algn="ctr" indent="0" marL="0">
              <a:buNone/>
            </a:pPr>
            <a:r>
              <a:rPr lang="en-US" sz="850" b="1" dirty="0">
                <a:solidFill>
                  <a:srgbClr val="9A3324"/>
                </a:solidFill>
                <a:latin typeface="Calibri" pitchFamily="34" charset="0"/>
                <a:ea typeface="Calibri" pitchFamily="34" charset="-122"/>
                <a:cs typeface="Calibri" pitchFamily="34" charset="-120"/>
              </a:rPr>
              <a:t>TODAY</a:t>
            </a:r>
            <a:endParaRPr lang="en-US" sz="850" dirty="0"/>
          </a:p>
        </p:txBody>
      </p:sp>
      <p:sp>
        <p:nvSpPr>
          <p:cNvPr id="31" name="Text 29"/>
          <p:cNvSpPr/>
          <p:nvPr/>
        </p:nvSpPr>
        <p:spPr>
          <a:xfrm>
            <a:off x="7360920" y="2578608"/>
            <a:ext cx="1005840" cy="182880"/>
          </a:xfrm>
          <a:prstGeom prst="rect">
            <a:avLst/>
          </a:prstGeom>
          <a:noFill/>
          <a:ln/>
        </p:spPr>
        <p:txBody>
          <a:bodyPr wrap="square" lIns="0" tIns="0" rIns="0" bIns="0" rtlCol="0" anchor="ctr"/>
          <a:lstStyle/>
          <a:p>
            <a:pPr algn="ctr" indent="0" marL="0">
              <a:buNone/>
            </a:pPr>
            <a:r>
              <a:rPr lang="en-US" sz="750" dirty="0">
                <a:solidFill>
                  <a:srgbClr val="8898AA"/>
                </a:solidFill>
                <a:latin typeface="Calibri" pitchFamily="34" charset="0"/>
                <a:ea typeface="Calibri" pitchFamily="34" charset="-122"/>
                <a:cs typeface="Calibri" pitchFamily="34" charset="-120"/>
              </a:rPr>
              <a:t>2025/26</a:t>
            </a:r>
            <a:endParaRPr lang="en-US" sz="750" dirty="0"/>
          </a:p>
        </p:txBody>
      </p:sp>
      <p:sp>
        <p:nvSpPr>
          <p:cNvPr id="32" name="Shape 30"/>
          <p:cNvSpPr/>
          <p:nvPr/>
        </p:nvSpPr>
        <p:spPr>
          <a:xfrm>
            <a:off x="365760" y="2926080"/>
            <a:ext cx="4078224" cy="1481328"/>
          </a:xfrm>
          <a:prstGeom prst="rect">
            <a:avLst/>
          </a:prstGeom>
          <a:solidFill>
            <a:srgbClr val="FCE8E6"/>
          </a:solidFill>
          <a:ln/>
          <a:effectLst>
            <a:outerShdw sx="100000" sy="100000" kx="0" ky="0" algn="bl" rotWithShape="0" blurRad="76200" dist="25400" dir="8100000">
              <a:srgbClr val="000000">
                <a:alpha val="8000"/>
              </a:srgbClr>
            </a:outerShdw>
          </a:effectLst>
        </p:spPr>
      </p:sp>
      <p:sp>
        <p:nvSpPr>
          <p:cNvPr id="33" name="Shape 31"/>
          <p:cNvSpPr/>
          <p:nvPr/>
        </p:nvSpPr>
        <p:spPr>
          <a:xfrm>
            <a:off x="365760" y="2926080"/>
            <a:ext cx="4078224" cy="310896"/>
          </a:xfrm>
          <a:prstGeom prst="rect">
            <a:avLst/>
          </a:prstGeom>
          <a:solidFill>
            <a:srgbClr val="9A3324"/>
          </a:solidFill>
          <a:ln/>
        </p:spPr>
      </p:sp>
      <p:sp>
        <p:nvSpPr>
          <p:cNvPr id="34" name="Text 32"/>
          <p:cNvSpPr/>
          <p:nvPr/>
        </p:nvSpPr>
        <p:spPr>
          <a:xfrm>
            <a:off x="457200" y="2944368"/>
            <a:ext cx="3895344" cy="274320"/>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WHAT THE MODEL DOESN'T KNOW</a:t>
            </a:r>
            <a:endParaRPr lang="en-US" sz="950" dirty="0"/>
          </a:p>
        </p:txBody>
      </p:sp>
      <p:sp>
        <p:nvSpPr>
          <p:cNvPr id="35" name="Text 33"/>
          <p:cNvSpPr/>
          <p:nvPr/>
        </p:nvSpPr>
        <p:spPr>
          <a:xfrm>
            <a:off x="502920" y="3310128"/>
            <a:ext cx="164592" cy="201168"/>
          </a:xfrm>
          <a:prstGeom prst="rect">
            <a:avLst/>
          </a:prstGeom>
          <a:noFill/>
          <a:ln/>
        </p:spPr>
        <p:txBody>
          <a:bodyPr wrap="square" lIns="0" tIns="0" rIns="0" bIns="0" rtlCol="0" anchor="ctr"/>
          <a:lstStyle/>
          <a:p>
            <a:pPr indent="0" marL="0">
              <a:buNone/>
            </a:pPr>
            <a:r>
              <a:rPr lang="en-US" sz="900" b="1" dirty="0">
                <a:solidFill>
                  <a:srgbClr val="9A3324"/>
                </a:solidFill>
                <a:latin typeface="Calibri" pitchFamily="34" charset="0"/>
                <a:ea typeface="Calibri" pitchFamily="34" charset="-122"/>
                <a:cs typeface="Calibri" pitchFamily="34" charset="-120"/>
              </a:rPr>
              <a:t>✗</a:t>
            </a:r>
            <a:endParaRPr lang="en-US" sz="900" dirty="0"/>
          </a:p>
        </p:txBody>
      </p:sp>
      <p:sp>
        <p:nvSpPr>
          <p:cNvPr id="36" name="Text 34"/>
          <p:cNvSpPr/>
          <p:nvPr/>
        </p:nvSpPr>
        <p:spPr>
          <a:xfrm>
            <a:off x="694944" y="3310128"/>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Regulations passed after training cutoff</a:t>
            </a:r>
            <a:endParaRPr lang="en-US" sz="850" dirty="0"/>
          </a:p>
        </p:txBody>
      </p:sp>
      <p:sp>
        <p:nvSpPr>
          <p:cNvPr id="37" name="Text 35"/>
          <p:cNvSpPr/>
          <p:nvPr/>
        </p:nvSpPr>
        <p:spPr>
          <a:xfrm>
            <a:off x="502920" y="3511296"/>
            <a:ext cx="164592" cy="201168"/>
          </a:xfrm>
          <a:prstGeom prst="rect">
            <a:avLst/>
          </a:prstGeom>
          <a:noFill/>
          <a:ln/>
        </p:spPr>
        <p:txBody>
          <a:bodyPr wrap="square" lIns="0" tIns="0" rIns="0" bIns="0" rtlCol="0" anchor="ctr"/>
          <a:lstStyle/>
          <a:p>
            <a:pPr indent="0" marL="0">
              <a:buNone/>
            </a:pPr>
            <a:r>
              <a:rPr lang="en-US" sz="900" b="1" dirty="0">
                <a:solidFill>
                  <a:srgbClr val="9A3324"/>
                </a:solidFill>
                <a:latin typeface="Calibri" pitchFamily="34" charset="0"/>
                <a:ea typeface="Calibri" pitchFamily="34" charset="-122"/>
                <a:cs typeface="Calibri" pitchFamily="34" charset="-120"/>
              </a:rPr>
              <a:t>✗</a:t>
            </a:r>
            <a:endParaRPr lang="en-US" sz="900" dirty="0"/>
          </a:p>
        </p:txBody>
      </p:sp>
      <p:sp>
        <p:nvSpPr>
          <p:cNvPr id="38" name="Text 36"/>
          <p:cNvSpPr/>
          <p:nvPr/>
        </p:nvSpPr>
        <p:spPr>
          <a:xfrm>
            <a:off x="694944" y="3511296"/>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Competitive moves and market changes</a:t>
            </a:r>
            <a:endParaRPr lang="en-US" sz="850" dirty="0"/>
          </a:p>
        </p:txBody>
      </p:sp>
      <p:sp>
        <p:nvSpPr>
          <p:cNvPr id="39" name="Text 37"/>
          <p:cNvSpPr/>
          <p:nvPr/>
        </p:nvSpPr>
        <p:spPr>
          <a:xfrm>
            <a:off x="502920" y="3712464"/>
            <a:ext cx="164592" cy="201168"/>
          </a:xfrm>
          <a:prstGeom prst="rect">
            <a:avLst/>
          </a:prstGeom>
          <a:noFill/>
          <a:ln/>
        </p:spPr>
        <p:txBody>
          <a:bodyPr wrap="square" lIns="0" tIns="0" rIns="0" bIns="0" rtlCol="0" anchor="ctr"/>
          <a:lstStyle/>
          <a:p>
            <a:pPr indent="0" marL="0">
              <a:buNone/>
            </a:pPr>
            <a:r>
              <a:rPr lang="en-US" sz="900" b="1" dirty="0">
                <a:solidFill>
                  <a:srgbClr val="9A3324"/>
                </a:solidFill>
                <a:latin typeface="Calibri" pitchFamily="34" charset="0"/>
                <a:ea typeface="Calibri" pitchFamily="34" charset="-122"/>
                <a:cs typeface="Calibri" pitchFamily="34" charset="-120"/>
              </a:rPr>
              <a:t>✗</a:t>
            </a:r>
            <a:endParaRPr lang="en-US" sz="900" dirty="0"/>
          </a:p>
        </p:txBody>
      </p:sp>
      <p:sp>
        <p:nvSpPr>
          <p:cNvPr id="40" name="Text 38"/>
          <p:cNvSpPr/>
          <p:nvPr/>
        </p:nvSpPr>
        <p:spPr>
          <a:xfrm>
            <a:off x="694944" y="3712464"/>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Your company's recent announcements</a:t>
            </a:r>
            <a:endParaRPr lang="en-US" sz="850" dirty="0"/>
          </a:p>
        </p:txBody>
      </p:sp>
      <p:sp>
        <p:nvSpPr>
          <p:cNvPr id="41" name="Text 39"/>
          <p:cNvSpPr/>
          <p:nvPr/>
        </p:nvSpPr>
        <p:spPr>
          <a:xfrm>
            <a:off x="502920" y="3913632"/>
            <a:ext cx="164592" cy="201168"/>
          </a:xfrm>
          <a:prstGeom prst="rect">
            <a:avLst/>
          </a:prstGeom>
          <a:noFill/>
          <a:ln/>
        </p:spPr>
        <p:txBody>
          <a:bodyPr wrap="square" lIns="0" tIns="0" rIns="0" bIns="0" rtlCol="0" anchor="ctr"/>
          <a:lstStyle/>
          <a:p>
            <a:pPr indent="0" marL="0">
              <a:buNone/>
            </a:pPr>
            <a:r>
              <a:rPr lang="en-US" sz="900" b="1" dirty="0">
                <a:solidFill>
                  <a:srgbClr val="9A3324"/>
                </a:solidFill>
                <a:latin typeface="Calibri" pitchFamily="34" charset="0"/>
                <a:ea typeface="Calibri" pitchFamily="34" charset="-122"/>
                <a:cs typeface="Calibri" pitchFamily="34" charset="-120"/>
              </a:rPr>
              <a:t>✗</a:t>
            </a:r>
            <a:endParaRPr lang="en-US" sz="900" dirty="0"/>
          </a:p>
        </p:txBody>
      </p:sp>
      <p:sp>
        <p:nvSpPr>
          <p:cNvPr id="42" name="Text 40"/>
          <p:cNvSpPr/>
          <p:nvPr/>
        </p:nvSpPr>
        <p:spPr>
          <a:xfrm>
            <a:off x="694944" y="3913632"/>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Last quarter's financial results</a:t>
            </a:r>
            <a:endParaRPr lang="en-US" sz="850" dirty="0"/>
          </a:p>
        </p:txBody>
      </p:sp>
      <p:sp>
        <p:nvSpPr>
          <p:cNvPr id="43" name="Text 41"/>
          <p:cNvSpPr/>
          <p:nvPr/>
        </p:nvSpPr>
        <p:spPr>
          <a:xfrm>
            <a:off x="502920" y="4114800"/>
            <a:ext cx="164592" cy="201168"/>
          </a:xfrm>
          <a:prstGeom prst="rect">
            <a:avLst/>
          </a:prstGeom>
          <a:noFill/>
          <a:ln/>
        </p:spPr>
        <p:txBody>
          <a:bodyPr wrap="square" lIns="0" tIns="0" rIns="0" bIns="0" rtlCol="0" anchor="ctr"/>
          <a:lstStyle/>
          <a:p>
            <a:pPr indent="0" marL="0">
              <a:buNone/>
            </a:pPr>
            <a:r>
              <a:rPr lang="en-US" sz="900" b="1" dirty="0">
                <a:solidFill>
                  <a:srgbClr val="9A3324"/>
                </a:solidFill>
                <a:latin typeface="Calibri" pitchFamily="34" charset="0"/>
                <a:ea typeface="Calibri" pitchFamily="34" charset="-122"/>
                <a:cs typeface="Calibri" pitchFamily="34" charset="-120"/>
              </a:rPr>
              <a:t>✗</a:t>
            </a:r>
            <a:endParaRPr lang="en-US" sz="900" dirty="0"/>
          </a:p>
        </p:txBody>
      </p:sp>
      <p:sp>
        <p:nvSpPr>
          <p:cNvPr id="44" name="Text 42"/>
          <p:cNvSpPr/>
          <p:nvPr/>
        </p:nvSpPr>
        <p:spPr>
          <a:xfrm>
            <a:off x="694944" y="4114800"/>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New case law or regulatory guidance</a:t>
            </a:r>
            <a:endParaRPr lang="en-US" sz="850" dirty="0"/>
          </a:p>
        </p:txBody>
      </p:sp>
      <p:sp>
        <p:nvSpPr>
          <p:cNvPr id="45" name="Shape 43"/>
          <p:cNvSpPr/>
          <p:nvPr/>
        </p:nvSpPr>
        <p:spPr>
          <a:xfrm>
            <a:off x="4700016" y="2926080"/>
            <a:ext cx="4078224" cy="1481328"/>
          </a:xfrm>
          <a:prstGeom prst="rect">
            <a:avLst/>
          </a:prstGeom>
          <a:solidFill>
            <a:srgbClr val="E8F0EA"/>
          </a:solidFill>
          <a:ln/>
          <a:effectLst>
            <a:outerShdw sx="100000" sy="100000" kx="0" ky="0" algn="bl" rotWithShape="0" blurRad="76200" dist="25400" dir="8100000">
              <a:srgbClr val="000000">
                <a:alpha val="8000"/>
              </a:srgbClr>
            </a:outerShdw>
          </a:effectLst>
        </p:spPr>
      </p:sp>
      <p:sp>
        <p:nvSpPr>
          <p:cNvPr id="46" name="Shape 44"/>
          <p:cNvSpPr/>
          <p:nvPr/>
        </p:nvSpPr>
        <p:spPr>
          <a:xfrm>
            <a:off x="4700016" y="2926080"/>
            <a:ext cx="4078224" cy="310896"/>
          </a:xfrm>
          <a:prstGeom prst="rect">
            <a:avLst/>
          </a:prstGeom>
          <a:solidFill>
            <a:srgbClr val="5B8C6B"/>
          </a:solidFill>
          <a:ln/>
        </p:spPr>
      </p:sp>
      <p:sp>
        <p:nvSpPr>
          <p:cNvPr id="47" name="Text 45"/>
          <p:cNvSpPr/>
          <p:nvPr/>
        </p:nvSpPr>
        <p:spPr>
          <a:xfrm>
            <a:off x="4791456" y="2944368"/>
            <a:ext cx="3895344" cy="274320"/>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HOW TO BRIDGE THE GAP</a:t>
            </a:r>
            <a:endParaRPr lang="en-US" sz="950" dirty="0"/>
          </a:p>
        </p:txBody>
      </p:sp>
      <p:sp>
        <p:nvSpPr>
          <p:cNvPr id="48" name="Text 46"/>
          <p:cNvSpPr/>
          <p:nvPr/>
        </p:nvSpPr>
        <p:spPr>
          <a:xfrm>
            <a:off x="4837176" y="3310128"/>
            <a:ext cx="164592" cy="201168"/>
          </a:xfrm>
          <a:prstGeom prst="rect">
            <a:avLst/>
          </a:prstGeom>
          <a:noFill/>
          <a:ln/>
        </p:spPr>
        <p:txBody>
          <a:bodyPr wrap="square" lIns="0" tIns="0" rIns="0" bIns="0" rtlCol="0" anchor="ctr"/>
          <a:lstStyle/>
          <a:p>
            <a:pPr indent="0" marL="0">
              <a:buNone/>
            </a:pPr>
            <a:r>
              <a:rPr lang="en-US" sz="900" b="1" dirty="0">
                <a:solidFill>
                  <a:srgbClr val="5B8C6B"/>
                </a:solidFill>
                <a:latin typeface="Calibri" pitchFamily="34" charset="0"/>
                <a:ea typeface="Calibri" pitchFamily="34" charset="-122"/>
                <a:cs typeface="Calibri" pitchFamily="34" charset="-120"/>
              </a:rPr>
              <a:t>✓</a:t>
            </a:r>
            <a:endParaRPr lang="en-US" sz="900" dirty="0"/>
          </a:p>
        </p:txBody>
      </p:sp>
      <p:sp>
        <p:nvSpPr>
          <p:cNvPr id="49" name="Text 47"/>
          <p:cNvSpPr/>
          <p:nvPr/>
        </p:nvSpPr>
        <p:spPr>
          <a:xfrm>
            <a:off x="5029200" y="3310128"/>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RAG: inject current documents into context</a:t>
            </a:r>
            <a:endParaRPr lang="en-US" sz="850" dirty="0"/>
          </a:p>
        </p:txBody>
      </p:sp>
      <p:sp>
        <p:nvSpPr>
          <p:cNvPr id="50" name="Text 48"/>
          <p:cNvSpPr/>
          <p:nvPr/>
        </p:nvSpPr>
        <p:spPr>
          <a:xfrm>
            <a:off x="4837176" y="3511296"/>
            <a:ext cx="164592" cy="201168"/>
          </a:xfrm>
          <a:prstGeom prst="rect">
            <a:avLst/>
          </a:prstGeom>
          <a:noFill/>
          <a:ln/>
        </p:spPr>
        <p:txBody>
          <a:bodyPr wrap="square" lIns="0" tIns="0" rIns="0" bIns="0" rtlCol="0" anchor="ctr"/>
          <a:lstStyle/>
          <a:p>
            <a:pPr indent="0" marL="0">
              <a:buNone/>
            </a:pPr>
            <a:r>
              <a:rPr lang="en-US" sz="900" b="1" dirty="0">
                <a:solidFill>
                  <a:srgbClr val="5B8C6B"/>
                </a:solidFill>
                <a:latin typeface="Calibri" pitchFamily="34" charset="0"/>
                <a:ea typeface="Calibri" pitchFamily="34" charset="-122"/>
                <a:cs typeface="Calibri" pitchFamily="34" charset="-120"/>
              </a:rPr>
              <a:t>✓</a:t>
            </a:r>
            <a:endParaRPr lang="en-US" sz="900" dirty="0"/>
          </a:p>
        </p:txBody>
      </p:sp>
      <p:sp>
        <p:nvSpPr>
          <p:cNvPr id="51" name="Text 49"/>
          <p:cNvSpPr/>
          <p:nvPr/>
        </p:nvSpPr>
        <p:spPr>
          <a:xfrm>
            <a:off x="5029200" y="3511296"/>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Web search tools: live internet access</a:t>
            </a:r>
            <a:endParaRPr lang="en-US" sz="850" dirty="0"/>
          </a:p>
        </p:txBody>
      </p:sp>
      <p:sp>
        <p:nvSpPr>
          <p:cNvPr id="52" name="Text 50"/>
          <p:cNvSpPr/>
          <p:nvPr/>
        </p:nvSpPr>
        <p:spPr>
          <a:xfrm>
            <a:off x="4837176" y="3712464"/>
            <a:ext cx="164592" cy="201168"/>
          </a:xfrm>
          <a:prstGeom prst="rect">
            <a:avLst/>
          </a:prstGeom>
          <a:noFill/>
          <a:ln/>
        </p:spPr>
        <p:txBody>
          <a:bodyPr wrap="square" lIns="0" tIns="0" rIns="0" bIns="0" rtlCol="0" anchor="ctr"/>
          <a:lstStyle/>
          <a:p>
            <a:pPr indent="0" marL="0">
              <a:buNone/>
            </a:pPr>
            <a:r>
              <a:rPr lang="en-US" sz="900" b="1" dirty="0">
                <a:solidFill>
                  <a:srgbClr val="5B8C6B"/>
                </a:solidFill>
                <a:latin typeface="Calibri" pitchFamily="34" charset="0"/>
                <a:ea typeface="Calibri" pitchFamily="34" charset="-122"/>
                <a:cs typeface="Calibri" pitchFamily="34" charset="-120"/>
              </a:rPr>
              <a:t>✓</a:t>
            </a:r>
            <a:endParaRPr lang="en-US" sz="900" dirty="0"/>
          </a:p>
        </p:txBody>
      </p:sp>
      <p:sp>
        <p:nvSpPr>
          <p:cNvPr id="53" name="Text 51"/>
          <p:cNvSpPr/>
          <p:nvPr/>
        </p:nvSpPr>
        <p:spPr>
          <a:xfrm>
            <a:off x="5029200" y="3712464"/>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Fine-tuning: retrain on latest data</a:t>
            </a:r>
            <a:endParaRPr lang="en-US" sz="850" dirty="0"/>
          </a:p>
        </p:txBody>
      </p:sp>
      <p:sp>
        <p:nvSpPr>
          <p:cNvPr id="54" name="Text 52"/>
          <p:cNvSpPr/>
          <p:nvPr/>
        </p:nvSpPr>
        <p:spPr>
          <a:xfrm>
            <a:off x="4837176" y="3913632"/>
            <a:ext cx="164592" cy="201168"/>
          </a:xfrm>
          <a:prstGeom prst="rect">
            <a:avLst/>
          </a:prstGeom>
          <a:noFill/>
          <a:ln/>
        </p:spPr>
        <p:txBody>
          <a:bodyPr wrap="square" lIns="0" tIns="0" rIns="0" bIns="0" rtlCol="0" anchor="ctr"/>
          <a:lstStyle/>
          <a:p>
            <a:pPr indent="0" marL="0">
              <a:buNone/>
            </a:pPr>
            <a:r>
              <a:rPr lang="en-US" sz="900" b="1" dirty="0">
                <a:solidFill>
                  <a:srgbClr val="5B8C6B"/>
                </a:solidFill>
                <a:latin typeface="Calibri" pitchFamily="34" charset="0"/>
                <a:ea typeface="Calibri" pitchFamily="34" charset="-122"/>
                <a:cs typeface="Calibri" pitchFamily="34" charset="-120"/>
              </a:rPr>
              <a:t>✓</a:t>
            </a:r>
            <a:endParaRPr lang="en-US" sz="900" dirty="0"/>
          </a:p>
        </p:txBody>
      </p:sp>
      <p:sp>
        <p:nvSpPr>
          <p:cNvPr id="55" name="Text 53"/>
          <p:cNvSpPr/>
          <p:nvPr/>
        </p:nvSpPr>
        <p:spPr>
          <a:xfrm>
            <a:off x="5029200" y="3913632"/>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Include context directly in your prompt</a:t>
            </a:r>
            <a:endParaRPr lang="en-US" sz="850" dirty="0"/>
          </a:p>
        </p:txBody>
      </p:sp>
      <p:sp>
        <p:nvSpPr>
          <p:cNvPr id="56" name="Text 54"/>
          <p:cNvSpPr/>
          <p:nvPr/>
        </p:nvSpPr>
        <p:spPr>
          <a:xfrm>
            <a:off x="4837176" y="4114800"/>
            <a:ext cx="164592" cy="201168"/>
          </a:xfrm>
          <a:prstGeom prst="rect">
            <a:avLst/>
          </a:prstGeom>
          <a:noFill/>
          <a:ln/>
        </p:spPr>
        <p:txBody>
          <a:bodyPr wrap="square" lIns="0" tIns="0" rIns="0" bIns="0" rtlCol="0" anchor="ctr"/>
          <a:lstStyle/>
          <a:p>
            <a:pPr indent="0" marL="0">
              <a:buNone/>
            </a:pPr>
            <a:r>
              <a:rPr lang="en-US" sz="900" b="1" dirty="0">
                <a:solidFill>
                  <a:srgbClr val="5B8C6B"/>
                </a:solidFill>
                <a:latin typeface="Calibri" pitchFamily="34" charset="0"/>
                <a:ea typeface="Calibri" pitchFamily="34" charset="-122"/>
                <a:cs typeface="Calibri" pitchFamily="34" charset="-120"/>
              </a:rPr>
              <a:t>✓</a:t>
            </a:r>
            <a:endParaRPr lang="en-US" sz="900" dirty="0"/>
          </a:p>
        </p:txBody>
      </p:sp>
      <p:sp>
        <p:nvSpPr>
          <p:cNvPr id="57" name="Text 55"/>
          <p:cNvSpPr/>
          <p:nvPr/>
        </p:nvSpPr>
        <p:spPr>
          <a:xfrm>
            <a:off x="5029200" y="4114800"/>
            <a:ext cx="371246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Use models with most recent cutoff</a:t>
            </a:r>
            <a:endParaRPr lang="en-US" sz="850" dirty="0"/>
          </a:p>
        </p:txBody>
      </p:sp>
      <p:sp>
        <p:nvSpPr>
          <p:cNvPr id="58" name="Shape 56"/>
          <p:cNvSpPr/>
          <p:nvPr/>
        </p:nvSpPr>
        <p:spPr>
          <a:xfrm>
            <a:off x="365760" y="4572000"/>
            <a:ext cx="8412480" cy="457200"/>
          </a:xfrm>
          <a:prstGeom prst="rect">
            <a:avLst/>
          </a:prstGeom>
          <a:solidFill>
            <a:srgbClr val="EDF1F7"/>
          </a:solidFill>
          <a:ln/>
        </p:spPr>
      </p:sp>
      <p:sp>
        <p:nvSpPr>
          <p:cNvPr id="59" name="Shape 57"/>
          <p:cNvSpPr/>
          <p:nvPr/>
        </p:nvSpPr>
        <p:spPr>
          <a:xfrm>
            <a:off x="365760" y="4572000"/>
            <a:ext cx="36576" cy="457200"/>
          </a:xfrm>
          <a:prstGeom prst="rect">
            <a:avLst/>
          </a:prstGeom>
          <a:solidFill>
            <a:srgbClr val="B8860B"/>
          </a:solidFill>
          <a:ln/>
        </p:spPr>
      </p:sp>
      <p:sp>
        <p:nvSpPr>
          <p:cNvPr id="60" name="Text 58"/>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61" name="Text 59"/>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Always ask: 'Does this use case require current information?' If yes, RAG or web search tools are non-negotiable — not optional extras.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0F766E"/>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03</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BEYOND TEXT — MULTIMODAL AI &amp; HOW IMAGES ARE GENERATED</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 Darkroom That Develops Photos From a Description</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Image AI doesn't 'draw'. It starts with random visual noise — like TV static — and gradually removes the noise, step by step, guided by your words, until a clear image emerges. Like a photo developing in a darkroom, but steered by a sentence.</a:t>
            </a:r>
            <a:endParaRPr lang="en-US" sz="1000" dirty="0"/>
          </a:p>
        </p:txBody>
      </p:sp>
      <p:sp>
        <p:nvSpPr>
          <p:cNvPr id="11" name="Shape 9"/>
          <p:cNvSpPr/>
          <p:nvPr/>
        </p:nvSpPr>
        <p:spPr>
          <a:xfrm>
            <a:off x="365760" y="1847088"/>
            <a:ext cx="4078224" cy="268833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4078224" cy="365760"/>
          </a:xfrm>
          <a:prstGeom prst="rect">
            <a:avLst/>
          </a:prstGeom>
          <a:solidFill>
            <a:srgbClr val="0F766E"/>
          </a:solidFill>
          <a:ln/>
        </p:spPr>
      </p:sp>
      <p:sp>
        <p:nvSpPr>
          <p:cNvPr id="13" name="Text 11"/>
          <p:cNvSpPr/>
          <p:nvPr/>
        </p:nvSpPr>
        <p:spPr>
          <a:xfrm>
            <a:off x="457200" y="1874520"/>
            <a:ext cx="3895344" cy="310896"/>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HOW IMAGE GENERATION WORKS</a:t>
            </a:r>
            <a:endParaRPr lang="en-US" sz="1000" dirty="0"/>
          </a:p>
        </p:txBody>
      </p:sp>
      <p:sp>
        <p:nvSpPr>
          <p:cNvPr id="14" name="Shape 12"/>
          <p:cNvSpPr/>
          <p:nvPr/>
        </p:nvSpPr>
        <p:spPr>
          <a:xfrm>
            <a:off x="512064" y="2322576"/>
            <a:ext cx="457200" cy="420624"/>
          </a:xfrm>
          <a:prstGeom prst="rect">
            <a:avLst/>
          </a:prstGeom>
          <a:solidFill>
            <a:srgbClr val="0F766E"/>
          </a:solidFill>
          <a:ln/>
        </p:spPr>
      </p:sp>
      <p:sp>
        <p:nvSpPr>
          <p:cNvPr id="15" name="Text 13"/>
          <p:cNvSpPr/>
          <p:nvPr/>
        </p:nvSpPr>
        <p:spPr>
          <a:xfrm>
            <a:off x="512064" y="2377440"/>
            <a:ext cx="45720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6" name="Text 14"/>
          <p:cNvSpPr/>
          <p:nvPr/>
        </p:nvSpPr>
        <p:spPr>
          <a:xfrm>
            <a:off x="1078992" y="2340864"/>
            <a:ext cx="3200400" cy="21945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Start with noise</a:t>
            </a:r>
            <a:endParaRPr lang="en-US" sz="1000" dirty="0"/>
          </a:p>
        </p:txBody>
      </p:sp>
      <p:sp>
        <p:nvSpPr>
          <p:cNvPr id="17" name="Text 15"/>
          <p:cNvSpPr/>
          <p:nvPr/>
        </p:nvSpPr>
        <p:spPr>
          <a:xfrm>
            <a:off x="1078992" y="2542032"/>
            <a:ext cx="3200400" cy="201168"/>
          </a:xfrm>
          <a:prstGeom prst="rect">
            <a:avLst/>
          </a:prstGeom>
          <a:noFill/>
          <a:ln/>
        </p:spPr>
        <p:txBody>
          <a:bodyPr wrap="square" lIns="0" tIns="0" rIns="0" bIns="0" rtlCol="0" anchor="ctr"/>
          <a:lstStyle/>
          <a:p>
            <a:pPr indent="0" marL="0">
              <a:buNone/>
            </a:pPr>
            <a:r>
              <a:rPr lang="en-US" sz="850" i="1" dirty="0">
                <a:solidFill>
                  <a:srgbClr val="47596B"/>
                </a:solidFill>
                <a:latin typeface="Calibri" pitchFamily="34" charset="0"/>
                <a:ea typeface="Calibri" pitchFamily="34" charset="-122"/>
                <a:cs typeface="Calibri" pitchFamily="34" charset="-120"/>
              </a:rPr>
              <a:t>Pure random static — no image yet</a:t>
            </a:r>
            <a:endParaRPr lang="en-US" sz="850" dirty="0"/>
          </a:p>
        </p:txBody>
      </p:sp>
      <p:sp>
        <p:nvSpPr>
          <p:cNvPr id="18" name="Shape 16"/>
          <p:cNvSpPr/>
          <p:nvPr/>
        </p:nvSpPr>
        <p:spPr>
          <a:xfrm>
            <a:off x="512064" y="2852928"/>
            <a:ext cx="457200" cy="420624"/>
          </a:xfrm>
          <a:prstGeom prst="rect">
            <a:avLst/>
          </a:prstGeom>
          <a:solidFill>
            <a:srgbClr val="0F766E"/>
          </a:solidFill>
          <a:ln/>
        </p:spPr>
      </p:sp>
      <p:sp>
        <p:nvSpPr>
          <p:cNvPr id="19" name="Text 17"/>
          <p:cNvSpPr/>
          <p:nvPr/>
        </p:nvSpPr>
        <p:spPr>
          <a:xfrm>
            <a:off x="512064" y="2907792"/>
            <a:ext cx="45720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Text 18"/>
          <p:cNvSpPr/>
          <p:nvPr/>
        </p:nvSpPr>
        <p:spPr>
          <a:xfrm>
            <a:off x="1078992" y="2871216"/>
            <a:ext cx="3200400" cy="21945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Read the prompt</a:t>
            </a:r>
            <a:endParaRPr lang="en-US" sz="1000" dirty="0"/>
          </a:p>
        </p:txBody>
      </p:sp>
      <p:sp>
        <p:nvSpPr>
          <p:cNvPr id="21" name="Text 19"/>
          <p:cNvSpPr/>
          <p:nvPr/>
        </p:nvSpPr>
        <p:spPr>
          <a:xfrm>
            <a:off x="1078992" y="3072384"/>
            <a:ext cx="3200400" cy="201168"/>
          </a:xfrm>
          <a:prstGeom prst="rect">
            <a:avLst/>
          </a:prstGeom>
          <a:noFill/>
          <a:ln/>
        </p:spPr>
        <p:txBody>
          <a:bodyPr wrap="square" lIns="0" tIns="0" rIns="0" bIns="0" rtlCol="0" anchor="ctr"/>
          <a:lstStyle/>
          <a:p>
            <a:pPr indent="0" marL="0">
              <a:buNone/>
            </a:pPr>
            <a:r>
              <a:rPr lang="en-US" sz="850" i="1" dirty="0">
                <a:solidFill>
                  <a:srgbClr val="47596B"/>
                </a:solidFill>
                <a:latin typeface="Calibri" pitchFamily="34" charset="0"/>
                <a:ea typeface="Calibri" pitchFamily="34" charset="-122"/>
                <a:cs typeface="Calibri" pitchFamily="34" charset="-120"/>
              </a:rPr>
              <a:t>"A red sports car at sunset"</a:t>
            </a:r>
            <a:endParaRPr lang="en-US" sz="850" dirty="0"/>
          </a:p>
        </p:txBody>
      </p:sp>
      <p:sp>
        <p:nvSpPr>
          <p:cNvPr id="22" name="Shape 20"/>
          <p:cNvSpPr/>
          <p:nvPr/>
        </p:nvSpPr>
        <p:spPr>
          <a:xfrm>
            <a:off x="512064" y="3383280"/>
            <a:ext cx="457200" cy="420624"/>
          </a:xfrm>
          <a:prstGeom prst="rect">
            <a:avLst/>
          </a:prstGeom>
          <a:solidFill>
            <a:srgbClr val="0F766E"/>
          </a:solidFill>
          <a:ln/>
        </p:spPr>
      </p:sp>
      <p:sp>
        <p:nvSpPr>
          <p:cNvPr id="23" name="Text 21"/>
          <p:cNvSpPr/>
          <p:nvPr/>
        </p:nvSpPr>
        <p:spPr>
          <a:xfrm>
            <a:off x="512064" y="3438144"/>
            <a:ext cx="45720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4" name="Text 22"/>
          <p:cNvSpPr/>
          <p:nvPr/>
        </p:nvSpPr>
        <p:spPr>
          <a:xfrm>
            <a:off x="1078992" y="3401568"/>
            <a:ext cx="3200400" cy="21945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Denoise step by step</a:t>
            </a:r>
            <a:endParaRPr lang="en-US" sz="1000" dirty="0"/>
          </a:p>
        </p:txBody>
      </p:sp>
      <p:sp>
        <p:nvSpPr>
          <p:cNvPr id="25" name="Text 23"/>
          <p:cNvSpPr/>
          <p:nvPr/>
        </p:nvSpPr>
        <p:spPr>
          <a:xfrm>
            <a:off x="1078992" y="3602736"/>
            <a:ext cx="3200400" cy="201168"/>
          </a:xfrm>
          <a:prstGeom prst="rect">
            <a:avLst/>
          </a:prstGeom>
          <a:noFill/>
          <a:ln/>
        </p:spPr>
        <p:txBody>
          <a:bodyPr wrap="square" lIns="0" tIns="0" rIns="0" bIns="0" rtlCol="0" anchor="ctr"/>
          <a:lstStyle/>
          <a:p>
            <a:pPr indent="0" marL="0">
              <a:buNone/>
            </a:pPr>
            <a:r>
              <a:rPr lang="en-US" sz="850" i="1" dirty="0">
                <a:solidFill>
                  <a:srgbClr val="47596B"/>
                </a:solidFill>
                <a:latin typeface="Calibri" pitchFamily="34" charset="0"/>
                <a:ea typeface="Calibri" pitchFamily="34" charset="-122"/>
                <a:cs typeface="Calibri" pitchFamily="34" charset="-120"/>
              </a:rPr>
              <a:t>~30 passes, each clearer than the last</a:t>
            </a:r>
            <a:endParaRPr lang="en-US" sz="850" dirty="0"/>
          </a:p>
        </p:txBody>
      </p:sp>
      <p:sp>
        <p:nvSpPr>
          <p:cNvPr id="26" name="Shape 24"/>
          <p:cNvSpPr/>
          <p:nvPr/>
        </p:nvSpPr>
        <p:spPr>
          <a:xfrm>
            <a:off x="512064" y="3913632"/>
            <a:ext cx="457200" cy="420624"/>
          </a:xfrm>
          <a:prstGeom prst="rect">
            <a:avLst/>
          </a:prstGeom>
          <a:solidFill>
            <a:srgbClr val="0F766E"/>
          </a:solidFill>
          <a:ln/>
        </p:spPr>
      </p:sp>
      <p:sp>
        <p:nvSpPr>
          <p:cNvPr id="27" name="Text 25"/>
          <p:cNvSpPr/>
          <p:nvPr/>
        </p:nvSpPr>
        <p:spPr>
          <a:xfrm>
            <a:off x="512064" y="3968496"/>
            <a:ext cx="45720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8" name="Text 26"/>
          <p:cNvSpPr/>
          <p:nvPr/>
        </p:nvSpPr>
        <p:spPr>
          <a:xfrm>
            <a:off x="1078992" y="3931920"/>
            <a:ext cx="3200400" cy="219456"/>
          </a:xfrm>
          <a:prstGeom prst="rect">
            <a:avLst/>
          </a:prstGeom>
          <a:noFill/>
          <a:ln/>
        </p:spPr>
        <p:txBody>
          <a:bodyPr wrap="square" lIns="0" tIns="0" rIns="0" bIns="0" rtlCol="0" anchor="ctr"/>
          <a:lstStyle/>
          <a:p>
            <a:pPr indent="0" marL="0">
              <a:buNone/>
            </a:pPr>
            <a:r>
              <a:rPr lang="en-US" sz="1000" b="1" dirty="0">
                <a:solidFill>
                  <a:srgbClr val="0A2540"/>
                </a:solidFill>
                <a:latin typeface="Calibri" pitchFamily="34" charset="0"/>
                <a:ea typeface="Calibri" pitchFamily="34" charset="-122"/>
                <a:cs typeface="Calibri" pitchFamily="34" charset="-120"/>
              </a:rPr>
              <a:t>Image emerges</a:t>
            </a:r>
            <a:endParaRPr lang="en-US" sz="1000" dirty="0"/>
          </a:p>
        </p:txBody>
      </p:sp>
      <p:sp>
        <p:nvSpPr>
          <p:cNvPr id="29" name="Text 27"/>
          <p:cNvSpPr/>
          <p:nvPr/>
        </p:nvSpPr>
        <p:spPr>
          <a:xfrm>
            <a:off x="1078992" y="4133088"/>
            <a:ext cx="3200400" cy="201168"/>
          </a:xfrm>
          <a:prstGeom prst="rect">
            <a:avLst/>
          </a:prstGeom>
          <a:noFill/>
          <a:ln/>
        </p:spPr>
        <p:txBody>
          <a:bodyPr wrap="square" lIns="0" tIns="0" rIns="0" bIns="0" rtlCol="0" anchor="ctr"/>
          <a:lstStyle/>
          <a:p>
            <a:pPr indent="0" marL="0">
              <a:buNone/>
            </a:pPr>
            <a:r>
              <a:rPr lang="en-US" sz="850" i="1" dirty="0">
                <a:solidFill>
                  <a:srgbClr val="47596B"/>
                </a:solidFill>
                <a:latin typeface="Calibri" pitchFamily="34" charset="0"/>
                <a:ea typeface="Calibri" pitchFamily="34" charset="-122"/>
                <a:cs typeface="Calibri" pitchFamily="34" charset="-120"/>
              </a:rPr>
              <a:t>Guided entirely by the text meaning</a:t>
            </a:r>
            <a:endParaRPr lang="en-US" sz="850" dirty="0"/>
          </a:p>
        </p:txBody>
      </p:sp>
      <p:sp>
        <p:nvSpPr>
          <p:cNvPr id="30" name="Shape 28"/>
          <p:cNvSpPr/>
          <p:nvPr/>
        </p:nvSpPr>
        <p:spPr>
          <a:xfrm>
            <a:off x="4700016" y="1847088"/>
            <a:ext cx="4078224" cy="268833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1" name="Shape 29"/>
          <p:cNvSpPr/>
          <p:nvPr/>
        </p:nvSpPr>
        <p:spPr>
          <a:xfrm>
            <a:off x="4700016" y="1847088"/>
            <a:ext cx="4078224" cy="365760"/>
          </a:xfrm>
          <a:prstGeom prst="rect">
            <a:avLst/>
          </a:prstGeom>
          <a:solidFill>
            <a:srgbClr val="0F766E"/>
          </a:solidFill>
          <a:ln/>
        </p:spPr>
      </p:sp>
      <p:sp>
        <p:nvSpPr>
          <p:cNvPr id="32" name="Text 30"/>
          <p:cNvSpPr/>
          <p:nvPr/>
        </p:nvSpPr>
        <p:spPr>
          <a:xfrm>
            <a:off x="4791456" y="1874520"/>
            <a:ext cx="3895344" cy="310896"/>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MULTIMODAL  ·  ONE MODEL, ALL SENSES</a:t>
            </a:r>
            <a:endParaRPr lang="en-US" sz="1000" dirty="0"/>
          </a:p>
        </p:txBody>
      </p:sp>
      <p:sp>
        <p:nvSpPr>
          <p:cNvPr id="33" name="Text 31"/>
          <p:cNvSpPr/>
          <p:nvPr/>
        </p:nvSpPr>
        <p:spPr>
          <a:xfrm>
            <a:off x="4791456" y="2286000"/>
            <a:ext cx="3895344" cy="457200"/>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Older AI handled one input type. Multimodal models (GPT-4o, Gemini 2.0) see, hear, read, and respond across all formats at once.</a:t>
            </a:r>
            <a:endParaRPr lang="en-US" sz="900" dirty="0"/>
          </a:p>
        </p:txBody>
      </p:sp>
      <p:sp>
        <p:nvSpPr>
          <p:cNvPr id="34" name="Shape 32"/>
          <p:cNvSpPr/>
          <p:nvPr/>
        </p:nvSpPr>
        <p:spPr>
          <a:xfrm>
            <a:off x="4791456" y="2816352"/>
            <a:ext cx="3895344" cy="384048"/>
          </a:xfrm>
          <a:prstGeom prst="rect">
            <a:avLst/>
          </a:prstGeom>
          <a:solidFill>
            <a:srgbClr val="FFFFFF"/>
          </a:solidFill>
          <a:ln/>
        </p:spPr>
      </p:sp>
      <p:sp>
        <p:nvSpPr>
          <p:cNvPr id="35" name="Text 33"/>
          <p:cNvSpPr/>
          <p:nvPr/>
        </p:nvSpPr>
        <p:spPr>
          <a:xfrm>
            <a:off x="4882896" y="2852928"/>
            <a:ext cx="1280160" cy="310896"/>
          </a:xfrm>
          <a:prstGeom prst="rect">
            <a:avLst/>
          </a:prstGeom>
          <a:noFill/>
          <a:ln/>
        </p:spPr>
        <p:txBody>
          <a:bodyPr wrap="square" lIns="0" tIns="0" rIns="0" bIns="0" rtlCol="0" anchor="ctr"/>
          <a:lstStyle/>
          <a:p>
            <a:pPr indent="0" marL="0">
              <a:buNone/>
            </a:pPr>
            <a:r>
              <a:rPr lang="en-US" sz="900" b="1" dirty="0">
                <a:solidFill>
                  <a:srgbClr val="0F766E"/>
                </a:solidFill>
                <a:latin typeface="Calibri" pitchFamily="34" charset="0"/>
                <a:ea typeface="Calibri" pitchFamily="34" charset="-122"/>
                <a:cs typeface="Calibri" pitchFamily="34" charset="-120"/>
              </a:rPr>
              <a:t>Image → Text</a:t>
            </a:r>
            <a:endParaRPr lang="en-US" sz="900" dirty="0"/>
          </a:p>
        </p:txBody>
      </p:sp>
      <p:sp>
        <p:nvSpPr>
          <p:cNvPr id="36" name="Text 34"/>
          <p:cNvSpPr/>
          <p:nvPr/>
        </p:nvSpPr>
        <p:spPr>
          <a:xfrm>
            <a:off x="6199632" y="2852928"/>
            <a:ext cx="2450592"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Photograph a whiteboard → get typed meeting notes</a:t>
            </a:r>
            <a:endParaRPr lang="en-US" sz="800" dirty="0"/>
          </a:p>
        </p:txBody>
      </p:sp>
      <p:sp>
        <p:nvSpPr>
          <p:cNvPr id="37" name="Shape 35"/>
          <p:cNvSpPr/>
          <p:nvPr/>
        </p:nvSpPr>
        <p:spPr>
          <a:xfrm>
            <a:off x="4791456" y="3236976"/>
            <a:ext cx="3895344" cy="384048"/>
          </a:xfrm>
          <a:prstGeom prst="rect">
            <a:avLst/>
          </a:prstGeom>
          <a:solidFill>
            <a:srgbClr val="EDF1F7"/>
          </a:solidFill>
          <a:ln/>
        </p:spPr>
      </p:sp>
      <p:sp>
        <p:nvSpPr>
          <p:cNvPr id="38" name="Text 36"/>
          <p:cNvSpPr/>
          <p:nvPr/>
        </p:nvSpPr>
        <p:spPr>
          <a:xfrm>
            <a:off x="4882896" y="3273552"/>
            <a:ext cx="1280160" cy="310896"/>
          </a:xfrm>
          <a:prstGeom prst="rect">
            <a:avLst/>
          </a:prstGeom>
          <a:noFill/>
          <a:ln/>
        </p:spPr>
        <p:txBody>
          <a:bodyPr wrap="square" lIns="0" tIns="0" rIns="0" bIns="0" rtlCol="0" anchor="ctr"/>
          <a:lstStyle/>
          <a:p>
            <a:pPr indent="0" marL="0">
              <a:buNone/>
            </a:pPr>
            <a:r>
              <a:rPr lang="en-US" sz="900" b="1" dirty="0">
                <a:solidFill>
                  <a:srgbClr val="0F766E"/>
                </a:solidFill>
                <a:latin typeface="Calibri" pitchFamily="34" charset="0"/>
                <a:ea typeface="Calibri" pitchFamily="34" charset="-122"/>
                <a:cs typeface="Calibri" pitchFamily="34" charset="-120"/>
              </a:rPr>
              <a:t>Voice → Action</a:t>
            </a:r>
            <a:endParaRPr lang="en-US" sz="900" dirty="0"/>
          </a:p>
        </p:txBody>
      </p:sp>
      <p:sp>
        <p:nvSpPr>
          <p:cNvPr id="39" name="Text 37"/>
          <p:cNvSpPr/>
          <p:nvPr/>
        </p:nvSpPr>
        <p:spPr>
          <a:xfrm>
            <a:off x="6199632" y="3273552"/>
            <a:ext cx="2450592"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Speak a request → AI executes and replies aloud</a:t>
            </a:r>
            <a:endParaRPr lang="en-US" sz="800" dirty="0"/>
          </a:p>
        </p:txBody>
      </p:sp>
      <p:sp>
        <p:nvSpPr>
          <p:cNvPr id="40" name="Shape 38"/>
          <p:cNvSpPr/>
          <p:nvPr/>
        </p:nvSpPr>
        <p:spPr>
          <a:xfrm>
            <a:off x="4791456" y="3657600"/>
            <a:ext cx="3895344" cy="384048"/>
          </a:xfrm>
          <a:prstGeom prst="rect">
            <a:avLst/>
          </a:prstGeom>
          <a:solidFill>
            <a:srgbClr val="FFFFFF"/>
          </a:solidFill>
          <a:ln/>
        </p:spPr>
      </p:sp>
      <p:sp>
        <p:nvSpPr>
          <p:cNvPr id="41" name="Text 39"/>
          <p:cNvSpPr/>
          <p:nvPr/>
        </p:nvSpPr>
        <p:spPr>
          <a:xfrm>
            <a:off x="4882896" y="3694176"/>
            <a:ext cx="1280160" cy="310896"/>
          </a:xfrm>
          <a:prstGeom prst="rect">
            <a:avLst/>
          </a:prstGeom>
          <a:noFill/>
          <a:ln/>
        </p:spPr>
        <p:txBody>
          <a:bodyPr wrap="square" lIns="0" tIns="0" rIns="0" bIns="0" rtlCol="0" anchor="ctr"/>
          <a:lstStyle/>
          <a:p>
            <a:pPr indent="0" marL="0">
              <a:buNone/>
            </a:pPr>
            <a:r>
              <a:rPr lang="en-US" sz="900" b="1" dirty="0">
                <a:solidFill>
                  <a:srgbClr val="0F766E"/>
                </a:solidFill>
                <a:latin typeface="Calibri" pitchFamily="34" charset="0"/>
                <a:ea typeface="Calibri" pitchFamily="34" charset="-122"/>
                <a:cs typeface="Calibri" pitchFamily="34" charset="-120"/>
              </a:rPr>
              <a:t>Text → Image</a:t>
            </a:r>
            <a:endParaRPr lang="en-US" sz="900" dirty="0"/>
          </a:p>
        </p:txBody>
      </p:sp>
      <p:sp>
        <p:nvSpPr>
          <p:cNvPr id="42" name="Text 40"/>
          <p:cNvSpPr/>
          <p:nvPr/>
        </p:nvSpPr>
        <p:spPr>
          <a:xfrm>
            <a:off x="6199632" y="3694176"/>
            <a:ext cx="2450592"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Describe a product → get a marketing visual</a:t>
            </a:r>
            <a:endParaRPr lang="en-US" sz="800" dirty="0"/>
          </a:p>
        </p:txBody>
      </p:sp>
      <p:sp>
        <p:nvSpPr>
          <p:cNvPr id="43" name="Shape 41"/>
          <p:cNvSpPr/>
          <p:nvPr/>
        </p:nvSpPr>
        <p:spPr>
          <a:xfrm>
            <a:off x="4791456" y="4078224"/>
            <a:ext cx="3895344" cy="384048"/>
          </a:xfrm>
          <a:prstGeom prst="rect">
            <a:avLst/>
          </a:prstGeom>
          <a:solidFill>
            <a:srgbClr val="EDF1F7"/>
          </a:solidFill>
          <a:ln/>
        </p:spPr>
      </p:sp>
      <p:sp>
        <p:nvSpPr>
          <p:cNvPr id="44" name="Text 42"/>
          <p:cNvSpPr/>
          <p:nvPr/>
        </p:nvSpPr>
        <p:spPr>
          <a:xfrm>
            <a:off x="4882896" y="4114800"/>
            <a:ext cx="1280160" cy="310896"/>
          </a:xfrm>
          <a:prstGeom prst="rect">
            <a:avLst/>
          </a:prstGeom>
          <a:noFill/>
          <a:ln/>
        </p:spPr>
        <p:txBody>
          <a:bodyPr wrap="square" lIns="0" tIns="0" rIns="0" bIns="0" rtlCol="0" anchor="ctr"/>
          <a:lstStyle/>
          <a:p>
            <a:pPr indent="0" marL="0">
              <a:buNone/>
            </a:pPr>
            <a:r>
              <a:rPr lang="en-US" sz="900" b="1" dirty="0">
                <a:solidFill>
                  <a:srgbClr val="0F766E"/>
                </a:solidFill>
                <a:latin typeface="Calibri" pitchFamily="34" charset="0"/>
                <a:ea typeface="Calibri" pitchFamily="34" charset="-122"/>
                <a:cs typeface="Calibri" pitchFamily="34" charset="-120"/>
              </a:rPr>
              <a:t>Chart → Insight</a:t>
            </a:r>
            <a:endParaRPr lang="en-US" sz="900" dirty="0"/>
          </a:p>
        </p:txBody>
      </p:sp>
      <p:sp>
        <p:nvSpPr>
          <p:cNvPr id="45" name="Text 43"/>
          <p:cNvSpPr/>
          <p:nvPr/>
        </p:nvSpPr>
        <p:spPr>
          <a:xfrm>
            <a:off x="6199632" y="4114800"/>
            <a:ext cx="2450592"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Upload a sales graph → get written analysis</a:t>
            </a:r>
            <a:endParaRPr lang="en-US" sz="800" dirty="0"/>
          </a:p>
        </p:txBody>
      </p:sp>
      <p:sp>
        <p:nvSpPr>
          <p:cNvPr id="46" name="Shape 44"/>
          <p:cNvSpPr/>
          <p:nvPr/>
        </p:nvSpPr>
        <p:spPr>
          <a:xfrm>
            <a:off x="365760" y="4572000"/>
            <a:ext cx="8412480" cy="457200"/>
          </a:xfrm>
          <a:prstGeom prst="rect">
            <a:avLst/>
          </a:prstGeom>
          <a:solidFill>
            <a:srgbClr val="EDF1F7"/>
          </a:solidFill>
          <a:ln/>
        </p:spPr>
      </p:sp>
      <p:sp>
        <p:nvSpPr>
          <p:cNvPr id="47" name="Shape 45"/>
          <p:cNvSpPr/>
          <p:nvPr/>
        </p:nvSpPr>
        <p:spPr>
          <a:xfrm>
            <a:off x="365760" y="4572000"/>
            <a:ext cx="36576" cy="457200"/>
          </a:xfrm>
          <a:prstGeom prst="rect">
            <a:avLst/>
          </a:prstGeom>
          <a:solidFill>
            <a:srgbClr val="B8860B"/>
          </a:solidFill>
          <a:ln/>
        </p:spPr>
      </p:sp>
      <p:sp>
        <p:nvSpPr>
          <p:cNvPr id="48" name="Text 46"/>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49" name="Text 47"/>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GenAI is not just text. The same prompting skills now create images, video, and voice — opening marketing, design, training, and product use cases worth more than chat.</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0F766E"/>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03</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REASONING MODELS — AI THAT THINKS BEFORE IT ANSWERS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 Student Who Shows Their Working vs Blurts an Answer</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Standard models answer instantly — like a student blurting the first thing that comes to mind. Reasoning models (o1, o3, Claude with extended thinking) pause, work through the problem step by step, check themselves, then answer. Slower, but far more accurate on hard problems.</a:t>
            </a:r>
            <a:endParaRPr lang="en-US" sz="1000" dirty="0"/>
          </a:p>
        </p:txBody>
      </p:sp>
      <p:sp>
        <p:nvSpPr>
          <p:cNvPr id="11" name="Shape 9"/>
          <p:cNvSpPr/>
          <p:nvPr/>
        </p:nvSpPr>
        <p:spPr>
          <a:xfrm>
            <a:off x="365760" y="1847088"/>
            <a:ext cx="4078224" cy="137160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2" name="Shape 10"/>
          <p:cNvSpPr/>
          <p:nvPr/>
        </p:nvSpPr>
        <p:spPr>
          <a:xfrm>
            <a:off x="365760" y="1847088"/>
            <a:ext cx="4078224" cy="347472"/>
          </a:xfrm>
          <a:prstGeom prst="rect">
            <a:avLst/>
          </a:prstGeom>
          <a:solidFill>
            <a:srgbClr val="47596B"/>
          </a:solidFill>
          <a:ln/>
        </p:spPr>
      </p:sp>
      <p:sp>
        <p:nvSpPr>
          <p:cNvPr id="13" name="Text 11"/>
          <p:cNvSpPr/>
          <p:nvPr/>
        </p:nvSpPr>
        <p:spPr>
          <a:xfrm>
            <a:off x="457200" y="1874520"/>
            <a:ext cx="3895344" cy="292608"/>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STANDARD MODEL</a:t>
            </a:r>
            <a:endParaRPr lang="en-US" sz="1000" dirty="0"/>
          </a:p>
        </p:txBody>
      </p:sp>
      <p:sp>
        <p:nvSpPr>
          <p:cNvPr id="14" name="Text 12"/>
          <p:cNvSpPr/>
          <p:nvPr/>
        </p:nvSpPr>
        <p:spPr>
          <a:xfrm>
            <a:off x="457200" y="2267712"/>
            <a:ext cx="3895344" cy="219456"/>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Prompt → instant answer</a:t>
            </a:r>
            <a:endParaRPr lang="en-US" sz="950" dirty="0"/>
          </a:p>
        </p:txBody>
      </p:sp>
      <p:sp>
        <p:nvSpPr>
          <p:cNvPr id="15" name="Text 13"/>
          <p:cNvSpPr/>
          <p:nvPr/>
        </p:nvSpPr>
        <p:spPr>
          <a:xfrm>
            <a:off x="457200" y="2505456"/>
            <a:ext cx="389534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Fast and cheap · Great for everyday tasks: drafting, summarising, Q&amp;A, simple analysis.</a:t>
            </a:r>
            <a:endParaRPr lang="en-US" sz="850" dirty="0"/>
          </a:p>
        </p:txBody>
      </p:sp>
      <p:sp>
        <p:nvSpPr>
          <p:cNvPr id="16" name="Text 14"/>
          <p:cNvSpPr/>
          <p:nvPr/>
        </p:nvSpPr>
        <p:spPr>
          <a:xfrm>
            <a:off x="457200" y="2907792"/>
            <a:ext cx="3895344" cy="201168"/>
          </a:xfrm>
          <a:prstGeom prst="rect">
            <a:avLst/>
          </a:prstGeom>
          <a:noFill/>
          <a:ln/>
        </p:spPr>
        <p:txBody>
          <a:bodyPr wrap="square" lIns="0" tIns="0" rIns="0" bIns="0" rtlCol="0" anchor="ctr"/>
          <a:lstStyle/>
          <a:p>
            <a:pPr indent="0" marL="0">
              <a:buNone/>
            </a:pPr>
            <a:r>
              <a:rPr lang="en-US" sz="850" i="1" dirty="0">
                <a:solidFill>
                  <a:srgbClr val="47596B"/>
                </a:solidFill>
                <a:latin typeface="Calibri" pitchFamily="34" charset="0"/>
                <a:ea typeface="Calibri" pitchFamily="34" charset="-122"/>
                <a:cs typeface="Calibri" pitchFamily="34" charset="-120"/>
              </a:rPr>
              <a:t>Best for ~80% of business use cases</a:t>
            </a:r>
            <a:endParaRPr lang="en-US" sz="850" dirty="0"/>
          </a:p>
        </p:txBody>
      </p:sp>
      <p:sp>
        <p:nvSpPr>
          <p:cNvPr id="17" name="Shape 15"/>
          <p:cNvSpPr/>
          <p:nvPr/>
        </p:nvSpPr>
        <p:spPr>
          <a:xfrm>
            <a:off x="4700016" y="1847088"/>
            <a:ext cx="4078224" cy="1371600"/>
          </a:xfrm>
          <a:prstGeom prst="rect">
            <a:avLst/>
          </a:prstGeom>
          <a:solidFill>
            <a:srgbClr val="D1FAE5"/>
          </a:solidFill>
          <a:ln/>
          <a:effectLst>
            <a:outerShdw sx="100000" sy="100000" kx="0" ky="0" algn="bl" rotWithShape="0" blurRad="76200" dist="25400" dir="8100000">
              <a:srgbClr val="000000">
                <a:alpha val="8000"/>
              </a:srgbClr>
            </a:outerShdw>
          </a:effectLst>
        </p:spPr>
      </p:sp>
      <p:sp>
        <p:nvSpPr>
          <p:cNvPr id="18" name="Shape 16"/>
          <p:cNvSpPr/>
          <p:nvPr/>
        </p:nvSpPr>
        <p:spPr>
          <a:xfrm>
            <a:off x="4700016" y="1847088"/>
            <a:ext cx="4078224" cy="347472"/>
          </a:xfrm>
          <a:prstGeom prst="rect">
            <a:avLst/>
          </a:prstGeom>
          <a:solidFill>
            <a:srgbClr val="0F766E"/>
          </a:solidFill>
          <a:ln/>
        </p:spPr>
      </p:sp>
      <p:sp>
        <p:nvSpPr>
          <p:cNvPr id="19" name="Text 17"/>
          <p:cNvSpPr/>
          <p:nvPr/>
        </p:nvSpPr>
        <p:spPr>
          <a:xfrm>
            <a:off x="4791456" y="1874520"/>
            <a:ext cx="3895344" cy="292608"/>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REASONING MODEL</a:t>
            </a:r>
            <a:endParaRPr lang="en-US" sz="1000" dirty="0"/>
          </a:p>
        </p:txBody>
      </p:sp>
      <p:sp>
        <p:nvSpPr>
          <p:cNvPr id="20" name="Text 18"/>
          <p:cNvSpPr/>
          <p:nvPr/>
        </p:nvSpPr>
        <p:spPr>
          <a:xfrm>
            <a:off x="4791456" y="2267712"/>
            <a:ext cx="3895344" cy="219456"/>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Prompt → thinks → checks → answers</a:t>
            </a:r>
            <a:endParaRPr lang="en-US" sz="950" dirty="0"/>
          </a:p>
        </p:txBody>
      </p:sp>
      <p:sp>
        <p:nvSpPr>
          <p:cNvPr id="21" name="Text 19"/>
          <p:cNvSpPr/>
          <p:nvPr/>
        </p:nvSpPr>
        <p:spPr>
          <a:xfrm>
            <a:off x="4791456" y="2505456"/>
            <a:ext cx="3895344"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Slower and pricier · Excels at complex, multi-step problems where accuracy is critical.</a:t>
            </a:r>
            <a:endParaRPr lang="en-US" sz="850" dirty="0"/>
          </a:p>
        </p:txBody>
      </p:sp>
      <p:sp>
        <p:nvSpPr>
          <p:cNvPr id="22" name="Text 20"/>
          <p:cNvSpPr/>
          <p:nvPr/>
        </p:nvSpPr>
        <p:spPr>
          <a:xfrm>
            <a:off x="4791456" y="2907792"/>
            <a:ext cx="3895344" cy="201168"/>
          </a:xfrm>
          <a:prstGeom prst="rect">
            <a:avLst/>
          </a:prstGeom>
          <a:noFill/>
          <a:ln/>
        </p:spPr>
        <p:txBody>
          <a:bodyPr wrap="square" lIns="0" tIns="0" rIns="0" bIns="0" rtlCol="0" anchor="ctr"/>
          <a:lstStyle/>
          <a:p>
            <a:pPr indent="0" marL="0">
              <a:buNone/>
            </a:pPr>
            <a:r>
              <a:rPr lang="en-US" sz="850" i="1" dirty="0">
                <a:solidFill>
                  <a:srgbClr val="0F766E"/>
                </a:solidFill>
                <a:latin typeface="Calibri" pitchFamily="34" charset="0"/>
                <a:ea typeface="Calibri" pitchFamily="34" charset="-122"/>
                <a:cs typeface="Calibri" pitchFamily="34" charset="-120"/>
              </a:rPr>
              <a:t>Best for high-stakes, complex reasoning</a:t>
            </a:r>
            <a:endParaRPr lang="en-US" sz="850" dirty="0"/>
          </a:p>
        </p:txBody>
      </p:sp>
      <p:sp>
        <p:nvSpPr>
          <p:cNvPr id="23" name="Shape 21"/>
          <p:cNvSpPr/>
          <p:nvPr/>
        </p:nvSpPr>
        <p:spPr>
          <a:xfrm>
            <a:off x="365760" y="3346704"/>
            <a:ext cx="8412480" cy="274320"/>
          </a:xfrm>
          <a:prstGeom prst="rect">
            <a:avLst/>
          </a:prstGeom>
          <a:solidFill>
            <a:srgbClr val="0A2540"/>
          </a:solidFill>
          <a:ln/>
        </p:spPr>
      </p:sp>
      <p:sp>
        <p:nvSpPr>
          <p:cNvPr id="24" name="Text 22"/>
          <p:cNvSpPr/>
          <p:nvPr/>
        </p:nvSpPr>
        <p:spPr>
          <a:xfrm>
            <a:off x="457200" y="3374136"/>
            <a:ext cx="8229600" cy="219456"/>
          </a:xfrm>
          <a:prstGeom prst="rect">
            <a:avLst/>
          </a:prstGeom>
          <a:noFill/>
          <a:ln/>
        </p:spPr>
        <p:txBody>
          <a:bodyPr wrap="square" lIns="0" tIns="0" rIns="0" bIns="0" rtlCol="0" anchor="ctr"/>
          <a:lstStyle/>
          <a:p>
            <a:pPr indent="0" marL="0">
              <a:buNone/>
            </a:pPr>
            <a:r>
              <a:rPr lang="en-US" sz="950" b="1" spc="150" kern="0" dirty="0">
                <a:solidFill>
                  <a:srgbClr val="FFFFFF"/>
                </a:solidFill>
                <a:latin typeface="Calibri" pitchFamily="34" charset="0"/>
                <a:ea typeface="Calibri" pitchFamily="34" charset="-122"/>
                <a:cs typeface="Calibri" pitchFamily="34" charset="-120"/>
              </a:rPr>
              <a:t>WHEN TO USE A REASONING MODEL</a:t>
            </a:r>
            <a:endParaRPr lang="en-US" sz="950" dirty="0"/>
          </a:p>
        </p:txBody>
      </p:sp>
      <p:sp>
        <p:nvSpPr>
          <p:cNvPr id="25" name="Shape 23"/>
          <p:cNvSpPr/>
          <p:nvPr/>
        </p:nvSpPr>
        <p:spPr>
          <a:xfrm>
            <a:off x="365760" y="3694176"/>
            <a:ext cx="4078224" cy="365760"/>
          </a:xfrm>
          <a:prstGeom prst="rect">
            <a:avLst/>
          </a:prstGeom>
          <a:solidFill>
            <a:srgbClr val="FAFBFD"/>
          </a:solidFill>
          <a:ln/>
        </p:spPr>
      </p:sp>
      <p:sp>
        <p:nvSpPr>
          <p:cNvPr id="26" name="Shape 24"/>
          <p:cNvSpPr/>
          <p:nvPr/>
        </p:nvSpPr>
        <p:spPr>
          <a:xfrm>
            <a:off x="365760" y="3694176"/>
            <a:ext cx="36576" cy="365760"/>
          </a:xfrm>
          <a:prstGeom prst="rect">
            <a:avLst/>
          </a:prstGeom>
          <a:solidFill>
            <a:srgbClr val="0F766E"/>
          </a:solidFill>
          <a:ln/>
        </p:spPr>
      </p:sp>
      <p:sp>
        <p:nvSpPr>
          <p:cNvPr id="27" name="Text 25"/>
          <p:cNvSpPr/>
          <p:nvPr/>
        </p:nvSpPr>
        <p:spPr>
          <a:xfrm>
            <a:off x="493776" y="3730752"/>
            <a:ext cx="1828800" cy="292608"/>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Complex financial modelling</a:t>
            </a:r>
            <a:endParaRPr lang="en-US" sz="850" dirty="0"/>
          </a:p>
        </p:txBody>
      </p:sp>
      <p:sp>
        <p:nvSpPr>
          <p:cNvPr id="28" name="Text 26"/>
          <p:cNvSpPr/>
          <p:nvPr/>
        </p:nvSpPr>
        <p:spPr>
          <a:xfrm>
            <a:off x="2377440" y="3749040"/>
            <a:ext cx="2011680" cy="274320"/>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Multi-variable analysis with dependencies</a:t>
            </a:r>
            <a:endParaRPr lang="en-US" sz="800" dirty="0"/>
          </a:p>
        </p:txBody>
      </p:sp>
      <p:sp>
        <p:nvSpPr>
          <p:cNvPr id="29" name="Shape 27"/>
          <p:cNvSpPr/>
          <p:nvPr/>
        </p:nvSpPr>
        <p:spPr>
          <a:xfrm>
            <a:off x="4590288" y="3694176"/>
            <a:ext cx="4078224" cy="365760"/>
          </a:xfrm>
          <a:prstGeom prst="rect">
            <a:avLst/>
          </a:prstGeom>
          <a:solidFill>
            <a:srgbClr val="EDF1F7"/>
          </a:solidFill>
          <a:ln/>
        </p:spPr>
      </p:sp>
      <p:sp>
        <p:nvSpPr>
          <p:cNvPr id="30" name="Shape 28"/>
          <p:cNvSpPr/>
          <p:nvPr/>
        </p:nvSpPr>
        <p:spPr>
          <a:xfrm>
            <a:off x="4590288" y="3694176"/>
            <a:ext cx="36576" cy="365760"/>
          </a:xfrm>
          <a:prstGeom prst="rect">
            <a:avLst/>
          </a:prstGeom>
          <a:solidFill>
            <a:srgbClr val="0F766E"/>
          </a:solidFill>
          <a:ln/>
        </p:spPr>
      </p:sp>
      <p:sp>
        <p:nvSpPr>
          <p:cNvPr id="31" name="Text 29"/>
          <p:cNvSpPr/>
          <p:nvPr/>
        </p:nvSpPr>
        <p:spPr>
          <a:xfrm>
            <a:off x="4718304" y="3730752"/>
            <a:ext cx="1828800" cy="292608"/>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Legal &amp; regulatory reasoning</a:t>
            </a:r>
            <a:endParaRPr lang="en-US" sz="850" dirty="0"/>
          </a:p>
        </p:txBody>
      </p:sp>
      <p:sp>
        <p:nvSpPr>
          <p:cNvPr id="32" name="Text 30"/>
          <p:cNvSpPr/>
          <p:nvPr/>
        </p:nvSpPr>
        <p:spPr>
          <a:xfrm>
            <a:off x="6601968" y="3749040"/>
            <a:ext cx="2011680" cy="274320"/>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Working through interacting rules and exceptions</a:t>
            </a:r>
            <a:endParaRPr lang="en-US" sz="800" dirty="0"/>
          </a:p>
        </p:txBody>
      </p:sp>
      <p:sp>
        <p:nvSpPr>
          <p:cNvPr id="33" name="Shape 31"/>
          <p:cNvSpPr/>
          <p:nvPr/>
        </p:nvSpPr>
        <p:spPr>
          <a:xfrm>
            <a:off x="365760" y="4114800"/>
            <a:ext cx="4078224" cy="365760"/>
          </a:xfrm>
          <a:prstGeom prst="rect">
            <a:avLst/>
          </a:prstGeom>
          <a:solidFill>
            <a:srgbClr val="FAFBFD"/>
          </a:solidFill>
          <a:ln/>
        </p:spPr>
      </p:sp>
      <p:sp>
        <p:nvSpPr>
          <p:cNvPr id="34" name="Shape 32"/>
          <p:cNvSpPr/>
          <p:nvPr/>
        </p:nvSpPr>
        <p:spPr>
          <a:xfrm>
            <a:off x="365760" y="4114800"/>
            <a:ext cx="36576" cy="365760"/>
          </a:xfrm>
          <a:prstGeom prst="rect">
            <a:avLst/>
          </a:prstGeom>
          <a:solidFill>
            <a:srgbClr val="0F766E"/>
          </a:solidFill>
          <a:ln/>
        </p:spPr>
      </p:sp>
      <p:sp>
        <p:nvSpPr>
          <p:cNvPr id="35" name="Text 33"/>
          <p:cNvSpPr/>
          <p:nvPr/>
        </p:nvSpPr>
        <p:spPr>
          <a:xfrm>
            <a:off x="493776" y="4151376"/>
            <a:ext cx="1828800" cy="292608"/>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Scientific &amp; technical problems</a:t>
            </a:r>
            <a:endParaRPr lang="en-US" sz="850" dirty="0"/>
          </a:p>
        </p:txBody>
      </p:sp>
      <p:sp>
        <p:nvSpPr>
          <p:cNvPr id="36" name="Text 34"/>
          <p:cNvSpPr/>
          <p:nvPr/>
        </p:nvSpPr>
        <p:spPr>
          <a:xfrm>
            <a:off x="2377440" y="4169664"/>
            <a:ext cx="2011680" cy="274320"/>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Maths, engineering, research-grade logic</a:t>
            </a:r>
            <a:endParaRPr lang="en-US" sz="800" dirty="0"/>
          </a:p>
        </p:txBody>
      </p:sp>
      <p:sp>
        <p:nvSpPr>
          <p:cNvPr id="37" name="Shape 35"/>
          <p:cNvSpPr/>
          <p:nvPr/>
        </p:nvSpPr>
        <p:spPr>
          <a:xfrm>
            <a:off x="4590288" y="4114800"/>
            <a:ext cx="4078224" cy="365760"/>
          </a:xfrm>
          <a:prstGeom prst="rect">
            <a:avLst/>
          </a:prstGeom>
          <a:solidFill>
            <a:srgbClr val="EDF1F7"/>
          </a:solidFill>
          <a:ln/>
        </p:spPr>
      </p:sp>
      <p:sp>
        <p:nvSpPr>
          <p:cNvPr id="38" name="Shape 36"/>
          <p:cNvSpPr/>
          <p:nvPr/>
        </p:nvSpPr>
        <p:spPr>
          <a:xfrm>
            <a:off x="4590288" y="4114800"/>
            <a:ext cx="36576" cy="365760"/>
          </a:xfrm>
          <a:prstGeom prst="rect">
            <a:avLst/>
          </a:prstGeom>
          <a:solidFill>
            <a:srgbClr val="0F766E"/>
          </a:solidFill>
          <a:ln/>
        </p:spPr>
      </p:sp>
      <p:sp>
        <p:nvSpPr>
          <p:cNvPr id="39" name="Text 37"/>
          <p:cNvSpPr/>
          <p:nvPr/>
        </p:nvSpPr>
        <p:spPr>
          <a:xfrm>
            <a:off x="4718304" y="4151376"/>
            <a:ext cx="1828800" cy="292608"/>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Strategic planning</a:t>
            </a:r>
            <a:endParaRPr lang="en-US" sz="850" dirty="0"/>
          </a:p>
        </p:txBody>
      </p:sp>
      <p:sp>
        <p:nvSpPr>
          <p:cNvPr id="40" name="Text 38"/>
          <p:cNvSpPr/>
          <p:nvPr/>
        </p:nvSpPr>
        <p:spPr>
          <a:xfrm>
            <a:off x="6601968" y="4169664"/>
            <a:ext cx="2011680" cy="274320"/>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Trade-offs across many constraints</a:t>
            </a:r>
            <a:endParaRPr lang="en-US" sz="800" dirty="0"/>
          </a:p>
        </p:txBody>
      </p:sp>
      <p:sp>
        <p:nvSpPr>
          <p:cNvPr id="41" name="Shape 39"/>
          <p:cNvSpPr/>
          <p:nvPr/>
        </p:nvSpPr>
        <p:spPr>
          <a:xfrm>
            <a:off x="365760" y="4572000"/>
            <a:ext cx="8412480" cy="457200"/>
          </a:xfrm>
          <a:prstGeom prst="rect">
            <a:avLst/>
          </a:prstGeom>
          <a:solidFill>
            <a:srgbClr val="EDF1F7"/>
          </a:solidFill>
          <a:ln/>
        </p:spPr>
      </p:sp>
      <p:sp>
        <p:nvSpPr>
          <p:cNvPr id="42" name="Shape 40"/>
          <p:cNvSpPr/>
          <p:nvPr/>
        </p:nvSpPr>
        <p:spPr>
          <a:xfrm>
            <a:off x="365760" y="4572000"/>
            <a:ext cx="36576" cy="457200"/>
          </a:xfrm>
          <a:prstGeom prst="rect">
            <a:avLst/>
          </a:prstGeom>
          <a:solidFill>
            <a:srgbClr val="B8860B"/>
          </a:solidFill>
          <a:ln/>
        </p:spPr>
      </p:sp>
      <p:sp>
        <p:nvSpPr>
          <p:cNvPr id="43" name="Text 41"/>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44" name="Text 42"/>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Newest model class (2024–25). Don't pay reasoning-model prices for simple tasks — but for complex, high-stakes decisions, the accuracy gain is worth the extra cost and latency.</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7596B"/>
          </a:solidFill>
          <a:ln/>
        </p:spPr>
      </p:sp>
      <p:sp>
        <p:nvSpPr>
          <p:cNvPr id="3" name="Shape 1"/>
          <p:cNvSpPr/>
          <p:nvPr/>
        </p:nvSpPr>
        <p:spPr>
          <a:xfrm>
            <a:off x="0" y="5084064"/>
            <a:ext cx="9144000" cy="54864"/>
          </a:xfrm>
          <a:prstGeom prst="rect">
            <a:avLst/>
          </a:prstGeom>
          <a:solidFill>
            <a:srgbClr val="B8860B"/>
          </a:solidFill>
          <a:ln/>
        </p:spPr>
      </p:sp>
      <p:sp>
        <p:nvSpPr>
          <p:cNvPr id="4" name="Text 2"/>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28000" b="1" dirty="0">
                <a:solidFill>
                  <a:srgbClr val="47596B"/>
                </a:solidFill>
                <a:latin typeface="Calibri" pitchFamily="34" charset="0"/>
                <a:ea typeface="Calibri" pitchFamily="34" charset="-122"/>
                <a:cs typeface="Calibri" pitchFamily="34" charset="-120"/>
              </a:rPr>
              <a:t>04</a:t>
            </a:r>
            <a:endParaRPr lang="en-US" sz="28000" dirty="0"/>
          </a:p>
        </p:txBody>
      </p:sp>
      <p:sp>
        <p:nvSpPr>
          <p:cNvPr id="5" name="Text 3"/>
          <p:cNvSpPr/>
          <p:nvPr/>
        </p:nvSpPr>
        <p:spPr>
          <a:xfrm>
            <a:off x="457200" y="1097280"/>
            <a:ext cx="4572000" cy="329184"/>
          </a:xfrm>
          <a:prstGeom prst="rect">
            <a:avLst/>
          </a:prstGeom>
          <a:noFill/>
          <a:ln/>
        </p:spPr>
        <p:txBody>
          <a:bodyPr wrap="square" lIns="0" tIns="0" rIns="0" bIns="0" rtlCol="0" anchor="ctr"/>
          <a:lstStyle/>
          <a:p>
            <a:pPr indent="0" marL="0">
              <a:buNone/>
            </a:pPr>
            <a:r>
              <a:rPr lang="en-US" sz="1000" b="1" spc="400" kern="0" dirty="0">
                <a:solidFill>
                  <a:srgbClr val="B8860B"/>
                </a:solidFill>
                <a:latin typeface="Calibri" pitchFamily="34" charset="0"/>
                <a:ea typeface="Calibri" pitchFamily="34" charset="-122"/>
                <a:cs typeface="Calibri" pitchFamily="34" charset="-120"/>
              </a:rPr>
              <a:t>CHAPTER 04</a:t>
            </a:r>
            <a:endParaRPr lang="en-US" sz="1000" dirty="0"/>
          </a:p>
        </p:txBody>
      </p:sp>
      <p:sp>
        <p:nvSpPr>
          <p:cNvPr id="6" name="Text 4"/>
          <p:cNvSpPr/>
          <p:nvPr/>
        </p:nvSpPr>
        <p:spPr>
          <a:xfrm>
            <a:off x="457200" y="1463040"/>
            <a:ext cx="457200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Agents &amp; Automation</a:t>
            </a:r>
            <a:endParaRPr lang="en-US" sz="4000" dirty="0"/>
          </a:p>
        </p:txBody>
      </p:sp>
      <p:sp>
        <p:nvSpPr>
          <p:cNvPr id="7" name="Shape 5"/>
          <p:cNvSpPr/>
          <p:nvPr/>
        </p:nvSpPr>
        <p:spPr>
          <a:xfrm>
            <a:off x="457200" y="2834640"/>
            <a:ext cx="1097280" cy="36576"/>
          </a:xfrm>
          <a:prstGeom prst="rect">
            <a:avLst/>
          </a:prstGeom>
          <a:solidFill>
            <a:srgbClr val="B8860B"/>
          </a:solidFill>
          <a:ln/>
        </p:spPr>
      </p:sp>
      <p:sp>
        <p:nvSpPr>
          <p:cNvPr id="8" name="Text 6"/>
          <p:cNvSpPr/>
          <p:nvPr/>
        </p:nvSpPr>
        <p:spPr>
          <a:xfrm>
            <a:off x="457200" y="2962656"/>
            <a:ext cx="4572000" cy="548640"/>
          </a:xfrm>
          <a:prstGeom prst="rect">
            <a:avLst/>
          </a:prstGeom>
          <a:noFill/>
          <a:ln/>
        </p:spPr>
        <p:txBody>
          <a:bodyPr wrap="square" lIns="0" tIns="0" rIns="0" bIns="0" rtlCol="0" anchor="ctr"/>
          <a:lstStyle/>
          <a:p>
            <a:pPr indent="0" marL="0">
              <a:buNone/>
            </a:pPr>
            <a:r>
              <a:rPr lang="en-US" sz="1150" i="1" dirty="0">
                <a:solidFill>
                  <a:srgbClr val="EDF1F7"/>
                </a:solidFill>
                <a:latin typeface="Calibri" pitchFamily="34" charset="0"/>
                <a:ea typeface="Calibri" pitchFamily="34" charset="-122"/>
                <a:cs typeface="Calibri" pitchFamily="34" charset="-120"/>
              </a:rPr>
              <a:t>From chatbots to autonomous AI workforces — the most transformative and most governed frontier.</a:t>
            </a:r>
            <a:endParaRPr lang="en-US" sz="1150" dirty="0"/>
          </a:p>
        </p:txBody>
      </p:sp>
      <p:sp>
        <p:nvSpPr>
          <p:cNvPr id="9" name="Text 7"/>
          <p:cNvSpPr/>
          <p:nvPr/>
        </p:nvSpPr>
        <p:spPr>
          <a:xfrm>
            <a:off x="457200" y="3657600"/>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AI Agents — what they are and how they act</a:t>
            </a:r>
            <a:endParaRPr lang="en-US" sz="950" dirty="0"/>
          </a:p>
        </p:txBody>
      </p:sp>
      <p:sp>
        <p:nvSpPr>
          <p:cNvPr id="10" name="Text 8"/>
          <p:cNvSpPr/>
          <p:nvPr/>
        </p:nvSpPr>
        <p:spPr>
          <a:xfrm>
            <a:off x="457200" y="3895344"/>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Agentic AI vs AI Agents — the critical distinction</a:t>
            </a:r>
            <a:endParaRPr lang="en-US" sz="950" dirty="0"/>
          </a:p>
        </p:txBody>
      </p:sp>
      <p:sp>
        <p:nvSpPr>
          <p:cNvPr id="11" name="Text 9"/>
          <p:cNvSpPr/>
          <p:nvPr/>
        </p:nvSpPr>
        <p:spPr>
          <a:xfrm>
            <a:off x="457200" y="4133088"/>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Enterprise use cases with real examples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47596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04</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AI AGENTS — FROM ANSWERING TO ACTING</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An Employee With a Computer, Phone, and System Access</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 chatbot can only talk. An AI Agent is that same colleague — with a computer, phone, and system access who can do things. They don't say 'here's how to book a meeting' — they book the meeting.</a:t>
            </a:r>
            <a:endParaRPr lang="en-US" sz="1000" dirty="0"/>
          </a:p>
        </p:txBody>
      </p:sp>
      <p:sp>
        <p:nvSpPr>
          <p:cNvPr id="11" name="Text 9"/>
          <p:cNvSpPr/>
          <p:nvPr/>
        </p:nvSpPr>
        <p:spPr>
          <a:xfrm>
            <a:off x="365760" y="1847088"/>
            <a:ext cx="8412480" cy="219456"/>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THE FIVE COMPONENTS OF AN AGENT</a:t>
            </a:r>
            <a:endParaRPr lang="en-US" sz="850" dirty="0"/>
          </a:p>
        </p:txBody>
      </p:sp>
      <p:sp>
        <p:nvSpPr>
          <p:cNvPr id="12" name="Shape 10"/>
          <p:cNvSpPr/>
          <p:nvPr/>
        </p:nvSpPr>
        <p:spPr>
          <a:xfrm>
            <a:off x="365760" y="2103120"/>
            <a:ext cx="1591056" cy="122529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3" name="Shape 11"/>
          <p:cNvSpPr/>
          <p:nvPr/>
        </p:nvSpPr>
        <p:spPr>
          <a:xfrm>
            <a:off x="365760" y="2103120"/>
            <a:ext cx="1591056" cy="54864"/>
          </a:xfrm>
          <a:prstGeom prst="rect">
            <a:avLst/>
          </a:prstGeom>
          <a:solidFill>
            <a:srgbClr val="47596B"/>
          </a:solidFill>
          <a:ln/>
        </p:spPr>
      </p:sp>
      <p:sp>
        <p:nvSpPr>
          <p:cNvPr id="14" name="Text 12"/>
          <p:cNvSpPr/>
          <p:nvPr/>
        </p:nvSpPr>
        <p:spPr>
          <a:xfrm>
            <a:off x="438912" y="2212848"/>
            <a:ext cx="274320" cy="274320"/>
          </a:xfrm>
          <a:prstGeom prst="rect">
            <a:avLst/>
          </a:prstGeom>
          <a:noFill/>
          <a:ln/>
        </p:spPr>
        <p:txBody>
          <a:bodyPr wrap="square" lIns="0" tIns="0" rIns="0" bIns="0" rtlCol="0" anchor="ctr"/>
          <a:lstStyle/>
          <a:p>
            <a:pPr indent="0" marL="0">
              <a:buNone/>
            </a:pPr>
            <a:r>
              <a:rPr lang="en-US" sz="1400" b="1" dirty="0">
                <a:solidFill>
                  <a:srgbClr val="47596B"/>
                </a:solidFill>
                <a:latin typeface="Calibri" pitchFamily="34" charset="0"/>
                <a:ea typeface="Calibri" pitchFamily="34" charset="-122"/>
                <a:cs typeface="Calibri" pitchFamily="34" charset="-120"/>
              </a:rPr>
              <a:t>1</a:t>
            </a:r>
            <a:endParaRPr lang="en-US" sz="1400" dirty="0"/>
          </a:p>
        </p:txBody>
      </p:sp>
      <p:sp>
        <p:nvSpPr>
          <p:cNvPr id="15" name="Text 13"/>
          <p:cNvSpPr/>
          <p:nvPr/>
        </p:nvSpPr>
        <p:spPr>
          <a:xfrm>
            <a:off x="438912" y="2523744"/>
            <a:ext cx="1444752"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LLM Brain</a:t>
            </a:r>
            <a:endParaRPr lang="en-US" sz="950" dirty="0"/>
          </a:p>
        </p:txBody>
      </p:sp>
      <p:sp>
        <p:nvSpPr>
          <p:cNvPr id="16" name="Text 14"/>
          <p:cNvSpPr/>
          <p:nvPr/>
        </p:nvSpPr>
        <p:spPr>
          <a:xfrm>
            <a:off x="438912" y="2779776"/>
            <a:ext cx="1444752" cy="51206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Reasons, plans, decides what to do next</a:t>
            </a:r>
            <a:endParaRPr lang="en-US" sz="800" dirty="0"/>
          </a:p>
        </p:txBody>
      </p:sp>
      <p:sp>
        <p:nvSpPr>
          <p:cNvPr id="17" name="Shape 15"/>
          <p:cNvSpPr/>
          <p:nvPr/>
        </p:nvSpPr>
        <p:spPr>
          <a:xfrm>
            <a:off x="2084832" y="2103120"/>
            <a:ext cx="1591056" cy="122529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8" name="Shape 16"/>
          <p:cNvSpPr/>
          <p:nvPr/>
        </p:nvSpPr>
        <p:spPr>
          <a:xfrm>
            <a:off x="2084832" y="2103120"/>
            <a:ext cx="1591056" cy="54864"/>
          </a:xfrm>
          <a:prstGeom prst="rect">
            <a:avLst/>
          </a:prstGeom>
          <a:solidFill>
            <a:srgbClr val="47596B"/>
          </a:solidFill>
          <a:ln/>
        </p:spPr>
      </p:sp>
      <p:sp>
        <p:nvSpPr>
          <p:cNvPr id="19" name="Text 17"/>
          <p:cNvSpPr/>
          <p:nvPr/>
        </p:nvSpPr>
        <p:spPr>
          <a:xfrm>
            <a:off x="2157984" y="2212848"/>
            <a:ext cx="274320" cy="274320"/>
          </a:xfrm>
          <a:prstGeom prst="rect">
            <a:avLst/>
          </a:prstGeom>
          <a:noFill/>
          <a:ln/>
        </p:spPr>
        <p:txBody>
          <a:bodyPr wrap="square" lIns="0" tIns="0" rIns="0" bIns="0" rtlCol="0" anchor="ctr"/>
          <a:lstStyle/>
          <a:p>
            <a:pPr indent="0" marL="0">
              <a:buNone/>
            </a:pPr>
            <a:r>
              <a:rPr lang="en-US" sz="1400" b="1" dirty="0">
                <a:solidFill>
                  <a:srgbClr val="47596B"/>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2157984" y="2523744"/>
            <a:ext cx="1444752"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Tools</a:t>
            </a:r>
            <a:endParaRPr lang="en-US" sz="950" dirty="0"/>
          </a:p>
        </p:txBody>
      </p:sp>
      <p:sp>
        <p:nvSpPr>
          <p:cNvPr id="21" name="Text 19"/>
          <p:cNvSpPr/>
          <p:nvPr/>
        </p:nvSpPr>
        <p:spPr>
          <a:xfrm>
            <a:off x="2157984" y="2779776"/>
            <a:ext cx="1444752" cy="51206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Search, code, email, APIs, databases</a:t>
            </a:r>
            <a:endParaRPr lang="en-US" sz="800" dirty="0"/>
          </a:p>
        </p:txBody>
      </p:sp>
      <p:sp>
        <p:nvSpPr>
          <p:cNvPr id="22" name="Shape 20"/>
          <p:cNvSpPr/>
          <p:nvPr/>
        </p:nvSpPr>
        <p:spPr>
          <a:xfrm>
            <a:off x="3803904" y="2103120"/>
            <a:ext cx="1591056" cy="122529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3" name="Shape 21"/>
          <p:cNvSpPr/>
          <p:nvPr/>
        </p:nvSpPr>
        <p:spPr>
          <a:xfrm>
            <a:off x="3803904" y="2103120"/>
            <a:ext cx="1591056" cy="54864"/>
          </a:xfrm>
          <a:prstGeom prst="rect">
            <a:avLst/>
          </a:prstGeom>
          <a:solidFill>
            <a:srgbClr val="47596B"/>
          </a:solidFill>
          <a:ln/>
        </p:spPr>
      </p:sp>
      <p:sp>
        <p:nvSpPr>
          <p:cNvPr id="24" name="Text 22"/>
          <p:cNvSpPr/>
          <p:nvPr/>
        </p:nvSpPr>
        <p:spPr>
          <a:xfrm>
            <a:off x="3877056" y="2212848"/>
            <a:ext cx="274320" cy="274320"/>
          </a:xfrm>
          <a:prstGeom prst="rect">
            <a:avLst/>
          </a:prstGeom>
          <a:noFill/>
          <a:ln/>
        </p:spPr>
        <p:txBody>
          <a:bodyPr wrap="square" lIns="0" tIns="0" rIns="0" bIns="0" rtlCol="0" anchor="ctr"/>
          <a:lstStyle/>
          <a:p>
            <a:pPr indent="0" marL="0">
              <a:buNone/>
            </a:pPr>
            <a:r>
              <a:rPr lang="en-US" sz="1400" b="1" dirty="0">
                <a:solidFill>
                  <a:srgbClr val="47596B"/>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3877056" y="2523744"/>
            <a:ext cx="1444752"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Memory</a:t>
            </a:r>
            <a:endParaRPr lang="en-US" sz="950" dirty="0"/>
          </a:p>
        </p:txBody>
      </p:sp>
      <p:sp>
        <p:nvSpPr>
          <p:cNvPr id="26" name="Text 24"/>
          <p:cNvSpPr/>
          <p:nvPr/>
        </p:nvSpPr>
        <p:spPr>
          <a:xfrm>
            <a:off x="3877056" y="2779776"/>
            <a:ext cx="1444752" cy="51206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Short-term + long-term storage</a:t>
            </a:r>
            <a:endParaRPr lang="en-US" sz="800" dirty="0"/>
          </a:p>
        </p:txBody>
      </p:sp>
      <p:sp>
        <p:nvSpPr>
          <p:cNvPr id="27" name="Shape 25"/>
          <p:cNvSpPr/>
          <p:nvPr/>
        </p:nvSpPr>
        <p:spPr>
          <a:xfrm>
            <a:off x="5522976" y="2103120"/>
            <a:ext cx="1591056" cy="122529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8" name="Shape 26"/>
          <p:cNvSpPr/>
          <p:nvPr/>
        </p:nvSpPr>
        <p:spPr>
          <a:xfrm>
            <a:off x="5522976" y="2103120"/>
            <a:ext cx="1591056" cy="54864"/>
          </a:xfrm>
          <a:prstGeom prst="rect">
            <a:avLst/>
          </a:prstGeom>
          <a:solidFill>
            <a:srgbClr val="47596B"/>
          </a:solidFill>
          <a:ln/>
        </p:spPr>
      </p:sp>
      <p:sp>
        <p:nvSpPr>
          <p:cNvPr id="29" name="Text 27"/>
          <p:cNvSpPr/>
          <p:nvPr/>
        </p:nvSpPr>
        <p:spPr>
          <a:xfrm>
            <a:off x="5596128" y="2212848"/>
            <a:ext cx="274320" cy="274320"/>
          </a:xfrm>
          <a:prstGeom prst="rect">
            <a:avLst/>
          </a:prstGeom>
          <a:noFill/>
          <a:ln/>
        </p:spPr>
        <p:txBody>
          <a:bodyPr wrap="square" lIns="0" tIns="0" rIns="0" bIns="0" rtlCol="0" anchor="ctr"/>
          <a:lstStyle/>
          <a:p>
            <a:pPr indent="0" marL="0">
              <a:buNone/>
            </a:pPr>
            <a:r>
              <a:rPr lang="en-US" sz="1400" b="1" dirty="0">
                <a:solidFill>
                  <a:srgbClr val="47596B"/>
                </a:solidFill>
                <a:latin typeface="Calibri" pitchFamily="34" charset="0"/>
                <a:ea typeface="Calibri" pitchFamily="34" charset="-122"/>
                <a:cs typeface="Calibri" pitchFamily="34" charset="-120"/>
              </a:rPr>
              <a:t>4</a:t>
            </a:r>
            <a:endParaRPr lang="en-US" sz="1400" dirty="0"/>
          </a:p>
        </p:txBody>
      </p:sp>
      <p:sp>
        <p:nvSpPr>
          <p:cNvPr id="30" name="Text 28"/>
          <p:cNvSpPr/>
          <p:nvPr/>
        </p:nvSpPr>
        <p:spPr>
          <a:xfrm>
            <a:off x="5596128" y="2523744"/>
            <a:ext cx="1444752"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Planning</a:t>
            </a:r>
            <a:endParaRPr lang="en-US" sz="950" dirty="0"/>
          </a:p>
        </p:txBody>
      </p:sp>
      <p:sp>
        <p:nvSpPr>
          <p:cNvPr id="31" name="Text 29"/>
          <p:cNvSpPr/>
          <p:nvPr/>
        </p:nvSpPr>
        <p:spPr>
          <a:xfrm>
            <a:off x="5596128" y="2779776"/>
            <a:ext cx="1444752" cy="51206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Breaks goals into subtasks</a:t>
            </a:r>
            <a:endParaRPr lang="en-US" sz="800" dirty="0"/>
          </a:p>
        </p:txBody>
      </p:sp>
      <p:sp>
        <p:nvSpPr>
          <p:cNvPr id="32" name="Shape 30"/>
          <p:cNvSpPr/>
          <p:nvPr/>
        </p:nvSpPr>
        <p:spPr>
          <a:xfrm>
            <a:off x="7242048" y="2103120"/>
            <a:ext cx="1591056" cy="122529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3" name="Shape 31"/>
          <p:cNvSpPr/>
          <p:nvPr/>
        </p:nvSpPr>
        <p:spPr>
          <a:xfrm>
            <a:off x="7242048" y="2103120"/>
            <a:ext cx="1591056" cy="54864"/>
          </a:xfrm>
          <a:prstGeom prst="rect">
            <a:avLst/>
          </a:prstGeom>
          <a:solidFill>
            <a:srgbClr val="47596B"/>
          </a:solidFill>
          <a:ln/>
        </p:spPr>
      </p:sp>
      <p:sp>
        <p:nvSpPr>
          <p:cNvPr id="34" name="Text 32"/>
          <p:cNvSpPr/>
          <p:nvPr/>
        </p:nvSpPr>
        <p:spPr>
          <a:xfrm>
            <a:off x="7315200" y="2212848"/>
            <a:ext cx="274320" cy="274320"/>
          </a:xfrm>
          <a:prstGeom prst="rect">
            <a:avLst/>
          </a:prstGeom>
          <a:noFill/>
          <a:ln/>
        </p:spPr>
        <p:txBody>
          <a:bodyPr wrap="square" lIns="0" tIns="0" rIns="0" bIns="0" rtlCol="0" anchor="ctr"/>
          <a:lstStyle/>
          <a:p>
            <a:pPr indent="0" marL="0">
              <a:buNone/>
            </a:pPr>
            <a:r>
              <a:rPr lang="en-US" sz="1400" b="1" dirty="0">
                <a:solidFill>
                  <a:srgbClr val="47596B"/>
                </a:solidFill>
                <a:latin typeface="Calibri" pitchFamily="34" charset="0"/>
                <a:ea typeface="Calibri" pitchFamily="34" charset="-122"/>
                <a:cs typeface="Calibri" pitchFamily="34" charset="-120"/>
              </a:rPr>
              <a:t>5</a:t>
            </a:r>
            <a:endParaRPr lang="en-US" sz="1400" dirty="0"/>
          </a:p>
        </p:txBody>
      </p:sp>
      <p:sp>
        <p:nvSpPr>
          <p:cNvPr id="35" name="Text 33"/>
          <p:cNvSpPr/>
          <p:nvPr/>
        </p:nvSpPr>
        <p:spPr>
          <a:xfrm>
            <a:off x="7315200" y="2523744"/>
            <a:ext cx="1444752" cy="237744"/>
          </a:xfrm>
          <a:prstGeom prst="rect">
            <a:avLst/>
          </a:prstGeom>
          <a:noFill/>
          <a:ln/>
        </p:spPr>
        <p:txBody>
          <a:bodyPr wrap="square" lIns="0" tIns="0" rIns="0" bIns="0" rtlCol="0" anchor="ctr"/>
          <a:lstStyle/>
          <a:p>
            <a:pPr indent="0" marL="0">
              <a:buNone/>
            </a:pPr>
            <a:r>
              <a:rPr lang="en-US" sz="950" b="1" dirty="0">
                <a:solidFill>
                  <a:srgbClr val="0A2540"/>
                </a:solidFill>
                <a:latin typeface="Calibri" pitchFamily="34" charset="0"/>
                <a:ea typeface="Calibri" pitchFamily="34" charset="-122"/>
                <a:cs typeface="Calibri" pitchFamily="34" charset="-120"/>
              </a:rPr>
              <a:t>Observe &amp; Adapt</a:t>
            </a:r>
            <a:endParaRPr lang="en-US" sz="950" dirty="0"/>
          </a:p>
        </p:txBody>
      </p:sp>
      <p:sp>
        <p:nvSpPr>
          <p:cNvPr id="36" name="Text 34"/>
          <p:cNvSpPr/>
          <p:nvPr/>
        </p:nvSpPr>
        <p:spPr>
          <a:xfrm>
            <a:off x="7315200" y="2779776"/>
            <a:ext cx="1444752" cy="512064"/>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Sees results, self-corrects</a:t>
            </a:r>
            <a:endParaRPr lang="en-US" sz="800" dirty="0"/>
          </a:p>
        </p:txBody>
      </p:sp>
      <p:sp>
        <p:nvSpPr>
          <p:cNvPr id="37" name="Shape 35"/>
          <p:cNvSpPr/>
          <p:nvPr/>
        </p:nvSpPr>
        <p:spPr>
          <a:xfrm>
            <a:off x="365760" y="3456432"/>
            <a:ext cx="8412480" cy="256032"/>
          </a:xfrm>
          <a:prstGeom prst="rect">
            <a:avLst/>
          </a:prstGeom>
          <a:solidFill>
            <a:srgbClr val="0A2540"/>
          </a:solidFill>
          <a:ln/>
        </p:spPr>
      </p:sp>
      <p:sp>
        <p:nvSpPr>
          <p:cNvPr id="38" name="Text 36"/>
          <p:cNvSpPr/>
          <p:nvPr/>
        </p:nvSpPr>
        <p:spPr>
          <a:xfrm>
            <a:off x="365760" y="3474720"/>
            <a:ext cx="8412480" cy="219456"/>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CHATBOT vs AI AGENT  ·  The key difference</a:t>
            </a:r>
            <a:endParaRPr lang="en-US" sz="950" dirty="0"/>
          </a:p>
        </p:txBody>
      </p:sp>
      <p:sp>
        <p:nvSpPr>
          <p:cNvPr id="39" name="Shape 37"/>
          <p:cNvSpPr/>
          <p:nvPr/>
        </p:nvSpPr>
        <p:spPr>
          <a:xfrm>
            <a:off x="365760" y="3749040"/>
            <a:ext cx="8412480" cy="256032"/>
          </a:xfrm>
          <a:prstGeom prst="rect">
            <a:avLst/>
          </a:prstGeom>
          <a:solidFill>
            <a:srgbClr val="FAFBFD"/>
          </a:solidFill>
          <a:ln/>
        </p:spPr>
      </p:sp>
      <p:sp>
        <p:nvSpPr>
          <p:cNvPr id="40" name="Text 38"/>
          <p:cNvSpPr/>
          <p:nvPr/>
        </p:nvSpPr>
        <p:spPr>
          <a:xfrm>
            <a:off x="457200" y="3785616"/>
            <a:ext cx="2743200" cy="182880"/>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Book a meeting with Sarah</a:t>
            </a:r>
            <a:endParaRPr lang="en-US" sz="850" dirty="0"/>
          </a:p>
        </p:txBody>
      </p:sp>
      <p:sp>
        <p:nvSpPr>
          <p:cNvPr id="41" name="Text 39"/>
          <p:cNvSpPr/>
          <p:nvPr/>
        </p:nvSpPr>
        <p:spPr>
          <a:xfrm>
            <a:off x="3246120" y="3785616"/>
            <a:ext cx="2606040" cy="18288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Chatbot  ·  Gives you the steps — you do it</a:t>
            </a:r>
            <a:endParaRPr lang="en-US" sz="850" dirty="0"/>
          </a:p>
        </p:txBody>
      </p:sp>
      <p:sp>
        <p:nvSpPr>
          <p:cNvPr id="42" name="Text 40"/>
          <p:cNvSpPr/>
          <p:nvPr/>
        </p:nvSpPr>
        <p:spPr>
          <a:xfrm>
            <a:off x="5989320" y="3785616"/>
            <a:ext cx="2743200" cy="182880"/>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Agent  ·  Books it directly in your calendar</a:t>
            </a:r>
            <a:endParaRPr lang="en-US" sz="850" dirty="0"/>
          </a:p>
        </p:txBody>
      </p:sp>
      <p:sp>
        <p:nvSpPr>
          <p:cNvPr id="43" name="Shape 41"/>
          <p:cNvSpPr/>
          <p:nvPr/>
        </p:nvSpPr>
        <p:spPr>
          <a:xfrm>
            <a:off x="365760" y="4023360"/>
            <a:ext cx="8412480" cy="256032"/>
          </a:xfrm>
          <a:prstGeom prst="rect">
            <a:avLst/>
          </a:prstGeom>
          <a:solidFill>
            <a:srgbClr val="FFFFFF"/>
          </a:solidFill>
          <a:ln/>
        </p:spPr>
      </p:sp>
      <p:sp>
        <p:nvSpPr>
          <p:cNvPr id="44" name="Text 42"/>
          <p:cNvSpPr/>
          <p:nvPr/>
        </p:nvSpPr>
        <p:spPr>
          <a:xfrm>
            <a:off x="457200" y="4059936"/>
            <a:ext cx="2743200" cy="182880"/>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Prepare a sales brief for Acme</a:t>
            </a:r>
            <a:endParaRPr lang="en-US" sz="850" dirty="0"/>
          </a:p>
        </p:txBody>
      </p:sp>
      <p:sp>
        <p:nvSpPr>
          <p:cNvPr id="45" name="Text 43"/>
          <p:cNvSpPr/>
          <p:nvPr/>
        </p:nvSpPr>
        <p:spPr>
          <a:xfrm>
            <a:off x="3246120" y="4059936"/>
            <a:ext cx="2606040" cy="18288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Chatbot  ·  Drafts it — you copy, paste, send</a:t>
            </a:r>
            <a:endParaRPr lang="en-US" sz="850" dirty="0"/>
          </a:p>
        </p:txBody>
      </p:sp>
      <p:sp>
        <p:nvSpPr>
          <p:cNvPr id="46" name="Text 44"/>
          <p:cNvSpPr/>
          <p:nvPr/>
        </p:nvSpPr>
        <p:spPr>
          <a:xfrm>
            <a:off x="5989320" y="4059936"/>
            <a:ext cx="2743200" cy="182880"/>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Agent  ·  Researches Acme, drafts, sends email</a:t>
            </a:r>
            <a:endParaRPr lang="en-US" sz="850" dirty="0"/>
          </a:p>
        </p:txBody>
      </p:sp>
      <p:sp>
        <p:nvSpPr>
          <p:cNvPr id="47" name="Shape 45"/>
          <p:cNvSpPr/>
          <p:nvPr/>
        </p:nvSpPr>
        <p:spPr>
          <a:xfrm>
            <a:off x="365760" y="4297680"/>
            <a:ext cx="8412480" cy="256032"/>
          </a:xfrm>
          <a:prstGeom prst="rect">
            <a:avLst/>
          </a:prstGeom>
          <a:solidFill>
            <a:srgbClr val="FAFBFD"/>
          </a:solidFill>
          <a:ln/>
        </p:spPr>
      </p:sp>
      <p:sp>
        <p:nvSpPr>
          <p:cNvPr id="48" name="Text 46"/>
          <p:cNvSpPr/>
          <p:nvPr/>
        </p:nvSpPr>
        <p:spPr>
          <a:xfrm>
            <a:off x="457200" y="4334256"/>
            <a:ext cx="2743200" cy="182880"/>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Monitor contract renewal dates</a:t>
            </a:r>
            <a:endParaRPr lang="en-US" sz="850" dirty="0"/>
          </a:p>
        </p:txBody>
      </p:sp>
      <p:sp>
        <p:nvSpPr>
          <p:cNvPr id="49" name="Text 47"/>
          <p:cNvSpPr/>
          <p:nvPr/>
        </p:nvSpPr>
        <p:spPr>
          <a:xfrm>
            <a:off x="3246120" y="4334256"/>
            <a:ext cx="2606040" cy="18288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Chatbot  ·  Can't monitor — only responds when asked</a:t>
            </a:r>
            <a:endParaRPr lang="en-US" sz="850" dirty="0"/>
          </a:p>
        </p:txBody>
      </p:sp>
      <p:sp>
        <p:nvSpPr>
          <p:cNvPr id="50" name="Text 48"/>
          <p:cNvSpPr/>
          <p:nvPr/>
        </p:nvSpPr>
        <p:spPr>
          <a:xfrm>
            <a:off x="5989320" y="4334256"/>
            <a:ext cx="2743200" cy="182880"/>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Agent  ·  Proactively alerts 30 days before expiry</a:t>
            </a:r>
            <a:endParaRPr lang="en-US" sz="850" dirty="0"/>
          </a:p>
        </p:txBody>
      </p:sp>
      <p:sp>
        <p:nvSpPr>
          <p:cNvPr id="51" name="Shape 49"/>
          <p:cNvSpPr/>
          <p:nvPr/>
        </p:nvSpPr>
        <p:spPr>
          <a:xfrm>
            <a:off x="365760" y="4572000"/>
            <a:ext cx="8412480" cy="457200"/>
          </a:xfrm>
          <a:prstGeom prst="rect">
            <a:avLst/>
          </a:prstGeom>
          <a:solidFill>
            <a:srgbClr val="EDF1F7"/>
          </a:solidFill>
          <a:ln/>
        </p:spPr>
      </p:sp>
      <p:sp>
        <p:nvSpPr>
          <p:cNvPr id="52" name="Shape 50"/>
          <p:cNvSpPr/>
          <p:nvPr/>
        </p:nvSpPr>
        <p:spPr>
          <a:xfrm>
            <a:off x="365760" y="4572000"/>
            <a:ext cx="36576" cy="457200"/>
          </a:xfrm>
          <a:prstGeom prst="rect">
            <a:avLst/>
          </a:prstGeom>
          <a:solidFill>
            <a:srgbClr val="B8860B"/>
          </a:solidFill>
          <a:ln/>
        </p:spPr>
      </p:sp>
      <p:sp>
        <p:nvSpPr>
          <p:cNvPr id="53" name="Text 51"/>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4" name="Text 52"/>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Agents don't just make humans more productive — they do work autonomously. This is where the largest enterprise productivity gains will come from in 2025–26.</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47596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04</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AGENTIC AI vs AI AGENTS — THE CRITICAL DISTINCTION</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One Contractor vs a Full Construction Crew</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An AI Agent is one skilled contractor doing a specific job autonomously. Agentic AI is a full construction crew — architect, builders, electricians, inspectors — working under an orchestrator, completing an entire project without you managing every step.</a:t>
            </a:r>
            <a:endParaRPr lang="en-US" sz="1000" dirty="0"/>
          </a:p>
        </p:txBody>
      </p:sp>
      <p:sp>
        <p:nvSpPr>
          <p:cNvPr id="11" name="Shape 9"/>
          <p:cNvSpPr/>
          <p:nvPr/>
        </p:nvSpPr>
        <p:spPr>
          <a:xfrm>
            <a:off x="365760" y="1847088"/>
            <a:ext cx="2423160" cy="310896"/>
          </a:xfrm>
          <a:prstGeom prst="rect">
            <a:avLst/>
          </a:prstGeom>
          <a:solidFill>
            <a:srgbClr val="0A2540"/>
          </a:solidFill>
          <a:ln/>
        </p:spPr>
      </p:sp>
      <p:sp>
        <p:nvSpPr>
          <p:cNvPr id="12" name="Text 10"/>
          <p:cNvSpPr/>
          <p:nvPr/>
        </p:nvSpPr>
        <p:spPr>
          <a:xfrm>
            <a:off x="365760" y="1865376"/>
            <a:ext cx="2423160" cy="274320"/>
          </a:xfrm>
          <a:prstGeom prst="rect">
            <a:avLst/>
          </a:prstGeom>
          <a:no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DIMENSION</a:t>
            </a:r>
            <a:endParaRPr lang="en-US" sz="1000" dirty="0"/>
          </a:p>
        </p:txBody>
      </p:sp>
      <p:sp>
        <p:nvSpPr>
          <p:cNvPr id="13" name="Shape 11"/>
          <p:cNvSpPr/>
          <p:nvPr/>
        </p:nvSpPr>
        <p:spPr>
          <a:xfrm>
            <a:off x="2834640" y="1847088"/>
            <a:ext cx="3127248" cy="310896"/>
          </a:xfrm>
          <a:prstGeom prst="rect">
            <a:avLst/>
          </a:prstGeom>
          <a:solidFill>
            <a:srgbClr val="2E5266"/>
          </a:solidFill>
          <a:ln/>
        </p:spPr>
      </p:sp>
      <p:sp>
        <p:nvSpPr>
          <p:cNvPr id="14" name="Text 12"/>
          <p:cNvSpPr/>
          <p:nvPr/>
        </p:nvSpPr>
        <p:spPr>
          <a:xfrm>
            <a:off x="2834640" y="1865376"/>
            <a:ext cx="3127248" cy="274320"/>
          </a:xfrm>
          <a:prstGeom prst="rect">
            <a:avLst/>
          </a:prstGeom>
          <a:no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AI AGENT</a:t>
            </a:r>
            <a:endParaRPr lang="en-US" sz="1000" dirty="0"/>
          </a:p>
        </p:txBody>
      </p:sp>
      <p:sp>
        <p:nvSpPr>
          <p:cNvPr id="15" name="Shape 13"/>
          <p:cNvSpPr/>
          <p:nvPr/>
        </p:nvSpPr>
        <p:spPr>
          <a:xfrm>
            <a:off x="6007608" y="1847088"/>
            <a:ext cx="2770632" cy="310896"/>
          </a:xfrm>
          <a:prstGeom prst="rect">
            <a:avLst/>
          </a:prstGeom>
          <a:solidFill>
            <a:srgbClr val="47596B"/>
          </a:solidFill>
          <a:ln/>
        </p:spPr>
      </p:sp>
      <p:sp>
        <p:nvSpPr>
          <p:cNvPr id="16" name="Text 14"/>
          <p:cNvSpPr/>
          <p:nvPr/>
        </p:nvSpPr>
        <p:spPr>
          <a:xfrm>
            <a:off x="6007608" y="1865376"/>
            <a:ext cx="2770632" cy="274320"/>
          </a:xfrm>
          <a:prstGeom prst="rect">
            <a:avLst/>
          </a:prstGeom>
          <a:noFill/>
          <a:ln/>
        </p:spPr>
        <p:txBody>
          <a:bodyPr wrap="square" lIns="0" tIns="0" rIns="0" bIns="0" rtlCol="0" anchor="ctr"/>
          <a:lstStyle/>
          <a:p>
            <a:pPr algn="ctr" indent="0" marL="0">
              <a:buNone/>
            </a:pPr>
            <a:r>
              <a:rPr lang="en-US" sz="1000" b="1" spc="150" kern="0" dirty="0">
                <a:solidFill>
                  <a:srgbClr val="FFFFFF"/>
                </a:solidFill>
                <a:latin typeface="Calibri" pitchFamily="34" charset="0"/>
                <a:ea typeface="Calibri" pitchFamily="34" charset="-122"/>
                <a:cs typeface="Calibri" pitchFamily="34" charset="-120"/>
              </a:rPr>
              <a:t>AGENTIC AI</a:t>
            </a:r>
            <a:endParaRPr lang="en-US" sz="1000" dirty="0"/>
          </a:p>
        </p:txBody>
      </p:sp>
      <p:sp>
        <p:nvSpPr>
          <p:cNvPr id="17" name="Shape 15"/>
          <p:cNvSpPr/>
          <p:nvPr/>
        </p:nvSpPr>
        <p:spPr>
          <a:xfrm>
            <a:off x="365760" y="2194560"/>
            <a:ext cx="8412480" cy="329184"/>
          </a:xfrm>
          <a:prstGeom prst="rect">
            <a:avLst/>
          </a:prstGeom>
          <a:solidFill>
            <a:srgbClr val="FAFBFD"/>
          </a:solidFill>
          <a:ln/>
        </p:spPr>
      </p:sp>
      <p:sp>
        <p:nvSpPr>
          <p:cNvPr id="18" name="Text 16"/>
          <p:cNvSpPr/>
          <p:nvPr/>
        </p:nvSpPr>
        <p:spPr>
          <a:xfrm>
            <a:off x="457200" y="2249424"/>
            <a:ext cx="2331720" cy="219456"/>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Think of it as</a:t>
            </a:r>
            <a:endParaRPr lang="en-US" sz="900" dirty="0"/>
          </a:p>
        </p:txBody>
      </p:sp>
      <p:sp>
        <p:nvSpPr>
          <p:cNvPr id="19" name="Text 17"/>
          <p:cNvSpPr/>
          <p:nvPr/>
        </p:nvSpPr>
        <p:spPr>
          <a:xfrm>
            <a:off x="2907792" y="2249424"/>
            <a:ext cx="303580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One specialist with a toolbox</a:t>
            </a:r>
            <a:endParaRPr lang="en-US" sz="850" dirty="0"/>
          </a:p>
        </p:txBody>
      </p:sp>
      <p:sp>
        <p:nvSpPr>
          <p:cNvPr id="20" name="Text 18"/>
          <p:cNvSpPr/>
          <p:nvPr/>
        </p:nvSpPr>
        <p:spPr>
          <a:xfrm>
            <a:off x="6080760" y="2249424"/>
            <a:ext cx="262432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An autonomous workforce</a:t>
            </a:r>
            <a:endParaRPr lang="en-US" sz="850" dirty="0"/>
          </a:p>
        </p:txBody>
      </p:sp>
      <p:sp>
        <p:nvSpPr>
          <p:cNvPr id="21" name="Shape 19"/>
          <p:cNvSpPr/>
          <p:nvPr/>
        </p:nvSpPr>
        <p:spPr>
          <a:xfrm>
            <a:off x="365760" y="2542032"/>
            <a:ext cx="8412480" cy="329184"/>
          </a:xfrm>
          <a:prstGeom prst="rect">
            <a:avLst/>
          </a:prstGeom>
          <a:solidFill>
            <a:srgbClr val="FFFFFF"/>
          </a:solidFill>
          <a:ln/>
        </p:spPr>
      </p:sp>
      <p:sp>
        <p:nvSpPr>
          <p:cNvPr id="22" name="Text 20"/>
          <p:cNvSpPr/>
          <p:nvPr/>
        </p:nvSpPr>
        <p:spPr>
          <a:xfrm>
            <a:off x="457200" y="2596896"/>
            <a:ext cx="2331720" cy="219456"/>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Scope</a:t>
            </a:r>
            <a:endParaRPr lang="en-US" sz="900" dirty="0"/>
          </a:p>
        </p:txBody>
      </p:sp>
      <p:sp>
        <p:nvSpPr>
          <p:cNvPr id="23" name="Text 21"/>
          <p:cNvSpPr/>
          <p:nvPr/>
        </p:nvSpPr>
        <p:spPr>
          <a:xfrm>
            <a:off x="2907792" y="2596896"/>
            <a:ext cx="303580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Single task, single domain</a:t>
            </a:r>
            <a:endParaRPr lang="en-US" sz="850" dirty="0"/>
          </a:p>
        </p:txBody>
      </p:sp>
      <p:sp>
        <p:nvSpPr>
          <p:cNvPr id="24" name="Text 22"/>
          <p:cNvSpPr/>
          <p:nvPr/>
        </p:nvSpPr>
        <p:spPr>
          <a:xfrm>
            <a:off x="6080760" y="2596896"/>
            <a:ext cx="262432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Multi-task, multi-goal, cross-domain</a:t>
            </a:r>
            <a:endParaRPr lang="en-US" sz="850" dirty="0"/>
          </a:p>
        </p:txBody>
      </p:sp>
      <p:sp>
        <p:nvSpPr>
          <p:cNvPr id="25" name="Shape 23"/>
          <p:cNvSpPr/>
          <p:nvPr/>
        </p:nvSpPr>
        <p:spPr>
          <a:xfrm>
            <a:off x="365760" y="2889504"/>
            <a:ext cx="8412480" cy="329184"/>
          </a:xfrm>
          <a:prstGeom prst="rect">
            <a:avLst/>
          </a:prstGeom>
          <a:solidFill>
            <a:srgbClr val="FAFBFD"/>
          </a:solidFill>
          <a:ln/>
        </p:spPr>
      </p:sp>
      <p:sp>
        <p:nvSpPr>
          <p:cNvPr id="26" name="Text 24"/>
          <p:cNvSpPr/>
          <p:nvPr/>
        </p:nvSpPr>
        <p:spPr>
          <a:xfrm>
            <a:off x="457200" y="2944368"/>
            <a:ext cx="2331720" cy="219456"/>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Autonomy</a:t>
            </a:r>
            <a:endParaRPr lang="en-US" sz="900" dirty="0"/>
          </a:p>
        </p:txBody>
      </p:sp>
      <p:sp>
        <p:nvSpPr>
          <p:cNvPr id="27" name="Text 25"/>
          <p:cNvSpPr/>
          <p:nvPr/>
        </p:nvSpPr>
        <p:spPr>
          <a:xfrm>
            <a:off x="2907792" y="2944368"/>
            <a:ext cx="303580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Moderate — given a task, completes it</a:t>
            </a:r>
            <a:endParaRPr lang="en-US" sz="850" dirty="0"/>
          </a:p>
        </p:txBody>
      </p:sp>
      <p:sp>
        <p:nvSpPr>
          <p:cNvPr id="28" name="Text 26"/>
          <p:cNvSpPr/>
          <p:nvPr/>
        </p:nvSpPr>
        <p:spPr>
          <a:xfrm>
            <a:off x="6080760" y="2944368"/>
            <a:ext cx="262432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High — given a goal, figures out how</a:t>
            </a:r>
            <a:endParaRPr lang="en-US" sz="850" dirty="0"/>
          </a:p>
        </p:txBody>
      </p:sp>
      <p:sp>
        <p:nvSpPr>
          <p:cNvPr id="29" name="Shape 27"/>
          <p:cNvSpPr/>
          <p:nvPr/>
        </p:nvSpPr>
        <p:spPr>
          <a:xfrm>
            <a:off x="365760" y="3236976"/>
            <a:ext cx="8412480" cy="329184"/>
          </a:xfrm>
          <a:prstGeom prst="rect">
            <a:avLst/>
          </a:prstGeom>
          <a:solidFill>
            <a:srgbClr val="FFFFFF"/>
          </a:solidFill>
          <a:ln/>
        </p:spPr>
      </p:sp>
      <p:sp>
        <p:nvSpPr>
          <p:cNvPr id="30" name="Text 28"/>
          <p:cNvSpPr/>
          <p:nvPr/>
        </p:nvSpPr>
        <p:spPr>
          <a:xfrm>
            <a:off x="457200" y="3291840"/>
            <a:ext cx="2331720" cy="219456"/>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Time horizon</a:t>
            </a:r>
            <a:endParaRPr lang="en-US" sz="900" dirty="0"/>
          </a:p>
        </p:txBody>
      </p:sp>
      <p:sp>
        <p:nvSpPr>
          <p:cNvPr id="31" name="Text 29"/>
          <p:cNvSpPr/>
          <p:nvPr/>
        </p:nvSpPr>
        <p:spPr>
          <a:xfrm>
            <a:off x="2907792" y="3291840"/>
            <a:ext cx="303580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Minutes</a:t>
            </a:r>
            <a:endParaRPr lang="en-US" sz="850" dirty="0"/>
          </a:p>
        </p:txBody>
      </p:sp>
      <p:sp>
        <p:nvSpPr>
          <p:cNvPr id="32" name="Text 30"/>
          <p:cNvSpPr/>
          <p:nvPr/>
        </p:nvSpPr>
        <p:spPr>
          <a:xfrm>
            <a:off x="6080760" y="3291840"/>
            <a:ext cx="262432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Hours to days</a:t>
            </a:r>
            <a:endParaRPr lang="en-US" sz="850" dirty="0"/>
          </a:p>
        </p:txBody>
      </p:sp>
      <p:sp>
        <p:nvSpPr>
          <p:cNvPr id="33" name="Shape 31"/>
          <p:cNvSpPr/>
          <p:nvPr/>
        </p:nvSpPr>
        <p:spPr>
          <a:xfrm>
            <a:off x="365760" y="3584448"/>
            <a:ext cx="8412480" cy="329184"/>
          </a:xfrm>
          <a:prstGeom prst="rect">
            <a:avLst/>
          </a:prstGeom>
          <a:solidFill>
            <a:srgbClr val="FAFBFD"/>
          </a:solidFill>
          <a:ln/>
        </p:spPr>
      </p:sp>
      <p:sp>
        <p:nvSpPr>
          <p:cNvPr id="34" name="Text 32"/>
          <p:cNvSpPr/>
          <p:nvPr/>
        </p:nvSpPr>
        <p:spPr>
          <a:xfrm>
            <a:off x="457200" y="3639312"/>
            <a:ext cx="2331720" cy="219456"/>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Human involvement</a:t>
            </a:r>
            <a:endParaRPr lang="en-US" sz="900" dirty="0"/>
          </a:p>
        </p:txBody>
      </p:sp>
      <p:sp>
        <p:nvSpPr>
          <p:cNvPr id="35" name="Text 33"/>
          <p:cNvSpPr/>
          <p:nvPr/>
        </p:nvSpPr>
        <p:spPr>
          <a:xfrm>
            <a:off x="2907792" y="3639312"/>
            <a:ext cx="303580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Occasional check-in</a:t>
            </a:r>
            <a:endParaRPr lang="en-US" sz="850" dirty="0"/>
          </a:p>
        </p:txBody>
      </p:sp>
      <p:sp>
        <p:nvSpPr>
          <p:cNvPr id="36" name="Text 34"/>
          <p:cNvSpPr/>
          <p:nvPr/>
        </p:nvSpPr>
        <p:spPr>
          <a:xfrm>
            <a:off x="6080760" y="3639312"/>
            <a:ext cx="262432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Exception-based only</a:t>
            </a:r>
            <a:endParaRPr lang="en-US" sz="850" dirty="0"/>
          </a:p>
        </p:txBody>
      </p:sp>
      <p:sp>
        <p:nvSpPr>
          <p:cNvPr id="37" name="Shape 35"/>
          <p:cNvSpPr/>
          <p:nvPr/>
        </p:nvSpPr>
        <p:spPr>
          <a:xfrm>
            <a:off x="365760" y="3931920"/>
            <a:ext cx="8412480" cy="329184"/>
          </a:xfrm>
          <a:prstGeom prst="rect">
            <a:avLst/>
          </a:prstGeom>
          <a:solidFill>
            <a:srgbClr val="FFFFFF"/>
          </a:solidFill>
          <a:ln/>
        </p:spPr>
      </p:sp>
      <p:sp>
        <p:nvSpPr>
          <p:cNvPr id="38" name="Text 36"/>
          <p:cNvSpPr/>
          <p:nvPr/>
        </p:nvSpPr>
        <p:spPr>
          <a:xfrm>
            <a:off x="457200" y="3986784"/>
            <a:ext cx="2331720" cy="219456"/>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Risk level</a:t>
            </a:r>
            <a:endParaRPr lang="en-US" sz="900" dirty="0"/>
          </a:p>
        </p:txBody>
      </p:sp>
      <p:sp>
        <p:nvSpPr>
          <p:cNvPr id="39" name="Text 37"/>
          <p:cNvSpPr/>
          <p:nvPr/>
        </p:nvSpPr>
        <p:spPr>
          <a:xfrm>
            <a:off x="2907792" y="3986784"/>
            <a:ext cx="303580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Low–Medium</a:t>
            </a:r>
            <a:endParaRPr lang="en-US" sz="850" dirty="0"/>
          </a:p>
        </p:txBody>
      </p:sp>
      <p:sp>
        <p:nvSpPr>
          <p:cNvPr id="40" name="Text 38"/>
          <p:cNvSpPr/>
          <p:nvPr/>
        </p:nvSpPr>
        <p:spPr>
          <a:xfrm>
            <a:off x="6080760" y="3986784"/>
            <a:ext cx="262432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Medium–High — errors compound at scale</a:t>
            </a:r>
            <a:endParaRPr lang="en-US" sz="850" dirty="0"/>
          </a:p>
        </p:txBody>
      </p:sp>
      <p:sp>
        <p:nvSpPr>
          <p:cNvPr id="41" name="Shape 39"/>
          <p:cNvSpPr/>
          <p:nvPr/>
        </p:nvSpPr>
        <p:spPr>
          <a:xfrm>
            <a:off x="365760" y="4279392"/>
            <a:ext cx="8412480" cy="329184"/>
          </a:xfrm>
          <a:prstGeom prst="rect">
            <a:avLst/>
          </a:prstGeom>
          <a:solidFill>
            <a:srgbClr val="FAFBFD"/>
          </a:solidFill>
          <a:ln/>
        </p:spPr>
      </p:sp>
      <p:sp>
        <p:nvSpPr>
          <p:cNvPr id="42" name="Text 40"/>
          <p:cNvSpPr/>
          <p:nvPr/>
        </p:nvSpPr>
        <p:spPr>
          <a:xfrm>
            <a:off x="457200" y="4334256"/>
            <a:ext cx="2331720" cy="219456"/>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Real example</a:t>
            </a:r>
            <a:endParaRPr lang="en-US" sz="900" dirty="0"/>
          </a:p>
        </p:txBody>
      </p:sp>
      <p:sp>
        <p:nvSpPr>
          <p:cNvPr id="43" name="Text 41"/>
          <p:cNvSpPr/>
          <p:nvPr/>
        </p:nvSpPr>
        <p:spPr>
          <a:xfrm>
            <a:off x="2907792" y="4334256"/>
            <a:ext cx="303580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Customer service bot: order lookup, refund, email — end-to-end</a:t>
            </a:r>
            <a:endParaRPr lang="en-US" sz="850" dirty="0"/>
          </a:p>
        </p:txBody>
      </p:sp>
      <p:sp>
        <p:nvSpPr>
          <p:cNvPr id="44" name="Text 42"/>
          <p:cNvSpPr/>
          <p:nvPr/>
        </p:nvSpPr>
        <p:spPr>
          <a:xfrm>
            <a:off x="6080760" y="4334256"/>
            <a:ext cx="2624328" cy="219456"/>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Autonomous SDR: researches 100 prospects, personalises, books meetings</a:t>
            </a:r>
            <a:endParaRPr lang="en-US" sz="850" dirty="0"/>
          </a:p>
        </p:txBody>
      </p:sp>
      <p:sp>
        <p:nvSpPr>
          <p:cNvPr id="45" name="Shape 43"/>
          <p:cNvSpPr/>
          <p:nvPr/>
        </p:nvSpPr>
        <p:spPr>
          <a:xfrm>
            <a:off x="365760" y="4626864"/>
            <a:ext cx="8412480" cy="384048"/>
          </a:xfrm>
          <a:prstGeom prst="rect">
            <a:avLst/>
          </a:prstGeom>
          <a:solidFill>
            <a:srgbClr val="47596B"/>
          </a:solidFill>
          <a:ln/>
        </p:spPr>
      </p:sp>
      <p:sp>
        <p:nvSpPr>
          <p:cNvPr id="46" name="Text 44"/>
          <p:cNvSpPr/>
          <p:nvPr/>
        </p:nvSpPr>
        <p:spPr>
          <a:xfrm>
            <a:off x="457200" y="4663440"/>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BOTTOM LINE  ·  An AI Agent is a tool. Agentic AI is a system. Start with agents for reliability — graduate to agentic architecture as governance and trust mature.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47596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04</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LLM vs AI AGENT vs AGENTIC AI — ONE TASK, THREE TIERS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04672"/>
            <a:ext cx="8412480" cy="347472"/>
          </a:xfrm>
          <a:prstGeom prst="rect">
            <a:avLst/>
          </a:prstGeom>
          <a:solidFill>
            <a:srgbClr val="0A2540"/>
          </a:solidFill>
          <a:ln/>
        </p:spPr>
      </p:sp>
      <p:sp>
        <p:nvSpPr>
          <p:cNvPr id="8" name="Text 6"/>
          <p:cNvSpPr/>
          <p:nvPr/>
        </p:nvSpPr>
        <p:spPr>
          <a:xfrm>
            <a:off x="457200" y="822960"/>
            <a:ext cx="8229600" cy="292608"/>
          </a:xfrm>
          <a:prstGeom prst="rect">
            <a:avLst/>
          </a:prstGeom>
          <a:noFill/>
          <a:ln/>
        </p:spPr>
        <p:txBody>
          <a:bodyPr wrap="square" lIns="0" tIns="0" rIns="0" bIns="0" rtlCol="0" anchor="ctr"/>
          <a:lstStyle/>
          <a:p>
            <a:pPr indent="0" marL="0">
              <a:buNone/>
            </a:pPr>
            <a:r>
              <a:rPr lang="en-US" sz="950" b="1" dirty="0">
                <a:solidFill>
                  <a:srgbClr val="B8860B"/>
                </a:solidFill>
                <a:latin typeface="Calibri" pitchFamily="34" charset="0"/>
                <a:ea typeface="Calibri" pitchFamily="34" charset="-122"/>
                <a:cs typeface="Calibri" pitchFamily="34" charset="-120"/>
              </a:rPr>
              <a:t>SCENARIO  ·  A software team receives a bug report: 'Login fails on mobile Safari for users with special characters in their password'</a:t>
            </a:r>
            <a:endParaRPr lang="en-US" sz="950" dirty="0"/>
          </a:p>
        </p:txBody>
      </p:sp>
      <p:sp>
        <p:nvSpPr>
          <p:cNvPr id="9" name="Shape 7"/>
          <p:cNvSpPr/>
          <p:nvPr/>
        </p:nvSpPr>
        <p:spPr>
          <a:xfrm>
            <a:off x="365760" y="1261872"/>
            <a:ext cx="2615184" cy="340156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0" name="Shape 8"/>
          <p:cNvSpPr/>
          <p:nvPr/>
        </p:nvSpPr>
        <p:spPr>
          <a:xfrm>
            <a:off x="365760" y="1261872"/>
            <a:ext cx="2615184" cy="402336"/>
          </a:xfrm>
          <a:prstGeom prst="rect">
            <a:avLst/>
          </a:prstGeom>
          <a:solidFill>
            <a:srgbClr val="2E5266"/>
          </a:solidFill>
          <a:ln/>
        </p:spPr>
      </p:sp>
      <p:sp>
        <p:nvSpPr>
          <p:cNvPr id="11" name="Text 9"/>
          <p:cNvSpPr/>
          <p:nvPr/>
        </p:nvSpPr>
        <p:spPr>
          <a:xfrm>
            <a:off x="457200" y="1289304"/>
            <a:ext cx="2432304" cy="20116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TIER 1  ·  LLM</a:t>
            </a:r>
            <a:endParaRPr lang="en-US" sz="900" dirty="0"/>
          </a:p>
        </p:txBody>
      </p:sp>
      <p:sp>
        <p:nvSpPr>
          <p:cNvPr id="12" name="Text 10"/>
          <p:cNvSpPr/>
          <p:nvPr/>
        </p:nvSpPr>
        <p:spPr>
          <a:xfrm>
            <a:off x="457200" y="1490472"/>
            <a:ext cx="2432304" cy="146304"/>
          </a:xfrm>
          <a:prstGeom prst="rect">
            <a:avLst/>
          </a:prstGeom>
          <a:noFill/>
          <a:ln/>
        </p:spPr>
        <p:txBody>
          <a:bodyPr wrap="square" lIns="0" tIns="0" rIns="0" bIns="0" rtlCol="0" anchor="ctr"/>
          <a:lstStyle/>
          <a:p>
            <a:pPr indent="0" marL="0">
              <a:buNone/>
            </a:pPr>
            <a:r>
              <a:rPr lang="en-US" sz="700" i="1" dirty="0">
                <a:solidFill>
                  <a:srgbClr val="FFFFFF"/>
                </a:solidFill>
                <a:latin typeface="Calibri" pitchFamily="34" charset="0"/>
                <a:ea typeface="Calibri" pitchFamily="34" charset="-122"/>
                <a:cs typeface="Calibri" pitchFamily="34" charset="-120"/>
              </a:rPr>
              <a:t>Developer copies the bug report into Claude or ChatGPT</a:t>
            </a:r>
            <a:endParaRPr lang="en-US" sz="700" dirty="0"/>
          </a:p>
        </p:txBody>
      </p:sp>
      <p:sp>
        <p:nvSpPr>
          <p:cNvPr id="13" name="Shape 11"/>
          <p:cNvSpPr/>
          <p:nvPr/>
        </p:nvSpPr>
        <p:spPr>
          <a:xfrm>
            <a:off x="438912" y="1737360"/>
            <a:ext cx="2468880" cy="402336"/>
          </a:xfrm>
          <a:prstGeom prst="rect">
            <a:avLst/>
          </a:prstGeom>
          <a:solidFill>
            <a:srgbClr val="FFFFFF"/>
          </a:solidFill>
          <a:ln/>
        </p:spPr>
      </p:sp>
      <p:sp>
        <p:nvSpPr>
          <p:cNvPr id="14" name="Text 12"/>
          <p:cNvSpPr/>
          <p:nvPr/>
        </p:nvSpPr>
        <p:spPr>
          <a:xfrm>
            <a:off x="457200" y="1810512"/>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676656" y="1773936"/>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Reads the bug description</a:t>
            </a:r>
            <a:endParaRPr lang="en-US" sz="750" dirty="0"/>
          </a:p>
        </p:txBody>
      </p:sp>
      <p:sp>
        <p:nvSpPr>
          <p:cNvPr id="16" name="Text 14"/>
          <p:cNvSpPr/>
          <p:nvPr/>
        </p:nvSpPr>
        <p:spPr>
          <a:xfrm>
            <a:off x="676656" y="1938528"/>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Understands the context</a:t>
            </a:r>
            <a:endParaRPr lang="en-US" sz="700" dirty="0"/>
          </a:p>
        </p:txBody>
      </p:sp>
      <p:sp>
        <p:nvSpPr>
          <p:cNvPr id="17" name="Shape 15"/>
          <p:cNvSpPr/>
          <p:nvPr/>
        </p:nvSpPr>
        <p:spPr>
          <a:xfrm>
            <a:off x="1828800" y="1773936"/>
            <a:ext cx="1060704" cy="329184"/>
          </a:xfrm>
          <a:prstGeom prst="rect">
            <a:avLst/>
          </a:prstGeom>
          <a:solidFill>
            <a:srgbClr val="F4E4BC"/>
          </a:solidFill>
          <a:ln/>
        </p:spPr>
      </p:sp>
      <p:sp>
        <p:nvSpPr>
          <p:cNvPr id="18" name="Text 16"/>
          <p:cNvSpPr/>
          <p:nvPr/>
        </p:nvSpPr>
        <p:spPr>
          <a:xfrm>
            <a:off x="1847088" y="1792224"/>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Understands the context</a:t>
            </a:r>
            <a:endParaRPr lang="en-US" sz="650" dirty="0"/>
          </a:p>
        </p:txBody>
      </p:sp>
      <p:sp>
        <p:nvSpPr>
          <p:cNvPr id="19" name="Shape 17"/>
          <p:cNvSpPr/>
          <p:nvPr/>
        </p:nvSpPr>
        <p:spPr>
          <a:xfrm>
            <a:off x="438912" y="2176272"/>
            <a:ext cx="2468880" cy="402336"/>
          </a:xfrm>
          <a:prstGeom prst="rect">
            <a:avLst/>
          </a:prstGeom>
          <a:solidFill>
            <a:srgbClr val="EDF1F7"/>
          </a:solidFill>
          <a:ln/>
        </p:spPr>
      </p:sp>
      <p:sp>
        <p:nvSpPr>
          <p:cNvPr id="20" name="Text 18"/>
          <p:cNvSpPr/>
          <p:nvPr/>
        </p:nvSpPr>
        <p:spPr>
          <a:xfrm>
            <a:off x="457200" y="2249424"/>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676656" y="2212848"/>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Draws on training knowledge</a:t>
            </a:r>
            <a:endParaRPr lang="en-US" sz="750" dirty="0"/>
          </a:p>
        </p:txBody>
      </p:sp>
      <p:sp>
        <p:nvSpPr>
          <p:cNvPr id="22" name="Text 20"/>
          <p:cNvSpPr/>
          <p:nvPr/>
        </p:nvSpPr>
        <p:spPr>
          <a:xfrm>
            <a:off x="676656" y="2377440"/>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Knows Safari + special char encoding issues</a:t>
            </a:r>
            <a:endParaRPr lang="en-US" sz="700" dirty="0"/>
          </a:p>
        </p:txBody>
      </p:sp>
      <p:sp>
        <p:nvSpPr>
          <p:cNvPr id="23" name="Shape 21"/>
          <p:cNvSpPr/>
          <p:nvPr/>
        </p:nvSpPr>
        <p:spPr>
          <a:xfrm>
            <a:off x="1828800" y="2212848"/>
            <a:ext cx="1060704" cy="329184"/>
          </a:xfrm>
          <a:prstGeom prst="rect">
            <a:avLst/>
          </a:prstGeom>
          <a:solidFill>
            <a:srgbClr val="F4E4BC"/>
          </a:solidFill>
          <a:ln/>
        </p:spPr>
      </p:sp>
      <p:sp>
        <p:nvSpPr>
          <p:cNvPr id="24" name="Text 22"/>
          <p:cNvSpPr/>
          <p:nvPr/>
        </p:nvSpPr>
        <p:spPr>
          <a:xfrm>
            <a:off x="1847088" y="2231136"/>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Knows Safari + special char encoding issues</a:t>
            </a:r>
            <a:endParaRPr lang="en-US" sz="650" dirty="0"/>
          </a:p>
        </p:txBody>
      </p:sp>
      <p:sp>
        <p:nvSpPr>
          <p:cNvPr id="25" name="Shape 23"/>
          <p:cNvSpPr/>
          <p:nvPr/>
        </p:nvSpPr>
        <p:spPr>
          <a:xfrm>
            <a:off x="438912" y="2615184"/>
            <a:ext cx="2468880" cy="402336"/>
          </a:xfrm>
          <a:prstGeom prst="rect">
            <a:avLst/>
          </a:prstGeom>
          <a:solidFill>
            <a:srgbClr val="FFFFFF"/>
          </a:solidFill>
          <a:ln/>
        </p:spPr>
      </p:sp>
      <p:sp>
        <p:nvSpPr>
          <p:cNvPr id="26" name="Text 24"/>
          <p:cNvSpPr/>
          <p:nvPr/>
        </p:nvSpPr>
        <p:spPr>
          <a:xfrm>
            <a:off x="457200" y="2688336"/>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27" name="Text 25"/>
          <p:cNvSpPr/>
          <p:nvPr/>
        </p:nvSpPr>
        <p:spPr>
          <a:xfrm>
            <a:off x="676656" y="2651760"/>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Generates a written response</a:t>
            </a:r>
            <a:endParaRPr lang="en-US" sz="750" dirty="0"/>
          </a:p>
        </p:txBody>
      </p:sp>
      <p:sp>
        <p:nvSpPr>
          <p:cNvPr id="28" name="Text 26"/>
          <p:cNvSpPr/>
          <p:nvPr/>
        </p:nvSpPr>
        <p:spPr>
          <a:xfrm>
            <a:off x="676656" y="2816352"/>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Explains likely causes + suggests fixes</a:t>
            </a:r>
            <a:endParaRPr lang="en-US" sz="700" dirty="0"/>
          </a:p>
        </p:txBody>
      </p:sp>
      <p:sp>
        <p:nvSpPr>
          <p:cNvPr id="29" name="Shape 27"/>
          <p:cNvSpPr/>
          <p:nvPr/>
        </p:nvSpPr>
        <p:spPr>
          <a:xfrm>
            <a:off x="1828800" y="2651760"/>
            <a:ext cx="1060704" cy="329184"/>
          </a:xfrm>
          <a:prstGeom prst="rect">
            <a:avLst/>
          </a:prstGeom>
          <a:solidFill>
            <a:srgbClr val="F4E4BC"/>
          </a:solidFill>
          <a:ln/>
        </p:spPr>
      </p:sp>
      <p:sp>
        <p:nvSpPr>
          <p:cNvPr id="30" name="Text 28"/>
          <p:cNvSpPr/>
          <p:nvPr/>
        </p:nvSpPr>
        <p:spPr>
          <a:xfrm>
            <a:off x="1847088" y="2670048"/>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Explains likely causes + suggests fixes</a:t>
            </a:r>
            <a:endParaRPr lang="en-US" sz="650" dirty="0"/>
          </a:p>
        </p:txBody>
      </p:sp>
      <p:sp>
        <p:nvSpPr>
          <p:cNvPr id="31" name="Shape 29"/>
          <p:cNvSpPr/>
          <p:nvPr/>
        </p:nvSpPr>
        <p:spPr>
          <a:xfrm>
            <a:off x="438912" y="3054096"/>
            <a:ext cx="2468880" cy="402336"/>
          </a:xfrm>
          <a:prstGeom prst="rect">
            <a:avLst/>
          </a:prstGeom>
          <a:solidFill>
            <a:srgbClr val="EDF1F7"/>
          </a:solidFill>
          <a:ln/>
        </p:spPr>
      </p:sp>
      <p:sp>
        <p:nvSpPr>
          <p:cNvPr id="32" name="Text 30"/>
          <p:cNvSpPr/>
          <p:nvPr/>
        </p:nvSpPr>
        <p:spPr>
          <a:xfrm>
            <a:off x="457200" y="3127248"/>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33" name="Text 31"/>
          <p:cNvSpPr/>
          <p:nvPr/>
        </p:nvSpPr>
        <p:spPr>
          <a:xfrm>
            <a:off x="676656" y="3090672"/>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Stops — outputs text only</a:t>
            </a:r>
            <a:endParaRPr lang="en-US" sz="750" dirty="0"/>
          </a:p>
        </p:txBody>
      </p:sp>
      <p:sp>
        <p:nvSpPr>
          <p:cNvPr id="34" name="Text 32"/>
          <p:cNvSpPr/>
          <p:nvPr/>
        </p:nvSpPr>
        <p:spPr>
          <a:xfrm>
            <a:off x="676656" y="3255264"/>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Developer must act on the advice manually</a:t>
            </a:r>
            <a:endParaRPr lang="en-US" sz="700" dirty="0"/>
          </a:p>
        </p:txBody>
      </p:sp>
      <p:sp>
        <p:nvSpPr>
          <p:cNvPr id="35" name="Shape 33"/>
          <p:cNvSpPr/>
          <p:nvPr/>
        </p:nvSpPr>
        <p:spPr>
          <a:xfrm>
            <a:off x="1828800" y="3090672"/>
            <a:ext cx="1060704" cy="329184"/>
          </a:xfrm>
          <a:prstGeom prst="rect">
            <a:avLst/>
          </a:prstGeom>
          <a:solidFill>
            <a:srgbClr val="F4E4BC"/>
          </a:solidFill>
          <a:ln/>
        </p:spPr>
      </p:sp>
      <p:sp>
        <p:nvSpPr>
          <p:cNvPr id="36" name="Text 34"/>
          <p:cNvSpPr/>
          <p:nvPr/>
        </p:nvSpPr>
        <p:spPr>
          <a:xfrm>
            <a:off x="1847088" y="3108960"/>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Developer must act on the advice manually</a:t>
            </a:r>
            <a:endParaRPr lang="en-US" sz="650" dirty="0"/>
          </a:p>
        </p:txBody>
      </p:sp>
      <p:sp>
        <p:nvSpPr>
          <p:cNvPr id="37" name="Shape 35"/>
          <p:cNvSpPr/>
          <p:nvPr/>
        </p:nvSpPr>
        <p:spPr>
          <a:xfrm>
            <a:off x="438912" y="3511296"/>
            <a:ext cx="2468880" cy="201168"/>
          </a:xfrm>
          <a:prstGeom prst="rect">
            <a:avLst/>
          </a:prstGeom>
          <a:solidFill>
            <a:srgbClr val="E8F0EA"/>
          </a:solidFill>
          <a:ln/>
        </p:spPr>
      </p:sp>
      <p:sp>
        <p:nvSpPr>
          <p:cNvPr id="38" name="Text 36"/>
          <p:cNvSpPr/>
          <p:nvPr/>
        </p:nvSpPr>
        <p:spPr>
          <a:xfrm>
            <a:off x="457200" y="3529584"/>
            <a:ext cx="2432304" cy="164592"/>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  Provides expert guidance — like asking a senior engineer</a:t>
            </a:r>
            <a:endParaRPr lang="en-US" sz="700" dirty="0"/>
          </a:p>
        </p:txBody>
      </p:sp>
      <p:sp>
        <p:nvSpPr>
          <p:cNvPr id="39" name="Shape 37"/>
          <p:cNvSpPr/>
          <p:nvPr/>
        </p:nvSpPr>
        <p:spPr>
          <a:xfrm>
            <a:off x="438912" y="3730752"/>
            <a:ext cx="2468880" cy="201168"/>
          </a:xfrm>
          <a:prstGeom prst="rect">
            <a:avLst/>
          </a:prstGeom>
          <a:solidFill>
            <a:srgbClr val="FCE8E6"/>
          </a:solidFill>
          <a:ln/>
        </p:spPr>
      </p:sp>
      <p:sp>
        <p:nvSpPr>
          <p:cNvPr id="40" name="Text 38"/>
          <p:cNvSpPr/>
          <p:nvPr/>
        </p:nvSpPr>
        <p:spPr>
          <a:xfrm>
            <a:off x="457200" y="3749040"/>
            <a:ext cx="2432304" cy="164592"/>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  Cannot open the codebase, run tests, or push any fix</a:t>
            </a:r>
            <a:endParaRPr lang="en-US" sz="700" dirty="0"/>
          </a:p>
        </p:txBody>
      </p:sp>
      <p:sp>
        <p:nvSpPr>
          <p:cNvPr id="41" name="Shape 39"/>
          <p:cNvSpPr/>
          <p:nvPr/>
        </p:nvSpPr>
        <p:spPr>
          <a:xfrm>
            <a:off x="438912" y="3950208"/>
            <a:ext cx="2468880" cy="146304"/>
          </a:xfrm>
          <a:prstGeom prst="rect">
            <a:avLst/>
          </a:prstGeom>
          <a:solidFill>
            <a:srgbClr val="0A2540"/>
          </a:solidFill>
          <a:ln/>
        </p:spPr>
      </p:sp>
      <p:sp>
        <p:nvSpPr>
          <p:cNvPr id="42" name="Text 40"/>
          <p:cNvSpPr/>
          <p:nvPr/>
        </p:nvSpPr>
        <p:spPr>
          <a:xfrm>
            <a:off x="457200" y="3968496"/>
            <a:ext cx="2432304" cy="109728"/>
          </a:xfrm>
          <a:prstGeom prst="rect">
            <a:avLst/>
          </a:prstGeom>
          <a:noFill/>
          <a:ln/>
        </p:spPr>
        <p:txBody>
          <a:bodyPr wrap="square" lIns="0" tIns="0" rIns="0" bIns="0" rtlCol="0" anchor="ctr"/>
          <a:lstStyle/>
          <a:p>
            <a:pPr indent="0" marL="0">
              <a:buNone/>
            </a:pPr>
            <a:r>
              <a:rPr lang="en-US" sz="750" b="1" dirty="0">
                <a:solidFill>
                  <a:srgbClr val="B8860B"/>
                </a:solidFill>
                <a:latin typeface="Calibri" pitchFamily="34" charset="0"/>
                <a:ea typeface="Calibri" pitchFamily="34" charset="-122"/>
                <a:cs typeface="Calibri" pitchFamily="34" charset="-120"/>
              </a:rPr>
              <a:t>⏱  2 min to get advice</a:t>
            </a:r>
            <a:endParaRPr lang="en-US" sz="750" dirty="0"/>
          </a:p>
        </p:txBody>
      </p:sp>
      <p:sp>
        <p:nvSpPr>
          <p:cNvPr id="43" name="Text 41"/>
          <p:cNvSpPr/>
          <p:nvPr/>
        </p:nvSpPr>
        <p:spPr>
          <a:xfrm>
            <a:off x="457200" y="4133088"/>
            <a:ext cx="2432304" cy="493776"/>
          </a:xfrm>
          <a:prstGeom prst="rect">
            <a:avLst/>
          </a:prstGeom>
          <a:noFill/>
          <a:ln/>
        </p:spPr>
        <p:txBody>
          <a:bodyPr wrap="square" lIns="0" tIns="0" rIns="0" bIns="0" rtlCol="0" anchor="ctr"/>
          <a:lstStyle/>
          <a:p>
            <a:pPr indent="0" marL="0">
              <a:buNone/>
            </a:pPr>
            <a:r>
              <a:rPr lang="en-US" sz="650" i="1" dirty="0">
                <a:solidFill>
                  <a:srgbClr val="47596B"/>
                </a:solidFill>
                <a:latin typeface="Calibri" pitchFamily="34" charset="0"/>
                <a:ea typeface="Calibri" pitchFamily="34" charset="-122"/>
                <a:cs typeface="Calibri" pitchFamily="34" charset="-120"/>
              </a:rPr>
              <a:t>Output: "This is likely a URL encoding issue in your auth handler. Check that special characters are being escaped before the OAuth redirect. Here is a code snippet..."</a:t>
            </a:r>
            <a:endParaRPr lang="en-US" sz="650" dirty="0"/>
          </a:p>
        </p:txBody>
      </p:sp>
      <p:sp>
        <p:nvSpPr>
          <p:cNvPr id="44" name="Shape 42"/>
          <p:cNvSpPr/>
          <p:nvPr/>
        </p:nvSpPr>
        <p:spPr>
          <a:xfrm>
            <a:off x="3172968" y="1261872"/>
            <a:ext cx="2615184" cy="340156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5" name="Shape 43"/>
          <p:cNvSpPr/>
          <p:nvPr/>
        </p:nvSpPr>
        <p:spPr>
          <a:xfrm>
            <a:off x="3172968" y="1261872"/>
            <a:ext cx="2615184" cy="402336"/>
          </a:xfrm>
          <a:prstGeom prst="rect">
            <a:avLst/>
          </a:prstGeom>
          <a:solidFill>
            <a:srgbClr val="47596B"/>
          </a:solidFill>
          <a:ln/>
        </p:spPr>
      </p:sp>
      <p:sp>
        <p:nvSpPr>
          <p:cNvPr id="46" name="Text 44"/>
          <p:cNvSpPr/>
          <p:nvPr/>
        </p:nvSpPr>
        <p:spPr>
          <a:xfrm>
            <a:off x="3264408" y="1289304"/>
            <a:ext cx="2432304" cy="20116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TIER 2  ·  AI AGENT</a:t>
            </a:r>
            <a:endParaRPr lang="en-US" sz="900" dirty="0"/>
          </a:p>
        </p:txBody>
      </p:sp>
      <p:sp>
        <p:nvSpPr>
          <p:cNvPr id="47" name="Text 45"/>
          <p:cNvSpPr/>
          <p:nvPr/>
        </p:nvSpPr>
        <p:spPr>
          <a:xfrm>
            <a:off x="3264408" y="1490472"/>
            <a:ext cx="2432304" cy="146304"/>
          </a:xfrm>
          <a:prstGeom prst="rect">
            <a:avLst/>
          </a:prstGeom>
          <a:noFill/>
          <a:ln/>
        </p:spPr>
        <p:txBody>
          <a:bodyPr wrap="square" lIns="0" tIns="0" rIns="0" bIns="0" rtlCol="0" anchor="ctr"/>
          <a:lstStyle/>
          <a:p>
            <a:pPr indent="0" marL="0">
              <a:buNone/>
            </a:pPr>
            <a:r>
              <a:rPr lang="en-US" sz="700" i="1" dirty="0">
                <a:solidFill>
                  <a:srgbClr val="FFFFFF"/>
                </a:solidFill>
                <a:latin typeface="Calibri" pitchFamily="34" charset="0"/>
                <a:ea typeface="Calibri" pitchFamily="34" charset="-122"/>
                <a:cs typeface="Calibri" pitchFamily="34" charset="-120"/>
              </a:rPr>
              <a:t>Developer uses GitHub Copilot Workspace or Cursor with codebase access</a:t>
            </a:r>
            <a:endParaRPr lang="en-US" sz="700" dirty="0"/>
          </a:p>
        </p:txBody>
      </p:sp>
      <p:sp>
        <p:nvSpPr>
          <p:cNvPr id="48" name="Shape 46"/>
          <p:cNvSpPr/>
          <p:nvPr/>
        </p:nvSpPr>
        <p:spPr>
          <a:xfrm>
            <a:off x="3246120" y="1737360"/>
            <a:ext cx="2468880" cy="402336"/>
          </a:xfrm>
          <a:prstGeom prst="rect">
            <a:avLst/>
          </a:prstGeom>
          <a:solidFill>
            <a:srgbClr val="FFFFFF"/>
          </a:solidFill>
          <a:ln/>
        </p:spPr>
      </p:sp>
      <p:sp>
        <p:nvSpPr>
          <p:cNvPr id="49" name="Text 47"/>
          <p:cNvSpPr/>
          <p:nvPr/>
        </p:nvSpPr>
        <p:spPr>
          <a:xfrm>
            <a:off x="3264408" y="1810512"/>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50" name="Text 48"/>
          <p:cNvSpPr/>
          <p:nvPr/>
        </p:nvSpPr>
        <p:spPr>
          <a:xfrm>
            <a:off x="3483864" y="1773936"/>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Reads the full codebase</a:t>
            </a:r>
            <a:endParaRPr lang="en-US" sz="750" dirty="0"/>
          </a:p>
        </p:txBody>
      </p:sp>
      <p:sp>
        <p:nvSpPr>
          <p:cNvPr id="51" name="Text 49"/>
          <p:cNvSpPr/>
          <p:nvPr/>
        </p:nvSpPr>
        <p:spPr>
          <a:xfrm>
            <a:off x="3483864" y="1938528"/>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Finds auth.js, login.controller.ts, Safari polyfills</a:t>
            </a:r>
            <a:endParaRPr lang="en-US" sz="700" dirty="0"/>
          </a:p>
        </p:txBody>
      </p:sp>
      <p:sp>
        <p:nvSpPr>
          <p:cNvPr id="52" name="Shape 50"/>
          <p:cNvSpPr/>
          <p:nvPr/>
        </p:nvSpPr>
        <p:spPr>
          <a:xfrm>
            <a:off x="4636008" y="1773936"/>
            <a:ext cx="1060704" cy="329184"/>
          </a:xfrm>
          <a:prstGeom prst="rect">
            <a:avLst/>
          </a:prstGeom>
          <a:solidFill>
            <a:srgbClr val="F4E4BC"/>
          </a:solidFill>
          <a:ln/>
        </p:spPr>
      </p:sp>
      <p:sp>
        <p:nvSpPr>
          <p:cNvPr id="53" name="Text 51"/>
          <p:cNvSpPr/>
          <p:nvPr/>
        </p:nvSpPr>
        <p:spPr>
          <a:xfrm>
            <a:off x="4654296" y="1792224"/>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Finds auth.js, login.controller.ts, Safari polyfills</a:t>
            </a:r>
            <a:endParaRPr lang="en-US" sz="650" dirty="0"/>
          </a:p>
        </p:txBody>
      </p:sp>
      <p:sp>
        <p:nvSpPr>
          <p:cNvPr id="54" name="Shape 52"/>
          <p:cNvSpPr/>
          <p:nvPr/>
        </p:nvSpPr>
        <p:spPr>
          <a:xfrm>
            <a:off x="3246120" y="2176272"/>
            <a:ext cx="2468880" cy="402336"/>
          </a:xfrm>
          <a:prstGeom prst="rect">
            <a:avLst/>
          </a:prstGeom>
          <a:solidFill>
            <a:srgbClr val="EDF1F7"/>
          </a:solidFill>
          <a:ln/>
        </p:spPr>
      </p:sp>
      <p:sp>
        <p:nvSpPr>
          <p:cNvPr id="55" name="Text 53"/>
          <p:cNvSpPr/>
          <p:nvPr/>
        </p:nvSpPr>
        <p:spPr>
          <a:xfrm>
            <a:off x="3264408" y="2249424"/>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56" name="Text 54"/>
          <p:cNvSpPr/>
          <p:nvPr/>
        </p:nvSpPr>
        <p:spPr>
          <a:xfrm>
            <a:off x="3483864" y="2212848"/>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Locates the bug</a:t>
            </a:r>
            <a:endParaRPr lang="en-US" sz="750" dirty="0"/>
          </a:p>
        </p:txBody>
      </p:sp>
      <p:sp>
        <p:nvSpPr>
          <p:cNvPr id="57" name="Text 55"/>
          <p:cNvSpPr/>
          <p:nvPr/>
        </p:nvSpPr>
        <p:spPr>
          <a:xfrm>
            <a:off x="3483864" y="2377440"/>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Identifies encodeURIComponent missing on line 47</a:t>
            </a:r>
            <a:endParaRPr lang="en-US" sz="700" dirty="0"/>
          </a:p>
        </p:txBody>
      </p:sp>
      <p:sp>
        <p:nvSpPr>
          <p:cNvPr id="58" name="Shape 56"/>
          <p:cNvSpPr/>
          <p:nvPr/>
        </p:nvSpPr>
        <p:spPr>
          <a:xfrm>
            <a:off x="4636008" y="2212848"/>
            <a:ext cx="1060704" cy="329184"/>
          </a:xfrm>
          <a:prstGeom prst="rect">
            <a:avLst/>
          </a:prstGeom>
          <a:solidFill>
            <a:srgbClr val="F4E4BC"/>
          </a:solidFill>
          <a:ln/>
        </p:spPr>
      </p:sp>
      <p:sp>
        <p:nvSpPr>
          <p:cNvPr id="59" name="Text 57"/>
          <p:cNvSpPr/>
          <p:nvPr/>
        </p:nvSpPr>
        <p:spPr>
          <a:xfrm>
            <a:off x="4654296" y="2231136"/>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Identifies encodeURIComponent missing on line 47</a:t>
            </a:r>
            <a:endParaRPr lang="en-US" sz="650" dirty="0"/>
          </a:p>
        </p:txBody>
      </p:sp>
      <p:sp>
        <p:nvSpPr>
          <p:cNvPr id="60" name="Shape 58"/>
          <p:cNvSpPr/>
          <p:nvPr/>
        </p:nvSpPr>
        <p:spPr>
          <a:xfrm>
            <a:off x="3246120" y="2615184"/>
            <a:ext cx="2468880" cy="402336"/>
          </a:xfrm>
          <a:prstGeom prst="rect">
            <a:avLst/>
          </a:prstGeom>
          <a:solidFill>
            <a:srgbClr val="FFFFFF"/>
          </a:solidFill>
          <a:ln/>
        </p:spPr>
      </p:sp>
      <p:sp>
        <p:nvSpPr>
          <p:cNvPr id="61" name="Text 59"/>
          <p:cNvSpPr/>
          <p:nvPr/>
        </p:nvSpPr>
        <p:spPr>
          <a:xfrm>
            <a:off x="3264408" y="2688336"/>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62" name="Text 60"/>
          <p:cNvSpPr/>
          <p:nvPr/>
        </p:nvSpPr>
        <p:spPr>
          <a:xfrm>
            <a:off x="3483864" y="2651760"/>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Writes the fix</a:t>
            </a:r>
            <a:endParaRPr lang="en-US" sz="750" dirty="0"/>
          </a:p>
        </p:txBody>
      </p:sp>
      <p:sp>
        <p:nvSpPr>
          <p:cNvPr id="63" name="Text 61"/>
          <p:cNvSpPr/>
          <p:nvPr/>
        </p:nvSpPr>
        <p:spPr>
          <a:xfrm>
            <a:off x="3483864" y="2816352"/>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Patches the specific line with correct encoding</a:t>
            </a:r>
            <a:endParaRPr lang="en-US" sz="700" dirty="0"/>
          </a:p>
        </p:txBody>
      </p:sp>
      <p:sp>
        <p:nvSpPr>
          <p:cNvPr id="64" name="Shape 62"/>
          <p:cNvSpPr/>
          <p:nvPr/>
        </p:nvSpPr>
        <p:spPr>
          <a:xfrm>
            <a:off x="4636008" y="2651760"/>
            <a:ext cx="1060704" cy="329184"/>
          </a:xfrm>
          <a:prstGeom prst="rect">
            <a:avLst/>
          </a:prstGeom>
          <a:solidFill>
            <a:srgbClr val="F4E4BC"/>
          </a:solidFill>
          <a:ln/>
        </p:spPr>
      </p:sp>
      <p:sp>
        <p:nvSpPr>
          <p:cNvPr id="65" name="Text 63"/>
          <p:cNvSpPr/>
          <p:nvPr/>
        </p:nvSpPr>
        <p:spPr>
          <a:xfrm>
            <a:off x="4654296" y="2670048"/>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Patches the specific line with correct encoding</a:t>
            </a:r>
            <a:endParaRPr lang="en-US" sz="650" dirty="0"/>
          </a:p>
        </p:txBody>
      </p:sp>
      <p:sp>
        <p:nvSpPr>
          <p:cNvPr id="66" name="Shape 64"/>
          <p:cNvSpPr/>
          <p:nvPr/>
        </p:nvSpPr>
        <p:spPr>
          <a:xfrm>
            <a:off x="3246120" y="3054096"/>
            <a:ext cx="2468880" cy="402336"/>
          </a:xfrm>
          <a:prstGeom prst="rect">
            <a:avLst/>
          </a:prstGeom>
          <a:solidFill>
            <a:srgbClr val="EDF1F7"/>
          </a:solidFill>
          <a:ln/>
        </p:spPr>
      </p:sp>
      <p:sp>
        <p:nvSpPr>
          <p:cNvPr id="67" name="Text 65"/>
          <p:cNvSpPr/>
          <p:nvPr/>
        </p:nvSpPr>
        <p:spPr>
          <a:xfrm>
            <a:off x="3264408" y="3127248"/>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68" name="Text 66"/>
          <p:cNvSpPr/>
          <p:nvPr/>
        </p:nvSpPr>
        <p:spPr>
          <a:xfrm>
            <a:off x="3483864" y="3090672"/>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Writes a failing test</a:t>
            </a:r>
            <a:endParaRPr lang="en-US" sz="750" dirty="0"/>
          </a:p>
        </p:txBody>
      </p:sp>
      <p:sp>
        <p:nvSpPr>
          <p:cNvPr id="69" name="Text 67"/>
          <p:cNvSpPr/>
          <p:nvPr/>
        </p:nvSpPr>
        <p:spPr>
          <a:xfrm>
            <a:off x="3483864" y="3255264"/>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Adds test case for special chars in password field</a:t>
            </a:r>
            <a:endParaRPr lang="en-US" sz="700" dirty="0"/>
          </a:p>
        </p:txBody>
      </p:sp>
      <p:sp>
        <p:nvSpPr>
          <p:cNvPr id="70" name="Shape 68"/>
          <p:cNvSpPr/>
          <p:nvPr/>
        </p:nvSpPr>
        <p:spPr>
          <a:xfrm>
            <a:off x="4636008" y="3090672"/>
            <a:ext cx="1060704" cy="329184"/>
          </a:xfrm>
          <a:prstGeom prst="rect">
            <a:avLst/>
          </a:prstGeom>
          <a:solidFill>
            <a:srgbClr val="F4E4BC"/>
          </a:solidFill>
          <a:ln/>
        </p:spPr>
      </p:sp>
      <p:sp>
        <p:nvSpPr>
          <p:cNvPr id="71" name="Text 69"/>
          <p:cNvSpPr/>
          <p:nvPr/>
        </p:nvSpPr>
        <p:spPr>
          <a:xfrm>
            <a:off x="4654296" y="3108960"/>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Adds test case for special chars in password field</a:t>
            </a:r>
            <a:endParaRPr lang="en-US" sz="650" dirty="0"/>
          </a:p>
        </p:txBody>
      </p:sp>
      <p:sp>
        <p:nvSpPr>
          <p:cNvPr id="72" name="Shape 70"/>
          <p:cNvSpPr/>
          <p:nvPr/>
        </p:nvSpPr>
        <p:spPr>
          <a:xfrm>
            <a:off x="3246120" y="3511296"/>
            <a:ext cx="2468880" cy="201168"/>
          </a:xfrm>
          <a:prstGeom prst="rect">
            <a:avLst/>
          </a:prstGeom>
          <a:solidFill>
            <a:srgbClr val="E8F0EA"/>
          </a:solidFill>
          <a:ln/>
        </p:spPr>
      </p:sp>
      <p:sp>
        <p:nvSpPr>
          <p:cNvPr id="73" name="Text 71"/>
          <p:cNvSpPr/>
          <p:nvPr/>
        </p:nvSpPr>
        <p:spPr>
          <a:xfrm>
            <a:off x="3264408" y="3529584"/>
            <a:ext cx="2432304" cy="164592"/>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  Reads, reasons, and writes code — autonomously within a defined scope</a:t>
            </a:r>
            <a:endParaRPr lang="en-US" sz="700" dirty="0"/>
          </a:p>
        </p:txBody>
      </p:sp>
      <p:sp>
        <p:nvSpPr>
          <p:cNvPr id="74" name="Shape 72"/>
          <p:cNvSpPr/>
          <p:nvPr/>
        </p:nvSpPr>
        <p:spPr>
          <a:xfrm>
            <a:off x="3246120" y="3730752"/>
            <a:ext cx="2468880" cy="201168"/>
          </a:xfrm>
          <a:prstGeom prst="rect">
            <a:avLst/>
          </a:prstGeom>
          <a:solidFill>
            <a:srgbClr val="FCE8E6"/>
          </a:solidFill>
          <a:ln/>
        </p:spPr>
      </p:sp>
      <p:sp>
        <p:nvSpPr>
          <p:cNvPr id="75" name="Text 73"/>
          <p:cNvSpPr/>
          <p:nvPr/>
        </p:nvSpPr>
        <p:spPr>
          <a:xfrm>
            <a:off x="3264408" y="3749040"/>
            <a:ext cx="2432304" cy="164592"/>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  Cannot deploy, cannot open a PR, cannot notify the reporter</a:t>
            </a:r>
            <a:endParaRPr lang="en-US" sz="700" dirty="0"/>
          </a:p>
        </p:txBody>
      </p:sp>
      <p:sp>
        <p:nvSpPr>
          <p:cNvPr id="76" name="Shape 74"/>
          <p:cNvSpPr/>
          <p:nvPr/>
        </p:nvSpPr>
        <p:spPr>
          <a:xfrm>
            <a:off x="3246120" y="3950208"/>
            <a:ext cx="2468880" cy="146304"/>
          </a:xfrm>
          <a:prstGeom prst="rect">
            <a:avLst/>
          </a:prstGeom>
          <a:solidFill>
            <a:srgbClr val="0A2540"/>
          </a:solidFill>
          <a:ln/>
        </p:spPr>
      </p:sp>
      <p:sp>
        <p:nvSpPr>
          <p:cNvPr id="77" name="Text 75"/>
          <p:cNvSpPr/>
          <p:nvPr/>
        </p:nvSpPr>
        <p:spPr>
          <a:xfrm>
            <a:off x="3264408" y="3968496"/>
            <a:ext cx="2432304" cy="109728"/>
          </a:xfrm>
          <a:prstGeom prst="rect">
            <a:avLst/>
          </a:prstGeom>
          <a:noFill/>
          <a:ln/>
        </p:spPr>
        <p:txBody>
          <a:bodyPr wrap="square" lIns="0" tIns="0" rIns="0" bIns="0" rtlCol="0" anchor="ctr"/>
          <a:lstStyle/>
          <a:p>
            <a:pPr indent="0" marL="0">
              <a:buNone/>
            </a:pPr>
            <a:r>
              <a:rPr lang="en-US" sz="750" b="1" dirty="0">
                <a:solidFill>
                  <a:srgbClr val="B8860B"/>
                </a:solidFill>
                <a:latin typeface="Calibri" pitchFamily="34" charset="0"/>
                <a:ea typeface="Calibri" pitchFamily="34" charset="-122"/>
                <a:cs typeface="Calibri" pitchFamily="34" charset="-120"/>
              </a:rPr>
              <a:t>⏱  8 min, no developer input needed</a:t>
            </a:r>
            <a:endParaRPr lang="en-US" sz="750" dirty="0"/>
          </a:p>
        </p:txBody>
      </p:sp>
      <p:sp>
        <p:nvSpPr>
          <p:cNvPr id="78" name="Text 76"/>
          <p:cNvSpPr/>
          <p:nvPr/>
        </p:nvSpPr>
        <p:spPr>
          <a:xfrm>
            <a:off x="3264408" y="4133088"/>
            <a:ext cx="2432304" cy="493776"/>
          </a:xfrm>
          <a:prstGeom prst="rect">
            <a:avLst/>
          </a:prstGeom>
          <a:noFill/>
          <a:ln/>
        </p:spPr>
        <p:txBody>
          <a:bodyPr wrap="square" lIns="0" tIns="0" rIns="0" bIns="0" rtlCol="0" anchor="ctr"/>
          <a:lstStyle/>
          <a:p>
            <a:pPr indent="0" marL="0">
              <a:buNone/>
            </a:pPr>
            <a:r>
              <a:rPr lang="en-US" sz="650" i="1" dirty="0">
                <a:solidFill>
                  <a:srgbClr val="47596B"/>
                </a:solidFill>
                <a:latin typeface="Calibri" pitchFamily="34" charset="0"/>
                <a:ea typeface="Calibri" pitchFamily="34" charset="-122"/>
                <a:cs typeface="Calibri" pitchFamily="34" charset="-120"/>
              </a:rPr>
              <a:t>Output: Pull request ready — fix applied, test written, diff shown for review</a:t>
            </a:r>
            <a:endParaRPr lang="en-US" sz="650" dirty="0"/>
          </a:p>
        </p:txBody>
      </p:sp>
      <p:sp>
        <p:nvSpPr>
          <p:cNvPr id="79" name="Shape 77"/>
          <p:cNvSpPr/>
          <p:nvPr/>
        </p:nvSpPr>
        <p:spPr>
          <a:xfrm>
            <a:off x="5980176" y="1261872"/>
            <a:ext cx="2615184" cy="3401568"/>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80" name="Shape 78"/>
          <p:cNvSpPr/>
          <p:nvPr/>
        </p:nvSpPr>
        <p:spPr>
          <a:xfrm>
            <a:off x="5980176" y="1261872"/>
            <a:ext cx="2615184" cy="402336"/>
          </a:xfrm>
          <a:prstGeom prst="rect">
            <a:avLst/>
          </a:prstGeom>
          <a:solidFill>
            <a:srgbClr val="0F766E"/>
          </a:solidFill>
          <a:ln/>
        </p:spPr>
      </p:sp>
      <p:sp>
        <p:nvSpPr>
          <p:cNvPr id="81" name="Text 79"/>
          <p:cNvSpPr/>
          <p:nvPr/>
        </p:nvSpPr>
        <p:spPr>
          <a:xfrm>
            <a:off x="6071616" y="1289304"/>
            <a:ext cx="2432304" cy="201168"/>
          </a:xfrm>
          <a:prstGeom prst="rect">
            <a:avLst/>
          </a:prstGeom>
          <a:noFill/>
          <a:ln/>
        </p:spPr>
        <p:txBody>
          <a:bodyPr wrap="square" lIns="0" tIns="0" rIns="0" bIns="0" rtlCol="0" anchor="ctr"/>
          <a:lstStyle/>
          <a:p>
            <a:pPr indent="0" marL="0">
              <a:buNone/>
            </a:pPr>
            <a:r>
              <a:rPr lang="en-US" sz="900" b="1" spc="100" kern="0" dirty="0">
                <a:solidFill>
                  <a:srgbClr val="FFFFFF"/>
                </a:solidFill>
                <a:latin typeface="Calibri" pitchFamily="34" charset="0"/>
                <a:ea typeface="Calibri" pitchFamily="34" charset="-122"/>
                <a:cs typeface="Calibri" pitchFamily="34" charset="-120"/>
              </a:rPr>
              <a:t>TIER 3  ·  AGENTIC AI</a:t>
            </a:r>
            <a:endParaRPr lang="en-US" sz="900" dirty="0"/>
          </a:p>
        </p:txBody>
      </p:sp>
      <p:sp>
        <p:nvSpPr>
          <p:cNvPr id="82" name="Text 80"/>
          <p:cNvSpPr/>
          <p:nvPr/>
        </p:nvSpPr>
        <p:spPr>
          <a:xfrm>
            <a:off x="6071616" y="1490472"/>
            <a:ext cx="2432304" cy="146304"/>
          </a:xfrm>
          <a:prstGeom prst="rect">
            <a:avLst/>
          </a:prstGeom>
          <a:noFill/>
          <a:ln/>
        </p:spPr>
        <p:txBody>
          <a:bodyPr wrap="square" lIns="0" tIns="0" rIns="0" bIns="0" rtlCol="0" anchor="ctr"/>
          <a:lstStyle/>
          <a:p>
            <a:pPr indent="0" marL="0">
              <a:buNone/>
            </a:pPr>
            <a:r>
              <a:rPr lang="en-US" sz="700" i="1" dirty="0">
                <a:solidFill>
                  <a:srgbClr val="FFFFFF"/>
                </a:solidFill>
                <a:latin typeface="Calibri" pitchFamily="34" charset="0"/>
                <a:ea typeface="Calibri" pitchFamily="34" charset="-122"/>
                <a:cs typeface="Calibri" pitchFamily="34" charset="-120"/>
              </a:rPr>
              <a:t>Engineering team has an agentic AI system (e.g. Devin, custom agent pipeline)</a:t>
            </a:r>
            <a:endParaRPr lang="en-US" sz="700" dirty="0"/>
          </a:p>
        </p:txBody>
      </p:sp>
      <p:sp>
        <p:nvSpPr>
          <p:cNvPr id="83" name="Shape 81"/>
          <p:cNvSpPr/>
          <p:nvPr/>
        </p:nvSpPr>
        <p:spPr>
          <a:xfrm>
            <a:off x="6053328" y="1737360"/>
            <a:ext cx="2468880" cy="402336"/>
          </a:xfrm>
          <a:prstGeom prst="rect">
            <a:avLst/>
          </a:prstGeom>
          <a:solidFill>
            <a:srgbClr val="FFFFFF"/>
          </a:solidFill>
          <a:ln/>
        </p:spPr>
      </p:sp>
      <p:sp>
        <p:nvSpPr>
          <p:cNvPr id="84" name="Text 82"/>
          <p:cNvSpPr/>
          <p:nvPr/>
        </p:nvSpPr>
        <p:spPr>
          <a:xfrm>
            <a:off x="6071616" y="1810512"/>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85" name="Text 83"/>
          <p:cNvSpPr/>
          <p:nvPr/>
        </p:nvSpPr>
        <p:spPr>
          <a:xfrm>
            <a:off x="6291072" y="1773936"/>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Reads bug report from Jira</a:t>
            </a:r>
            <a:endParaRPr lang="en-US" sz="750" dirty="0"/>
          </a:p>
        </p:txBody>
      </p:sp>
      <p:sp>
        <p:nvSpPr>
          <p:cNvPr id="86" name="Text 84"/>
          <p:cNvSpPr/>
          <p:nvPr/>
        </p:nvSpPr>
        <p:spPr>
          <a:xfrm>
            <a:off x="6291072" y="1938528"/>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Pulls full ticket context and reproduction steps</a:t>
            </a:r>
            <a:endParaRPr lang="en-US" sz="700" dirty="0"/>
          </a:p>
        </p:txBody>
      </p:sp>
      <p:sp>
        <p:nvSpPr>
          <p:cNvPr id="87" name="Shape 85"/>
          <p:cNvSpPr/>
          <p:nvPr/>
        </p:nvSpPr>
        <p:spPr>
          <a:xfrm>
            <a:off x="7443216" y="1773936"/>
            <a:ext cx="1060704" cy="329184"/>
          </a:xfrm>
          <a:prstGeom prst="rect">
            <a:avLst/>
          </a:prstGeom>
          <a:solidFill>
            <a:srgbClr val="F4E4BC"/>
          </a:solidFill>
          <a:ln/>
        </p:spPr>
      </p:sp>
      <p:sp>
        <p:nvSpPr>
          <p:cNvPr id="88" name="Text 86"/>
          <p:cNvSpPr/>
          <p:nvPr/>
        </p:nvSpPr>
        <p:spPr>
          <a:xfrm>
            <a:off x="7461504" y="1792224"/>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Pulls full ticket context and reproduction steps</a:t>
            </a:r>
            <a:endParaRPr lang="en-US" sz="650" dirty="0"/>
          </a:p>
        </p:txBody>
      </p:sp>
      <p:sp>
        <p:nvSpPr>
          <p:cNvPr id="89" name="Shape 87"/>
          <p:cNvSpPr/>
          <p:nvPr/>
        </p:nvSpPr>
        <p:spPr>
          <a:xfrm>
            <a:off x="6053328" y="2176272"/>
            <a:ext cx="2468880" cy="402336"/>
          </a:xfrm>
          <a:prstGeom prst="rect">
            <a:avLst/>
          </a:prstGeom>
          <a:solidFill>
            <a:srgbClr val="EDF1F7"/>
          </a:solidFill>
          <a:ln/>
        </p:spPr>
      </p:sp>
      <p:sp>
        <p:nvSpPr>
          <p:cNvPr id="90" name="Text 88"/>
          <p:cNvSpPr/>
          <p:nvPr/>
        </p:nvSpPr>
        <p:spPr>
          <a:xfrm>
            <a:off x="6071616" y="2249424"/>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91" name="Text 89"/>
          <p:cNvSpPr/>
          <p:nvPr/>
        </p:nvSpPr>
        <p:spPr>
          <a:xfrm>
            <a:off x="6291072" y="2212848"/>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Reproduces the bug locally</a:t>
            </a:r>
            <a:endParaRPr lang="en-US" sz="750" dirty="0"/>
          </a:p>
        </p:txBody>
      </p:sp>
      <p:sp>
        <p:nvSpPr>
          <p:cNvPr id="92" name="Text 90"/>
          <p:cNvSpPr/>
          <p:nvPr/>
        </p:nvSpPr>
        <p:spPr>
          <a:xfrm>
            <a:off x="6291072" y="2377440"/>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Spins up test env, confirms Safari failure</a:t>
            </a:r>
            <a:endParaRPr lang="en-US" sz="700" dirty="0"/>
          </a:p>
        </p:txBody>
      </p:sp>
      <p:sp>
        <p:nvSpPr>
          <p:cNvPr id="93" name="Shape 91"/>
          <p:cNvSpPr/>
          <p:nvPr/>
        </p:nvSpPr>
        <p:spPr>
          <a:xfrm>
            <a:off x="7443216" y="2212848"/>
            <a:ext cx="1060704" cy="329184"/>
          </a:xfrm>
          <a:prstGeom prst="rect">
            <a:avLst/>
          </a:prstGeom>
          <a:solidFill>
            <a:srgbClr val="F4E4BC"/>
          </a:solidFill>
          <a:ln/>
        </p:spPr>
      </p:sp>
      <p:sp>
        <p:nvSpPr>
          <p:cNvPr id="94" name="Text 92"/>
          <p:cNvSpPr/>
          <p:nvPr/>
        </p:nvSpPr>
        <p:spPr>
          <a:xfrm>
            <a:off x="7461504" y="2231136"/>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Spins up test env, confirms Safari failure</a:t>
            </a:r>
            <a:endParaRPr lang="en-US" sz="650" dirty="0"/>
          </a:p>
        </p:txBody>
      </p:sp>
      <p:sp>
        <p:nvSpPr>
          <p:cNvPr id="95" name="Shape 93"/>
          <p:cNvSpPr/>
          <p:nvPr/>
        </p:nvSpPr>
        <p:spPr>
          <a:xfrm>
            <a:off x="6053328" y="2615184"/>
            <a:ext cx="2468880" cy="402336"/>
          </a:xfrm>
          <a:prstGeom prst="rect">
            <a:avLst/>
          </a:prstGeom>
          <a:solidFill>
            <a:srgbClr val="FFFFFF"/>
          </a:solidFill>
          <a:ln/>
        </p:spPr>
      </p:sp>
      <p:sp>
        <p:nvSpPr>
          <p:cNvPr id="96" name="Text 94"/>
          <p:cNvSpPr/>
          <p:nvPr/>
        </p:nvSpPr>
        <p:spPr>
          <a:xfrm>
            <a:off x="6071616" y="2688336"/>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97" name="Text 95"/>
          <p:cNvSpPr/>
          <p:nvPr/>
        </p:nvSpPr>
        <p:spPr>
          <a:xfrm>
            <a:off x="6291072" y="2651760"/>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Diagnoses, fixes, tests</a:t>
            </a:r>
            <a:endParaRPr lang="en-US" sz="750" dirty="0"/>
          </a:p>
        </p:txBody>
      </p:sp>
      <p:sp>
        <p:nvSpPr>
          <p:cNvPr id="98" name="Text 96"/>
          <p:cNvSpPr/>
          <p:nvPr/>
        </p:nvSpPr>
        <p:spPr>
          <a:xfrm>
            <a:off x="6291072" y="2816352"/>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Patches code, writes tests, all pass</a:t>
            </a:r>
            <a:endParaRPr lang="en-US" sz="700" dirty="0"/>
          </a:p>
        </p:txBody>
      </p:sp>
      <p:sp>
        <p:nvSpPr>
          <p:cNvPr id="99" name="Shape 97"/>
          <p:cNvSpPr/>
          <p:nvPr/>
        </p:nvSpPr>
        <p:spPr>
          <a:xfrm>
            <a:off x="7443216" y="2651760"/>
            <a:ext cx="1060704" cy="329184"/>
          </a:xfrm>
          <a:prstGeom prst="rect">
            <a:avLst/>
          </a:prstGeom>
          <a:solidFill>
            <a:srgbClr val="F4E4BC"/>
          </a:solidFill>
          <a:ln/>
        </p:spPr>
      </p:sp>
      <p:sp>
        <p:nvSpPr>
          <p:cNvPr id="100" name="Text 98"/>
          <p:cNvSpPr/>
          <p:nvPr/>
        </p:nvSpPr>
        <p:spPr>
          <a:xfrm>
            <a:off x="7461504" y="2670048"/>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Patches code, writes tests, all pass</a:t>
            </a:r>
            <a:endParaRPr lang="en-US" sz="650" dirty="0"/>
          </a:p>
        </p:txBody>
      </p:sp>
      <p:sp>
        <p:nvSpPr>
          <p:cNvPr id="101" name="Shape 99"/>
          <p:cNvSpPr/>
          <p:nvPr/>
        </p:nvSpPr>
        <p:spPr>
          <a:xfrm>
            <a:off x="6053328" y="3054096"/>
            <a:ext cx="2468880" cy="402336"/>
          </a:xfrm>
          <a:prstGeom prst="rect">
            <a:avLst/>
          </a:prstGeom>
          <a:solidFill>
            <a:srgbClr val="EDF1F7"/>
          </a:solidFill>
          <a:ln/>
        </p:spPr>
      </p:sp>
      <p:sp>
        <p:nvSpPr>
          <p:cNvPr id="102" name="Text 100"/>
          <p:cNvSpPr/>
          <p:nvPr/>
        </p:nvSpPr>
        <p:spPr>
          <a:xfrm>
            <a:off x="6071616" y="3127248"/>
            <a:ext cx="201168" cy="256032"/>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t>
            </a:r>
            <a:endParaRPr lang="en-US" sz="1100" dirty="0"/>
          </a:p>
        </p:txBody>
      </p:sp>
      <p:sp>
        <p:nvSpPr>
          <p:cNvPr id="103" name="Text 101"/>
          <p:cNvSpPr/>
          <p:nvPr/>
        </p:nvSpPr>
        <p:spPr>
          <a:xfrm>
            <a:off x="6291072" y="3090672"/>
            <a:ext cx="1115568" cy="164592"/>
          </a:xfrm>
          <a:prstGeom prst="rect">
            <a:avLst/>
          </a:prstGeom>
          <a:noFill/>
          <a:ln/>
        </p:spPr>
        <p:txBody>
          <a:bodyPr wrap="square" lIns="0" tIns="0" rIns="0" bIns="0" rtlCol="0" anchor="ctr"/>
          <a:lstStyle/>
          <a:p>
            <a:pPr indent="0" marL="0">
              <a:buNone/>
            </a:pPr>
            <a:r>
              <a:rPr lang="en-US" sz="750" b="1" dirty="0">
                <a:solidFill>
                  <a:srgbClr val="0A2540"/>
                </a:solidFill>
                <a:latin typeface="Calibri" pitchFamily="34" charset="0"/>
                <a:ea typeface="Calibri" pitchFamily="34" charset="-122"/>
                <a:cs typeface="Calibri" pitchFamily="34" charset="-120"/>
              </a:rPr>
              <a:t>Opens PR, notifies team</a:t>
            </a:r>
            <a:endParaRPr lang="en-US" sz="750" dirty="0"/>
          </a:p>
        </p:txBody>
      </p:sp>
      <p:sp>
        <p:nvSpPr>
          <p:cNvPr id="104" name="Text 102"/>
          <p:cNvSpPr/>
          <p:nvPr/>
        </p:nvSpPr>
        <p:spPr>
          <a:xfrm>
            <a:off x="6291072" y="3255264"/>
            <a:ext cx="1115568" cy="164592"/>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Assigns reviewer, updates Jira ticket to 'fixed'</a:t>
            </a:r>
            <a:endParaRPr lang="en-US" sz="700" dirty="0"/>
          </a:p>
        </p:txBody>
      </p:sp>
      <p:sp>
        <p:nvSpPr>
          <p:cNvPr id="105" name="Shape 103"/>
          <p:cNvSpPr/>
          <p:nvPr/>
        </p:nvSpPr>
        <p:spPr>
          <a:xfrm>
            <a:off x="7443216" y="3090672"/>
            <a:ext cx="1060704" cy="329184"/>
          </a:xfrm>
          <a:prstGeom prst="rect">
            <a:avLst/>
          </a:prstGeom>
          <a:solidFill>
            <a:srgbClr val="F4E4BC"/>
          </a:solidFill>
          <a:ln/>
        </p:spPr>
      </p:sp>
      <p:sp>
        <p:nvSpPr>
          <p:cNvPr id="106" name="Text 104"/>
          <p:cNvSpPr/>
          <p:nvPr/>
        </p:nvSpPr>
        <p:spPr>
          <a:xfrm>
            <a:off x="7461504" y="3108960"/>
            <a:ext cx="1024128" cy="292608"/>
          </a:xfrm>
          <a:prstGeom prst="rect">
            <a:avLst/>
          </a:prstGeom>
          <a:noFill/>
          <a:ln/>
        </p:spPr>
        <p:txBody>
          <a:bodyPr wrap="square" lIns="0" tIns="0" rIns="0" bIns="0" rtlCol="0" anchor="ctr"/>
          <a:lstStyle/>
          <a:p>
            <a:pPr indent="0" marL="0">
              <a:buNone/>
            </a:pPr>
            <a:r>
              <a:rPr lang="en-US" sz="650" i="1" dirty="0">
                <a:solidFill>
                  <a:srgbClr val="0A2540"/>
                </a:solidFill>
                <a:latin typeface="Calibri" pitchFamily="34" charset="0"/>
                <a:ea typeface="Calibri" pitchFamily="34" charset="-122"/>
                <a:cs typeface="Calibri" pitchFamily="34" charset="-120"/>
              </a:rPr>
              <a:t>Assigns reviewer, updates Jira ticket to 'fixed'</a:t>
            </a:r>
            <a:endParaRPr lang="en-US" sz="650" dirty="0"/>
          </a:p>
        </p:txBody>
      </p:sp>
      <p:sp>
        <p:nvSpPr>
          <p:cNvPr id="107" name="Shape 105"/>
          <p:cNvSpPr/>
          <p:nvPr/>
        </p:nvSpPr>
        <p:spPr>
          <a:xfrm>
            <a:off x="6053328" y="3511296"/>
            <a:ext cx="2468880" cy="201168"/>
          </a:xfrm>
          <a:prstGeom prst="rect">
            <a:avLst/>
          </a:prstGeom>
          <a:solidFill>
            <a:srgbClr val="E8F0EA"/>
          </a:solidFill>
          <a:ln/>
        </p:spPr>
      </p:sp>
      <p:sp>
        <p:nvSpPr>
          <p:cNvPr id="108" name="Text 106"/>
          <p:cNvSpPr/>
          <p:nvPr/>
        </p:nvSpPr>
        <p:spPr>
          <a:xfrm>
            <a:off x="6071616" y="3529584"/>
            <a:ext cx="2432304" cy="164592"/>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  End-to-end: ticket → fix → PR → notification. Autonomous across multiple tools</a:t>
            </a:r>
            <a:endParaRPr lang="en-US" sz="700" dirty="0"/>
          </a:p>
        </p:txBody>
      </p:sp>
      <p:sp>
        <p:nvSpPr>
          <p:cNvPr id="109" name="Shape 107"/>
          <p:cNvSpPr/>
          <p:nvPr/>
        </p:nvSpPr>
        <p:spPr>
          <a:xfrm>
            <a:off x="6053328" y="3730752"/>
            <a:ext cx="2468880" cy="201168"/>
          </a:xfrm>
          <a:prstGeom prst="rect">
            <a:avLst/>
          </a:prstGeom>
          <a:solidFill>
            <a:srgbClr val="FCE8E6"/>
          </a:solidFill>
          <a:ln/>
        </p:spPr>
      </p:sp>
      <p:sp>
        <p:nvSpPr>
          <p:cNvPr id="110" name="Text 108"/>
          <p:cNvSpPr/>
          <p:nvPr/>
        </p:nvSpPr>
        <p:spPr>
          <a:xfrm>
            <a:off x="6071616" y="3749040"/>
            <a:ext cx="2432304" cy="164592"/>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  Cannot decide to change product requirements or override human review</a:t>
            </a:r>
            <a:endParaRPr lang="en-US" sz="700" dirty="0"/>
          </a:p>
        </p:txBody>
      </p:sp>
      <p:sp>
        <p:nvSpPr>
          <p:cNvPr id="111" name="Shape 109"/>
          <p:cNvSpPr/>
          <p:nvPr/>
        </p:nvSpPr>
        <p:spPr>
          <a:xfrm>
            <a:off x="6053328" y="3950208"/>
            <a:ext cx="2468880" cy="146304"/>
          </a:xfrm>
          <a:prstGeom prst="rect">
            <a:avLst/>
          </a:prstGeom>
          <a:solidFill>
            <a:srgbClr val="0A2540"/>
          </a:solidFill>
          <a:ln/>
        </p:spPr>
      </p:sp>
      <p:sp>
        <p:nvSpPr>
          <p:cNvPr id="112" name="Text 110"/>
          <p:cNvSpPr/>
          <p:nvPr/>
        </p:nvSpPr>
        <p:spPr>
          <a:xfrm>
            <a:off x="6071616" y="3968496"/>
            <a:ext cx="2432304" cy="109728"/>
          </a:xfrm>
          <a:prstGeom prst="rect">
            <a:avLst/>
          </a:prstGeom>
          <a:noFill/>
          <a:ln/>
        </p:spPr>
        <p:txBody>
          <a:bodyPr wrap="square" lIns="0" tIns="0" rIns="0" bIns="0" rtlCol="0" anchor="ctr"/>
          <a:lstStyle/>
          <a:p>
            <a:pPr indent="0" marL="0">
              <a:buNone/>
            </a:pPr>
            <a:r>
              <a:rPr lang="en-US" sz="750" b="1" dirty="0">
                <a:solidFill>
                  <a:srgbClr val="B8860B"/>
                </a:solidFill>
                <a:latin typeface="Calibri" pitchFamily="34" charset="0"/>
                <a:ea typeface="Calibri" pitchFamily="34" charset="-122"/>
                <a:cs typeface="Calibri" pitchFamily="34" charset="-120"/>
              </a:rPr>
              <a:t>⏱  25 min, zero developer input</a:t>
            </a:r>
            <a:endParaRPr lang="en-US" sz="750" dirty="0"/>
          </a:p>
        </p:txBody>
      </p:sp>
      <p:sp>
        <p:nvSpPr>
          <p:cNvPr id="113" name="Text 111"/>
          <p:cNvSpPr/>
          <p:nvPr/>
        </p:nvSpPr>
        <p:spPr>
          <a:xfrm>
            <a:off x="6071616" y="4133088"/>
            <a:ext cx="2432304" cy="493776"/>
          </a:xfrm>
          <a:prstGeom prst="rect">
            <a:avLst/>
          </a:prstGeom>
          <a:noFill/>
          <a:ln/>
        </p:spPr>
        <p:txBody>
          <a:bodyPr wrap="square" lIns="0" tIns="0" rIns="0" bIns="0" rtlCol="0" anchor="ctr"/>
          <a:lstStyle/>
          <a:p>
            <a:pPr indent="0" marL="0">
              <a:buNone/>
            </a:pPr>
            <a:r>
              <a:rPr lang="en-US" sz="650" i="1" dirty="0">
                <a:solidFill>
                  <a:srgbClr val="47596B"/>
                </a:solidFill>
                <a:latin typeface="Calibri" pitchFamily="34" charset="0"/>
                <a:ea typeface="Calibri" pitchFamily="34" charset="-122"/>
                <a:cs typeface="Calibri" pitchFamily="34" charset="-120"/>
              </a:rPr>
              <a:t>Output: "Bug fixed. PR #847 opened. Jira TKT-2041 updated. Reviewer assigned to @sarah"</a:t>
            </a:r>
            <a:endParaRPr lang="en-US" sz="650" dirty="0"/>
          </a:p>
        </p:txBody>
      </p:sp>
      <p:sp>
        <p:nvSpPr>
          <p:cNvPr id="114" name="Shape 112"/>
          <p:cNvSpPr/>
          <p:nvPr/>
        </p:nvSpPr>
        <p:spPr>
          <a:xfrm>
            <a:off x="365760" y="4626864"/>
            <a:ext cx="8412480" cy="384048"/>
          </a:xfrm>
          <a:prstGeom prst="rect">
            <a:avLst/>
          </a:prstGeom>
          <a:solidFill>
            <a:srgbClr val="0A2540"/>
          </a:solidFill>
          <a:ln/>
        </p:spPr>
      </p:sp>
      <p:sp>
        <p:nvSpPr>
          <p:cNvPr id="115" name="Text 113"/>
          <p:cNvSpPr/>
          <p:nvPr/>
        </p:nvSpPr>
        <p:spPr>
          <a:xfrm>
            <a:off x="457200" y="4663440"/>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PROGRESSION  ·  LLM = advice  ·  AI Agent = does a defined task  ·  Agentic AI = owns a workflow end-to-end. Each tier requires more governance.</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47596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04</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AI INTERACTION SPECTRUM — FIVE MODES OF WORKING WITH AI</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From a Quick Question to a Fully Autonomous Employee</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AI interaction is not just 'chat'. There is a full spectrum from a single question to an AI system that operates continuously without you. Understanding where each use case sits tells you what governance, cost, and risk profile to expect.</a:t>
            </a:r>
            <a:endParaRPr lang="en-US" sz="1000" dirty="0"/>
          </a:p>
        </p:txBody>
      </p:sp>
      <p:sp>
        <p:nvSpPr>
          <p:cNvPr id="11" name="Shape 9"/>
          <p:cNvSpPr/>
          <p:nvPr/>
        </p:nvSpPr>
        <p:spPr>
          <a:xfrm>
            <a:off x="365760" y="1847088"/>
            <a:ext cx="8412480" cy="49377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2" name="Shape 10"/>
          <p:cNvSpPr/>
          <p:nvPr/>
        </p:nvSpPr>
        <p:spPr>
          <a:xfrm>
            <a:off x="365760" y="1847088"/>
            <a:ext cx="365760" cy="493776"/>
          </a:xfrm>
          <a:prstGeom prst="rect">
            <a:avLst/>
          </a:prstGeom>
          <a:solidFill>
            <a:srgbClr val="2E5266"/>
          </a:solidFill>
          <a:ln/>
        </p:spPr>
      </p:sp>
      <p:sp>
        <p:nvSpPr>
          <p:cNvPr id="13" name="Text 11"/>
          <p:cNvSpPr/>
          <p:nvPr/>
        </p:nvSpPr>
        <p:spPr>
          <a:xfrm>
            <a:off x="365760" y="1938528"/>
            <a:ext cx="3657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2"/>
          <p:cNvSpPr/>
          <p:nvPr/>
        </p:nvSpPr>
        <p:spPr>
          <a:xfrm>
            <a:off x="822960" y="1883664"/>
            <a:ext cx="2011680" cy="219456"/>
          </a:xfrm>
          <a:prstGeom prst="rect">
            <a:avLst/>
          </a:prstGeom>
          <a:noFill/>
          <a:ln/>
        </p:spPr>
        <p:txBody>
          <a:bodyPr wrap="square" lIns="0" tIns="0" rIns="0" bIns="0" rtlCol="0" anchor="ctr"/>
          <a:lstStyle/>
          <a:p>
            <a:pPr indent="0" marL="0">
              <a:buNone/>
            </a:pPr>
            <a:r>
              <a:rPr lang="en-US" sz="950" b="1" spc="50" kern="0" dirty="0">
                <a:solidFill>
                  <a:srgbClr val="0A2540"/>
                </a:solidFill>
                <a:latin typeface="Calibri" pitchFamily="34" charset="0"/>
                <a:ea typeface="Calibri" pitchFamily="34" charset="-122"/>
                <a:cs typeface="Calibri" pitchFamily="34" charset="-120"/>
              </a:rPr>
              <a:t>ONE-SHOT PROMPT</a:t>
            </a:r>
            <a:endParaRPr lang="en-US" sz="950" dirty="0"/>
          </a:p>
        </p:txBody>
      </p:sp>
      <p:sp>
        <p:nvSpPr>
          <p:cNvPr id="15" name="Text 13"/>
          <p:cNvSpPr/>
          <p:nvPr/>
        </p:nvSpPr>
        <p:spPr>
          <a:xfrm>
            <a:off x="822960" y="2103120"/>
            <a:ext cx="2011680" cy="201168"/>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You ask, it answers, conversation ends</a:t>
            </a:r>
            <a:endParaRPr lang="en-US" sz="750" dirty="0"/>
          </a:p>
        </p:txBody>
      </p:sp>
      <p:sp>
        <p:nvSpPr>
          <p:cNvPr id="16" name="Shape 14"/>
          <p:cNvSpPr/>
          <p:nvPr/>
        </p:nvSpPr>
        <p:spPr>
          <a:xfrm>
            <a:off x="2907792" y="1901952"/>
            <a:ext cx="731520" cy="164592"/>
          </a:xfrm>
          <a:prstGeom prst="rect">
            <a:avLst/>
          </a:prstGeom>
          <a:solidFill>
            <a:srgbClr val="2E5266">
              <a:alpha val="12000"/>
            </a:srgbClr>
          </a:solidFill>
          <a:ln/>
        </p:spPr>
      </p:sp>
      <p:sp>
        <p:nvSpPr>
          <p:cNvPr id="17" name="Text 15"/>
          <p:cNvSpPr/>
          <p:nvPr/>
        </p:nvSpPr>
        <p:spPr>
          <a:xfrm>
            <a:off x="2926080" y="1911096"/>
            <a:ext cx="694944" cy="146304"/>
          </a:xfrm>
          <a:prstGeom prst="rect">
            <a:avLst/>
          </a:prstGeom>
          <a:noFill/>
          <a:ln/>
        </p:spPr>
        <p:txBody>
          <a:bodyPr wrap="square" lIns="0" tIns="0" rIns="0" bIns="0" rtlCol="0" anchor="ctr"/>
          <a:lstStyle/>
          <a:p>
            <a:pPr indent="0" marL="0">
              <a:buNone/>
            </a:pPr>
            <a:r>
              <a:rPr lang="en-US" sz="700" dirty="0">
                <a:solidFill>
                  <a:srgbClr val="2E5266"/>
                </a:solidFill>
                <a:latin typeface="Calibri" pitchFamily="34" charset="0"/>
                <a:ea typeface="Calibri" pitchFamily="34" charset="-122"/>
                <a:cs typeface="Calibri" pitchFamily="34" charset="-120"/>
              </a:rPr>
              <a:t>Risk: Minimal</a:t>
            </a:r>
            <a:endParaRPr lang="en-US" sz="700" dirty="0"/>
          </a:p>
        </p:txBody>
      </p:sp>
      <p:sp>
        <p:nvSpPr>
          <p:cNvPr id="18" name="Shape 16"/>
          <p:cNvSpPr/>
          <p:nvPr/>
        </p:nvSpPr>
        <p:spPr>
          <a:xfrm>
            <a:off x="2907792" y="2103120"/>
            <a:ext cx="731520" cy="164592"/>
          </a:xfrm>
          <a:prstGeom prst="rect">
            <a:avLst/>
          </a:prstGeom>
          <a:solidFill>
            <a:srgbClr val="F4E4BC"/>
          </a:solidFill>
          <a:ln/>
        </p:spPr>
      </p:sp>
      <p:sp>
        <p:nvSpPr>
          <p:cNvPr id="19" name="Text 17"/>
          <p:cNvSpPr/>
          <p:nvPr/>
        </p:nvSpPr>
        <p:spPr>
          <a:xfrm>
            <a:off x="2926080" y="2112264"/>
            <a:ext cx="694944" cy="146304"/>
          </a:xfrm>
          <a:prstGeom prst="rect">
            <a:avLst/>
          </a:prstGeom>
          <a:noFill/>
          <a:ln/>
        </p:spPr>
        <p:txBody>
          <a:bodyPr wrap="square" lIns="0" tIns="0" rIns="0" bIns="0" rtlCol="0" anchor="ctr"/>
          <a:lstStyle/>
          <a:p>
            <a:pPr indent="0" marL="0">
              <a:buNone/>
            </a:pPr>
            <a:r>
              <a:rPr lang="en-US" sz="700" dirty="0">
                <a:solidFill>
                  <a:srgbClr val="B8860B"/>
                </a:solidFill>
                <a:latin typeface="Calibri" pitchFamily="34" charset="0"/>
                <a:ea typeface="Calibri" pitchFamily="34" charset="-122"/>
                <a:cs typeface="Calibri" pitchFamily="34" charset="-120"/>
              </a:rPr>
              <a:t>Cost: Pence per query</a:t>
            </a:r>
            <a:endParaRPr lang="en-US" sz="700" dirty="0"/>
          </a:p>
        </p:txBody>
      </p:sp>
      <p:sp>
        <p:nvSpPr>
          <p:cNvPr id="20" name="Text 18"/>
          <p:cNvSpPr/>
          <p:nvPr/>
        </p:nvSpPr>
        <p:spPr>
          <a:xfrm>
            <a:off x="3730752" y="1883664"/>
            <a:ext cx="2944368" cy="201168"/>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Best for:  Summarise a document · Rewrite an email · Explain a concept</a:t>
            </a:r>
            <a:endParaRPr lang="en-US" sz="800" dirty="0"/>
          </a:p>
        </p:txBody>
      </p:sp>
      <p:sp>
        <p:nvSpPr>
          <p:cNvPr id="21" name="Text 19"/>
          <p:cNvSpPr/>
          <p:nvPr/>
        </p:nvSpPr>
        <p:spPr>
          <a:xfrm>
            <a:off x="3730752" y="2103120"/>
            <a:ext cx="2944368" cy="201168"/>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'Summarise this board paper in 5 bullets for a non-technical audience'</a:t>
            </a:r>
            <a:endParaRPr lang="en-US" sz="750" dirty="0"/>
          </a:p>
        </p:txBody>
      </p:sp>
      <p:sp>
        <p:nvSpPr>
          <p:cNvPr id="22" name="Shape 20"/>
          <p:cNvSpPr/>
          <p:nvPr/>
        </p:nvSpPr>
        <p:spPr>
          <a:xfrm>
            <a:off x="6748272" y="1901952"/>
            <a:ext cx="1956816" cy="384048"/>
          </a:xfrm>
          <a:prstGeom prst="rect">
            <a:avLst/>
          </a:prstGeom>
          <a:solidFill>
            <a:srgbClr val="2E5266">
              <a:alpha val="8000"/>
            </a:srgbClr>
          </a:solidFill>
          <a:ln/>
        </p:spPr>
      </p:sp>
      <p:sp>
        <p:nvSpPr>
          <p:cNvPr id="23" name="Text 21"/>
          <p:cNvSpPr/>
          <p:nvPr/>
        </p:nvSpPr>
        <p:spPr>
          <a:xfrm>
            <a:off x="6803136" y="1901952"/>
            <a:ext cx="1828800" cy="146304"/>
          </a:xfrm>
          <a:prstGeom prst="rect">
            <a:avLst/>
          </a:prstGeom>
          <a:noFill/>
          <a:ln/>
        </p:spPr>
        <p:txBody>
          <a:bodyPr wrap="square" lIns="0" tIns="0" rIns="0" bIns="0" rtlCol="0" anchor="ctr"/>
          <a:lstStyle/>
          <a:p>
            <a:pPr indent="0" marL="0">
              <a:buNone/>
            </a:pPr>
            <a:r>
              <a:rPr lang="en-US" sz="650" b="1" dirty="0">
                <a:solidFill>
                  <a:srgbClr val="2E5266"/>
                </a:solidFill>
                <a:latin typeface="Calibri" pitchFamily="34" charset="0"/>
                <a:ea typeface="Calibri" pitchFamily="34" charset="-122"/>
                <a:cs typeface="Calibri" pitchFamily="34" charset="-120"/>
              </a:rPr>
              <a:t>Governance needed:</a:t>
            </a:r>
            <a:endParaRPr lang="en-US" sz="650" dirty="0"/>
          </a:p>
        </p:txBody>
      </p:sp>
      <p:sp>
        <p:nvSpPr>
          <p:cNvPr id="24" name="Text 22"/>
          <p:cNvSpPr/>
          <p:nvPr/>
        </p:nvSpPr>
        <p:spPr>
          <a:xfrm>
            <a:off x="6803136" y="2048256"/>
            <a:ext cx="1828800" cy="219456"/>
          </a:xfrm>
          <a:prstGeom prst="rect">
            <a:avLst/>
          </a:prstGeom>
          <a:noFill/>
          <a:ln/>
        </p:spPr>
        <p:txBody>
          <a:bodyPr wrap="square" lIns="0" tIns="0" rIns="0" bIns="0" rtlCol="0" anchor="ctr"/>
          <a:lstStyle/>
          <a:p>
            <a:pPr indent="0" marL="0">
              <a:buNone/>
            </a:pPr>
            <a:r>
              <a:rPr lang="en-US" sz="800" b="1" dirty="0">
                <a:solidFill>
                  <a:srgbClr val="2E5266"/>
                </a:solidFill>
                <a:latin typeface="Calibri" pitchFamily="34" charset="0"/>
                <a:ea typeface="Calibri" pitchFamily="34" charset="-122"/>
                <a:cs typeface="Calibri" pitchFamily="34" charset="-120"/>
              </a:rPr>
              <a:t>None</a:t>
            </a:r>
            <a:endParaRPr lang="en-US" sz="800" dirty="0"/>
          </a:p>
        </p:txBody>
      </p:sp>
      <p:sp>
        <p:nvSpPr>
          <p:cNvPr id="25" name="Shape 23"/>
          <p:cNvSpPr/>
          <p:nvPr/>
        </p:nvSpPr>
        <p:spPr>
          <a:xfrm>
            <a:off x="365760" y="2395728"/>
            <a:ext cx="8412480" cy="49377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6" name="Shape 24"/>
          <p:cNvSpPr/>
          <p:nvPr/>
        </p:nvSpPr>
        <p:spPr>
          <a:xfrm>
            <a:off x="365760" y="2395728"/>
            <a:ext cx="365760" cy="493776"/>
          </a:xfrm>
          <a:prstGeom prst="rect">
            <a:avLst/>
          </a:prstGeom>
          <a:solidFill>
            <a:srgbClr val="1E3A5F"/>
          </a:solidFill>
          <a:ln/>
        </p:spPr>
      </p:sp>
      <p:sp>
        <p:nvSpPr>
          <p:cNvPr id="27" name="Text 25"/>
          <p:cNvSpPr/>
          <p:nvPr/>
        </p:nvSpPr>
        <p:spPr>
          <a:xfrm>
            <a:off x="365760" y="2487168"/>
            <a:ext cx="3657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8" name="Text 26"/>
          <p:cNvSpPr/>
          <p:nvPr/>
        </p:nvSpPr>
        <p:spPr>
          <a:xfrm>
            <a:off x="822960" y="2432304"/>
            <a:ext cx="2011680" cy="219456"/>
          </a:xfrm>
          <a:prstGeom prst="rect">
            <a:avLst/>
          </a:prstGeom>
          <a:noFill/>
          <a:ln/>
        </p:spPr>
        <p:txBody>
          <a:bodyPr wrap="square" lIns="0" tIns="0" rIns="0" bIns="0" rtlCol="0" anchor="ctr"/>
          <a:lstStyle/>
          <a:p>
            <a:pPr indent="0" marL="0">
              <a:buNone/>
            </a:pPr>
            <a:r>
              <a:rPr lang="en-US" sz="950" b="1" spc="50" kern="0" dirty="0">
                <a:solidFill>
                  <a:srgbClr val="0A2540"/>
                </a:solidFill>
                <a:latin typeface="Calibri" pitchFamily="34" charset="0"/>
                <a:ea typeface="Calibri" pitchFamily="34" charset="-122"/>
                <a:cs typeface="Calibri" pitchFamily="34" charset="-120"/>
              </a:rPr>
              <a:t>MULTI-TURN CONVERSATION</a:t>
            </a:r>
            <a:endParaRPr lang="en-US" sz="950" dirty="0"/>
          </a:p>
        </p:txBody>
      </p:sp>
      <p:sp>
        <p:nvSpPr>
          <p:cNvPr id="29" name="Text 27"/>
          <p:cNvSpPr/>
          <p:nvPr/>
        </p:nvSpPr>
        <p:spPr>
          <a:xfrm>
            <a:off x="822960" y="2651760"/>
            <a:ext cx="2011680" cy="201168"/>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You iterate with follow-ups, refine over several turns</a:t>
            </a:r>
            <a:endParaRPr lang="en-US" sz="750" dirty="0"/>
          </a:p>
        </p:txBody>
      </p:sp>
      <p:sp>
        <p:nvSpPr>
          <p:cNvPr id="30" name="Shape 28"/>
          <p:cNvSpPr/>
          <p:nvPr/>
        </p:nvSpPr>
        <p:spPr>
          <a:xfrm>
            <a:off x="2907792" y="2450592"/>
            <a:ext cx="731520" cy="164592"/>
          </a:xfrm>
          <a:prstGeom prst="rect">
            <a:avLst/>
          </a:prstGeom>
          <a:solidFill>
            <a:srgbClr val="1E3A5F">
              <a:alpha val="12000"/>
            </a:srgbClr>
          </a:solidFill>
          <a:ln/>
        </p:spPr>
      </p:sp>
      <p:sp>
        <p:nvSpPr>
          <p:cNvPr id="31" name="Text 29"/>
          <p:cNvSpPr/>
          <p:nvPr/>
        </p:nvSpPr>
        <p:spPr>
          <a:xfrm>
            <a:off x="2926080" y="2459736"/>
            <a:ext cx="694944" cy="146304"/>
          </a:xfrm>
          <a:prstGeom prst="rect">
            <a:avLst/>
          </a:prstGeom>
          <a:noFill/>
          <a:ln/>
        </p:spPr>
        <p:txBody>
          <a:bodyPr wrap="square" lIns="0" tIns="0" rIns="0" bIns="0" rtlCol="0" anchor="ctr"/>
          <a:lstStyle/>
          <a:p>
            <a:pPr indent="0" marL="0">
              <a:buNone/>
            </a:pPr>
            <a:r>
              <a:rPr lang="en-US" sz="700" dirty="0">
                <a:solidFill>
                  <a:srgbClr val="1E3A5F"/>
                </a:solidFill>
                <a:latin typeface="Calibri" pitchFamily="34" charset="0"/>
                <a:ea typeface="Calibri" pitchFamily="34" charset="-122"/>
                <a:cs typeface="Calibri" pitchFamily="34" charset="-120"/>
              </a:rPr>
              <a:t>Risk: Low</a:t>
            </a:r>
            <a:endParaRPr lang="en-US" sz="700" dirty="0"/>
          </a:p>
        </p:txBody>
      </p:sp>
      <p:sp>
        <p:nvSpPr>
          <p:cNvPr id="32" name="Shape 30"/>
          <p:cNvSpPr/>
          <p:nvPr/>
        </p:nvSpPr>
        <p:spPr>
          <a:xfrm>
            <a:off x="2907792" y="2651760"/>
            <a:ext cx="731520" cy="164592"/>
          </a:xfrm>
          <a:prstGeom prst="rect">
            <a:avLst/>
          </a:prstGeom>
          <a:solidFill>
            <a:srgbClr val="F4E4BC"/>
          </a:solidFill>
          <a:ln/>
        </p:spPr>
      </p:sp>
      <p:sp>
        <p:nvSpPr>
          <p:cNvPr id="33" name="Text 31"/>
          <p:cNvSpPr/>
          <p:nvPr/>
        </p:nvSpPr>
        <p:spPr>
          <a:xfrm>
            <a:off x="2926080" y="2660904"/>
            <a:ext cx="694944" cy="146304"/>
          </a:xfrm>
          <a:prstGeom prst="rect">
            <a:avLst/>
          </a:prstGeom>
          <a:noFill/>
          <a:ln/>
        </p:spPr>
        <p:txBody>
          <a:bodyPr wrap="square" lIns="0" tIns="0" rIns="0" bIns="0" rtlCol="0" anchor="ctr"/>
          <a:lstStyle/>
          <a:p>
            <a:pPr indent="0" marL="0">
              <a:buNone/>
            </a:pPr>
            <a:r>
              <a:rPr lang="en-US" sz="700" dirty="0">
                <a:solidFill>
                  <a:srgbClr val="B8860B"/>
                </a:solidFill>
                <a:latin typeface="Calibri" pitchFamily="34" charset="0"/>
                <a:ea typeface="Calibri" pitchFamily="34" charset="-122"/>
                <a:cs typeface="Calibri" pitchFamily="34" charset="-120"/>
              </a:rPr>
              <a:t>Cost: Pennies to pounds</a:t>
            </a:r>
            <a:endParaRPr lang="en-US" sz="700" dirty="0"/>
          </a:p>
        </p:txBody>
      </p:sp>
      <p:sp>
        <p:nvSpPr>
          <p:cNvPr id="34" name="Text 32"/>
          <p:cNvSpPr/>
          <p:nvPr/>
        </p:nvSpPr>
        <p:spPr>
          <a:xfrm>
            <a:off x="3730752" y="2432304"/>
            <a:ext cx="2944368" cy="201168"/>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Best for:  Drafting, editing, brainstorming, strategy exploration</a:t>
            </a:r>
            <a:endParaRPr lang="en-US" sz="800" dirty="0"/>
          </a:p>
        </p:txBody>
      </p:sp>
      <p:sp>
        <p:nvSpPr>
          <p:cNvPr id="35" name="Text 33"/>
          <p:cNvSpPr/>
          <p:nvPr/>
        </p:nvSpPr>
        <p:spPr>
          <a:xfrm>
            <a:off x="3730752" y="2651760"/>
            <a:ext cx="2944368" cy="201168"/>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Draft a proposal → 'Make it shorter' → 'Add a risk section' → 'More formal tone'</a:t>
            </a:r>
            <a:endParaRPr lang="en-US" sz="750" dirty="0"/>
          </a:p>
        </p:txBody>
      </p:sp>
      <p:sp>
        <p:nvSpPr>
          <p:cNvPr id="36" name="Shape 34"/>
          <p:cNvSpPr/>
          <p:nvPr/>
        </p:nvSpPr>
        <p:spPr>
          <a:xfrm>
            <a:off x="6748272" y="2450592"/>
            <a:ext cx="1956816" cy="384048"/>
          </a:xfrm>
          <a:prstGeom prst="rect">
            <a:avLst/>
          </a:prstGeom>
          <a:solidFill>
            <a:srgbClr val="1E3A5F">
              <a:alpha val="8000"/>
            </a:srgbClr>
          </a:solidFill>
          <a:ln/>
        </p:spPr>
      </p:sp>
      <p:sp>
        <p:nvSpPr>
          <p:cNvPr id="37" name="Text 35"/>
          <p:cNvSpPr/>
          <p:nvPr/>
        </p:nvSpPr>
        <p:spPr>
          <a:xfrm>
            <a:off x="6803136" y="2450592"/>
            <a:ext cx="1828800" cy="146304"/>
          </a:xfrm>
          <a:prstGeom prst="rect">
            <a:avLst/>
          </a:prstGeom>
          <a:noFill/>
          <a:ln/>
        </p:spPr>
        <p:txBody>
          <a:bodyPr wrap="square" lIns="0" tIns="0" rIns="0" bIns="0" rtlCol="0" anchor="ctr"/>
          <a:lstStyle/>
          <a:p>
            <a:pPr indent="0" marL="0">
              <a:buNone/>
            </a:pPr>
            <a:r>
              <a:rPr lang="en-US" sz="650" b="1" dirty="0">
                <a:solidFill>
                  <a:srgbClr val="1E3A5F"/>
                </a:solidFill>
                <a:latin typeface="Calibri" pitchFamily="34" charset="0"/>
                <a:ea typeface="Calibri" pitchFamily="34" charset="-122"/>
                <a:cs typeface="Calibri" pitchFamily="34" charset="-120"/>
              </a:rPr>
              <a:t>Governance needed:</a:t>
            </a:r>
            <a:endParaRPr lang="en-US" sz="650" dirty="0"/>
          </a:p>
        </p:txBody>
      </p:sp>
      <p:sp>
        <p:nvSpPr>
          <p:cNvPr id="38" name="Text 36"/>
          <p:cNvSpPr/>
          <p:nvPr/>
        </p:nvSpPr>
        <p:spPr>
          <a:xfrm>
            <a:off x="6803136" y="2596896"/>
            <a:ext cx="1828800" cy="219456"/>
          </a:xfrm>
          <a:prstGeom prst="rect">
            <a:avLst/>
          </a:prstGeom>
          <a:noFill/>
          <a:ln/>
        </p:spPr>
        <p:txBody>
          <a:bodyPr wrap="square" lIns="0" tIns="0" rIns="0" bIns="0" rtlCol="0" anchor="ctr"/>
          <a:lstStyle/>
          <a:p>
            <a:pPr indent="0" marL="0">
              <a:buNone/>
            </a:pPr>
            <a:r>
              <a:rPr lang="en-US" sz="800" b="1" dirty="0">
                <a:solidFill>
                  <a:srgbClr val="1E3A5F"/>
                </a:solidFill>
                <a:latin typeface="Calibri" pitchFamily="34" charset="0"/>
                <a:ea typeface="Calibri" pitchFamily="34" charset="-122"/>
                <a:cs typeface="Calibri" pitchFamily="34" charset="-120"/>
              </a:rPr>
              <a:t>Review output</a:t>
            </a:r>
            <a:endParaRPr lang="en-US" sz="800" dirty="0"/>
          </a:p>
        </p:txBody>
      </p:sp>
      <p:sp>
        <p:nvSpPr>
          <p:cNvPr id="39" name="Shape 37"/>
          <p:cNvSpPr/>
          <p:nvPr/>
        </p:nvSpPr>
        <p:spPr>
          <a:xfrm>
            <a:off x="365760" y="2944368"/>
            <a:ext cx="8412480" cy="49377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0" name="Shape 38"/>
          <p:cNvSpPr/>
          <p:nvPr/>
        </p:nvSpPr>
        <p:spPr>
          <a:xfrm>
            <a:off x="365760" y="2944368"/>
            <a:ext cx="365760" cy="493776"/>
          </a:xfrm>
          <a:prstGeom prst="rect">
            <a:avLst/>
          </a:prstGeom>
          <a:solidFill>
            <a:srgbClr val="0F766E"/>
          </a:solidFill>
          <a:ln/>
        </p:spPr>
      </p:sp>
      <p:sp>
        <p:nvSpPr>
          <p:cNvPr id="41" name="Text 39"/>
          <p:cNvSpPr/>
          <p:nvPr/>
        </p:nvSpPr>
        <p:spPr>
          <a:xfrm>
            <a:off x="365760" y="3035808"/>
            <a:ext cx="3657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2" name="Text 40"/>
          <p:cNvSpPr/>
          <p:nvPr/>
        </p:nvSpPr>
        <p:spPr>
          <a:xfrm>
            <a:off x="822960" y="2980944"/>
            <a:ext cx="2011680" cy="219456"/>
          </a:xfrm>
          <a:prstGeom prst="rect">
            <a:avLst/>
          </a:prstGeom>
          <a:noFill/>
          <a:ln/>
        </p:spPr>
        <p:txBody>
          <a:bodyPr wrap="square" lIns="0" tIns="0" rIns="0" bIns="0" rtlCol="0" anchor="ctr"/>
          <a:lstStyle/>
          <a:p>
            <a:pPr indent="0" marL="0">
              <a:buNone/>
            </a:pPr>
            <a:r>
              <a:rPr lang="en-US" sz="950" b="1" spc="50" kern="0" dirty="0">
                <a:solidFill>
                  <a:srgbClr val="0A2540"/>
                </a:solidFill>
                <a:latin typeface="Calibri" pitchFamily="34" charset="0"/>
                <a:ea typeface="Calibri" pitchFamily="34" charset="-122"/>
                <a:cs typeface="Calibri" pitchFamily="34" charset="-120"/>
              </a:rPr>
              <a:t>TOOL-USING AGENT</a:t>
            </a:r>
            <a:endParaRPr lang="en-US" sz="950" dirty="0"/>
          </a:p>
        </p:txBody>
      </p:sp>
      <p:sp>
        <p:nvSpPr>
          <p:cNvPr id="43" name="Text 41"/>
          <p:cNvSpPr/>
          <p:nvPr/>
        </p:nvSpPr>
        <p:spPr>
          <a:xfrm>
            <a:off x="822960" y="3200400"/>
            <a:ext cx="2011680" cy="201168"/>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AI has tools and acts: searches, reads files, writes code</a:t>
            </a:r>
            <a:endParaRPr lang="en-US" sz="750" dirty="0"/>
          </a:p>
        </p:txBody>
      </p:sp>
      <p:sp>
        <p:nvSpPr>
          <p:cNvPr id="44" name="Shape 42"/>
          <p:cNvSpPr/>
          <p:nvPr/>
        </p:nvSpPr>
        <p:spPr>
          <a:xfrm>
            <a:off x="2907792" y="2999232"/>
            <a:ext cx="731520" cy="164592"/>
          </a:xfrm>
          <a:prstGeom prst="rect">
            <a:avLst/>
          </a:prstGeom>
          <a:solidFill>
            <a:srgbClr val="0F766E">
              <a:alpha val="12000"/>
            </a:srgbClr>
          </a:solidFill>
          <a:ln/>
        </p:spPr>
      </p:sp>
      <p:sp>
        <p:nvSpPr>
          <p:cNvPr id="45" name="Text 43"/>
          <p:cNvSpPr/>
          <p:nvPr/>
        </p:nvSpPr>
        <p:spPr>
          <a:xfrm>
            <a:off x="2926080" y="3008376"/>
            <a:ext cx="694944" cy="146304"/>
          </a:xfrm>
          <a:prstGeom prst="rect">
            <a:avLst/>
          </a:prstGeom>
          <a:noFill/>
          <a:ln/>
        </p:spPr>
        <p:txBody>
          <a:bodyPr wrap="square" lIns="0" tIns="0" rIns="0" bIns="0" rtlCol="0" anchor="ctr"/>
          <a:lstStyle/>
          <a:p>
            <a:pPr indent="0" marL="0">
              <a:buNone/>
            </a:pPr>
            <a:r>
              <a:rPr lang="en-US" sz="700" dirty="0">
                <a:solidFill>
                  <a:srgbClr val="0F766E"/>
                </a:solidFill>
                <a:latin typeface="Calibri" pitchFamily="34" charset="0"/>
                <a:ea typeface="Calibri" pitchFamily="34" charset="-122"/>
                <a:cs typeface="Calibri" pitchFamily="34" charset="-120"/>
              </a:rPr>
              <a:t>Risk: Medium — takes real actions</a:t>
            </a:r>
            <a:endParaRPr lang="en-US" sz="700" dirty="0"/>
          </a:p>
        </p:txBody>
      </p:sp>
      <p:sp>
        <p:nvSpPr>
          <p:cNvPr id="46" name="Shape 44"/>
          <p:cNvSpPr/>
          <p:nvPr/>
        </p:nvSpPr>
        <p:spPr>
          <a:xfrm>
            <a:off x="2907792" y="3200400"/>
            <a:ext cx="731520" cy="164592"/>
          </a:xfrm>
          <a:prstGeom prst="rect">
            <a:avLst/>
          </a:prstGeom>
          <a:solidFill>
            <a:srgbClr val="F4E4BC"/>
          </a:solidFill>
          <a:ln/>
        </p:spPr>
      </p:sp>
      <p:sp>
        <p:nvSpPr>
          <p:cNvPr id="47" name="Text 45"/>
          <p:cNvSpPr/>
          <p:nvPr/>
        </p:nvSpPr>
        <p:spPr>
          <a:xfrm>
            <a:off x="2926080" y="3209544"/>
            <a:ext cx="694944" cy="146304"/>
          </a:xfrm>
          <a:prstGeom prst="rect">
            <a:avLst/>
          </a:prstGeom>
          <a:noFill/>
          <a:ln/>
        </p:spPr>
        <p:txBody>
          <a:bodyPr wrap="square" lIns="0" tIns="0" rIns="0" bIns="0" rtlCol="0" anchor="ctr"/>
          <a:lstStyle/>
          <a:p>
            <a:pPr indent="0" marL="0">
              <a:buNone/>
            </a:pPr>
            <a:r>
              <a:rPr lang="en-US" sz="700" dirty="0">
                <a:solidFill>
                  <a:srgbClr val="B8860B"/>
                </a:solidFill>
                <a:latin typeface="Calibri" pitchFamily="34" charset="0"/>
                <a:ea typeface="Calibri" pitchFamily="34" charset="-122"/>
                <a:cs typeface="Calibri" pitchFamily="34" charset="-120"/>
              </a:rPr>
              <a:t>Cost: £ per task</a:t>
            </a:r>
            <a:endParaRPr lang="en-US" sz="700" dirty="0"/>
          </a:p>
        </p:txBody>
      </p:sp>
      <p:sp>
        <p:nvSpPr>
          <p:cNvPr id="48" name="Text 46"/>
          <p:cNvSpPr/>
          <p:nvPr/>
        </p:nvSpPr>
        <p:spPr>
          <a:xfrm>
            <a:off x="3730752" y="2980944"/>
            <a:ext cx="2944368" cy="201168"/>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Best for:  Research, code fixes, data analysis, document creation</a:t>
            </a:r>
            <a:endParaRPr lang="en-US" sz="800" dirty="0"/>
          </a:p>
        </p:txBody>
      </p:sp>
      <p:sp>
        <p:nvSpPr>
          <p:cNvPr id="49" name="Text 47"/>
          <p:cNvSpPr/>
          <p:nvPr/>
        </p:nvSpPr>
        <p:spPr>
          <a:xfrm>
            <a:off x="3730752" y="3200400"/>
            <a:ext cx="2944368" cy="201168"/>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'Analyse last quarter's sales data and produce a summary with charts'</a:t>
            </a:r>
            <a:endParaRPr lang="en-US" sz="750" dirty="0"/>
          </a:p>
        </p:txBody>
      </p:sp>
      <p:sp>
        <p:nvSpPr>
          <p:cNvPr id="50" name="Shape 48"/>
          <p:cNvSpPr/>
          <p:nvPr/>
        </p:nvSpPr>
        <p:spPr>
          <a:xfrm>
            <a:off x="6748272" y="2999232"/>
            <a:ext cx="1956816" cy="384048"/>
          </a:xfrm>
          <a:prstGeom prst="rect">
            <a:avLst/>
          </a:prstGeom>
          <a:solidFill>
            <a:srgbClr val="0F766E">
              <a:alpha val="8000"/>
            </a:srgbClr>
          </a:solidFill>
          <a:ln/>
        </p:spPr>
      </p:sp>
      <p:sp>
        <p:nvSpPr>
          <p:cNvPr id="51" name="Text 49"/>
          <p:cNvSpPr/>
          <p:nvPr/>
        </p:nvSpPr>
        <p:spPr>
          <a:xfrm>
            <a:off x="6803136" y="2999232"/>
            <a:ext cx="1828800" cy="146304"/>
          </a:xfrm>
          <a:prstGeom prst="rect">
            <a:avLst/>
          </a:prstGeom>
          <a:noFill/>
          <a:ln/>
        </p:spPr>
        <p:txBody>
          <a:bodyPr wrap="square" lIns="0" tIns="0" rIns="0" bIns="0" rtlCol="0" anchor="ctr"/>
          <a:lstStyle/>
          <a:p>
            <a:pPr indent="0" marL="0">
              <a:buNone/>
            </a:pPr>
            <a:r>
              <a:rPr lang="en-US" sz="650" b="1" dirty="0">
                <a:solidFill>
                  <a:srgbClr val="0F766E"/>
                </a:solidFill>
                <a:latin typeface="Calibri" pitchFamily="34" charset="0"/>
                <a:ea typeface="Calibri" pitchFamily="34" charset="-122"/>
                <a:cs typeface="Calibri" pitchFamily="34" charset="-120"/>
              </a:rPr>
              <a:t>Governance needed:</a:t>
            </a:r>
            <a:endParaRPr lang="en-US" sz="650" dirty="0"/>
          </a:p>
        </p:txBody>
      </p:sp>
      <p:sp>
        <p:nvSpPr>
          <p:cNvPr id="52" name="Text 50"/>
          <p:cNvSpPr/>
          <p:nvPr/>
        </p:nvSpPr>
        <p:spPr>
          <a:xfrm>
            <a:off x="6803136" y="3145536"/>
            <a:ext cx="1828800" cy="219456"/>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Check actions</a:t>
            </a:r>
            <a:endParaRPr lang="en-US" sz="800" dirty="0"/>
          </a:p>
        </p:txBody>
      </p:sp>
      <p:sp>
        <p:nvSpPr>
          <p:cNvPr id="53" name="Shape 51"/>
          <p:cNvSpPr/>
          <p:nvPr/>
        </p:nvSpPr>
        <p:spPr>
          <a:xfrm>
            <a:off x="365760" y="3493008"/>
            <a:ext cx="8412480" cy="49377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54" name="Shape 52"/>
          <p:cNvSpPr/>
          <p:nvPr/>
        </p:nvSpPr>
        <p:spPr>
          <a:xfrm>
            <a:off x="365760" y="3493008"/>
            <a:ext cx="365760" cy="493776"/>
          </a:xfrm>
          <a:prstGeom prst="rect">
            <a:avLst/>
          </a:prstGeom>
          <a:solidFill>
            <a:srgbClr val="47596B"/>
          </a:solidFill>
          <a:ln/>
        </p:spPr>
      </p:sp>
      <p:sp>
        <p:nvSpPr>
          <p:cNvPr id="55" name="Text 53"/>
          <p:cNvSpPr/>
          <p:nvPr/>
        </p:nvSpPr>
        <p:spPr>
          <a:xfrm>
            <a:off x="365760" y="3584448"/>
            <a:ext cx="3657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56" name="Text 54"/>
          <p:cNvSpPr/>
          <p:nvPr/>
        </p:nvSpPr>
        <p:spPr>
          <a:xfrm>
            <a:off x="822960" y="3529584"/>
            <a:ext cx="2011680" cy="219456"/>
          </a:xfrm>
          <a:prstGeom prst="rect">
            <a:avLst/>
          </a:prstGeom>
          <a:noFill/>
          <a:ln/>
        </p:spPr>
        <p:txBody>
          <a:bodyPr wrap="square" lIns="0" tIns="0" rIns="0" bIns="0" rtlCol="0" anchor="ctr"/>
          <a:lstStyle/>
          <a:p>
            <a:pPr indent="0" marL="0">
              <a:buNone/>
            </a:pPr>
            <a:r>
              <a:rPr lang="en-US" sz="950" b="1" spc="50" kern="0" dirty="0">
                <a:solidFill>
                  <a:srgbClr val="0A2540"/>
                </a:solidFill>
                <a:latin typeface="Calibri" pitchFamily="34" charset="0"/>
                <a:ea typeface="Calibri" pitchFamily="34" charset="-122"/>
                <a:cs typeface="Calibri" pitchFamily="34" charset="-120"/>
              </a:rPr>
              <a:t>SUPERVISED WORKFLOW</a:t>
            </a:r>
            <a:endParaRPr lang="en-US" sz="950" dirty="0"/>
          </a:p>
        </p:txBody>
      </p:sp>
      <p:sp>
        <p:nvSpPr>
          <p:cNvPr id="57" name="Text 55"/>
          <p:cNvSpPr/>
          <p:nvPr/>
        </p:nvSpPr>
        <p:spPr>
          <a:xfrm>
            <a:off x="822960" y="3749040"/>
            <a:ext cx="2011680" cy="201168"/>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AI runs a multi-step process, pauses for human approval at gates</a:t>
            </a:r>
            <a:endParaRPr lang="en-US" sz="750" dirty="0"/>
          </a:p>
        </p:txBody>
      </p:sp>
      <p:sp>
        <p:nvSpPr>
          <p:cNvPr id="58" name="Shape 56"/>
          <p:cNvSpPr/>
          <p:nvPr/>
        </p:nvSpPr>
        <p:spPr>
          <a:xfrm>
            <a:off x="2907792" y="3547872"/>
            <a:ext cx="731520" cy="164592"/>
          </a:xfrm>
          <a:prstGeom prst="rect">
            <a:avLst/>
          </a:prstGeom>
          <a:solidFill>
            <a:srgbClr val="47596B">
              <a:alpha val="12000"/>
            </a:srgbClr>
          </a:solidFill>
          <a:ln/>
        </p:spPr>
      </p:sp>
      <p:sp>
        <p:nvSpPr>
          <p:cNvPr id="59" name="Text 57"/>
          <p:cNvSpPr/>
          <p:nvPr/>
        </p:nvSpPr>
        <p:spPr>
          <a:xfrm>
            <a:off x="2926080" y="3557016"/>
            <a:ext cx="694944" cy="146304"/>
          </a:xfrm>
          <a:prstGeom prst="rect">
            <a:avLst/>
          </a:prstGeom>
          <a:noFill/>
          <a:ln/>
        </p:spPr>
        <p:txBody>
          <a:bodyPr wrap="square" lIns="0" tIns="0" rIns="0" bIns="0" rtlCol="0" anchor="ctr"/>
          <a:lstStyle/>
          <a:p>
            <a:pPr indent="0" marL="0">
              <a:buNone/>
            </a:pPr>
            <a:r>
              <a:rPr lang="en-US" sz="700" dirty="0">
                <a:solidFill>
                  <a:srgbClr val="47596B"/>
                </a:solidFill>
                <a:latin typeface="Calibri" pitchFamily="34" charset="0"/>
                <a:ea typeface="Calibri" pitchFamily="34" charset="-122"/>
                <a:cs typeface="Calibri" pitchFamily="34" charset="-120"/>
              </a:rPr>
              <a:t>Risk: Medium — bounded by checkpoints</a:t>
            </a:r>
            <a:endParaRPr lang="en-US" sz="700" dirty="0"/>
          </a:p>
        </p:txBody>
      </p:sp>
      <p:sp>
        <p:nvSpPr>
          <p:cNvPr id="60" name="Shape 58"/>
          <p:cNvSpPr/>
          <p:nvPr/>
        </p:nvSpPr>
        <p:spPr>
          <a:xfrm>
            <a:off x="2907792" y="3749040"/>
            <a:ext cx="731520" cy="164592"/>
          </a:xfrm>
          <a:prstGeom prst="rect">
            <a:avLst/>
          </a:prstGeom>
          <a:solidFill>
            <a:srgbClr val="F4E4BC"/>
          </a:solidFill>
          <a:ln/>
        </p:spPr>
      </p:sp>
      <p:sp>
        <p:nvSpPr>
          <p:cNvPr id="61" name="Text 59"/>
          <p:cNvSpPr/>
          <p:nvPr/>
        </p:nvSpPr>
        <p:spPr>
          <a:xfrm>
            <a:off x="2926080" y="3758184"/>
            <a:ext cx="694944" cy="146304"/>
          </a:xfrm>
          <a:prstGeom prst="rect">
            <a:avLst/>
          </a:prstGeom>
          <a:noFill/>
          <a:ln/>
        </p:spPr>
        <p:txBody>
          <a:bodyPr wrap="square" lIns="0" tIns="0" rIns="0" bIns="0" rtlCol="0" anchor="ctr"/>
          <a:lstStyle/>
          <a:p>
            <a:pPr indent="0" marL="0">
              <a:buNone/>
            </a:pPr>
            <a:r>
              <a:rPr lang="en-US" sz="700" dirty="0">
                <a:solidFill>
                  <a:srgbClr val="B8860B"/>
                </a:solidFill>
                <a:latin typeface="Calibri" pitchFamily="34" charset="0"/>
                <a:ea typeface="Calibri" pitchFamily="34" charset="-122"/>
                <a:cs typeface="Calibri" pitchFamily="34" charset="-120"/>
              </a:rPr>
              <a:t>Cost: £–££ per run</a:t>
            </a:r>
            <a:endParaRPr lang="en-US" sz="700" dirty="0"/>
          </a:p>
        </p:txBody>
      </p:sp>
      <p:sp>
        <p:nvSpPr>
          <p:cNvPr id="62" name="Text 60"/>
          <p:cNvSpPr/>
          <p:nvPr/>
        </p:nvSpPr>
        <p:spPr>
          <a:xfrm>
            <a:off x="3730752" y="3529584"/>
            <a:ext cx="2944368" cy="201168"/>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Best for:  Complex reports, content pipelines, research workflows</a:t>
            </a:r>
            <a:endParaRPr lang="en-US" sz="800" dirty="0"/>
          </a:p>
        </p:txBody>
      </p:sp>
      <p:sp>
        <p:nvSpPr>
          <p:cNvPr id="63" name="Text 61"/>
          <p:cNvSpPr/>
          <p:nvPr/>
        </p:nvSpPr>
        <p:spPr>
          <a:xfrm>
            <a:off x="3730752" y="3749040"/>
            <a:ext cx="2944368" cy="201168"/>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Draft RFP response → legal review gate → send. Human approves each gate.</a:t>
            </a:r>
            <a:endParaRPr lang="en-US" sz="750" dirty="0"/>
          </a:p>
        </p:txBody>
      </p:sp>
      <p:sp>
        <p:nvSpPr>
          <p:cNvPr id="64" name="Shape 62"/>
          <p:cNvSpPr/>
          <p:nvPr/>
        </p:nvSpPr>
        <p:spPr>
          <a:xfrm>
            <a:off x="6748272" y="3547872"/>
            <a:ext cx="1956816" cy="384048"/>
          </a:xfrm>
          <a:prstGeom prst="rect">
            <a:avLst/>
          </a:prstGeom>
          <a:solidFill>
            <a:srgbClr val="47596B">
              <a:alpha val="8000"/>
            </a:srgbClr>
          </a:solidFill>
          <a:ln/>
        </p:spPr>
      </p:sp>
      <p:sp>
        <p:nvSpPr>
          <p:cNvPr id="65" name="Text 63"/>
          <p:cNvSpPr/>
          <p:nvPr/>
        </p:nvSpPr>
        <p:spPr>
          <a:xfrm>
            <a:off x="6803136" y="3547872"/>
            <a:ext cx="1828800" cy="146304"/>
          </a:xfrm>
          <a:prstGeom prst="rect">
            <a:avLst/>
          </a:prstGeom>
          <a:noFill/>
          <a:ln/>
        </p:spPr>
        <p:txBody>
          <a:bodyPr wrap="square" lIns="0" tIns="0" rIns="0" bIns="0" rtlCol="0" anchor="ctr"/>
          <a:lstStyle/>
          <a:p>
            <a:pPr indent="0" marL="0">
              <a:buNone/>
            </a:pPr>
            <a:r>
              <a:rPr lang="en-US" sz="650" b="1" dirty="0">
                <a:solidFill>
                  <a:srgbClr val="47596B"/>
                </a:solidFill>
                <a:latin typeface="Calibri" pitchFamily="34" charset="0"/>
                <a:ea typeface="Calibri" pitchFamily="34" charset="-122"/>
                <a:cs typeface="Calibri" pitchFamily="34" charset="-120"/>
              </a:rPr>
              <a:t>Governance needed:</a:t>
            </a:r>
            <a:endParaRPr lang="en-US" sz="650" dirty="0"/>
          </a:p>
        </p:txBody>
      </p:sp>
      <p:sp>
        <p:nvSpPr>
          <p:cNvPr id="66" name="Text 64"/>
          <p:cNvSpPr/>
          <p:nvPr/>
        </p:nvSpPr>
        <p:spPr>
          <a:xfrm>
            <a:off x="6803136" y="3694176"/>
            <a:ext cx="1828800" cy="219456"/>
          </a:xfrm>
          <a:prstGeom prst="rect">
            <a:avLst/>
          </a:prstGeom>
          <a:noFill/>
          <a:ln/>
        </p:spPr>
        <p:txBody>
          <a:bodyPr wrap="square" lIns="0" tIns="0" rIns="0" bIns="0" rtlCol="0" anchor="ctr"/>
          <a:lstStyle/>
          <a:p>
            <a:pPr indent="0" marL="0">
              <a:buNone/>
            </a:pPr>
            <a:r>
              <a:rPr lang="en-US" sz="800" b="1" dirty="0">
                <a:solidFill>
                  <a:srgbClr val="47596B"/>
                </a:solidFill>
                <a:latin typeface="Calibri" pitchFamily="34" charset="0"/>
                <a:ea typeface="Calibri" pitchFamily="34" charset="-122"/>
                <a:cs typeface="Calibri" pitchFamily="34" charset="-120"/>
              </a:rPr>
              <a:t>Approve at gates</a:t>
            </a:r>
            <a:endParaRPr lang="en-US" sz="800" dirty="0"/>
          </a:p>
        </p:txBody>
      </p:sp>
      <p:sp>
        <p:nvSpPr>
          <p:cNvPr id="67" name="Shape 65"/>
          <p:cNvSpPr/>
          <p:nvPr/>
        </p:nvSpPr>
        <p:spPr>
          <a:xfrm>
            <a:off x="365760" y="4041648"/>
            <a:ext cx="8412480" cy="49377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68" name="Shape 66"/>
          <p:cNvSpPr/>
          <p:nvPr/>
        </p:nvSpPr>
        <p:spPr>
          <a:xfrm>
            <a:off x="365760" y="4041648"/>
            <a:ext cx="365760" cy="493776"/>
          </a:xfrm>
          <a:prstGeom prst="rect">
            <a:avLst/>
          </a:prstGeom>
          <a:solidFill>
            <a:srgbClr val="0F766E"/>
          </a:solidFill>
          <a:ln/>
        </p:spPr>
      </p:sp>
      <p:sp>
        <p:nvSpPr>
          <p:cNvPr id="69" name="Text 67"/>
          <p:cNvSpPr/>
          <p:nvPr/>
        </p:nvSpPr>
        <p:spPr>
          <a:xfrm>
            <a:off x="365760" y="4133088"/>
            <a:ext cx="365760"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70" name="Text 68"/>
          <p:cNvSpPr/>
          <p:nvPr/>
        </p:nvSpPr>
        <p:spPr>
          <a:xfrm>
            <a:off x="822960" y="4078224"/>
            <a:ext cx="2011680" cy="219456"/>
          </a:xfrm>
          <a:prstGeom prst="rect">
            <a:avLst/>
          </a:prstGeom>
          <a:noFill/>
          <a:ln/>
        </p:spPr>
        <p:txBody>
          <a:bodyPr wrap="square" lIns="0" tIns="0" rIns="0" bIns="0" rtlCol="0" anchor="ctr"/>
          <a:lstStyle/>
          <a:p>
            <a:pPr indent="0" marL="0">
              <a:buNone/>
            </a:pPr>
            <a:r>
              <a:rPr lang="en-US" sz="950" b="1" spc="50" kern="0" dirty="0">
                <a:solidFill>
                  <a:srgbClr val="0A2540"/>
                </a:solidFill>
                <a:latin typeface="Calibri" pitchFamily="34" charset="0"/>
                <a:ea typeface="Calibri" pitchFamily="34" charset="-122"/>
                <a:cs typeface="Calibri" pitchFamily="34" charset="-120"/>
              </a:rPr>
              <a:t>AUTONOMOUS AGENTIC SYSTEM</a:t>
            </a:r>
            <a:endParaRPr lang="en-US" sz="950" dirty="0"/>
          </a:p>
        </p:txBody>
      </p:sp>
      <p:sp>
        <p:nvSpPr>
          <p:cNvPr id="71" name="Text 69"/>
          <p:cNvSpPr/>
          <p:nvPr/>
        </p:nvSpPr>
        <p:spPr>
          <a:xfrm>
            <a:off x="822960" y="4297680"/>
            <a:ext cx="2011680" cy="201168"/>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AI runs end-to-end workflows continuously, alerts only on exceptions</a:t>
            </a:r>
            <a:endParaRPr lang="en-US" sz="750" dirty="0"/>
          </a:p>
        </p:txBody>
      </p:sp>
      <p:sp>
        <p:nvSpPr>
          <p:cNvPr id="72" name="Shape 70"/>
          <p:cNvSpPr/>
          <p:nvPr/>
        </p:nvSpPr>
        <p:spPr>
          <a:xfrm>
            <a:off x="2907792" y="4096512"/>
            <a:ext cx="731520" cy="164592"/>
          </a:xfrm>
          <a:prstGeom prst="rect">
            <a:avLst/>
          </a:prstGeom>
          <a:solidFill>
            <a:srgbClr val="0F766E">
              <a:alpha val="12000"/>
            </a:srgbClr>
          </a:solidFill>
          <a:ln/>
        </p:spPr>
      </p:sp>
      <p:sp>
        <p:nvSpPr>
          <p:cNvPr id="73" name="Text 71"/>
          <p:cNvSpPr/>
          <p:nvPr/>
        </p:nvSpPr>
        <p:spPr>
          <a:xfrm>
            <a:off x="2926080" y="4105656"/>
            <a:ext cx="694944" cy="146304"/>
          </a:xfrm>
          <a:prstGeom prst="rect">
            <a:avLst/>
          </a:prstGeom>
          <a:noFill/>
          <a:ln/>
        </p:spPr>
        <p:txBody>
          <a:bodyPr wrap="square" lIns="0" tIns="0" rIns="0" bIns="0" rtlCol="0" anchor="ctr"/>
          <a:lstStyle/>
          <a:p>
            <a:pPr indent="0" marL="0">
              <a:buNone/>
            </a:pPr>
            <a:r>
              <a:rPr lang="en-US" sz="700" dirty="0">
                <a:solidFill>
                  <a:srgbClr val="0F766E"/>
                </a:solidFill>
                <a:latin typeface="Calibri" pitchFamily="34" charset="0"/>
                <a:ea typeface="Calibri" pitchFamily="34" charset="-122"/>
                <a:cs typeface="Calibri" pitchFamily="34" charset="-120"/>
              </a:rPr>
              <a:t>Risk: High — errors compound; needs robust monitoring</a:t>
            </a:r>
            <a:endParaRPr lang="en-US" sz="700" dirty="0"/>
          </a:p>
        </p:txBody>
      </p:sp>
      <p:sp>
        <p:nvSpPr>
          <p:cNvPr id="74" name="Shape 72"/>
          <p:cNvSpPr/>
          <p:nvPr/>
        </p:nvSpPr>
        <p:spPr>
          <a:xfrm>
            <a:off x="2907792" y="4297680"/>
            <a:ext cx="731520" cy="164592"/>
          </a:xfrm>
          <a:prstGeom prst="rect">
            <a:avLst/>
          </a:prstGeom>
          <a:solidFill>
            <a:srgbClr val="F4E4BC"/>
          </a:solidFill>
          <a:ln/>
        </p:spPr>
      </p:sp>
      <p:sp>
        <p:nvSpPr>
          <p:cNvPr id="75" name="Text 73"/>
          <p:cNvSpPr/>
          <p:nvPr/>
        </p:nvSpPr>
        <p:spPr>
          <a:xfrm>
            <a:off x="2926080" y="4306824"/>
            <a:ext cx="694944" cy="146304"/>
          </a:xfrm>
          <a:prstGeom prst="rect">
            <a:avLst/>
          </a:prstGeom>
          <a:noFill/>
          <a:ln/>
        </p:spPr>
        <p:txBody>
          <a:bodyPr wrap="square" lIns="0" tIns="0" rIns="0" bIns="0" rtlCol="0" anchor="ctr"/>
          <a:lstStyle/>
          <a:p>
            <a:pPr indent="0" marL="0">
              <a:buNone/>
            </a:pPr>
            <a:r>
              <a:rPr lang="en-US" sz="700" dirty="0">
                <a:solidFill>
                  <a:srgbClr val="B8860B"/>
                </a:solidFill>
                <a:latin typeface="Calibri" pitchFamily="34" charset="0"/>
                <a:ea typeface="Calibri" pitchFamily="34" charset="-122"/>
                <a:cs typeface="Calibri" pitchFamily="34" charset="-120"/>
              </a:rPr>
              <a:t>Cost: ££–£££ ongoing</a:t>
            </a:r>
            <a:endParaRPr lang="en-US" sz="700" dirty="0"/>
          </a:p>
        </p:txBody>
      </p:sp>
      <p:sp>
        <p:nvSpPr>
          <p:cNvPr id="76" name="Text 74"/>
          <p:cNvSpPr/>
          <p:nvPr/>
        </p:nvSpPr>
        <p:spPr>
          <a:xfrm>
            <a:off x="3730752" y="4078224"/>
            <a:ext cx="2944368" cy="201168"/>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Best for:  Customer service triage, code pipeline, contract monitoring</a:t>
            </a:r>
            <a:endParaRPr lang="en-US" sz="800" dirty="0"/>
          </a:p>
        </p:txBody>
      </p:sp>
      <p:sp>
        <p:nvSpPr>
          <p:cNvPr id="77" name="Text 75"/>
          <p:cNvSpPr/>
          <p:nvPr/>
        </p:nvSpPr>
        <p:spPr>
          <a:xfrm>
            <a:off x="3730752" y="4297680"/>
            <a:ext cx="2944368" cy="201168"/>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e.g.  AI monitors 500 contracts, proactively emails owners 30 days before each renewal</a:t>
            </a:r>
            <a:endParaRPr lang="en-US" sz="750" dirty="0"/>
          </a:p>
        </p:txBody>
      </p:sp>
      <p:sp>
        <p:nvSpPr>
          <p:cNvPr id="78" name="Shape 76"/>
          <p:cNvSpPr/>
          <p:nvPr/>
        </p:nvSpPr>
        <p:spPr>
          <a:xfrm>
            <a:off x="6748272" y="4096512"/>
            <a:ext cx="1956816" cy="384048"/>
          </a:xfrm>
          <a:prstGeom prst="rect">
            <a:avLst/>
          </a:prstGeom>
          <a:solidFill>
            <a:srgbClr val="0F766E">
              <a:alpha val="8000"/>
            </a:srgbClr>
          </a:solidFill>
          <a:ln/>
        </p:spPr>
      </p:sp>
      <p:sp>
        <p:nvSpPr>
          <p:cNvPr id="79" name="Text 77"/>
          <p:cNvSpPr/>
          <p:nvPr/>
        </p:nvSpPr>
        <p:spPr>
          <a:xfrm>
            <a:off x="6803136" y="4096512"/>
            <a:ext cx="1828800" cy="146304"/>
          </a:xfrm>
          <a:prstGeom prst="rect">
            <a:avLst/>
          </a:prstGeom>
          <a:noFill/>
          <a:ln/>
        </p:spPr>
        <p:txBody>
          <a:bodyPr wrap="square" lIns="0" tIns="0" rIns="0" bIns="0" rtlCol="0" anchor="ctr"/>
          <a:lstStyle/>
          <a:p>
            <a:pPr indent="0" marL="0">
              <a:buNone/>
            </a:pPr>
            <a:r>
              <a:rPr lang="en-US" sz="650" b="1" dirty="0">
                <a:solidFill>
                  <a:srgbClr val="0F766E"/>
                </a:solidFill>
                <a:latin typeface="Calibri" pitchFamily="34" charset="0"/>
                <a:ea typeface="Calibri" pitchFamily="34" charset="-122"/>
                <a:cs typeface="Calibri" pitchFamily="34" charset="-120"/>
              </a:rPr>
              <a:t>Governance needed:</a:t>
            </a:r>
            <a:endParaRPr lang="en-US" sz="650" dirty="0"/>
          </a:p>
        </p:txBody>
      </p:sp>
      <p:sp>
        <p:nvSpPr>
          <p:cNvPr id="80" name="Text 78"/>
          <p:cNvSpPr/>
          <p:nvPr/>
        </p:nvSpPr>
        <p:spPr>
          <a:xfrm>
            <a:off x="6803136" y="4242816"/>
            <a:ext cx="1828800" cy="219456"/>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Monitor continuously</a:t>
            </a:r>
            <a:endParaRPr lang="en-US" sz="800" dirty="0"/>
          </a:p>
        </p:txBody>
      </p:sp>
      <p:sp>
        <p:nvSpPr>
          <p:cNvPr id="81" name="Shape 79"/>
          <p:cNvSpPr/>
          <p:nvPr/>
        </p:nvSpPr>
        <p:spPr>
          <a:xfrm>
            <a:off x="365760" y="4572000"/>
            <a:ext cx="8412480" cy="457200"/>
          </a:xfrm>
          <a:prstGeom prst="rect">
            <a:avLst/>
          </a:prstGeom>
          <a:solidFill>
            <a:srgbClr val="EDF1F7"/>
          </a:solidFill>
          <a:ln/>
        </p:spPr>
      </p:sp>
      <p:sp>
        <p:nvSpPr>
          <p:cNvPr id="82" name="Shape 80"/>
          <p:cNvSpPr/>
          <p:nvPr/>
        </p:nvSpPr>
        <p:spPr>
          <a:xfrm>
            <a:off x="365760" y="4572000"/>
            <a:ext cx="36576" cy="457200"/>
          </a:xfrm>
          <a:prstGeom prst="rect">
            <a:avLst/>
          </a:prstGeom>
          <a:solidFill>
            <a:srgbClr val="B8860B"/>
          </a:solidFill>
          <a:ln/>
        </p:spPr>
      </p:sp>
      <p:sp>
        <p:nvSpPr>
          <p:cNvPr id="83" name="Text 81"/>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84" name="Text 82"/>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Most organisations are stuck at modes 1–2. Competitive advantage lives at 3–4. Mode 5 requires mature governance. Know which mode each use case needs before you build.</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47596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04</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ENTERPRISE USE CASES BY FUNCTION</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Text 5"/>
          <p:cNvSpPr/>
          <p:nvPr/>
        </p:nvSpPr>
        <p:spPr>
          <a:xfrm>
            <a:off x="365760" y="768096"/>
            <a:ext cx="8412480" cy="219456"/>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Where are organisations deploying AI agents today, and what outcomes are they achieving?</a:t>
            </a:r>
            <a:endParaRPr lang="en-US" sz="1000" dirty="0"/>
          </a:p>
        </p:txBody>
      </p:sp>
      <p:sp>
        <p:nvSpPr>
          <p:cNvPr id="8" name="Shape 6"/>
          <p:cNvSpPr/>
          <p:nvPr/>
        </p:nvSpPr>
        <p:spPr>
          <a:xfrm>
            <a:off x="365760" y="1078992"/>
            <a:ext cx="8412480" cy="40233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9" name="Shape 7"/>
          <p:cNvSpPr/>
          <p:nvPr/>
        </p:nvSpPr>
        <p:spPr>
          <a:xfrm>
            <a:off x="365760" y="1078992"/>
            <a:ext cx="36576" cy="402336"/>
          </a:xfrm>
          <a:prstGeom prst="rect">
            <a:avLst/>
          </a:prstGeom>
          <a:solidFill>
            <a:srgbClr val="47596B"/>
          </a:solidFill>
          <a:ln/>
        </p:spPr>
      </p:sp>
      <p:sp>
        <p:nvSpPr>
          <p:cNvPr id="10" name="Text 8"/>
          <p:cNvSpPr/>
          <p:nvPr/>
        </p:nvSpPr>
        <p:spPr>
          <a:xfrm>
            <a:off x="493776" y="1170432"/>
            <a:ext cx="1097280" cy="219456"/>
          </a:xfrm>
          <a:prstGeom prst="rect">
            <a:avLst/>
          </a:prstGeom>
          <a:noFill/>
          <a:ln/>
        </p:spPr>
        <p:txBody>
          <a:bodyPr wrap="square" lIns="0" tIns="0" rIns="0" bIns="0" rtlCol="0" anchor="ctr"/>
          <a:lstStyle/>
          <a:p>
            <a:pPr indent="0" marL="0">
              <a:buNone/>
            </a:pPr>
            <a:r>
              <a:rPr lang="en-US" sz="1050" b="1" dirty="0">
                <a:solidFill>
                  <a:srgbClr val="47596B"/>
                </a:solidFill>
                <a:latin typeface="Calibri" pitchFamily="34" charset="0"/>
                <a:ea typeface="Calibri" pitchFamily="34" charset="-122"/>
                <a:cs typeface="Calibri" pitchFamily="34" charset="-120"/>
              </a:rPr>
              <a:t>Sales</a:t>
            </a:r>
            <a:endParaRPr lang="en-US" sz="1050" dirty="0"/>
          </a:p>
        </p:txBody>
      </p:sp>
      <p:sp>
        <p:nvSpPr>
          <p:cNvPr id="11" name="Text 9"/>
          <p:cNvSpPr/>
          <p:nvPr/>
        </p:nvSpPr>
        <p:spPr>
          <a:xfrm>
            <a:off x="1682496" y="1133856"/>
            <a:ext cx="288950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Prospect research, outreach, CRM hygiene</a:t>
            </a:r>
            <a:endParaRPr lang="en-US" sz="850" dirty="0"/>
          </a:p>
        </p:txBody>
      </p:sp>
      <p:sp>
        <p:nvSpPr>
          <p:cNvPr id="12" name="Shape 10"/>
          <p:cNvSpPr/>
          <p:nvPr/>
        </p:nvSpPr>
        <p:spPr>
          <a:xfrm>
            <a:off x="4681728" y="1115568"/>
            <a:ext cx="4023360" cy="329184"/>
          </a:xfrm>
          <a:prstGeom prst="rect">
            <a:avLst/>
          </a:prstGeom>
          <a:solidFill>
            <a:srgbClr val="F4E4BC"/>
          </a:solidFill>
          <a:ln/>
        </p:spPr>
      </p:sp>
      <p:sp>
        <p:nvSpPr>
          <p:cNvPr id="13" name="Text 11"/>
          <p:cNvSpPr/>
          <p:nvPr/>
        </p:nvSpPr>
        <p:spPr>
          <a:xfrm>
            <a:off x="4754880" y="1133856"/>
            <a:ext cx="3913632" cy="292608"/>
          </a:xfrm>
          <a:prstGeom prst="rect">
            <a:avLst/>
          </a:prstGeom>
          <a:noFill/>
          <a:ln/>
        </p:spPr>
        <p:txBody>
          <a:bodyPr wrap="square" lIns="0" tIns="0" rIns="0" bIns="0" rtlCol="0" anchor="ctr"/>
          <a:lstStyle/>
          <a:p>
            <a:pPr indent="0" marL="0">
              <a:buNone/>
            </a:pPr>
            <a:r>
              <a:rPr lang="en-US" sz="800" i="1" dirty="0">
                <a:solidFill>
                  <a:srgbClr val="0A2540"/>
                </a:solidFill>
                <a:latin typeface="Calibri" pitchFamily="34" charset="0"/>
                <a:ea typeface="Calibri" pitchFamily="34" charset="-122"/>
                <a:cs typeface="Calibri" pitchFamily="34" charset="-120"/>
              </a:rPr>
              <a:t>AI researches 50 prospects daily, drafts LinkedIn messages — saves 2h per rep per day</a:t>
            </a:r>
            <a:endParaRPr lang="en-US" sz="800" dirty="0"/>
          </a:p>
        </p:txBody>
      </p:sp>
      <p:sp>
        <p:nvSpPr>
          <p:cNvPr id="14" name="Shape 12"/>
          <p:cNvSpPr/>
          <p:nvPr/>
        </p:nvSpPr>
        <p:spPr>
          <a:xfrm>
            <a:off x="365760" y="1517904"/>
            <a:ext cx="8412480" cy="40233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5" name="Shape 13"/>
          <p:cNvSpPr/>
          <p:nvPr/>
        </p:nvSpPr>
        <p:spPr>
          <a:xfrm>
            <a:off x="365760" y="1517904"/>
            <a:ext cx="36576" cy="402336"/>
          </a:xfrm>
          <a:prstGeom prst="rect">
            <a:avLst/>
          </a:prstGeom>
          <a:solidFill>
            <a:srgbClr val="47596B"/>
          </a:solidFill>
          <a:ln/>
        </p:spPr>
      </p:sp>
      <p:sp>
        <p:nvSpPr>
          <p:cNvPr id="16" name="Text 14"/>
          <p:cNvSpPr/>
          <p:nvPr/>
        </p:nvSpPr>
        <p:spPr>
          <a:xfrm>
            <a:off x="493776" y="1609344"/>
            <a:ext cx="1097280" cy="219456"/>
          </a:xfrm>
          <a:prstGeom prst="rect">
            <a:avLst/>
          </a:prstGeom>
          <a:noFill/>
          <a:ln/>
        </p:spPr>
        <p:txBody>
          <a:bodyPr wrap="square" lIns="0" tIns="0" rIns="0" bIns="0" rtlCol="0" anchor="ctr"/>
          <a:lstStyle/>
          <a:p>
            <a:pPr indent="0" marL="0">
              <a:buNone/>
            </a:pPr>
            <a:r>
              <a:rPr lang="en-US" sz="1050" b="1" dirty="0">
                <a:solidFill>
                  <a:srgbClr val="47596B"/>
                </a:solidFill>
                <a:latin typeface="Calibri" pitchFamily="34" charset="0"/>
                <a:ea typeface="Calibri" pitchFamily="34" charset="-122"/>
                <a:cs typeface="Calibri" pitchFamily="34" charset="-120"/>
              </a:rPr>
              <a:t>Marketing</a:t>
            </a:r>
            <a:endParaRPr lang="en-US" sz="1050" dirty="0"/>
          </a:p>
        </p:txBody>
      </p:sp>
      <p:sp>
        <p:nvSpPr>
          <p:cNvPr id="17" name="Text 15"/>
          <p:cNvSpPr/>
          <p:nvPr/>
        </p:nvSpPr>
        <p:spPr>
          <a:xfrm>
            <a:off x="1682496" y="1572768"/>
            <a:ext cx="288950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Content at scale, personalisation, SEO</a:t>
            </a:r>
            <a:endParaRPr lang="en-US" sz="850" dirty="0"/>
          </a:p>
        </p:txBody>
      </p:sp>
      <p:sp>
        <p:nvSpPr>
          <p:cNvPr id="18" name="Shape 16"/>
          <p:cNvSpPr/>
          <p:nvPr/>
        </p:nvSpPr>
        <p:spPr>
          <a:xfrm>
            <a:off x="4681728" y="1554480"/>
            <a:ext cx="4023360" cy="329184"/>
          </a:xfrm>
          <a:prstGeom prst="rect">
            <a:avLst/>
          </a:prstGeom>
          <a:solidFill>
            <a:srgbClr val="F4E4BC"/>
          </a:solidFill>
          <a:ln/>
        </p:spPr>
      </p:sp>
      <p:sp>
        <p:nvSpPr>
          <p:cNvPr id="19" name="Text 17"/>
          <p:cNvSpPr/>
          <p:nvPr/>
        </p:nvSpPr>
        <p:spPr>
          <a:xfrm>
            <a:off x="4754880" y="1572768"/>
            <a:ext cx="3913632" cy="292608"/>
          </a:xfrm>
          <a:prstGeom prst="rect">
            <a:avLst/>
          </a:prstGeom>
          <a:noFill/>
          <a:ln/>
        </p:spPr>
        <p:txBody>
          <a:bodyPr wrap="square" lIns="0" tIns="0" rIns="0" bIns="0" rtlCol="0" anchor="ctr"/>
          <a:lstStyle/>
          <a:p>
            <a:pPr indent="0" marL="0">
              <a:buNone/>
            </a:pPr>
            <a:r>
              <a:rPr lang="en-US" sz="800" i="1" dirty="0">
                <a:solidFill>
                  <a:srgbClr val="0A2540"/>
                </a:solidFill>
                <a:latin typeface="Calibri" pitchFamily="34" charset="0"/>
                <a:ea typeface="Calibri" pitchFamily="34" charset="-122"/>
                <a:cs typeface="Calibri" pitchFamily="34" charset="-120"/>
              </a:rPr>
              <a:t>Unilever generates 100+ ad variants per campaign — automatically tested and optimised</a:t>
            </a:r>
            <a:endParaRPr lang="en-US" sz="800" dirty="0"/>
          </a:p>
        </p:txBody>
      </p:sp>
      <p:sp>
        <p:nvSpPr>
          <p:cNvPr id="20" name="Shape 18"/>
          <p:cNvSpPr/>
          <p:nvPr/>
        </p:nvSpPr>
        <p:spPr>
          <a:xfrm>
            <a:off x="365760" y="1956816"/>
            <a:ext cx="8412480" cy="40233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1" name="Shape 19"/>
          <p:cNvSpPr/>
          <p:nvPr/>
        </p:nvSpPr>
        <p:spPr>
          <a:xfrm>
            <a:off x="365760" y="1956816"/>
            <a:ext cx="36576" cy="402336"/>
          </a:xfrm>
          <a:prstGeom prst="rect">
            <a:avLst/>
          </a:prstGeom>
          <a:solidFill>
            <a:srgbClr val="47596B"/>
          </a:solidFill>
          <a:ln/>
        </p:spPr>
      </p:sp>
      <p:sp>
        <p:nvSpPr>
          <p:cNvPr id="22" name="Text 20"/>
          <p:cNvSpPr/>
          <p:nvPr/>
        </p:nvSpPr>
        <p:spPr>
          <a:xfrm>
            <a:off x="493776" y="2048256"/>
            <a:ext cx="1097280" cy="219456"/>
          </a:xfrm>
          <a:prstGeom prst="rect">
            <a:avLst/>
          </a:prstGeom>
          <a:noFill/>
          <a:ln/>
        </p:spPr>
        <p:txBody>
          <a:bodyPr wrap="square" lIns="0" tIns="0" rIns="0" bIns="0" rtlCol="0" anchor="ctr"/>
          <a:lstStyle/>
          <a:p>
            <a:pPr indent="0" marL="0">
              <a:buNone/>
            </a:pPr>
            <a:r>
              <a:rPr lang="en-US" sz="1050" b="1" dirty="0">
                <a:solidFill>
                  <a:srgbClr val="47596B"/>
                </a:solidFill>
                <a:latin typeface="Calibri" pitchFamily="34" charset="0"/>
                <a:ea typeface="Calibri" pitchFamily="34" charset="-122"/>
                <a:cs typeface="Calibri" pitchFamily="34" charset="-120"/>
              </a:rPr>
              <a:t>Finance</a:t>
            </a:r>
            <a:endParaRPr lang="en-US" sz="1050" dirty="0"/>
          </a:p>
        </p:txBody>
      </p:sp>
      <p:sp>
        <p:nvSpPr>
          <p:cNvPr id="23" name="Text 21"/>
          <p:cNvSpPr/>
          <p:nvPr/>
        </p:nvSpPr>
        <p:spPr>
          <a:xfrm>
            <a:off x="1682496" y="2011680"/>
            <a:ext cx="288950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Report drafting, anomaly detection, extraction</a:t>
            </a:r>
            <a:endParaRPr lang="en-US" sz="850" dirty="0"/>
          </a:p>
        </p:txBody>
      </p:sp>
      <p:sp>
        <p:nvSpPr>
          <p:cNvPr id="24" name="Shape 22"/>
          <p:cNvSpPr/>
          <p:nvPr/>
        </p:nvSpPr>
        <p:spPr>
          <a:xfrm>
            <a:off x="4681728" y="1993392"/>
            <a:ext cx="4023360" cy="329184"/>
          </a:xfrm>
          <a:prstGeom prst="rect">
            <a:avLst/>
          </a:prstGeom>
          <a:solidFill>
            <a:srgbClr val="F4E4BC"/>
          </a:solidFill>
          <a:ln/>
        </p:spPr>
      </p:sp>
      <p:sp>
        <p:nvSpPr>
          <p:cNvPr id="25" name="Text 23"/>
          <p:cNvSpPr/>
          <p:nvPr/>
        </p:nvSpPr>
        <p:spPr>
          <a:xfrm>
            <a:off x="4754880" y="2011680"/>
            <a:ext cx="3913632" cy="292608"/>
          </a:xfrm>
          <a:prstGeom prst="rect">
            <a:avLst/>
          </a:prstGeom>
          <a:noFill/>
          <a:ln/>
        </p:spPr>
        <p:txBody>
          <a:bodyPr wrap="square" lIns="0" tIns="0" rIns="0" bIns="0" rtlCol="0" anchor="ctr"/>
          <a:lstStyle/>
          <a:p>
            <a:pPr indent="0" marL="0">
              <a:buNone/>
            </a:pPr>
            <a:r>
              <a:rPr lang="en-US" sz="800" i="1" dirty="0">
                <a:solidFill>
                  <a:srgbClr val="0A2540"/>
                </a:solidFill>
                <a:latin typeface="Calibri" pitchFamily="34" charset="0"/>
                <a:ea typeface="Calibri" pitchFamily="34" charset="-122"/>
                <a:cs typeface="Calibri" pitchFamily="34" charset="-120"/>
              </a:rPr>
              <a:t>JP Morgan COIN reviews 12,000 credit agreements in seconds vs 360,000 lawyer-hours</a:t>
            </a:r>
            <a:endParaRPr lang="en-US" sz="800" dirty="0"/>
          </a:p>
        </p:txBody>
      </p:sp>
      <p:sp>
        <p:nvSpPr>
          <p:cNvPr id="26" name="Shape 24"/>
          <p:cNvSpPr/>
          <p:nvPr/>
        </p:nvSpPr>
        <p:spPr>
          <a:xfrm>
            <a:off x="365760" y="2395728"/>
            <a:ext cx="8412480" cy="40233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7" name="Shape 25"/>
          <p:cNvSpPr/>
          <p:nvPr/>
        </p:nvSpPr>
        <p:spPr>
          <a:xfrm>
            <a:off x="365760" y="2395728"/>
            <a:ext cx="36576" cy="402336"/>
          </a:xfrm>
          <a:prstGeom prst="rect">
            <a:avLst/>
          </a:prstGeom>
          <a:solidFill>
            <a:srgbClr val="47596B"/>
          </a:solidFill>
          <a:ln/>
        </p:spPr>
      </p:sp>
      <p:sp>
        <p:nvSpPr>
          <p:cNvPr id="28" name="Text 26"/>
          <p:cNvSpPr/>
          <p:nvPr/>
        </p:nvSpPr>
        <p:spPr>
          <a:xfrm>
            <a:off x="493776" y="2487168"/>
            <a:ext cx="1097280" cy="219456"/>
          </a:xfrm>
          <a:prstGeom prst="rect">
            <a:avLst/>
          </a:prstGeom>
          <a:noFill/>
          <a:ln/>
        </p:spPr>
        <p:txBody>
          <a:bodyPr wrap="square" lIns="0" tIns="0" rIns="0" bIns="0" rtlCol="0" anchor="ctr"/>
          <a:lstStyle/>
          <a:p>
            <a:pPr indent="0" marL="0">
              <a:buNone/>
            </a:pPr>
            <a:r>
              <a:rPr lang="en-US" sz="1050" b="1" dirty="0">
                <a:solidFill>
                  <a:srgbClr val="47596B"/>
                </a:solidFill>
                <a:latin typeface="Calibri" pitchFamily="34" charset="0"/>
                <a:ea typeface="Calibri" pitchFamily="34" charset="-122"/>
                <a:cs typeface="Calibri" pitchFamily="34" charset="-120"/>
              </a:rPr>
              <a:t>Legal</a:t>
            </a:r>
            <a:endParaRPr lang="en-US" sz="1050" dirty="0"/>
          </a:p>
        </p:txBody>
      </p:sp>
      <p:sp>
        <p:nvSpPr>
          <p:cNvPr id="29" name="Text 27"/>
          <p:cNvSpPr/>
          <p:nvPr/>
        </p:nvSpPr>
        <p:spPr>
          <a:xfrm>
            <a:off x="1682496" y="2450592"/>
            <a:ext cx="288950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Contract review, clause extraction, due diligence</a:t>
            </a:r>
            <a:endParaRPr lang="en-US" sz="850" dirty="0"/>
          </a:p>
        </p:txBody>
      </p:sp>
      <p:sp>
        <p:nvSpPr>
          <p:cNvPr id="30" name="Shape 28"/>
          <p:cNvSpPr/>
          <p:nvPr/>
        </p:nvSpPr>
        <p:spPr>
          <a:xfrm>
            <a:off x="4681728" y="2432304"/>
            <a:ext cx="4023360" cy="329184"/>
          </a:xfrm>
          <a:prstGeom prst="rect">
            <a:avLst/>
          </a:prstGeom>
          <a:solidFill>
            <a:srgbClr val="F4E4BC"/>
          </a:solidFill>
          <a:ln/>
        </p:spPr>
      </p:sp>
      <p:sp>
        <p:nvSpPr>
          <p:cNvPr id="31" name="Text 29"/>
          <p:cNvSpPr/>
          <p:nvPr/>
        </p:nvSpPr>
        <p:spPr>
          <a:xfrm>
            <a:off x="4754880" y="2450592"/>
            <a:ext cx="3913632" cy="292608"/>
          </a:xfrm>
          <a:prstGeom prst="rect">
            <a:avLst/>
          </a:prstGeom>
          <a:noFill/>
          <a:ln/>
        </p:spPr>
        <p:txBody>
          <a:bodyPr wrap="square" lIns="0" tIns="0" rIns="0" bIns="0" rtlCol="0" anchor="ctr"/>
          <a:lstStyle/>
          <a:p>
            <a:pPr indent="0" marL="0">
              <a:buNone/>
            </a:pPr>
            <a:r>
              <a:rPr lang="en-US" sz="800" i="1" dirty="0">
                <a:solidFill>
                  <a:srgbClr val="0A2540"/>
                </a:solidFill>
                <a:latin typeface="Calibri" pitchFamily="34" charset="0"/>
                <a:ea typeface="Calibri" pitchFamily="34" charset="-122"/>
                <a:cs typeface="Calibri" pitchFamily="34" charset="-120"/>
              </a:rPr>
              <a:t>Harvey AI: M&amp;A due diligence from 3 weeks to 3 days</a:t>
            </a:r>
            <a:endParaRPr lang="en-US" sz="800" dirty="0"/>
          </a:p>
        </p:txBody>
      </p:sp>
      <p:sp>
        <p:nvSpPr>
          <p:cNvPr id="32" name="Shape 30"/>
          <p:cNvSpPr/>
          <p:nvPr/>
        </p:nvSpPr>
        <p:spPr>
          <a:xfrm>
            <a:off x="365760" y="2834640"/>
            <a:ext cx="8412480" cy="40233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3" name="Shape 31"/>
          <p:cNvSpPr/>
          <p:nvPr/>
        </p:nvSpPr>
        <p:spPr>
          <a:xfrm>
            <a:off x="365760" y="2834640"/>
            <a:ext cx="36576" cy="402336"/>
          </a:xfrm>
          <a:prstGeom prst="rect">
            <a:avLst/>
          </a:prstGeom>
          <a:solidFill>
            <a:srgbClr val="47596B"/>
          </a:solidFill>
          <a:ln/>
        </p:spPr>
      </p:sp>
      <p:sp>
        <p:nvSpPr>
          <p:cNvPr id="34" name="Text 32"/>
          <p:cNvSpPr/>
          <p:nvPr/>
        </p:nvSpPr>
        <p:spPr>
          <a:xfrm>
            <a:off x="493776" y="2926080"/>
            <a:ext cx="1097280" cy="219456"/>
          </a:xfrm>
          <a:prstGeom prst="rect">
            <a:avLst/>
          </a:prstGeom>
          <a:noFill/>
          <a:ln/>
        </p:spPr>
        <p:txBody>
          <a:bodyPr wrap="square" lIns="0" tIns="0" rIns="0" bIns="0" rtlCol="0" anchor="ctr"/>
          <a:lstStyle/>
          <a:p>
            <a:pPr indent="0" marL="0">
              <a:buNone/>
            </a:pPr>
            <a:r>
              <a:rPr lang="en-US" sz="1050" b="1" dirty="0">
                <a:solidFill>
                  <a:srgbClr val="47596B"/>
                </a:solidFill>
                <a:latin typeface="Calibri" pitchFamily="34" charset="0"/>
                <a:ea typeface="Calibri" pitchFamily="34" charset="-122"/>
                <a:cs typeface="Calibri" pitchFamily="34" charset="-120"/>
              </a:rPr>
              <a:t>HR</a:t>
            </a:r>
            <a:endParaRPr lang="en-US" sz="1050" dirty="0"/>
          </a:p>
        </p:txBody>
      </p:sp>
      <p:sp>
        <p:nvSpPr>
          <p:cNvPr id="35" name="Text 33"/>
          <p:cNvSpPr/>
          <p:nvPr/>
        </p:nvSpPr>
        <p:spPr>
          <a:xfrm>
            <a:off x="1682496" y="2889504"/>
            <a:ext cx="288950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Job descriptions, CV screening, policy Q&amp;A</a:t>
            </a:r>
            <a:endParaRPr lang="en-US" sz="850" dirty="0"/>
          </a:p>
        </p:txBody>
      </p:sp>
      <p:sp>
        <p:nvSpPr>
          <p:cNvPr id="36" name="Shape 34"/>
          <p:cNvSpPr/>
          <p:nvPr/>
        </p:nvSpPr>
        <p:spPr>
          <a:xfrm>
            <a:off x="4681728" y="2871216"/>
            <a:ext cx="4023360" cy="329184"/>
          </a:xfrm>
          <a:prstGeom prst="rect">
            <a:avLst/>
          </a:prstGeom>
          <a:solidFill>
            <a:srgbClr val="F4E4BC"/>
          </a:solidFill>
          <a:ln/>
        </p:spPr>
      </p:sp>
      <p:sp>
        <p:nvSpPr>
          <p:cNvPr id="37" name="Text 35"/>
          <p:cNvSpPr/>
          <p:nvPr/>
        </p:nvSpPr>
        <p:spPr>
          <a:xfrm>
            <a:off x="4754880" y="2889504"/>
            <a:ext cx="3913632" cy="292608"/>
          </a:xfrm>
          <a:prstGeom prst="rect">
            <a:avLst/>
          </a:prstGeom>
          <a:noFill/>
          <a:ln/>
        </p:spPr>
        <p:txBody>
          <a:bodyPr wrap="square" lIns="0" tIns="0" rIns="0" bIns="0" rtlCol="0" anchor="ctr"/>
          <a:lstStyle/>
          <a:p>
            <a:pPr indent="0" marL="0">
              <a:buNone/>
            </a:pPr>
            <a:r>
              <a:rPr lang="en-US" sz="800" i="1" dirty="0">
                <a:solidFill>
                  <a:srgbClr val="0A2540"/>
                </a:solidFill>
                <a:latin typeface="Calibri" pitchFamily="34" charset="0"/>
                <a:ea typeface="Calibri" pitchFamily="34" charset="-122"/>
                <a:cs typeface="Calibri" pitchFamily="34" charset="-120"/>
              </a:rPr>
              <a:t>Hilton screens 1M+ annual applications — time-to-hire from weeks to days</a:t>
            </a:r>
            <a:endParaRPr lang="en-US" sz="800" dirty="0"/>
          </a:p>
        </p:txBody>
      </p:sp>
      <p:sp>
        <p:nvSpPr>
          <p:cNvPr id="38" name="Shape 36"/>
          <p:cNvSpPr/>
          <p:nvPr/>
        </p:nvSpPr>
        <p:spPr>
          <a:xfrm>
            <a:off x="365760" y="3273552"/>
            <a:ext cx="8412480" cy="40233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9" name="Shape 37"/>
          <p:cNvSpPr/>
          <p:nvPr/>
        </p:nvSpPr>
        <p:spPr>
          <a:xfrm>
            <a:off x="365760" y="3273552"/>
            <a:ext cx="36576" cy="402336"/>
          </a:xfrm>
          <a:prstGeom prst="rect">
            <a:avLst/>
          </a:prstGeom>
          <a:solidFill>
            <a:srgbClr val="47596B"/>
          </a:solidFill>
          <a:ln/>
        </p:spPr>
      </p:sp>
      <p:sp>
        <p:nvSpPr>
          <p:cNvPr id="40" name="Text 38"/>
          <p:cNvSpPr/>
          <p:nvPr/>
        </p:nvSpPr>
        <p:spPr>
          <a:xfrm>
            <a:off x="493776" y="3364992"/>
            <a:ext cx="1097280" cy="219456"/>
          </a:xfrm>
          <a:prstGeom prst="rect">
            <a:avLst/>
          </a:prstGeom>
          <a:noFill/>
          <a:ln/>
        </p:spPr>
        <p:txBody>
          <a:bodyPr wrap="square" lIns="0" tIns="0" rIns="0" bIns="0" rtlCol="0" anchor="ctr"/>
          <a:lstStyle/>
          <a:p>
            <a:pPr indent="0" marL="0">
              <a:buNone/>
            </a:pPr>
            <a:r>
              <a:rPr lang="en-US" sz="1050" b="1" dirty="0">
                <a:solidFill>
                  <a:srgbClr val="47596B"/>
                </a:solidFill>
                <a:latin typeface="Calibri" pitchFamily="34" charset="0"/>
                <a:ea typeface="Calibri" pitchFamily="34" charset="-122"/>
                <a:cs typeface="Calibri" pitchFamily="34" charset="-120"/>
              </a:rPr>
              <a:t>IT / Eng</a:t>
            </a:r>
            <a:endParaRPr lang="en-US" sz="1050" dirty="0"/>
          </a:p>
        </p:txBody>
      </p:sp>
      <p:sp>
        <p:nvSpPr>
          <p:cNvPr id="41" name="Text 39"/>
          <p:cNvSpPr/>
          <p:nvPr/>
        </p:nvSpPr>
        <p:spPr>
          <a:xfrm>
            <a:off x="1682496" y="3328416"/>
            <a:ext cx="288950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Code generation, documentation, testing</a:t>
            </a:r>
            <a:endParaRPr lang="en-US" sz="850" dirty="0"/>
          </a:p>
        </p:txBody>
      </p:sp>
      <p:sp>
        <p:nvSpPr>
          <p:cNvPr id="42" name="Shape 40"/>
          <p:cNvSpPr/>
          <p:nvPr/>
        </p:nvSpPr>
        <p:spPr>
          <a:xfrm>
            <a:off x="4681728" y="3310128"/>
            <a:ext cx="4023360" cy="329184"/>
          </a:xfrm>
          <a:prstGeom prst="rect">
            <a:avLst/>
          </a:prstGeom>
          <a:solidFill>
            <a:srgbClr val="F4E4BC"/>
          </a:solidFill>
          <a:ln/>
        </p:spPr>
      </p:sp>
      <p:sp>
        <p:nvSpPr>
          <p:cNvPr id="43" name="Text 41"/>
          <p:cNvSpPr/>
          <p:nvPr/>
        </p:nvSpPr>
        <p:spPr>
          <a:xfrm>
            <a:off x="4754880" y="3328416"/>
            <a:ext cx="3913632" cy="292608"/>
          </a:xfrm>
          <a:prstGeom prst="rect">
            <a:avLst/>
          </a:prstGeom>
          <a:noFill/>
          <a:ln/>
        </p:spPr>
        <p:txBody>
          <a:bodyPr wrap="square" lIns="0" tIns="0" rIns="0" bIns="0" rtlCol="0" anchor="ctr"/>
          <a:lstStyle/>
          <a:p>
            <a:pPr indent="0" marL="0">
              <a:buNone/>
            </a:pPr>
            <a:r>
              <a:rPr lang="en-US" sz="800" i="1" dirty="0">
                <a:solidFill>
                  <a:srgbClr val="0A2540"/>
                </a:solidFill>
                <a:latin typeface="Calibri" pitchFamily="34" charset="0"/>
                <a:ea typeface="Calibri" pitchFamily="34" charset="-122"/>
                <a:cs typeface="Calibri" pitchFamily="34" charset="-120"/>
              </a:rPr>
              <a:t>GitHub Copilot: 55% faster coding · 46% of GitHub code now AI-assisted (2024)</a:t>
            </a:r>
            <a:endParaRPr lang="en-US" sz="800" dirty="0"/>
          </a:p>
        </p:txBody>
      </p:sp>
      <p:sp>
        <p:nvSpPr>
          <p:cNvPr id="44" name="Shape 42"/>
          <p:cNvSpPr/>
          <p:nvPr/>
        </p:nvSpPr>
        <p:spPr>
          <a:xfrm>
            <a:off x="365760" y="3712464"/>
            <a:ext cx="8412480" cy="40233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5" name="Shape 43"/>
          <p:cNvSpPr/>
          <p:nvPr/>
        </p:nvSpPr>
        <p:spPr>
          <a:xfrm>
            <a:off x="365760" y="3712464"/>
            <a:ext cx="36576" cy="402336"/>
          </a:xfrm>
          <a:prstGeom prst="rect">
            <a:avLst/>
          </a:prstGeom>
          <a:solidFill>
            <a:srgbClr val="47596B"/>
          </a:solidFill>
          <a:ln/>
        </p:spPr>
      </p:sp>
      <p:sp>
        <p:nvSpPr>
          <p:cNvPr id="46" name="Text 44"/>
          <p:cNvSpPr/>
          <p:nvPr/>
        </p:nvSpPr>
        <p:spPr>
          <a:xfrm>
            <a:off x="493776" y="3803904"/>
            <a:ext cx="1097280" cy="219456"/>
          </a:xfrm>
          <a:prstGeom prst="rect">
            <a:avLst/>
          </a:prstGeom>
          <a:noFill/>
          <a:ln/>
        </p:spPr>
        <p:txBody>
          <a:bodyPr wrap="square" lIns="0" tIns="0" rIns="0" bIns="0" rtlCol="0" anchor="ctr"/>
          <a:lstStyle/>
          <a:p>
            <a:pPr indent="0" marL="0">
              <a:buNone/>
            </a:pPr>
            <a:r>
              <a:rPr lang="en-US" sz="1050" b="1" dirty="0">
                <a:solidFill>
                  <a:srgbClr val="47596B"/>
                </a:solidFill>
                <a:latin typeface="Calibri" pitchFamily="34" charset="0"/>
                <a:ea typeface="Calibri" pitchFamily="34" charset="-122"/>
                <a:cs typeface="Calibri" pitchFamily="34" charset="-120"/>
              </a:rPr>
              <a:t>Cust. Svc</a:t>
            </a:r>
            <a:endParaRPr lang="en-US" sz="1050" dirty="0"/>
          </a:p>
        </p:txBody>
      </p:sp>
      <p:sp>
        <p:nvSpPr>
          <p:cNvPr id="47" name="Text 45"/>
          <p:cNvSpPr/>
          <p:nvPr/>
        </p:nvSpPr>
        <p:spPr>
          <a:xfrm>
            <a:off x="1682496" y="3767328"/>
            <a:ext cx="288950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Tier-1 resolution, agent assist, summaries</a:t>
            </a:r>
            <a:endParaRPr lang="en-US" sz="850" dirty="0"/>
          </a:p>
        </p:txBody>
      </p:sp>
      <p:sp>
        <p:nvSpPr>
          <p:cNvPr id="48" name="Shape 46"/>
          <p:cNvSpPr/>
          <p:nvPr/>
        </p:nvSpPr>
        <p:spPr>
          <a:xfrm>
            <a:off x="4681728" y="3749040"/>
            <a:ext cx="4023360" cy="329184"/>
          </a:xfrm>
          <a:prstGeom prst="rect">
            <a:avLst/>
          </a:prstGeom>
          <a:solidFill>
            <a:srgbClr val="F4E4BC"/>
          </a:solidFill>
          <a:ln/>
        </p:spPr>
      </p:sp>
      <p:sp>
        <p:nvSpPr>
          <p:cNvPr id="49" name="Text 47"/>
          <p:cNvSpPr/>
          <p:nvPr/>
        </p:nvSpPr>
        <p:spPr>
          <a:xfrm>
            <a:off x="4754880" y="3767328"/>
            <a:ext cx="3913632" cy="292608"/>
          </a:xfrm>
          <a:prstGeom prst="rect">
            <a:avLst/>
          </a:prstGeom>
          <a:noFill/>
          <a:ln/>
        </p:spPr>
        <p:txBody>
          <a:bodyPr wrap="square" lIns="0" tIns="0" rIns="0" bIns="0" rtlCol="0" anchor="ctr"/>
          <a:lstStyle/>
          <a:p>
            <a:pPr indent="0" marL="0">
              <a:buNone/>
            </a:pPr>
            <a:r>
              <a:rPr lang="en-US" sz="800" i="1" dirty="0">
                <a:solidFill>
                  <a:srgbClr val="0A2540"/>
                </a:solidFill>
                <a:latin typeface="Calibri" pitchFamily="34" charset="0"/>
                <a:ea typeface="Calibri" pitchFamily="34" charset="-122"/>
                <a:cs typeface="Calibri" pitchFamily="34" charset="-120"/>
              </a:rPr>
              <a:t>Klarna's AI handles 2.3M conversations per month — equivalent to 700 agents</a:t>
            </a:r>
            <a:endParaRPr lang="en-US" sz="800" dirty="0"/>
          </a:p>
        </p:txBody>
      </p:sp>
      <p:sp>
        <p:nvSpPr>
          <p:cNvPr id="50" name="Shape 48"/>
          <p:cNvSpPr/>
          <p:nvPr/>
        </p:nvSpPr>
        <p:spPr>
          <a:xfrm>
            <a:off x="365760" y="4151376"/>
            <a:ext cx="8412480" cy="402336"/>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51" name="Shape 49"/>
          <p:cNvSpPr/>
          <p:nvPr/>
        </p:nvSpPr>
        <p:spPr>
          <a:xfrm>
            <a:off x="365760" y="4151376"/>
            <a:ext cx="36576" cy="402336"/>
          </a:xfrm>
          <a:prstGeom prst="rect">
            <a:avLst/>
          </a:prstGeom>
          <a:solidFill>
            <a:srgbClr val="47596B"/>
          </a:solidFill>
          <a:ln/>
        </p:spPr>
      </p:sp>
      <p:sp>
        <p:nvSpPr>
          <p:cNvPr id="52" name="Text 50"/>
          <p:cNvSpPr/>
          <p:nvPr/>
        </p:nvSpPr>
        <p:spPr>
          <a:xfrm>
            <a:off x="493776" y="4242816"/>
            <a:ext cx="1097280" cy="219456"/>
          </a:xfrm>
          <a:prstGeom prst="rect">
            <a:avLst/>
          </a:prstGeom>
          <a:noFill/>
          <a:ln/>
        </p:spPr>
        <p:txBody>
          <a:bodyPr wrap="square" lIns="0" tIns="0" rIns="0" bIns="0" rtlCol="0" anchor="ctr"/>
          <a:lstStyle/>
          <a:p>
            <a:pPr indent="0" marL="0">
              <a:buNone/>
            </a:pPr>
            <a:r>
              <a:rPr lang="en-US" sz="1050" b="1" dirty="0">
                <a:solidFill>
                  <a:srgbClr val="47596B"/>
                </a:solidFill>
                <a:latin typeface="Calibri" pitchFamily="34" charset="0"/>
                <a:ea typeface="Calibri" pitchFamily="34" charset="-122"/>
                <a:cs typeface="Calibri" pitchFamily="34" charset="-120"/>
              </a:rPr>
              <a:t>Operations</a:t>
            </a:r>
            <a:endParaRPr lang="en-US" sz="1050" dirty="0"/>
          </a:p>
        </p:txBody>
      </p:sp>
      <p:sp>
        <p:nvSpPr>
          <p:cNvPr id="53" name="Text 51"/>
          <p:cNvSpPr/>
          <p:nvPr/>
        </p:nvSpPr>
        <p:spPr>
          <a:xfrm>
            <a:off x="1682496" y="4206240"/>
            <a:ext cx="288950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SOPs, email triage, meeting notes</a:t>
            </a:r>
            <a:endParaRPr lang="en-US" sz="850" dirty="0"/>
          </a:p>
        </p:txBody>
      </p:sp>
      <p:sp>
        <p:nvSpPr>
          <p:cNvPr id="54" name="Shape 52"/>
          <p:cNvSpPr/>
          <p:nvPr/>
        </p:nvSpPr>
        <p:spPr>
          <a:xfrm>
            <a:off x="4681728" y="4187952"/>
            <a:ext cx="4023360" cy="329184"/>
          </a:xfrm>
          <a:prstGeom prst="rect">
            <a:avLst/>
          </a:prstGeom>
          <a:solidFill>
            <a:srgbClr val="F4E4BC"/>
          </a:solidFill>
          <a:ln/>
        </p:spPr>
      </p:sp>
      <p:sp>
        <p:nvSpPr>
          <p:cNvPr id="55" name="Text 53"/>
          <p:cNvSpPr/>
          <p:nvPr/>
        </p:nvSpPr>
        <p:spPr>
          <a:xfrm>
            <a:off x="4754880" y="4206240"/>
            <a:ext cx="3913632" cy="292608"/>
          </a:xfrm>
          <a:prstGeom prst="rect">
            <a:avLst/>
          </a:prstGeom>
          <a:noFill/>
          <a:ln/>
        </p:spPr>
        <p:txBody>
          <a:bodyPr wrap="square" lIns="0" tIns="0" rIns="0" bIns="0" rtlCol="0" anchor="ctr"/>
          <a:lstStyle/>
          <a:p>
            <a:pPr indent="0" marL="0">
              <a:buNone/>
            </a:pPr>
            <a:r>
              <a:rPr lang="en-US" sz="800" i="1" dirty="0">
                <a:solidFill>
                  <a:srgbClr val="0A2540"/>
                </a:solidFill>
                <a:latin typeface="Calibri" pitchFamily="34" charset="0"/>
                <a:ea typeface="Calibri" pitchFamily="34" charset="-122"/>
                <a:cs typeface="Calibri" pitchFamily="34" charset="-120"/>
              </a:rPr>
              <a:t>Otter and Fireflies save knowledge workers 5+ hours per week</a:t>
            </a:r>
            <a:endParaRPr lang="en-US" sz="800" dirty="0"/>
          </a:p>
        </p:txBody>
      </p:sp>
      <p:sp>
        <p:nvSpPr>
          <p:cNvPr id="56" name="Shape 54"/>
          <p:cNvSpPr/>
          <p:nvPr/>
        </p:nvSpPr>
        <p:spPr>
          <a:xfrm>
            <a:off x="365760" y="4572000"/>
            <a:ext cx="8412480" cy="457200"/>
          </a:xfrm>
          <a:prstGeom prst="rect">
            <a:avLst/>
          </a:prstGeom>
          <a:solidFill>
            <a:srgbClr val="EDF1F7"/>
          </a:solidFill>
          <a:ln/>
        </p:spPr>
      </p:sp>
      <p:sp>
        <p:nvSpPr>
          <p:cNvPr id="57" name="Shape 55"/>
          <p:cNvSpPr/>
          <p:nvPr/>
        </p:nvSpPr>
        <p:spPr>
          <a:xfrm>
            <a:off x="365760" y="4572000"/>
            <a:ext cx="36576" cy="457200"/>
          </a:xfrm>
          <a:prstGeom prst="rect">
            <a:avLst/>
          </a:prstGeom>
          <a:solidFill>
            <a:srgbClr val="B8860B"/>
          </a:solidFill>
          <a:ln/>
        </p:spPr>
      </p:sp>
      <p:sp>
        <p:nvSpPr>
          <p:cNvPr id="58" name="Text 56"/>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9" name="Text 57"/>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These are live deployments today — not hypothetical. The question is not 'can AI do this?' but 'are we capturing this value, or is our competitor?'</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9A3324"/>
          </a:solidFill>
          <a:ln/>
        </p:spPr>
      </p:sp>
      <p:sp>
        <p:nvSpPr>
          <p:cNvPr id="3" name="Shape 1"/>
          <p:cNvSpPr/>
          <p:nvPr/>
        </p:nvSpPr>
        <p:spPr>
          <a:xfrm>
            <a:off x="0" y="5084064"/>
            <a:ext cx="9144000" cy="54864"/>
          </a:xfrm>
          <a:prstGeom prst="rect">
            <a:avLst/>
          </a:prstGeom>
          <a:solidFill>
            <a:srgbClr val="B8860B"/>
          </a:solidFill>
          <a:ln/>
        </p:spPr>
      </p:sp>
      <p:sp>
        <p:nvSpPr>
          <p:cNvPr id="4" name="Text 2"/>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28000" b="1" dirty="0">
                <a:solidFill>
                  <a:srgbClr val="9A3324"/>
                </a:solidFill>
                <a:latin typeface="Calibri" pitchFamily="34" charset="0"/>
                <a:ea typeface="Calibri" pitchFamily="34" charset="-122"/>
                <a:cs typeface="Calibri" pitchFamily="34" charset="-120"/>
              </a:rPr>
              <a:t>05</a:t>
            </a:r>
            <a:endParaRPr lang="en-US" sz="28000" dirty="0"/>
          </a:p>
        </p:txBody>
      </p:sp>
      <p:sp>
        <p:nvSpPr>
          <p:cNvPr id="5" name="Text 3"/>
          <p:cNvSpPr/>
          <p:nvPr/>
        </p:nvSpPr>
        <p:spPr>
          <a:xfrm>
            <a:off x="457200" y="1097280"/>
            <a:ext cx="4572000" cy="329184"/>
          </a:xfrm>
          <a:prstGeom prst="rect">
            <a:avLst/>
          </a:prstGeom>
          <a:noFill/>
          <a:ln/>
        </p:spPr>
        <p:txBody>
          <a:bodyPr wrap="square" lIns="0" tIns="0" rIns="0" bIns="0" rtlCol="0" anchor="ctr"/>
          <a:lstStyle/>
          <a:p>
            <a:pPr indent="0" marL="0">
              <a:buNone/>
            </a:pPr>
            <a:r>
              <a:rPr lang="en-US" sz="1000" b="1" spc="400" kern="0" dirty="0">
                <a:solidFill>
                  <a:srgbClr val="B8860B"/>
                </a:solidFill>
                <a:latin typeface="Calibri" pitchFamily="34" charset="0"/>
                <a:ea typeface="Calibri" pitchFamily="34" charset="-122"/>
                <a:cs typeface="Calibri" pitchFamily="34" charset="-120"/>
              </a:rPr>
              <a:t>CHAPTER 05</a:t>
            </a:r>
            <a:endParaRPr lang="en-US" sz="1000" dirty="0"/>
          </a:p>
        </p:txBody>
      </p:sp>
      <p:sp>
        <p:nvSpPr>
          <p:cNvPr id="6" name="Text 4"/>
          <p:cNvSpPr/>
          <p:nvPr/>
        </p:nvSpPr>
        <p:spPr>
          <a:xfrm>
            <a:off x="457200" y="1463040"/>
            <a:ext cx="457200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Risks &amp; Governance</a:t>
            </a:r>
            <a:endParaRPr lang="en-US" sz="4000" dirty="0"/>
          </a:p>
        </p:txBody>
      </p:sp>
      <p:sp>
        <p:nvSpPr>
          <p:cNvPr id="7" name="Shape 5"/>
          <p:cNvSpPr/>
          <p:nvPr/>
        </p:nvSpPr>
        <p:spPr>
          <a:xfrm>
            <a:off x="457200" y="2834640"/>
            <a:ext cx="1097280" cy="36576"/>
          </a:xfrm>
          <a:prstGeom prst="rect">
            <a:avLst/>
          </a:prstGeom>
          <a:solidFill>
            <a:srgbClr val="B8860B"/>
          </a:solidFill>
          <a:ln/>
        </p:spPr>
      </p:sp>
      <p:sp>
        <p:nvSpPr>
          <p:cNvPr id="8" name="Text 6"/>
          <p:cNvSpPr/>
          <p:nvPr/>
        </p:nvSpPr>
        <p:spPr>
          <a:xfrm>
            <a:off x="457200" y="2962656"/>
            <a:ext cx="4572000" cy="548640"/>
          </a:xfrm>
          <a:prstGeom prst="rect">
            <a:avLst/>
          </a:prstGeom>
          <a:noFill/>
          <a:ln/>
        </p:spPr>
        <p:txBody>
          <a:bodyPr wrap="square" lIns="0" tIns="0" rIns="0" bIns="0" rtlCol="0" anchor="ctr"/>
          <a:lstStyle/>
          <a:p>
            <a:pPr indent="0" marL="0">
              <a:buNone/>
            </a:pPr>
            <a:r>
              <a:rPr lang="en-US" sz="1150" i="1" dirty="0">
                <a:solidFill>
                  <a:srgbClr val="EDF1F7"/>
                </a:solidFill>
                <a:latin typeface="Calibri" pitchFamily="34" charset="0"/>
                <a:ea typeface="Calibri" pitchFamily="34" charset="-122"/>
                <a:cs typeface="Calibri" pitchFamily="34" charset="-120"/>
              </a:rPr>
              <a:t>What can go wrong, how to prevent it, and what you are legally required to do.</a:t>
            </a:r>
            <a:endParaRPr lang="en-US" sz="1150" dirty="0"/>
          </a:p>
        </p:txBody>
      </p:sp>
      <p:sp>
        <p:nvSpPr>
          <p:cNvPr id="9" name="Text 7"/>
          <p:cNvSpPr/>
          <p:nvPr/>
        </p:nvSpPr>
        <p:spPr>
          <a:xfrm>
            <a:off x="457200" y="3657600"/>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Four risk categories every leader must address</a:t>
            </a:r>
            <a:endParaRPr lang="en-US" sz="950" dirty="0"/>
          </a:p>
        </p:txBody>
      </p:sp>
      <p:sp>
        <p:nvSpPr>
          <p:cNvPr id="10" name="Text 8"/>
          <p:cNvSpPr/>
          <p:nvPr/>
        </p:nvSpPr>
        <p:spPr>
          <a:xfrm>
            <a:off x="457200" y="3895344"/>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Shadow AI — the hidden risk in your organisation</a:t>
            </a:r>
            <a:endParaRPr lang="en-US" sz="950" dirty="0"/>
          </a:p>
        </p:txBody>
      </p:sp>
      <p:sp>
        <p:nvSpPr>
          <p:cNvPr id="11" name="Text 9"/>
          <p:cNvSpPr/>
          <p:nvPr/>
        </p:nvSpPr>
        <p:spPr>
          <a:xfrm>
            <a:off x="457200" y="4133088"/>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EU AI Act — what compliance requires by 2026</a:t>
            </a:r>
            <a:endParaRPr lang="en-US" sz="950" dirty="0"/>
          </a:p>
        </p:txBody>
      </p:sp>
      <p:sp>
        <p:nvSpPr>
          <p:cNvPr id="12" name="Text 10"/>
          <p:cNvSpPr/>
          <p:nvPr/>
        </p:nvSpPr>
        <p:spPr>
          <a:xfrm>
            <a:off x="457200" y="4370832"/>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The three biggest leadership mistakes</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9A3324"/>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05</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FOUR RISK CATEGORIES EVERY LEADER MUST ADDRESS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3986784" cy="186537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8" name="Shape 6"/>
          <p:cNvSpPr/>
          <p:nvPr/>
        </p:nvSpPr>
        <p:spPr>
          <a:xfrm>
            <a:off x="365760" y="841248"/>
            <a:ext cx="3986784" cy="329184"/>
          </a:xfrm>
          <a:prstGeom prst="rect">
            <a:avLst/>
          </a:prstGeom>
          <a:solidFill>
            <a:srgbClr val="9A3324"/>
          </a:solidFill>
          <a:ln/>
        </p:spPr>
      </p:sp>
      <p:sp>
        <p:nvSpPr>
          <p:cNvPr id="9" name="Text 7"/>
          <p:cNvSpPr/>
          <p:nvPr/>
        </p:nvSpPr>
        <p:spPr>
          <a:xfrm>
            <a:off x="493776" y="896112"/>
            <a:ext cx="3803904" cy="237744"/>
          </a:xfrm>
          <a:prstGeom prst="rect">
            <a:avLst/>
          </a:prstGeom>
          <a:noFill/>
          <a:ln/>
        </p:spPr>
        <p:txBody>
          <a:bodyPr wrap="square" lIns="0" tIns="0" rIns="0" bIns="0" rtlCol="0" anchor="ctr"/>
          <a:lstStyle/>
          <a:p>
            <a:pPr indent="0" marL="0">
              <a:buNone/>
            </a:pPr>
            <a:r>
              <a:rPr lang="en-US" sz="1050" b="1" spc="150" kern="0" dirty="0">
                <a:solidFill>
                  <a:srgbClr val="FFFFFF"/>
                </a:solidFill>
                <a:latin typeface="Calibri" pitchFamily="34" charset="0"/>
                <a:ea typeface="Calibri" pitchFamily="34" charset="-122"/>
                <a:cs typeface="Calibri" pitchFamily="34" charset="-120"/>
              </a:rPr>
              <a:t>ACCURACY  ·  RISK</a:t>
            </a:r>
            <a:endParaRPr lang="en-US" sz="1050" dirty="0"/>
          </a:p>
        </p:txBody>
      </p:sp>
      <p:sp>
        <p:nvSpPr>
          <p:cNvPr id="10" name="Shape 8"/>
          <p:cNvSpPr/>
          <p:nvPr/>
        </p:nvSpPr>
        <p:spPr>
          <a:xfrm>
            <a:off x="493776" y="1298448"/>
            <a:ext cx="36576" cy="36576"/>
          </a:xfrm>
          <a:prstGeom prst="rect">
            <a:avLst/>
          </a:prstGeom>
          <a:solidFill>
            <a:srgbClr val="9A3324"/>
          </a:solidFill>
          <a:ln/>
        </p:spPr>
      </p:sp>
      <p:sp>
        <p:nvSpPr>
          <p:cNvPr id="11" name="Text 9"/>
          <p:cNvSpPr/>
          <p:nvPr/>
        </p:nvSpPr>
        <p:spPr>
          <a:xfrm>
            <a:off x="585216" y="1243584"/>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Hallucination: confidently states false information</a:t>
            </a:r>
            <a:endParaRPr lang="en-US" sz="850" dirty="0"/>
          </a:p>
        </p:txBody>
      </p:sp>
      <p:sp>
        <p:nvSpPr>
          <p:cNvPr id="12" name="Shape 10"/>
          <p:cNvSpPr/>
          <p:nvPr/>
        </p:nvSpPr>
        <p:spPr>
          <a:xfrm>
            <a:off x="493776" y="1591056"/>
            <a:ext cx="36576" cy="36576"/>
          </a:xfrm>
          <a:prstGeom prst="rect">
            <a:avLst/>
          </a:prstGeom>
          <a:solidFill>
            <a:srgbClr val="9A3324"/>
          </a:solidFill>
          <a:ln/>
        </p:spPr>
      </p:sp>
      <p:sp>
        <p:nvSpPr>
          <p:cNvPr id="13" name="Text 11"/>
          <p:cNvSpPr/>
          <p:nvPr/>
        </p:nvSpPr>
        <p:spPr>
          <a:xfrm>
            <a:off x="585216" y="1536192"/>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Knowledge cutoff: doesn't know recent events</a:t>
            </a:r>
            <a:endParaRPr lang="en-US" sz="850" dirty="0"/>
          </a:p>
        </p:txBody>
      </p:sp>
      <p:sp>
        <p:nvSpPr>
          <p:cNvPr id="14" name="Shape 12"/>
          <p:cNvSpPr/>
          <p:nvPr/>
        </p:nvSpPr>
        <p:spPr>
          <a:xfrm>
            <a:off x="493776" y="1883664"/>
            <a:ext cx="36576" cy="36576"/>
          </a:xfrm>
          <a:prstGeom prst="rect">
            <a:avLst/>
          </a:prstGeom>
          <a:solidFill>
            <a:srgbClr val="9A3324"/>
          </a:solidFill>
          <a:ln/>
        </p:spPr>
      </p:sp>
      <p:sp>
        <p:nvSpPr>
          <p:cNvPr id="15" name="Text 13"/>
          <p:cNvSpPr/>
          <p:nvPr/>
        </p:nvSpPr>
        <p:spPr>
          <a:xfrm>
            <a:off x="585216" y="1828800"/>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Reasoning errors on complex logic</a:t>
            </a:r>
            <a:endParaRPr lang="en-US" sz="850" dirty="0"/>
          </a:p>
        </p:txBody>
      </p:sp>
      <p:sp>
        <p:nvSpPr>
          <p:cNvPr id="16" name="Shape 14"/>
          <p:cNvSpPr/>
          <p:nvPr/>
        </p:nvSpPr>
        <p:spPr>
          <a:xfrm>
            <a:off x="475488" y="2212848"/>
            <a:ext cx="3840480" cy="201168"/>
          </a:xfrm>
          <a:prstGeom prst="rect">
            <a:avLst/>
          </a:prstGeom>
          <a:solidFill>
            <a:srgbClr val="E8F0EA"/>
          </a:solidFill>
          <a:ln/>
        </p:spPr>
      </p:sp>
      <p:sp>
        <p:nvSpPr>
          <p:cNvPr id="17" name="Text 15"/>
          <p:cNvSpPr/>
          <p:nvPr/>
        </p:nvSpPr>
        <p:spPr>
          <a:xfrm>
            <a:off x="530352" y="2231136"/>
            <a:ext cx="3749040" cy="164592"/>
          </a:xfrm>
          <a:prstGeom prst="rect">
            <a:avLst/>
          </a:prstGeom>
          <a:noFill/>
          <a:ln/>
        </p:spPr>
        <p:txBody>
          <a:bodyPr wrap="square" lIns="0" tIns="0" rIns="0" bIns="0" rtlCol="0" anchor="ctr"/>
          <a:lstStyle/>
          <a:p>
            <a:pPr indent="0" marL="0">
              <a:buNone/>
            </a:pPr>
            <a:r>
              <a:rPr lang="en-US" sz="800" b="1" dirty="0">
                <a:solidFill>
                  <a:srgbClr val="5B8C6B"/>
                </a:solidFill>
                <a:latin typeface="Calibri" pitchFamily="34" charset="0"/>
                <a:ea typeface="Calibri" pitchFamily="34" charset="-122"/>
                <a:cs typeface="Calibri" pitchFamily="34" charset="-120"/>
              </a:rPr>
              <a:t>Mitigation  ·  RAG grounding + human review on high-stakes outputs</a:t>
            </a:r>
            <a:endParaRPr lang="en-US" sz="800" dirty="0"/>
          </a:p>
        </p:txBody>
      </p:sp>
      <p:sp>
        <p:nvSpPr>
          <p:cNvPr id="18" name="Shape 16"/>
          <p:cNvSpPr/>
          <p:nvPr/>
        </p:nvSpPr>
        <p:spPr>
          <a:xfrm>
            <a:off x="475488" y="2432304"/>
            <a:ext cx="3840480" cy="201168"/>
          </a:xfrm>
          <a:prstGeom prst="rect">
            <a:avLst/>
          </a:prstGeom>
          <a:solidFill>
            <a:srgbClr val="F4E4BC"/>
          </a:solidFill>
          <a:ln/>
        </p:spPr>
      </p:sp>
      <p:sp>
        <p:nvSpPr>
          <p:cNvPr id="19" name="Text 17"/>
          <p:cNvSpPr/>
          <p:nvPr/>
        </p:nvSpPr>
        <p:spPr>
          <a:xfrm>
            <a:off x="530352" y="2450592"/>
            <a:ext cx="3749040" cy="164592"/>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e.g. AI legal brief cites a case that doesn't exist — lawyer acts before reviewing</a:t>
            </a:r>
            <a:endParaRPr lang="en-US" sz="750" dirty="0"/>
          </a:p>
        </p:txBody>
      </p:sp>
      <p:sp>
        <p:nvSpPr>
          <p:cNvPr id="20" name="Shape 18"/>
          <p:cNvSpPr/>
          <p:nvPr/>
        </p:nvSpPr>
        <p:spPr>
          <a:xfrm>
            <a:off x="4590288" y="841248"/>
            <a:ext cx="3986784" cy="186537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1" name="Shape 19"/>
          <p:cNvSpPr/>
          <p:nvPr/>
        </p:nvSpPr>
        <p:spPr>
          <a:xfrm>
            <a:off x="4590288" y="841248"/>
            <a:ext cx="3986784" cy="329184"/>
          </a:xfrm>
          <a:prstGeom prst="rect">
            <a:avLst/>
          </a:prstGeom>
          <a:solidFill>
            <a:srgbClr val="9A3324"/>
          </a:solidFill>
          <a:ln/>
        </p:spPr>
      </p:sp>
      <p:sp>
        <p:nvSpPr>
          <p:cNvPr id="22" name="Text 20"/>
          <p:cNvSpPr/>
          <p:nvPr/>
        </p:nvSpPr>
        <p:spPr>
          <a:xfrm>
            <a:off x="4718304" y="896112"/>
            <a:ext cx="3803904" cy="237744"/>
          </a:xfrm>
          <a:prstGeom prst="rect">
            <a:avLst/>
          </a:prstGeom>
          <a:noFill/>
          <a:ln/>
        </p:spPr>
        <p:txBody>
          <a:bodyPr wrap="square" lIns="0" tIns="0" rIns="0" bIns="0" rtlCol="0" anchor="ctr"/>
          <a:lstStyle/>
          <a:p>
            <a:pPr indent="0" marL="0">
              <a:buNone/>
            </a:pPr>
            <a:r>
              <a:rPr lang="en-US" sz="1050" b="1" spc="150" kern="0" dirty="0">
                <a:solidFill>
                  <a:srgbClr val="FFFFFF"/>
                </a:solidFill>
                <a:latin typeface="Calibri" pitchFamily="34" charset="0"/>
                <a:ea typeface="Calibri" pitchFamily="34" charset="-122"/>
                <a:cs typeface="Calibri" pitchFamily="34" charset="-120"/>
              </a:rPr>
              <a:t>SECURITY  ·  RISK</a:t>
            </a:r>
            <a:endParaRPr lang="en-US" sz="1050" dirty="0"/>
          </a:p>
        </p:txBody>
      </p:sp>
      <p:sp>
        <p:nvSpPr>
          <p:cNvPr id="23" name="Shape 21"/>
          <p:cNvSpPr/>
          <p:nvPr/>
        </p:nvSpPr>
        <p:spPr>
          <a:xfrm>
            <a:off x="4718304" y="1298448"/>
            <a:ext cx="36576" cy="36576"/>
          </a:xfrm>
          <a:prstGeom prst="rect">
            <a:avLst/>
          </a:prstGeom>
          <a:solidFill>
            <a:srgbClr val="9A3324"/>
          </a:solidFill>
          <a:ln/>
        </p:spPr>
      </p:sp>
      <p:sp>
        <p:nvSpPr>
          <p:cNvPr id="24" name="Text 22"/>
          <p:cNvSpPr/>
          <p:nvPr/>
        </p:nvSpPr>
        <p:spPr>
          <a:xfrm>
            <a:off x="4809744" y="1243584"/>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Prompt injection: malicious instructions hijack AI</a:t>
            </a:r>
            <a:endParaRPr lang="en-US" sz="850" dirty="0"/>
          </a:p>
        </p:txBody>
      </p:sp>
      <p:sp>
        <p:nvSpPr>
          <p:cNvPr id="25" name="Shape 23"/>
          <p:cNvSpPr/>
          <p:nvPr/>
        </p:nvSpPr>
        <p:spPr>
          <a:xfrm>
            <a:off x="4718304" y="1591056"/>
            <a:ext cx="36576" cy="36576"/>
          </a:xfrm>
          <a:prstGeom prst="rect">
            <a:avLst/>
          </a:prstGeom>
          <a:solidFill>
            <a:srgbClr val="9A3324"/>
          </a:solidFill>
          <a:ln/>
        </p:spPr>
      </p:sp>
      <p:sp>
        <p:nvSpPr>
          <p:cNvPr id="26" name="Text 24"/>
          <p:cNvSpPr/>
          <p:nvPr/>
        </p:nvSpPr>
        <p:spPr>
          <a:xfrm>
            <a:off x="4809744" y="1536192"/>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Data exfiltration: sensitive data sent externally</a:t>
            </a:r>
            <a:endParaRPr lang="en-US" sz="850" dirty="0"/>
          </a:p>
        </p:txBody>
      </p:sp>
      <p:sp>
        <p:nvSpPr>
          <p:cNvPr id="27" name="Shape 25"/>
          <p:cNvSpPr/>
          <p:nvPr/>
        </p:nvSpPr>
        <p:spPr>
          <a:xfrm>
            <a:off x="4718304" y="1883664"/>
            <a:ext cx="36576" cy="36576"/>
          </a:xfrm>
          <a:prstGeom prst="rect">
            <a:avLst/>
          </a:prstGeom>
          <a:solidFill>
            <a:srgbClr val="9A3324"/>
          </a:solidFill>
          <a:ln/>
        </p:spPr>
      </p:sp>
      <p:sp>
        <p:nvSpPr>
          <p:cNvPr id="28" name="Text 26"/>
          <p:cNvSpPr/>
          <p:nvPr/>
        </p:nvSpPr>
        <p:spPr>
          <a:xfrm>
            <a:off x="4809744" y="1828800"/>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Jailbreaking: adversarial prompts bypass guardrails</a:t>
            </a:r>
            <a:endParaRPr lang="en-US" sz="850" dirty="0"/>
          </a:p>
        </p:txBody>
      </p:sp>
      <p:sp>
        <p:nvSpPr>
          <p:cNvPr id="29" name="Shape 27"/>
          <p:cNvSpPr/>
          <p:nvPr/>
        </p:nvSpPr>
        <p:spPr>
          <a:xfrm>
            <a:off x="4700016" y="2212848"/>
            <a:ext cx="3840480" cy="201168"/>
          </a:xfrm>
          <a:prstGeom prst="rect">
            <a:avLst/>
          </a:prstGeom>
          <a:solidFill>
            <a:srgbClr val="E8F0EA"/>
          </a:solidFill>
          <a:ln/>
        </p:spPr>
      </p:sp>
      <p:sp>
        <p:nvSpPr>
          <p:cNvPr id="30" name="Text 28"/>
          <p:cNvSpPr/>
          <p:nvPr/>
        </p:nvSpPr>
        <p:spPr>
          <a:xfrm>
            <a:off x="4754880" y="2231136"/>
            <a:ext cx="3749040" cy="164592"/>
          </a:xfrm>
          <a:prstGeom prst="rect">
            <a:avLst/>
          </a:prstGeom>
          <a:noFill/>
          <a:ln/>
        </p:spPr>
        <p:txBody>
          <a:bodyPr wrap="square" lIns="0" tIns="0" rIns="0" bIns="0" rtlCol="0" anchor="ctr"/>
          <a:lstStyle/>
          <a:p>
            <a:pPr indent="0" marL="0">
              <a:buNone/>
            </a:pPr>
            <a:r>
              <a:rPr lang="en-US" sz="800" b="1" dirty="0">
                <a:solidFill>
                  <a:srgbClr val="5B8C6B"/>
                </a:solidFill>
                <a:latin typeface="Calibri" pitchFamily="34" charset="0"/>
                <a:ea typeface="Calibri" pitchFamily="34" charset="-122"/>
                <a:cs typeface="Calibri" pitchFamily="34" charset="-120"/>
              </a:rPr>
              <a:t>Mitigation  ·  Input/output filtering + access controls + red-teaming</a:t>
            </a:r>
            <a:endParaRPr lang="en-US" sz="800" dirty="0"/>
          </a:p>
        </p:txBody>
      </p:sp>
      <p:sp>
        <p:nvSpPr>
          <p:cNvPr id="31" name="Shape 29"/>
          <p:cNvSpPr/>
          <p:nvPr/>
        </p:nvSpPr>
        <p:spPr>
          <a:xfrm>
            <a:off x="4700016" y="2432304"/>
            <a:ext cx="3840480" cy="201168"/>
          </a:xfrm>
          <a:prstGeom prst="rect">
            <a:avLst/>
          </a:prstGeom>
          <a:solidFill>
            <a:srgbClr val="F4E4BC"/>
          </a:solidFill>
          <a:ln/>
        </p:spPr>
      </p:sp>
      <p:sp>
        <p:nvSpPr>
          <p:cNvPr id="32" name="Text 30"/>
          <p:cNvSpPr/>
          <p:nvPr/>
        </p:nvSpPr>
        <p:spPr>
          <a:xfrm>
            <a:off x="4754880" y="2450592"/>
            <a:ext cx="3749040" cy="164592"/>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e.g. Customer pastes malicious instructions causing AI to leak internal data</a:t>
            </a:r>
            <a:endParaRPr lang="en-US" sz="750" dirty="0"/>
          </a:p>
        </p:txBody>
      </p:sp>
      <p:sp>
        <p:nvSpPr>
          <p:cNvPr id="33" name="Shape 31"/>
          <p:cNvSpPr/>
          <p:nvPr/>
        </p:nvSpPr>
        <p:spPr>
          <a:xfrm>
            <a:off x="365760" y="2834640"/>
            <a:ext cx="3986784" cy="186537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4" name="Shape 32"/>
          <p:cNvSpPr/>
          <p:nvPr/>
        </p:nvSpPr>
        <p:spPr>
          <a:xfrm>
            <a:off x="365760" y="2834640"/>
            <a:ext cx="3986784" cy="329184"/>
          </a:xfrm>
          <a:prstGeom prst="rect">
            <a:avLst/>
          </a:prstGeom>
          <a:solidFill>
            <a:srgbClr val="9A3324"/>
          </a:solidFill>
          <a:ln/>
        </p:spPr>
      </p:sp>
      <p:sp>
        <p:nvSpPr>
          <p:cNvPr id="35" name="Text 33"/>
          <p:cNvSpPr/>
          <p:nvPr/>
        </p:nvSpPr>
        <p:spPr>
          <a:xfrm>
            <a:off x="493776" y="2889504"/>
            <a:ext cx="3803904" cy="237744"/>
          </a:xfrm>
          <a:prstGeom prst="rect">
            <a:avLst/>
          </a:prstGeom>
          <a:noFill/>
          <a:ln/>
        </p:spPr>
        <p:txBody>
          <a:bodyPr wrap="square" lIns="0" tIns="0" rIns="0" bIns="0" rtlCol="0" anchor="ctr"/>
          <a:lstStyle/>
          <a:p>
            <a:pPr indent="0" marL="0">
              <a:buNone/>
            </a:pPr>
            <a:r>
              <a:rPr lang="en-US" sz="1050" b="1" spc="150" kern="0" dirty="0">
                <a:solidFill>
                  <a:srgbClr val="FFFFFF"/>
                </a:solidFill>
                <a:latin typeface="Calibri" pitchFamily="34" charset="0"/>
                <a:ea typeface="Calibri" pitchFamily="34" charset="-122"/>
                <a:cs typeface="Calibri" pitchFamily="34" charset="-120"/>
              </a:rPr>
              <a:t>COMPLIANCE  ·  RISK</a:t>
            </a:r>
            <a:endParaRPr lang="en-US" sz="1050" dirty="0"/>
          </a:p>
        </p:txBody>
      </p:sp>
      <p:sp>
        <p:nvSpPr>
          <p:cNvPr id="36" name="Shape 34"/>
          <p:cNvSpPr/>
          <p:nvPr/>
        </p:nvSpPr>
        <p:spPr>
          <a:xfrm>
            <a:off x="493776" y="3291840"/>
            <a:ext cx="36576" cy="36576"/>
          </a:xfrm>
          <a:prstGeom prst="rect">
            <a:avLst/>
          </a:prstGeom>
          <a:solidFill>
            <a:srgbClr val="9A3324"/>
          </a:solidFill>
          <a:ln/>
        </p:spPr>
      </p:sp>
      <p:sp>
        <p:nvSpPr>
          <p:cNvPr id="37" name="Text 35"/>
          <p:cNvSpPr/>
          <p:nvPr/>
        </p:nvSpPr>
        <p:spPr>
          <a:xfrm>
            <a:off x="585216" y="3236976"/>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Privacy: PII in prompts may breach GDPR/CCPA</a:t>
            </a:r>
            <a:endParaRPr lang="en-US" sz="850" dirty="0"/>
          </a:p>
        </p:txBody>
      </p:sp>
      <p:sp>
        <p:nvSpPr>
          <p:cNvPr id="38" name="Shape 36"/>
          <p:cNvSpPr/>
          <p:nvPr/>
        </p:nvSpPr>
        <p:spPr>
          <a:xfrm>
            <a:off x="493776" y="3584448"/>
            <a:ext cx="36576" cy="36576"/>
          </a:xfrm>
          <a:prstGeom prst="rect">
            <a:avLst/>
          </a:prstGeom>
          <a:solidFill>
            <a:srgbClr val="9A3324"/>
          </a:solidFill>
          <a:ln/>
        </p:spPr>
      </p:sp>
      <p:sp>
        <p:nvSpPr>
          <p:cNvPr id="39" name="Text 37"/>
          <p:cNvSpPr/>
          <p:nvPr/>
        </p:nvSpPr>
        <p:spPr>
          <a:xfrm>
            <a:off x="585216" y="3529584"/>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Copyright: outputs may reproduce protected content</a:t>
            </a:r>
            <a:endParaRPr lang="en-US" sz="850" dirty="0"/>
          </a:p>
        </p:txBody>
      </p:sp>
      <p:sp>
        <p:nvSpPr>
          <p:cNvPr id="40" name="Shape 38"/>
          <p:cNvSpPr/>
          <p:nvPr/>
        </p:nvSpPr>
        <p:spPr>
          <a:xfrm>
            <a:off x="493776" y="3877056"/>
            <a:ext cx="36576" cy="36576"/>
          </a:xfrm>
          <a:prstGeom prst="rect">
            <a:avLst/>
          </a:prstGeom>
          <a:solidFill>
            <a:srgbClr val="9A3324"/>
          </a:solidFill>
          <a:ln/>
        </p:spPr>
      </p:sp>
      <p:sp>
        <p:nvSpPr>
          <p:cNvPr id="41" name="Text 39"/>
          <p:cNvSpPr/>
          <p:nvPr/>
        </p:nvSpPr>
        <p:spPr>
          <a:xfrm>
            <a:off x="585216" y="3822192"/>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Regulated advice: AI cannot give legal/medical advice</a:t>
            </a:r>
            <a:endParaRPr lang="en-US" sz="850" dirty="0"/>
          </a:p>
        </p:txBody>
      </p:sp>
      <p:sp>
        <p:nvSpPr>
          <p:cNvPr id="42" name="Shape 40"/>
          <p:cNvSpPr/>
          <p:nvPr/>
        </p:nvSpPr>
        <p:spPr>
          <a:xfrm>
            <a:off x="475488" y="4206240"/>
            <a:ext cx="3840480" cy="201168"/>
          </a:xfrm>
          <a:prstGeom prst="rect">
            <a:avLst/>
          </a:prstGeom>
          <a:solidFill>
            <a:srgbClr val="E8F0EA"/>
          </a:solidFill>
          <a:ln/>
        </p:spPr>
      </p:sp>
      <p:sp>
        <p:nvSpPr>
          <p:cNvPr id="43" name="Text 41"/>
          <p:cNvSpPr/>
          <p:nvPr/>
        </p:nvSpPr>
        <p:spPr>
          <a:xfrm>
            <a:off x="530352" y="4224528"/>
            <a:ext cx="3749040" cy="164592"/>
          </a:xfrm>
          <a:prstGeom prst="rect">
            <a:avLst/>
          </a:prstGeom>
          <a:noFill/>
          <a:ln/>
        </p:spPr>
        <p:txBody>
          <a:bodyPr wrap="square" lIns="0" tIns="0" rIns="0" bIns="0" rtlCol="0" anchor="ctr"/>
          <a:lstStyle/>
          <a:p>
            <a:pPr indent="0" marL="0">
              <a:buNone/>
            </a:pPr>
            <a:r>
              <a:rPr lang="en-US" sz="800" b="1" dirty="0">
                <a:solidFill>
                  <a:srgbClr val="5B8C6B"/>
                </a:solidFill>
                <a:latin typeface="Calibri" pitchFamily="34" charset="0"/>
                <a:ea typeface="Calibri" pitchFamily="34" charset="-122"/>
                <a:cs typeface="Calibri" pitchFamily="34" charset="-120"/>
              </a:rPr>
              <a:t>Mitigation  ·  Data minimisation + legal review of high-risk use cases</a:t>
            </a:r>
            <a:endParaRPr lang="en-US" sz="800" dirty="0"/>
          </a:p>
        </p:txBody>
      </p:sp>
      <p:sp>
        <p:nvSpPr>
          <p:cNvPr id="44" name="Shape 42"/>
          <p:cNvSpPr/>
          <p:nvPr/>
        </p:nvSpPr>
        <p:spPr>
          <a:xfrm>
            <a:off x="475488" y="4425696"/>
            <a:ext cx="3840480" cy="201168"/>
          </a:xfrm>
          <a:prstGeom prst="rect">
            <a:avLst/>
          </a:prstGeom>
          <a:solidFill>
            <a:srgbClr val="F4E4BC"/>
          </a:solidFill>
          <a:ln/>
        </p:spPr>
      </p:sp>
      <p:sp>
        <p:nvSpPr>
          <p:cNvPr id="45" name="Text 43"/>
          <p:cNvSpPr/>
          <p:nvPr/>
        </p:nvSpPr>
        <p:spPr>
          <a:xfrm>
            <a:off x="530352" y="4443984"/>
            <a:ext cx="3749040" cy="164592"/>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e.g. Employee pastes customer PII into ChatGPT — potential GDPR Article 6 violation</a:t>
            </a:r>
            <a:endParaRPr lang="en-US" sz="750" dirty="0"/>
          </a:p>
        </p:txBody>
      </p:sp>
      <p:sp>
        <p:nvSpPr>
          <p:cNvPr id="46" name="Shape 44"/>
          <p:cNvSpPr/>
          <p:nvPr/>
        </p:nvSpPr>
        <p:spPr>
          <a:xfrm>
            <a:off x="4590288" y="2834640"/>
            <a:ext cx="3986784" cy="186537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7" name="Shape 45"/>
          <p:cNvSpPr/>
          <p:nvPr/>
        </p:nvSpPr>
        <p:spPr>
          <a:xfrm>
            <a:off x="4590288" y="2834640"/>
            <a:ext cx="3986784" cy="329184"/>
          </a:xfrm>
          <a:prstGeom prst="rect">
            <a:avLst/>
          </a:prstGeom>
          <a:solidFill>
            <a:srgbClr val="9A3324"/>
          </a:solidFill>
          <a:ln/>
        </p:spPr>
      </p:sp>
      <p:sp>
        <p:nvSpPr>
          <p:cNvPr id="48" name="Text 46"/>
          <p:cNvSpPr/>
          <p:nvPr/>
        </p:nvSpPr>
        <p:spPr>
          <a:xfrm>
            <a:off x="4718304" y="2889504"/>
            <a:ext cx="3803904" cy="237744"/>
          </a:xfrm>
          <a:prstGeom prst="rect">
            <a:avLst/>
          </a:prstGeom>
          <a:noFill/>
          <a:ln/>
        </p:spPr>
        <p:txBody>
          <a:bodyPr wrap="square" lIns="0" tIns="0" rIns="0" bIns="0" rtlCol="0" anchor="ctr"/>
          <a:lstStyle/>
          <a:p>
            <a:pPr indent="0" marL="0">
              <a:buNone/>
            </a:pPr>
            <a:r>
              <a:rPr lang="en-US" sz="1050" b="1" spc="150" kern="0" dirty="0">
                <a:solidFill>
                  <a:srgbClr val="FFFFFF"/>
                </a:solidFill>
                <a:latin typeface="Calibri" pitchFamily="34" charset="0"/>
                <a:ea typeface="Calibri" pitchFamily="34" charset="-122"/>
                <a:cs typeface="Calibri" pitchFamily="34" charset="-120"/>
              </a:rPr>
              <a:t>OPERATIONAL  ·  RISK</a:t>
            </a:r>
            <a:endParaRPr lang="en-US" sz="1050" dirty="0"/>
          </a:p>
        </p:txBody>
      </p:sp>
      <p:sp>
        <p:nvSpPr>
          <p:cNvPr id="49" name="Shape 47"/>
          <p:cNvSpPr/>
          <p:nvPr/>
        </p:nvSpPr>
        <p:spPr>
          <a:xfrm>
            <a:off x="4718304" y="3291840"/>
            <a:ext cx="36576" cy="36576"/>
          </a:xfrm>
          <a:prstGeom prst="rect">
            <a:avLst/>
          </a:prstGeom>
          <a:solidFill>
            <a:srgbClr val="9A3324"/>
          </a:solidFill>
          <a:ln/>
        </p:spPr>
      </p:sp>
      <p:sp>
        <p:nvSpPr>
          <p:cNvPr id="50" name="Text 48"/>
          <p:cNvSpPr/>
          <p:nvPr/>
        </p:nvSpPr>
        <p:spPr>
          <a:xfrm>
            <a:off x="4809744" y="3236976"/>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Over-reliance: staff stops thinking critically</a:t>
            </a:r>
            <a:endParaRPr lang="en-US" sz="850" dirty="0"/>
          </a:p>
        </p:txBody>
      </p:sp>
      <p:sp>
        <p:nvSpPr>
          <p:cNvPr id="51" name="Shape 49"/>
          <p:cNvSpPr/>
          <p:nvPr/>
        </p:nvSpPr>
        <p:spPr>
          <a:xfrm>
            <a:off x="4718304" y="3584448"/>
            <a:ext cx="36576" cy="36576"/>
          </a:xfrm>
          <a:prstGeom prst="rect">
            <a:avLst/>
          </a:prstGeom>
          <a:solidFill>
            <a:srgbClr val="9A3324"/>
          </a:solidFill>
          <a:ln/>
        </p:spPr>
      </p:sp>
      <p:sp>
        <p:nvSpPr>
          <p:cNvPr id="52" name="Text 50"/>
          <p:cNvSpPr/>
          <p:nvPr/>
        </p:nvSpPr>
        <p:spPr>
          <a:xfrm>
            <a:off x="4809744" y="3529584"/>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Agentic failures: wrong actions taken at scale</a:t>
            </a:r>
            <a:endParaRPr lang="en-US" sz="850" dirty="0"/>
          </a:p>
        </p:txBody>
      </p:sp>
      <p:sp>
        <p:nvSpPr>
          <p:cNvPr id="53" name="Shape 51"/>
          <p:cNvSpPr/>
          <p:nvPr/>
        </p:nvSpPr>
        <p:spPr>
          <a:xfrm>
            <a:off x="4718304" y="3877056"/>
            <a:ext cx="36576" cy="36576"/>
          </a:xfrm>
          <a:prstGeom prst="rect">
            <a:avLst/>
          </a:prstGeom>
          <a:solidFill>
            <a:srgbClr val="9A3324"/>
          </a:solidFill>
          <a:ln/>
        </p:spPr>
      </p:sp>
      <p:sp>
        <p:nvSpPr>
          <p:cNvPr id="54" name="Text 52"/>
          <p:cNvSpPr/>
          <p:nvPr/>
        </p:nvSpPr>
        <p:spPr>
          <a:xfrm>
            <a:off x="4809744" y="3822192"/>
            <a:ext cx="3712464" cy="27432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Vendor lock-in: single AI provider dependency</a:t>
            </a:r>
            <a:endParaRPr lang="en-US" sz="850" dirty="0"/>
          </a:p>
        </p:txBody>
      </p:sp>
      <p:sp>
        <p:nvSpPr>
          <p:cNvPr id="55" name="Shape 53"/>
          <p:cNvSpPr/>
          <p:nvPr/>
        </p:nvSpPr>
        <p:spPr>
          <a:xfrm>
            <a:off x="4700016" y="4206240"/>
            <a:ext cx="3840480" cy="201168"/>
          </a:xfrm>
          <a:prstGeom prst="rect">
            <a:avLst/>
          </a:prstGeom>
          <a:solidFill>
            <a:srgbClr val="E8F0EA"/>
          </a:solidFill>
          <a:ln/>
        </p:spPr>
      </p:sp>
      <p:sp>
        <p:nvSpPr>
          <p:cNvPr id="56" name="Text 54"/>
          <p:cNvSpPr/>
          <p:nvPr/>
        </p:nvSpPr>
        <p:spPr>
          <a:xfrm>
            <a:off x="4754880" y="4224528"/>
            <a:ext cx="3749040" cy="164592"/>
          </a:xfrm>
          <a:prstGeom prst="rect">
            <a:avLst/>
          </a:prstGeom>
          <a:noFill/>
          <a:ln/>
        </p:spPr>
        <p:txBody>
          <a:bodyPr wrap="square" lIns="0" tIns="0" rIns="0" bIns="0" rtlCol="0" anchor="ctr"/>
          <a:lstStyle/>
          <a:p>
            <a:pPr indent="0" marL="0">
              <a:buNone/>
            </a:pPr>
            <a:r>
              <a:rPr lang="en-US" sz="800" b="1" dirty="0">
                <a:solidFill>
                  <a:srgbClr val="5B8C6B"/>
                </a:solidFill>
                <a:latin typeface="Calibri" pitchFamily="34" charset="0"/>
                <a:ea typeface="Calibri" pitchFamily="34" charset="-122"/>
                <a:cs typeface="Calibri" pitchFamily="34" charset="-120"/>
              </a:rPr>
              <a:t>Mitigation  ·  AI literacy training + human-in-the-loop for decisions</a:t>
            </a:r>
            <a:endParaRPr lang="en-US" sz="800" dirty="0"/>
          </a:p>
        </p:txBody>
      </p:sp>
      <p:sp>
        <p:nvSpPr>
          <p:cNvPr id="57" name="Shape 55"/>
          <p:cNvSpPr/>
          <p:nvPr/>
        </p:nvSpPr>
        <p:spPr>
          <a:xfrm>
            <a:off x="4700016" y="4425696"/>
            <a:ext cx="3840480" cy="201168"/>
          </a:xfrm>
          <a:prstGeom prst="rect">
            <a:avLst/>
          </a:prstGeom>
          <a:solidFill>
            <a:srgbClr val="F4E4BC"/>
          </a:solidFill>
          <a:ln/>
        </p:spPr>
      </p:sp>
      <p:sp>
        <p:nvSpPr>
          <p:cNvPr id="58" name="Text 56"/>
          <p:cNvSpPr/>
          <p:nvPr/>
        </p:nvSpPr>
        <p:spPr>
          <a:xfrm>
            <a:off x="4754880" y="4443984"/>
            <a:ext cx="3749040" cy="164592"/>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e.g. Air Canada chatbot promised a discount — court ruled the AI output legally binding</a:t>
            </a:r>
            <a:endParaRPr lang="en-US" sz="750" dirty="0"/>
          </a:p>
        </p:txBody>
      </p:sp>
      <p:sp>
        <p:nvSpPr>
          <p:cNvPr id="59" name="Shape 57"/>
          <p:cNvSpPr/>
          <p:nvPr/>
        </p:nvSpPr>
        <p:spPr>
          <a:xfrm>
            <a:off x="365760" y="4626864"/>
            <a:ext cx="8412480" cy="384048"/>
          </a:xfrm>
          <a:prstGeom prst="rect">
            <a:avLst/>
          </a:prstGeom>
          <a:solidFill>
            <a:srgbClr val="0A2540"/>
          </a:solidFill>
          <a:ln/>
        </p:spPr>
      </p:sp>
      <p:sp>
        <p:nvSpPr>
          <p:cNvPr id="60" name="Text 58"/>
          <p:cNvSpPr/>
          <p:nvPr/>
        </p:nvSpPr>
        <p:spPr>
          <a:xfrm>
            <a:off x="457200" y="4663440"/>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GOVERNANCE FIRST  ·  Define AI use policy, data classification, approval gates, and incident response BEFORE deployment — not after the first failure.</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9A3324"/>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05</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SHADOW AI &amp; EU AI ACT — TWO GOVERNANCE PRIORITIES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4078224" cy="369417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8" name="Shape 6"/>
          <p:cNvSpPr/>
          <p:nvPr/>
        </p:nvSpPr>
        <p:spPr>
          <a:xfrm>
            <a:off x="365760" y="841248"/>
            <a:ext cx="4078224" cy="365760"/>
          </a:xfrm>
          <a:prstGeom prst="rect">
            <a:avLst/>
          </a:prstGeom>
          <a:solidFill>
            <a:srgbClr val="9A3324"/>
          </a:solidFill>
          <a:ln/>
        </p:spPr>
      </p:sp>
      <p:sp>
        <p:nvSpPr>
          <p:cNvPr id="9" name="Text 7"/>
          <p:cNvSpPr/>
          <p:nvPr/>
        </p:nvSpPr>
        <p:spPr>
          <a:xfrm>
            <a:off x="457200" y="877824"/>
            <a:ext cx="3895344" cy="310896"/>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SHADOW AI  ·  The Hidden Risk</a:t>
            </a:r>
            <a:endParaRPr lang="en-US" sz="1100" dirty="0"/>
          </a:p>
        </p:txBody>
      </p:sp>
      <p:sp>
        <p:nvSpPr>
          <p:cNvPr id="10" name="Text 8"/>
          <p:cNvSpPr/>
          <p:nvPr/>
        </p:nvSpPr>
        <p:spPr>
          <a:xfrm>
            <a:off x="457200" y="1298448"/>
            <a:ext cx="3895344" cy="219456"/>
          </a:xfrm>
          <a:prstGeom prst="rect">
            <a:avLst/>
          </a:prstGeom>
          <a:noFill/>
          <a:ln/>
        </p:spPr>
        <p:txBody>
          <a:bodyPr wrap="square" lIns="0" tIns="0" rIns="0" bIns="0" rtlCol="0" anchor="ctr"/>
          <a:lstStyle/>
          <a:p>
            <a:pPr indent="0" marL="0">
              <a:buNone/>
            </a:pPr>
            <a:r>
              <a:rPr lang="en-US" sz="950" b="1" dirty="0">
                <a:solidFill>
                  <a:srgbClr val="9A3324"/>
                </a:solidFill>
                <a:latin typeface="Calibri" pitchFamily="34" charset="0"/>
                <a:ea typeface="Calibri" pitchFamily="34" charset="-122"/>
                <a:cs typeface="Calibri" pitchFamily="34" charset="-120"/>
              </a:rPr>
              <a:t>Employees using AI tools without IT or security approval.</a:t>
            </a:r>
            <a:endParaRPr lang="en-US" sz="950" dirty="0"/>
          </a:p>
        </p:txBody>
      </p:sp>
      <p:sp>
        <p:nvSpPr>
          <p:cNvPr id="11" name="Shape 9"/>
          <p:cNvSpPr/>
          <p:nvPr/>
        </p:nvSpPr>
        <p:spPr>
          <a:xfrm>
            <a:off x="457200" y="1572768"/>
            <a:ext cx="3895344" cy="420624"/>
          </a:xfrm>
          <a:prstGeom prst="rect">
            <a:avLst/>
          </a:prstGeom>
          <a:solidFill>
            <a:srgbClr val="FFFFFF"/>
          </a:solidFill>
          <a:ln/>
        </p:spPr>
      </p:sp>
      <p:sp>
        <p:nvSpPr>
          <p:cNvPr id="12" name="Text 10"/>
          <p:cNvSpPr/>
          <p:nvPr/>
        </p:nvSpPr>
        <p:spPr>
          <a:xfrm>
            <a:off x="530352" y="1591056"/>
            <a:ext cx="3749040" cy="201168"/>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  Customer PII pasted into ChatGPT for analysis</a:t>
            </a:r>
            <a:endParaRPr lang="en-US" sz="900" dirty="0"/>
          </a:p>
        </p:txBody>
      </p:sp>
      <p:sp>
        <p:nvSpPr>
          <p:cNvPr id="13" name="Text 11"/>
          <p:cNvSpPr/>
          <p:nvPr/>
        </p:nvSpPr>
        <p:spPr>
          <a:xfrm>
            <a:off x="640080" y="1792224"/>
            <a:ext cx="3639312" cy="182880"/>
          </a:xfrm>
          <a:prstGeom prst="rect">
            <a:avLst/>
          </a:prstGeom>
          <a:noFill/>
          <a:ln/>
        </p:spPr>
        <p:txBody>
          <a:bodyPr wrap="square" lIns="0" tIns="0" rIns="0" bIns="0" rtlCol="0" anchor="ctr"/>
          <a:lstStyle/>
          <a:p>
            <a:pPr indent="0" marL="0">
              <a:buNone/>
            </a:pPr>
            <a:r>
              <a:rPr lang="en-US" sz="750" i="1" dirty="0">
                <a:solidFill>
                  <a:srgbClr val="9A3324"/>
                </a:solidFill>
                <a:latin typeface="Calibri" pitchFamily="34" charset="0"/>
                <a:ea typeface="Calibri" pitchFamily="34" charset="-122"/>
                <a:cs typeface="Calibri" pitchFamily="34" charset="-120"/>
              </a:rPr>
              <a:t>Potential GDPR breach — data leaves EU</a:t>
            </a:r>
            <a:endParaRPr lang="en-US" sz="750" dirty="0"/>
          </a:p>
        </p:txBody>
      </p:sp>
      <p:sp>
        <p:nvSpPr>
          <p:cNvPr id="14" name="Shape 12"/>
          <p:cNvSpPr/>
          <p:nvPr/>
        </p:nvSpPr>
        <p:spPr>
          <a:xfrm>
            <a:off x="457200" y="2029968"/>
            <a:ext cx="3895344" cy="420624"/>
          </a:xfrm>
          <a:prstGeom prst="rect">
            <a:avLst/>
          </a:prstGeom>
          <a:solidFill>
            <a:srgbClr val="FAFBFD"/>
          </a:solidFill>
          <a:ln/>
        </p:spPr>
      </p:sp>
      <p:sp>
        <p:nvSpPr>
          <p:cNvPr id="15" name="Text 13"/>
          <p:cNvSpPr/>
          <p:nvPr/>
        </p:nvSpPr>
        <p:spPr>
          <a:xfrm>
            <a:off x="530352" y="2048256"/>
            <a:ext cx="3749040" cy="201168"/>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  Contracts summarised via personal accounts</a:t>
            </a:r>
            <a:endParaRPr lang="en-US" sz="900" dirty="0"/>
          </a:p>
        </p:txBody>
      </p:sp>
      <p:sp>
        <p:nvSpPr>
          <p:cNvPr id="16" name="Text 14"/>
          <p:cNvSpPr/>
          <p:nvPr/>
        </p:nvSpPr>
        <p:spPr>
          <a:xfrm>
            <a:off x="640080" y="2249424"/>
            <a:ext cx="3639312" cy="182880"/>
          </a:xfrm>
          <a:prstGeom prst="rect">
            <a:avLst/>
          </a:prstGeom>
          <a:noFill/>
          <a:ln/>
        </p:spPr>
        <p:txBody>
          <a:bodyPr wrap="square" lIns="0" tIns="0" rIns="0" bIns="0" rtlCol="0" anchor="ctr"/>
          <a:lstStyle/>
          <a:p>
            <a:pPr indent="0" marL="0">
              <a:buNone/>
            </a:pPr>
            <a:r>
              <a:rPr lang="en-US" sz="750" i="1" dirty="0">
                <a:solidFill>
                  <a:srgbClr val="9A3324"/>
                </a:solidFill>
                <a:latin typeface="Calibri" pitchFamily="34" charset="0"/>
                <a:ea typeface="Calibri" pitchFamily="34" charset="-122"/>
                <a:cs typeface="Calibri" pitchFamily="34" charset="-120"/>
              </a:rPr>
              <a:t>IP risk — terms exposed to external AI training</a:t>
            </a:r>
            <a:endParaRPr lang="en-US" sz="750" dirty="0"/>
          </a:p>
        </p:txBody>
      </p:sp>
      <p:sp>
        <p:nvSpPr>
          <p:cNvPr id="17" name="Shape 15"/>
          <p:cNvSpPr/>
          <p:nvPr/>
        </p:nvSpPr>
        <p:spPr>
          <a:xfrm>
            <a:off x="457200" y="2487168"/>
            <a:ext cx="3895344" cy="420624"/>
          </a:xfrm>
          <a:prstGeom prst="rect">
            <a:avLst/>
          </a:prstGeom>
          <a:solidFill>
            <a:srgbClr val="FFFFFF"/>
          </a:solidFill>
          <a:ln/>
        </p:spPr>
      </p:sp>
      <p:sp>
        <p:nvSpPr>
          <p:cNvPr id="18" name="Text 16"/>
          <p:cNvSpPr/>
          <p:nvPr/>
        </p:nvSpPr>
        <p:spPr>
          <a:xfrm>
            <a:off x="530352" y="2505456"/>
            <a:ext cx="3749040" cy="201168"/>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  HR decisions aided by unapproved AI</a:t>
            </a:r>
            <a:endParaRPr lang="en-US" sz="900" dirty="0"/>
          </a:p>
        </p:txBody>
      </p:sp>
      <p:sp>
        <p:nvSpPr>
          <p:cNvPr id="19" name="Text 17"/>
          <p:cNvSpPr/>
          <p:nvPr/>
        </p:nvSpPr>
        <p:spPr>
          <a:xfrm>
            <a:off x="640080" y="2706624"/>
            <a:ext cx="3639312" cy="182880"/>
          </a:xfrm>
          <a:prstGeom prst="rect">
            <a:avLst/>
          </a:prstGeom>
          <a:noFill/>
          <a:ln/>
        </p:spPr>
        <p:txBody>
          <a:bodyPr wrap="square" lIns="0" tIns="0" rIns="0" bIns="0" rtlCol="0" anchor="ctr"/>
          <a:lstStyle/>
          <a:p>
            <a:pPr indent="0" marL="0">
              <a:buNone/>
            </a:pPr>
            <a:r>
              <a:rPr lang="en-US" sz="750" i="1" dirty="0">
                <a:solidFill>
                  <a:srgbClr val="9A3324"/>
                </a:solidFill>
                <a:latin typeface="Calibri" pitchFamily="34" charset="0"/>
                <a:ea typeface="Calibri" pitchFamily="34" charset="-122"/>
                <a:cs typeface="Calibri" pitchFamily="34" charset="-120"/>
              </a:rPr>
              <a:t>Compliance risk — no audit trail, bias liability</a:t>
            </a:r>
            <a:endParaRPr lang="en-US" sz="750" dirty="0"/>
          </a:p>
        </p:txBody>
      </p:sp>
      <p:sp>
        <p:nvSpPr>
          <p:cNvPr id="20" name="Shape 18"/>
          <p:cNvSpPr/>
          <p:nvPr/>
        </p:nvSpPr>
        <p:spPr>
          <a:xfrm>
            <a:off x="457200" y="2944368"/>
            <a:ext cx="3895344" cy="420624"/>
          </a:xfrm>
          <a:prstGeom prst="rect">
            <a:avLst/>
          </a:prstGeom>
          <a:solidFill>
            <a:srgbClr val="FAFBFD"/>
          </a:solidFill>
          <a:ln/>
        </p:spPr>
      </p:sp>
      <p:sp>
        <p:nvSpPr>
          <p:cNvPr id="21" name="Text 19"/>
          <p:cNvSpPr/>
          <p:nvPr/>
        </p:nvSpPr>
        <p:spPr>
          <a:xfrm>
            <a:off x="530352" y="2962656"/>
            <a:ext cx="3749040" cy="201168"/>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  Strategy shared with external LLMs</a:t>
            </a:r>
            <a:endParaRPr lang="en-US" sz="900" dirty="0"/>
          </a:p>
        </p:txBody>
      </p:sp>
      <p:sp>
        <p:nvSpPr>
          <p:cNvPr id="22" name="Text 20"/>
          <p:cNvSpPr/>
          <p:nvPr/>
        </p:nvSpPr>
        <p:spPr>
          <a:xfrm>
            <a:off x="640080" y="3163824"/>
            <a:ext cx="3639312" cy="182880"/>
          </a:xfrm>
          <a:prstGeom prst="rect">
            <a:avLst/>
          </a:prstGeom>
          <a:noFill/>
          <a:ln/>
        </p:spPr>
        <p:txBody>
          <a:bodyPr wrap="square" lIns="0" tIns="0" rIns="0" bIns="0" rtlCol="0" anchor="ctr"/>
          <a:lstStyle/>
          <a:p>
            <a:pPr indent="0" marL="0">
              <a:buNone/>
            </a:pPr>
            <a:r>
              <a:rPr lang="en-US" sz="750" i="1" dirty="0">
                <a:solidFill>
                  <a:srgbClr val="9A3324"/>
                </a:solidFill>
                <a:latin typeface="Calibri" pitchFamily="34" charset="0"/>
                <a:ea typeface="Calibri" pitchFamily="34" charset="-122"/>
                <a:cs typeface="Calibri" pitchFamily="34" charset="-120"/>
              </a:rPr>
              <a:t>Competitive intelligence risk</a:t>
            </a:r>
            <a:endParaRPr lang="en-US" sz="750" dirty="0"/>
          </a:p>
        </p:txBody>
      </p:sp>
      <p:sp>
        <p:nvSpPr>
          <p:cNvPr id="23" name="Shape 21"/>
          <p:cNvSpPr/>
          <p:nvPr/>
        </p:nvSpPr>
        <p:spPr>
          <a:xfrm>
            <a:off x="457200" y="3822192"/>
            <a:ext cx="3895344" cy="621792"/>
          </a:xfrm>
          <a:prstGeom prst="rect">
            <a:avLst/>
          </a:prstGeom>
          <a:solidFill>
            <a:srgbClr val="E8F0EA"/>
          </a:solidFill>
          <a:ln/>
        </p:spPr>
      </p:sp>
      <p:sp>
        <p:nvSpPr>
          <p:cNvPr id="24" name="Text 22"/>
          <p:cNvSpPr/>
          <p:nvPr/>
        </p:nvSpPr>
        <p:spPr>
          <a:xfrm>
            <a:off x="530352" y="3858768"/>
            <a:ext cx="914400" cy="164592"/>
          </a:xfrm>
          <a:prstGeom prst="rect">
            <a:avLst/>
          </a:prstGeom>
          <a:noFill/>
          <a:ln/>
        </p:spPr>
        <p:txBody>
          <a:bodyPr wrap="square" lIns="0" tIns="0" rIns="0" bIns="0" rtlCol="0" anchor="ctr"/>
          <a:lstStyle/>
          <a:p>
            <a:pPr indent="0" marL="0">
              <a:buNone/>
            </a:pPr>
            <a:r>
              <a:rPr lang="en-US" sz="750" b="1" spc="150" kern="0" dirty="0">
                <a:solidFill>
                  <a:srgbClr val="5B8C6B"/>
                </a:solidFill>
                <a:latin typeface="Calibri" pitchFamily="34" charset="0"/>
                <a:ea typeface="Calibri" pitchFamily="34" charset="-122"/>
                <a:cs typeface="Calibri" pitchFamily="34" charset="-120"/>
              </a:rPr>
              <a:t>FIX</a:t>
            </a:r>
            <a:endParaRPr lang="en-US" sz="750" dirty="0"/>
          </a:p>
        </p:txBody>
      </p:sp>
      <p:sp>
        <p:nvSpPr>
          <p:cNvPr id="25" name="Text 23"/>
          <p:cNvSpPr/>
          <p:nvPr/>
        </p:nvSpPr>
        <p:spPr>
          <a:xfrm>
            <a:off x="530352" y="4023360"/>
            <a:ext cx="3785616" cy="384048"/>
          </a:xfrm>
          <a:prstGeom prst="rect">
            <a:avLst/>
          </a:prstGeom>
          <a:noFill/>
          <a:ln/>
        </p:spPr>
        <p:txBody>
          <a:bodyPr wrap="square" lIns="0" tIns="0" rIns="0" bIns="0" rtlCol="0" anchor="ctr"/>
          <a:lstStyle/>
          <a:p>
            <a:pPr indent="0" marL="0">
              <a:buNone/>
            </a:pPr>
            <a:r>
              <a:rPr lang="en-US" sz="850" dirty="0">
                <a:solidFill>
                  <a:srgbClr val="0A2540"/>
                </a:solidFill>
                <a:latin typeface="Calibri" pitchFamily="34" charset="0"/>
                <a:ea typeface="Calibri" pitchFamily="34" charset="-122"/>
                <a:cs typeface="Calibri" pitchFamily="34" charset="-120"/>
              </a:rPr>
              <a:t>Publish a clear AI use policy. Provide approved tools meeting security standards. Make the approved path easier than the shadow path.</a:t>
            </a:r>
            <a:endParaRPr lang="en-US" sz="850" dirty="0"/>
          </a:p>
        </p:txBody>
      </p:sp>
      <p:sp>
        <p:nvSpPr>
          <p:cNvPr id="26" name="Shape 24"/>
          <p:cNvSpPr/>
          <p:nvPr/>
        </p:nvSpPr>
        <p:spPr>
          <a:xfrm>
            <a:off x="4700016" y="841248"/>
            <a:ext cx="4078224" cy="369417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7" name="Shape 25"/>
          <p:cNvSpPr/>
          <p:nvPr/>
        </p:nvSpPr>
        <p:spPr>
          <a:xfrm>
            <a:off x="4700016" y="841248"/>
            <a:ext cx="4078224" cy="365760"/>
          </a:xfrm>
          <a:prstGeom prst="rect">
            <a:avLst/>
          </a:prstGeom>
          <a:solidFill>
            <a:srgbClr val="0A2540"/>
          </a:solidFill>
          <a:ln/>
        </p:spPr>
      </p:sp>
      <p:sp>
        <p:nvSpPr>
          <p:cNvPr id="28" name="Text 26"/>
          <p:cNvSpPr/>
          <p:nvPr/>
        </p:nvSpPr>
        <p:spPr>
          <a:xfrm>
            <a:off x="4791456" y="877824"/>
            <a:ext cx="3895344" cy="310896"/>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EU AI ACT  ·  Key Facts</a:t>
            </a:r>
            <a:endParaRPr lang="en-US" sz="1100" dirty="0"/>
          </a:p>
        </p:txBody>
      </p:sp>
      <p:sp>
        <p:nvSpPr>
          <p:cNvPr id="29" name="Shape 27"/>
          <p:cNvSpPr/>
          <p:nvPr/>
        </p:nvSpPr>
        <p:spPr>
          <a:xfrm>
            <a:off x="4791456" y="1316736"/>
            <a:ext cx="3895344" cy="493776"/>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0" name="Shape 28"/>
          <p:cNvSpPr/>
          <p:nvPr/>
        </p:nvSpPr>
        <p:spPr>
          <a:xfrm>
            <a:off x="4791456" y="1316736"/>
            <a:ext cx="1005840" cy="493776"/>
          </a:xfrm>
          <a:prstGeom prst="rect">
            <a:avLst/>
          </a:prstGeom>
          <a:solidFill>
            <a:srgbClr val="9A3324"/>
          </a:solidFill>
          <a:ln/>
        </p:spPr>
      </p:sp>
      <p:sp>
        <p:nvSpPr>
          <p:cNvPr id="31" name="Text 29"/>
          <p:cNvSpPr/>
          <p:nvPr/>
        </p:nvSpPr>
        <p:spPr>
          <a:xfrm>
            <a:off x="4791456" y="1481328"/>
            <a:ext cx="1005840" cy="201168"/>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BANNED</a:t>
            </a:r>
            <a:endParaRPr lang="en-US" sz="850" dirty="0"/>
          </a:p>
        </p:txBody>
      </p:sp>
      <p:sp>
        <p:nvSpPr>
          <p:cNvPr id="32" name="Text 30"/>
          <p:cNvSpPr/>
          <p:nvPr/>
        </p:nvSpPr>
        <p:spPr>
          <a:xfrm>
            <a:off x="5888736" y="1389888"/>
            <a:ext cx="2743200" cy="38404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Social scoring · Real-time biometric surveillance · Subliminal manipulation</a:t>
            </a:r>
            <a:endParaRPr lang="en-US" sz="850" dirty="0"/>
          </a:p>
        </p:txBody>
      </p:sp>
      <p:sp>
        <p:nvSpPr>
          <p:cNvPr id="33" name="Shape 31"/>
          <p:cNvSpPr/>
          <p:nvPr/>
        </p:nvSpPr>
        <p:spPr>
          <a:xfrm>
            <a:off x="4791456" y="1865376"/>
            <a:ext cx="3895344" cy="493776"/>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4" name="Shape 32"/>
          <p:cNvSpPr/>
          <p:nvPr/>
        </p:nvSpPr>
        <p:spPr>
          <a:xfrm>
            <a:off x="4791456" y="1865376"/>
            <a:ext cx="1005840" cy="493776"/>
          </a:xfrm>
          <a:prstGeom prst="rect">
            <a:avLst/>
          </a:prstGeom>
          <a:solidFill>
            <a:srgbClr val="9A3324"/>
          </a:solidFill>
          <a:ln/>
        </p:spPr>
      </p:sp>
      <p:sp>
        <p:nvSpPr>
          <p:cNvPr id="35" name="Text 33"/>
          <p:cNvSpPr/>
          <p:nvPr/>
        </p:nvSpPr>
        <p:spPr>
          <a:xfrm>
            <a:off x="4791456" y="2029968"/>
            <a:ext cx="1005840" cy="201168"/>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HIGH RISK</a:t>
            </a:r>
            <a:endParaRPr lang="en-US" sz="850" dirty="0"/>
          </a:p>
        </p:txBody>
      </p:sp>
      <p:sp>
        <p:nvSpPr>
          <p:cNvPr id="36" name="Text 34"/>
          <p:cNvSpPr/>
          <p:nvPr/>
        </p:nvSpPr>
        <p:spPr>
          <a:xfrm>
            <a:off x="5888736" y="1938528"/>
            <a:ext cx="2743200" cy="38404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Hiring AI · Credit scoring · Medical devices · Law enforcement</a:t>
            </a:r>
            <a:endParaRPr lang="en-US" sz="850" dirty="0"/>
          </a:p>
        </p:txBody>
      </p:sp>
      <p:sp>
        <p:nvSpPr>
          <p:cNvPr id="37" name="Shape 35"/>
          <p:cNvSpPr/>
          <p:nvPr/>
        </p:nvSpPr>
        <p:spPr>
          <a:xfrm>
            <a:off x="4791456" y="2414016"/>
            <a:ext cx="3895344" cy="493776"/>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8" name="Shape 36"/>
          <p:cNvSpPr/>
          <p:nvPr/>
        </p:nvSpPr>
        <p:spPr>
          <a:xfrm>
            <a:off x="4791456" y="2414016"/>
            <a:ext cx="1005840" cy="493776"/>
          </a:xfrm>
          <a:prstGeom prst="rect">
            <a:avLst/>
          </a:prstGeom>
          <a:solidFill>
            <a:srgbClr val="B8860B"/>
          </a:solidFill>
          <a:ln/>
        </p:spPr>
      </p:sp>
      <p:sp>
        <p:nvSpPr>
          <p:cNvPr id="39" name="Text 37"/>
          <p:cNvSpPr/>
          <p:nvPr/>
        </p:nvSpPr>
        <p:spPr>
          <a:xfrm>
            <a:off x="4791456" y="2578608"/>
            <a:ext cx="1005840" cy="201168"/>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LIMITED</a:t>
            </a:r>
            <a:endParaRPr lang="en-US" sz="850" dirty="0"/>
          </a:p>
        </p:txBody>
      </p:sp>
      <p:sp>
        <p:nvSpPr>
          <p:cNvPr id="40" name="Text 38"/>
          <p:cNvSpPr/>
          <p:nvPr/>
        </p:nvSpPr>
        <p:spPr>
          <a:xfrm>
            <a:off x="5888736" y="2487168"/>
            <a:ext cx="2743200" cy="38404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Chatbots · Deepfakes — must disclose AI interaction</a:t>
            </a:r>
            <a:endParaRPr lang="en-US" sz="850" dirty="0"/>
          </a:p>
        </p:txBody>
      </p:sp>
      <p:sp>
        <p:nvSpPr>
          <p:cNvPr id="41" name="Shape 39"/>
          <p:cNvSpPr/>
          <p:nvPr/>
        </p:nvSpPr>
        <p:spPr>
          <a:xfrm>
            <a:off x="4791456" y="2962656"/>
            <a:ext cx="3895344" cy="493776"/>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2" name="Shape 40"/>
          <p:cNvSpPr/>
          <p:nvPr/>
        </p:nvSpPr>
        <p:spPr>
          <a:xfrm>
            <a:off x="4791456" y="2962656"/>
            <a:ext cx="1005840" cy="493776"/>
          </a:xfrm>
          <a:prstGeom prst="rect">
            <a:avLst/>
          </a:prstGeom>
          <a:solidFill>
            <a:srgbClr val="5B8C6B"/>
          </a:solidFill>
          <a:ln/>
        </p:spPr>
      </p:sp>
      <p:sp>
        <p:nvSpPr>
          <p:cNvPr id="43" name="Text 41"/>
          <p:cNvSpPr/>
          <p:nvPr/>
        </p:nvSpPr>
        <p:spPr>
          <a:xfrm>
            <a:off x="4791456" y="3127248"/>
            <a:ext cx="1005840" cy="201168"/>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MINIMAL</a:t>
            </a:r>
            <a:endParaRPr lang="en-US" sz="850" dirty="0"/>
          </a:p>
        </p:txBody>
      </p:sp>
      <p:sp>
        <p:nvSpPr>
          <p:cNvPr id="44" name="Text 42"/>
          <p:cNvSpPr/>
          <p:nvPr/>
        </p:nvSpPr>
        <p:spPr>
          <a:xfrm>
            <a:off x="5888736" y="3035808"/>
            <a:ext cx="2743200" cy="38404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Spam filters · Most productivity tools — no special requirements</a:t>
            </a:r>
            <a:endParaRPr lang="en-US" sz="850" dirty="0"/>
          </a:p>
        </p:txBody>
      </p:sp>
      <p:sp>
        <p:nvSpPr>
          <p:cNvPr id="45" name="Text 43"/>
          <p:cNvSpPr/>
          <p:nvPr/>
        </p:nvSpPr>
        <p:spPr>
          <a:xfrm>
            <a:off x="4791456" y="3547872"/>
            <a:ext cx="389534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  Max fine: €35M or 7% of global turnover</a:t>
            </a:r>
            <a:endParaRPr lang="en-US" sz="850" dirty="0"/>
          </a:p>
        </p:txBody>
      </p:sp>
      <p:sp>
        <p:nvSpPr>
          <p:cNvPr id="46" name="Text 44"/>
          <p:cNvSpPr/>
          <p:nvPr/>
        </p:nvSpPr>
        <p:spPr>
          <a:xfrm>
            <a:off x="4791456" y="3749040"/>
            <a:ext cx="389534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  Fully in force: August 2026</a:t>
            </a:r>
            <a:endParaRPr lang="en-US" sz="850" dirty="0"/>
          </a:p>
        </p:txBody>
      </p:sp>
      <p:sp>
        <p:nvSpPr>
          <p:cNvPr id="47" name="Text 45"/>
          <p:cNvSpPr/>
          <p:nvPr/>
        </p:nvSpPr>
        <p:spPr>
          <a:xfrm>
            <a:off x="4791456" y="3950208"/>
            <a:ext cx="3895344" cy="20116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  Applies to ANY organisation serving EU users</a:t>
            </a:r>
            <a:endParaRPr lang="en-US" sz="850" dirty="0"/>
          </a:p>
        </p:txBody>
      </p:sp>
      <p:sp>
        <p:nvSpPr>
          <p:cNvPr id="48" name="Shape 46"/>
          <p:cNvSpPr/>
          <p:nvPr/>
        </p:nvSpPr>
        <p:spPr>
          <a:xfrm>
            <a:off x="365760" y="4572000"/>
            <a:ext cx="8412480" cy="457200"/>
          </a:xfrm>
          <a:prstGeom prst="rect">
            <a:avLst/>
          </a:prstGeom>
          <a:solidFill>
            <a:srgbClr val="EDF1F7"/>
          </a:solidFill>
          <a:ln/>
        </p:spPr>
      </p:sp>
      <p:sp>
        <p:nvSpPr>
          <p:cNvPr id="49" name="Shape 47"/>
          <p:cNvSpPr/>
          <p:nvPr/>
        </p:nvSpPr>
        <p:spPr>
          <a:xfrm>
            <a:off x="365760" y="4572000"/>
            <a:ext cx="36576" cy="457200"/>
          </a:xfrm>
          <a:prstGeom prst="rect">
            <a:avLst/>
          </a:prstGeom>
          <a:solidFill>
            <a:srgbClr val="B8860B"/>
          </a:solidFill>
          <a:ln/>
        </p:spPr>
      </p:sp>
      <p:sp>
        <p:nvSpPr>
          <p:cNvPr id="50" name="Text 48"/>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1" name="Text 49"/>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Shadow AI is happening in your organisation right now. The EU AI Act is not optional. Both require immediate policy, tooling, and training decisions.</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9A3324"/>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05</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THREE BIGGEST LEADERSHIP MISTAKES — WITH REAL CASES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128016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8" name="Shape 6"/>
          <p:cNvSpPr/>
          <p:nvPr/>
        </p:nvSpPr>
        <p:spPr>
          <a:xfrm>
            <a:off x="365760" y="841248"/>
            <a:ext cx="1005840" cy="1280160"/>
          </a:xfrm>
          <a:prstGeom prst="rect">
            <a:avLst/>
          </a:prstGeom>
          <a:solidFill>
            <a:srgbClr val="9A3324"/>
          </a:solidFill>
          <a:ln/>
        </p:spPr>
      </p:sp>
      <p:sp>
        <p:nvSpPr>
          <p:cNvPr id="9" name="Text 7"/>
          <p:cNvSpPr/>
          <p:nvPr/>
        </p:nvSpPr>
        <p:spPr>
          <a:xfrm>
            <a:off x="365760" y="950976"/>
            <a:ext cx="100584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10" name="Text 8"/>
          <p:cNvSpPr/>
          <p:nvPr/>
        </p:nvSpPr>
        <p:spPr>
          <a:xfrm>
            <a:off x="365760" y="1335024"/>
            <a:ext cx="1005840" cy="146304"/>
          </a:xfrm>
          <a:prstGeom prst="rect">
            <a:avLst/>
          </a:prstGeom>
          <a:noFill/>
          <a:ln/>
        </p:spPr>
        <p:txBody>
          <a:bodyPr wrap="square" lIns="0" tIns="0" rIns="0" bIns="0" rtlCol="0" anchor="ctr"/>
          <a:lstStyle/>
          <a:p>
            <a:pPr algn="ctr" indent="0" marL="0">
              <a:buNone/>
            </a:pPr>
            <a:r>
              <a:rPr lang="en-US" sz="700" spc="200" kern="0" dirty="0">
                <a:solidFill>
                  <a:srgbClr val="B8860B"/>
                </a:solidFill>
                <a:latin typeface="Calibri" pitchFamily="34" charset="0"/>
                <a:ea typeface="Calibri" pitchFamily="34" charset="-122"/>
                <a:cs typeface="Calibri" pitchFamily="34" charset="-120"/>
              </a:rPr>
              <a:t>MISTAKE</a:t>
            </a:r>
            <a:endParaRPr lang="en-US" sz="700" dirty="0"/>
          </a:p>
        </p:txBody>
      </p:sp>
      <p:sp>
        <p:nvSpPr>
          <p:cNvPr id="11" name="Text 9"/>
          <p:cNvSpPr/>
          <p:nvPr/>
        </p:nvSpPr>
        <p:spPr>
          <a:xfrm>
            <a:off x="365760" y="1499616"/>
            <a:ext cx="1005840" cy="5486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Treating AI as a Technology Project</a:t>
            </a:r>
            <a:endParaRPr lang="en-US" sz="850" dirty="0"/>
          </a:p>
        </p:txBody>
      </p:sp>
      <p:sp>
        <p:nvSpPr>
          <p:cNvPr id="12" name="Text 10"/>
          <p:cNvSpPr/>
          <p:nvPr/>
        </p:nvSpPr>
        <p:spPr>
          <a:xfrm>
            <a:off x="1508760" y="914400"/>
            <a:ext cx="5029200" cy="438912"/>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  Handing AI to IT teams. No business ownership. Success measured by models built, not outcomes.</a:t>
            </a:r>
            <a:endParaRPr lang="en-US" sz="900" dirty="0"/>
          </a:p>
        </p:txBody>
      </p:sp>
      <p:sp>
        <p:nvSpPr>
          <p:cNvPr id="13" name="Shape 11"/>
          <p:cNvSpPr/>
          <p:nvPr/>
        </p:nvSpPr>
        <p:spPr>
          <a:xfrm>
            <a:off x="1508760" y="1389888"/>
            <a:ext cx="5029200" cy="18288"/>
          </a:xfrm>
          <a:prstGeom prst="rect">
            <a:avLst/>
          </a:prstGeom>
          <a:solidFill>
            <a:srgbClr val="D8DEE9"/>
          </a:solidFill>
          <a:ln/>
        </p:spPr>
      </p:sp>
      <p:sp>
        <p:nvSpPr>
          <p:cNvPr id="14" name="Text 12"/>
          <p:cNvSpPr/>
          <p:nvPr/>
        </p:nvSpPr>
        <p:spPr>
          <a:xfrm>
            <a:off x="1508760" y="1444752"/>
            <a:ext cx="5029200" cy="493776"/>
          </a:xfrm>
          <a:prstGeom prst="rect">
            <a:avLst/>
          </a:prstGeom>
          <a:noFill/>
          <a:ln/>
        </p:spPr>
        <p:txBody>
          <a:bodyPr wrap="square" lIns="0" tIns="0" rIns="0" bIns="0" rtlCol="0" anchor="ctr"/>
          <a:lstStyle/>
          <a:p>
            <a:pPr indent="0" marL="0">
              <a:buNone/>
            </a:pPr>
            <a:r>
              <a:rPr lang="en-US" sz="900" dirty="0">
                <a:solidFill>
                  <a:srgbClr val="0A2540"/>
                </a:solidFill>
                <a:latin typeface="Calibri" pitchFamily="34" charset="0"/>
                <a:ea typeface="Calibri" pitchFamily="34" charset="-122"/>
                <a:cs typeface="Calibri" pitchFamily="34" charset="-120"/>
              </a:rPr>
              <a:t>✓  Treat AI as business transformation. Every initiative needs a business owner, metric, and change plan.</a:t>
            </a:r>
            <a:endParaRPr lang="en-US" sz="900" dirty="0"/>
          </a:p>
        </p:txBody>
      </p:sp>
      <p:sp>
        <p:nvSpPr>
          <p:cNvPr id="15" name="Shape 13"/>
          <p:cNvSpPr/>
          <p:nvPr/>
        </p:nvSpPr>
        <p:spPr>
          <a:xfrm>
            <a:off x="6629400" y="914400"/>
            <a:ext cx="2057400" cy="1133856"/>
          </a:xfrm>
          <a:prstGeom prst="rect">
            <a:avLst/>
          </a:prstGeom>
          <a:solidFill>
            <a:srgbClr val="F4E4BC"/>
          </a:solidFill>
          <a:ln/>
        </p:spPr>
      </p:sp>
      <p:sp>
        <p:nvSpPr>
          <p:cNvPr id="16" name="Text 14"/>
          <p:cNvSpPr/>
          <p:nvPr/>
        </p:nvSpPr>
        <p:spPr>
          <a:xfrm>
            <a:off x="6693408" y="950976"/>
            <a:ext cx="1920240" cy="164592"/>
          </a:xfrm>
          <a:prstGeom prst="rect">
            <a:avLst/>
          </a:prstGeom>
          <a:noFill/>
          <a:ln/>
        </p:spPr>
        <p:txBody>
          <a:bodyPr wrap="square" lIns="0" tIns="0" rIns="0" bIns="0" rtlCol="0" anchor="ctr"/>
          <a:lstStyle/>
          <a:p>
            <a:pPr indent="0" marL="0">
              <a:buNone/>
            </a:pPr>
            <a:r>
              <a:rPr lang="en-US" sz="700" b="1" spc="150" kern="0" dirty="0">
                <a:solidFill>
                  <a:srgbClr val="B8860B"/>
                </a:solidFill>
                <a:latin typeface="Calibri" pitchFamily="34" charset="0"/>
                <a:ea typeface="Calibri" pitchFamily="34" charset="-122"/>
                <a:cs typeface="Calibri" pitchFamily="34" charset="-120"/>
              </a:rPr>
              <a:t>REAL CASE</a:t>
            </a:r>
            <a:endParaRPr lang="en-US" sz="700" dirty="0"/>
          </a:p>
        </p:txBody>
      </p:sp>
      <p:sp>
        <p:nvSpPr>
          <p:cNvPr id="17" name="Text 15"/>
          <p:cNvSpPr/>
          <p:nvPr/>
        </p:nvSpPr>
        <p:spPr>
          <a:xfrm>
            <a:off x="6693408" y="1133856"/>
            <a:ext cx="1920240" cy="87782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A major bank built 50 AI models in 2023 — 80% never reached production because no business owner.</a:t>
            </a:r>
            <a:endParaRPr lang="en-US" sz="750" dirty="0"/>
          </a:p>
        </p:txBody>
      </p:sp>
      <p:sp>
        <p:nvSpPr>
          <p:cNvPr id="18" name="Shape 16"/>
          <p:cNvSpPr/>
          <p:nvPr/>
        </p:nvSpPr>
        <p:spPr>
          <a:xfrm>
            <a:off x="365760" y="2212848"/>
            <a:ext cx="8412480" cy="128016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9" name="Shape 17"/>
          <p:cNvSpPr/>
          <p:nvPr/>
        </p:nvSpPr>
        <p:spPr>
          <a:xfrm>
            <a:off x="365760" y="2212848"/>
            <a:ext cx="1005840" cy="1280160"/>
          </a:xfrm>
          <a:prstGeom prst="rect">
            <a:avLst/>
          </a:prstGeom>
          <a:solidFill>
            <a:srgbClr val="9A3324"/>
          </a:solidFill>
          <a:ln/>
        </p:spPr>
      </p:sp>
      <p:sp>
        <p:nvSpPr>
          <p:cNvPr id="20" name="Text 18"/>
          <p:cNvSpPr/>
          <p:nvPr/>
        </p:nvSpPr>
        <p:spPr>
          <a:xfrm>
            <a:off x="365760" y="2322576"/>
            <a:ext cx="100584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21" name="Text 19"/>
          <p:cNvSpPr/>
          <p:nvPr/>
        </p:nvSpPr>
        <p:spPr>
          <a:xfrm>
            <a:off x="365760" y="2706624"/>
            <a:ext cx="1005840" cy="146304"/>
          </a:xfrm>
          <a:prstGeom prst="rect">
            <a:avLst/>
          </a:prstGeom>
          <a:noFill/>
          <a:ln/>
        </p:spPr>
        <p:txBody>
          <a:bodyPr wrap="square" lIns="0" tIns="0" rIns="0" bIns="0" rtlCol="0" anchor="ctr"/>
          <a:lstStyle/>
          <a:p>
            <a:pPr algn="ctr" indent="0" marL="0">
              <a:buNone/>
            </a:pPr>
            <a:r>
              <a:rPr lang="en-US" sz="700" spc="200" kern="0" dirty="0">
                <a:solidFill>
                  <a:srgbClr val="B8860B"/>
                </a:solidFill>
                <a:latin typeface="Calibri" pitchFamily="34" charset="0"/>
                <a:ea typeface="Calibri" pitchFamily="34" charset="-122"/>
                <a:cs typeface="Calibri" pitchFamily="34" charset="-120"/>
              </a:rPr>
              <a:t>MISTAKE</a:t>
            </a:r>
            <a:endParaRPr lang="en-US" sz="700" dirty="0"/>
          </a:p>
        </p:txBody>
      </p:sp>
      <p:sp>
        <p:nvSpPr>
          <p:cNvPr id="22" name="Text 20"/>
          <p:cNvSpPr/>
          <p:nvPr/>
        </p:nvSpPr>
        <p:spPr>
          <a:xfrm>
            <a:off x="365760" y="2871216"/>
            <a:ext cx="1005840" cy="5486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Underinvesting in Data Quality</a:t>
            </a:r>
            <a:endParaRPr lang="en-US" sz="850" dirty="0"/>
          </a:p>
        </p:txBody>
      </p:sp>
      <p:sp>
        <p:nvSpPr>
          <p:cNvPr id="23" name="Text 21"/>
          <p:cNvSpPr/>
          <p:nvPr/>
        </p:nvSpPr>
        <p:spPr>
          <a:xfrm>
            <a:off x="1508760" y="2286000"/>
            <a:ext cx="5029200" cy="438912"/>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  Jumping to models without fixing data. Siloed, poor data produces models that can't be trusted.</a:t>
            </a:r>
            <a:endParaRPr lang="en-US" sz="900" dirty="0"/>
          </a:p>
        </p:txBody>
      </p:sp>
      <p:sp>
        <p:nvSpPr>
          <p:cNvPr id="24" name="Shape 22"/>
          <p:cNvSpPr/>
          <p:nvPr/>
        </p:nvSpPr>
        <p:spPr>
          <a:xfrm>
            <a:off x="1508760" y="2761488"/>
            <a:ext cx="5029200" cy="18288"/>
          </a:xfrm>
          <a:prstGeom prst="rect">
            <a:avLst/>
          </a:prstGeom>
          <a:solidFill>
            <a:srgbClr val="D8DEE9"/>
          </a:solidFill>
          <a:ln/>
        </p:spPr>
      </p:sp>
      <p:sp>
        <p:nvSpPr>
          <p:cNvPr id="25" name="Text 23"/>
          <p:cNvSpPr/>
          <p:nvPr/>
        </p:nvSpPr>
        <p:spPr>
          <a:xfrm>
            <a:off x="1508760" y="2816352"/>
            <a:ext cx="5029200" cy="493776"/>
          </a:xfrm>
          <a:prstGeom prst="rect">
            <a:avLst/>
          </a:prstGeom>
          <a:noFill/>
          <a:ln/>
        </p:spPr>
        <p:txBody>
          <a:bodyPr wrap="square" lIns="0" tIns="0" rIns="0" bIns="0" rtlCol="0" anchor="ctr"/>
          <a:lstStyle/>
          <a:p>
            <a:pPr indent="0" marL="0">
              <a:buNone/>
            </a:pPr>
            <a:r>
              <a:rPr lang="en-US" sz="900" dirty="0">
                <a:solidFill>
                  <a:srgbClr val="0A2540"/>
                </a:solidFill>
                <a:latin typeface="Calibri" pitchFamily="34" charset="0"/>
                <a:ea typeface="Calibri" pitchFamily="34" charset="-122"/>
                <a:cs typeface="Calibri" pitchFamily="34" charset="-120"/>
              </a:rPr>
              <a:t>✓  Clean data beats a fancy model every time. Ensure data is accessible, trustworthy, and governed first.</a:t>
            </a:r>
            <a:endParaRPr lang="en-US" sz="900" dirty="0"/>
          </a:p>
        </p:txBody>
      </p:sp>
      <p:sp>
        <p:nvSpPr>
          <p:cNvPr id="26" name="Shape 24"/>
          <p:cNvSpPr/>
          <p:nvPr/>
        </p:nvSpPr>
        <p:spPr>
          <a:xfrm>
            <a:off x="6629400" y="2286000"/>
            <a:ext cx="2057400" cy="1133856"/>
          </a:xfrm>
          <a:prstGeom prst="rect">
            <a:avLst/>
          </a:prstGeom>
          <a:solidFill>
            <a:srgbClr val="F4E4BC"/>
          </a:solidFill>
          <a:ln/>
        </p:spPr>
      </p:sp>
      <p:sp>
        <p:nvSpPr>
          <p:cNvPr id="27" name="Text 25"/>
          <p:cNvSpPr/>
          <p:nvPr/>
        </p:nvSpPr>
        <p:spPr>
          <a:xfrm>
            <a:off x="6693408" y="2322576"/>
            <a:ext cx="1920240" cy="164592"/>
          </a:xfrm>
          <a:prstGeom prst="rect">
            <a:avLst/>
          </a:prstGeom>
          <a:noFill/>
          <a:ln/>
        </p:spPr>
        <p:txBody>
          <a:bodyPr wrap="square" lIns="0" tIns="0" rIns="0" bIns="0" rtlCol="0" anchor="ctr"/>
          <a:lstStyle/>
          <a:p>
            <a:pPr indent="0" marL="0">
              <a:buNone/>
            </a:pPr>
            <a:r>
              <a:rPr lang="en-US" sz="700" b="1" spc="150" kern="0" dirty="0">
                <a:solidFill>
                  <a:srgbClr val="B8860B"/>
                </a:solidFill>
                <a:latin typeface="Calibri" pitchFamily="34" charset="0"/>
                <a:ea typeface="Calibri" pitchFamily="34" charset="-122"/>
                <a:cs typeface="Calibri" pitchFamily="34" charset="-120"/>
              </a:rPr>
              <a:t>REAL CASE</a:t>
            </a:r>
            <a:endParaRPr lang="en-US" sz="700" dirty="0"/>
          </a:p>
        </p:txBody>
      </p:sp>
      <p:sp>
        <p:nvSpPr>
          <p:cNvPr id="28" name="Text 26"/>
          <p:cNvSpPr/>
          <p:nvPr/>
        </p:nvSpPr>
        <p:spPr>
          <a:xfrm>
            <a:off x="6693408" y="2505456"/>
            <a:ext cx="1920240" cy="87782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A retailer deployed forecasting AI on dirty data — wrong regional stock allocation cost $4M.</a:t>
            </a:r>
            <a:endParaRPr lang="en-US" sz="750" dirty="0"/>
          </a:p>
        </p:txBody>
      </p:sp>
      <p:sp>
        <p:nvSpPr>
          <p:cNvPr id="29" name="Shape 27"/>
          <p:cNvSpPr/>
          <p:nvPr/>
        </p:nvSpPr>
        <p:spPr>
          <a:xfrm>
            <a:off x="365760" y="3584448"/>
            <a:ext cx="8412480" cy="128016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0" name="Shape 28"/>
          <p:cNvSpPr/>
          <p:nvPr/>
        </p:nvSpPr>
        <p:spPr>
          <a:xfrm>
            <a:off x="365760" y="3584448"/>
            <a:ext cx="1005840" cy="1280160"/>
          </a:xfrm>
          <a:prstGeom prst="rect">
            <a:avLst/>
          </a:prstGeom>
          <a:solidFill>
            <a:srgbClr val="9A3324"/>
          </a:solidFill>
          <a:ln/>
        </p:spPr>
      </p:sp>
      <p:sp>
        <p:nvSpPr>
          <p:cNvPr id="31" name="Text 29"/>
          <p:cNvSpPr/>
          <p:nvPr/>
        </p:nvSpPr>
        <p:spPr>
          <a:xfrm>
            <a:off x="365760" y="3694176"/>
            <a:ext cx="1005840" cy="3657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32" name="Text 30"/>
          <p:cNvSpPr/>
          <p:nvPr/>
        </p:nvSpPr>
        <p:spPr>
          <a:xfrm>
            <a:off x="365760" y="4078224"/>
            <a:ext cx="1005840" cy="146304"/>
          </a:xfrm>
          <a:prstGeom prst="rect">
            <a:avLst/>
          </a:prstGeom>
          <a:noFill/>
          <a:ln/>
        </p:spPr>
        <p:txBody>
          <a:bodyPr wrap="square" lIns="0" tIns="0" rIns="0" bIns="0" rtlCol="0" anchor="ctr"/>
          <a:lstStyle/>
          <a:p>
            <a:pPr algn="ctr" indent="0" marL="0">
              <a:buNone/>
            </a:pPr>
            <a:r>
              <a:rPr lang="en-US" sz="700" spc="200" kern="0" dirty="0">
                <a:solidFill>
                  <a:srgbClr val="B8860B"/>
                </a:solidFill>
                <a:latin typeface="Calibri" pitchFamily="34" charset="0"/>
                <a:ea typeface="Calibri" pitchFamily="34" charset="-122"/>
                <a:cs typeface="Calibri" pitchFamily="34" charset="-120"/>
              </a:rPr>
              <a:t>MISTAKE</a:t>
            </a:r>
            <a:endParaRPr lang="en-US" sz="700" dirty="0"/>
          </a:p>
        </p:txBody>
      </p:sp>
      <p:sp>
        <p:nvSpPr>
          <p:cNvPr id="33" name="Text 31"/>
          <p:cNvSpPr/>
          <p:nvPr/>
        </p:nvSpPr>
        <p:spPr>
          <a:xfrm>
            <a:off x="365760" y="4242816"/>
            <a:ext cx="1005840" cy="54864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Skipping Governance Until After Deployment</a:t>
            </a:r>
            <a:endParaRPr lang="en-US" sz="850" dirty="0"/>
          </a:p>
        </p:txBody>
      </p:sp>
      <p:sp>
        <p:nvSpPr>
          <p:cNvPr id="34" name="Text 32"/>
          <p:cNvSpPr/>
          <p:nvPr/>
        </p:nvSpPr>
        <p:spPr>
          <a:xfrm>
            <a:off x="1508760" y="3657600"/>
            <a:ext cx="5029200" cy="438912"/>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  Moving fast without guardrails. One public failure sets the AI programme back years.</a:t>
            </a:r>
            <a:endParaRPr lang="en-US" sz="900" dirty="0"/>
          </a:p>
        </p:txBody>
      </p:sp>
      <p:sp>
        <p:nvSpPr>
          <p:cNvPr id="35" name="Shape 33"/>
          <p:cNvSpPr/>
          <p:nvPr/>
        </p:nvSpPr>
        <p:spPr>
          <a:xfrm>
            <a:off x="1508760" y="4133088"/>
            <a:ext cx="5029200" cy="18288"/>
          </a:xfrm>
          <a:prstGeom prst="rect">
            <a:avLst/>
          </a:prstGeom>
          <a:solidFill>
            <a:srgbClr val="D8DEE9"/>
          </a:solidFill>
          <a:ln/>
        </p:spPr>
      </p:sp>
      <p:sp>
        <p:nvSpPr>
          <p:cNvPr id="36" name="Text 34"/>
          <p:cNvSpPr/>
          <p:nvPr/>
        </p:nvSpPr>
        <p:spPr>
          <a:xfrm>
            <a:off x="1508760" y="4187952"/>
            <a:ext cx="5029200" cy="493776"/>
          </a:xfrm>
          <a:prstGeom prst="rect">
            <a:avLst/>
          </a:prstGeom>
          <a:noFill/>
          <a:ln/>
        </p:spPr>
        <p:txBody>
          <a:bodyPr wrap="square" lIns="0" tIns="0" rIns="0" bIns="0" rtlCol="0" anchor="ctr"/>
          <a:lstStyle/>
          <a:p>
            <a:pPr indent="0" marL="0">
              <a:buNone/>
            </a:pPr>
            <a:r>
              <a:rPr lang="en-US" sz="900" dirty="0">
                <a:solidFill>
                  <a:srgbClr val="0A2540"/>
                </a:solidFill>
                <a:latin typeface="Calibri" pitchFamily="34" charset="0"/>
                <a:ea typeface="Calibri" pitchFamily="34" charset="-122"/>
                <a:cs typeface="Calibri" pitchFamily="34" charset="-120"/>
              </a:rPr>
              <a:t>✓  Governance is what makes scaling possible. Define review, policies, response before you deploy.</a:t>
            </a:r>
            <a:endParaRPr lang="en-US" sz="900" dirty="0"/>
          </a:p>
        </p:txBody>
      </p:sp>
      <p:sp>
        <p:nvSpPr>
          <p:cNvPr id="37" name="Shape 35"/>
          <p:cNvSpPr/>
          <p:nvPr/>
        </p:nvSpPr>
        <p:spPr>
          <a:xfrm>
            <a:off x="6629400" y="3657600"/>
            <a:ext cx="2057400" cy="1133856"/>
          </a:xfrm>
          <a:prstGeom prst="rect">
            <a:avLst/>
          </a:prstGeom>
          <a:solidFill>
            <a:srgbClr val="F4E4BC"/>
          </a:solidFill>
          <a:ln/>
        </p:spPr>
      </p:sp>
      <p:sp>
        <p:nvSpPr>
          <p:cNvPr id="38" name="Text 36"/>
          <p:cNvSpPr/>
          <p:nvPr/>
        </p:nvSpPr>
        <p:spPr>
          <a:xfrm>
            <a:off x="6693408" y="3694176"/>
            <a:ext cx="1920240" cy="164592"/>
          </a:xfrm>
          <a:prstGeom prst="rect">
            <a:avLst/>
          </a:prstGeom>
          <a:noFill/>
          <a:ln/>
        </p:spPr>
        <p:txBody>
          <a:bodyPr wrap="square" lIns="0" tIns="0" rIns="0" bIns="0" rtlCol="0" anchor="ctr"/>
          <a:lstStyle/>
          <a:p>
            <a:pPr indent="0" marL="0">
              <a:buNone/>
            </a:pPr>
            <a:r>
              <a:rPr lang="en-US" sz="700" b="1" spc="150" kern="0" dirty="0">
                <a:solidFill>
                  <a:srgbClr val="B8860B"/>
                </a:solidFill>
                <a:latin typeface="Calibri" pitchFamily="34" charset="0"/>
                <a:ea typeface="Calibri" pitchFamily="34" charset="-122"/>
                <a:cs typeface="Calibri" pitchFamily="34" charset="-120"/>
              </a:rPr>
              <a:t>REAL CASE</a:t>
            </a:r>
            <a:endParaRPr lang="en-US" sz="700" dirty="0"/>
          </a:p>
        </p:txBody>
      </p:sp>
      <p:sp>
        <p:nvSpPr>
          <p:cNvPr id="39" name="Text 37"/>
          <p:cNvSpPr/>
          <p:nvPr/>
        </p:nvSpPr>
        <p:spPr>
          <a:xfrm>
            <a:off x="6693408" y="3877056"/>
            <a:ext cx="1920240" cy="87782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Air Canada's chatbot promised a discount — Canadian court ruled the AI output legally binding.</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860B"/>
          </a:solidFill>
          <a:ln/>
        </p:spPr>
      </p:sp>
      <p:sp>
        <p:nvSpPr>
          <p:cNvPr id="3" name="Shape 1"/>
          <p:cNvSpPr/>
          <p:nvPr/>
        </p:nvSpPr>
        <p:spPr>
          <a:xfrm>
            <a:off x="0" y="5084064"/>
            <a:ext cx="9144000" cy="54864"/>
          </a:xfrm>
          <a:prstGeom prst="rect">
            <a:avLst/>
          </a:prstGeom>
          <a:solidFill>
            <a:srgbClr val="B8860B"/>
          </a:solidFill>
          <a:ln/>
        </p:spPr>
      </p:sp>
      <p:sp>
        <p:nvSpPr>
          <p:cNvPr id="4" name="Text 2"/>
          <p:cNvSpPr/>
          <p:nvPr/>
        </p:nvSpPr>
        <p:spPr>
          <a:xfrm>
            <a:off x="5029200" y="457200"/>
            <a:ext cx="3657600" cy="4206240"/>
          </a:xfrm>
          <a:prstGeom prst="rect">
            <a:avLst/>
          </a:prstGeom>
          <a:noFill/>
          <a:ln/>
        </p:spPr>
        <p:txBody>
          <a:bodyPr wrap="square" lIns="0" tIns="0" rIns="0" bIns="0" rtlCol="0" anchor="ctr"/>
          <a:lstStyle/>
          <a:p>
            <a:pPr algn="r" indent="0" marL="0">
              <a:buNone/>
            </a:pPr>
            <a:r>
              <a:rPr lang="en-US" sz="28000" b="1" dirty="0">
                <a:solidFill>
                  <a:srgbClr val="B8860B"/>
                </a:solidFill>
                <a:latin typeface="Calibri" pitchFamily="34" charset="0"/>
                <a:ea typeface="Calibri" pitchFamily="34" charset="-122"/>
                <a:cs typeface="Calibri" pitchFamily="34" charset="-120"/>
              </a:rPr>
              <a:t>06</a:t>
            </a:r>
            <a:endParaRPr lang="en-US" sz="28000" dirty="0"/>
          </a:p>
        </p:txBody>
      </p:sp>
      <p:sp>
        <p:nvSpPr>
          <p:cNvPr id="5" name="Text 3"/>
          <p:cNvSpPr/>
          <p:nvPr/>
        </p:nvSpPr>
        <p:spPr>
          <a:xfrm>
            <a:off x="457200" y="1097280"/>
            <a:ext cx="4572000" cy="329184"/>
          </a:xfrm>
          <a:prstGeom prst="rect">
            <a:avLst/>
          </a:prstGeom>
          <a:noFill/>
          <a:ln/>
        </p:spPr>
        <p:txBody>
          <a:bodyPr wrap="square" lIns="0" tIns="0" rIns="0" bIns="0" rtlCol="0" anchor="ctr"/>
          <a:lstStyle/>
          <a:p>
            <a:pPr indent="0" marL="0">
              <a:buNone/>
            </a:pPr>
            <a:r>
              <a:rPr lang="en-US" sz="1000" b="1" spc="400" kern="0" dirty="0">
                <a:solidFill>
                  <a:srgbClr val="B8860B"/>
                </a:solidFill>
                <a:latin typeface="Calibri" pitchFamily="34" charset="0"/>
                <a:ea typeface="Calibri" pitchFamily="34" charset="-122"/>
                <a:cs typeface="Calibri" pitchFamily="34" charset="-120"/>
              </a:rPr>
              <a:t>CHAPTER 06</a:t>
            </a:r>
            <a:endParaRPr lang="en-US" sz="1000" dirty="0"/>
          </a:p>
        </p:txBody>
      </p:sp>
      <p:sp>
        <p:nvSpPr>
          <p:cNvPr id="6" name="Text 4"/>
          <p:cNvSpPr/>
          <p:nvPr/>
        </p:nvSpPr>
        <p:spPr>
          <a:xfrm>
            <a:off x="457200" y="1463040"/>
            <a:ext cx="4572000" cy="12801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Your AI Strategy</a:t>
            </a:r>
            <a:endParaRPr lang="en-US" sz="4000" dirty="0"/>
          </a:p>
        </p:txBody>
      </p:sp>
      <p:sp>
        <p:nvSpPr>
          <p:cNvPr id="7" name="Shape 5"/>
          <p:cNvSpPr/>
          <p:nvPr/>
        </p:nvSpPr>
        <p:spPr>
          <a:xfrm>
            <a:off x="457200" y="2834640"/>
            <a:ext cx="1097280" cy="36576"/>
          </a:xfrm>
          <a:prstGeom prst="rect">
            <a:avLst/>
          </a:prstGeom>
          <a:solidFill>
            <a:srgbClr val="B8860B"/>
          </a:solidFill>
          <a:ln/>
        </p:spPr>
      </p:sp>
      <p:sp>
        <p:nvSpPr>
          <p:cNvPr id="8" name="Text 6"/>
          <p:cNvSpPr/>
          <p:nvPr/>
        </p:nvSpPr>
        <p:spPr>
          <a:xfrm>
            <a:off x="457200" y="2962656"/>
            <a:ext cx="4572000" cy="548640"/>
          </a:xfrm>
          <a:prstGeom prst="rect">
            <a:avLst/>
          </a:prstGeom>
          <a:noFill/>
          <a:ln/>
        </p:spPr>
        <p:txBody>
          <a:bodyPr wrap="square" lIns="0" tIns="0" rIns="0" bIns="0" rtlCol="0" anchor="ctr"/>
          <a:lstStyle/>
          <a:p>
            <a:pPr indent="0" marL="0">
              <a:buNone/>
            </a:pPr>
            <a:r>
              <a:rPr lang="en-US" sz="1150" i="1" dirty="0">
                <a:solidFill>
                  <a:srgbClr val="EDF1F7"/>
                </a:solidFill>
                <a:latin typeface="Calibri" pitchFamily="34" charset="0"/>
                <a:ea typeface="Calibri" pitchFamily="34" charset="-122"/>
                <a:cs typeface="Calibri" pitchFamily="34" charset="-120"/>
              </a:rPr>
              <a:t>Maturity, use case prioritisation, build vs buy, the five questions, and your 90-day plan.</a:t>
            </a:r>
            <a:endParaRPr lang="en-US" sz="1150" dirty="0"/>
          </a:p>
        </p:txBody>
      </p:sp>
      <p:sp>
        <p:nvSpPr>
          <p:cNvPr id="9" name="Text 7"/>
          <p:cNvSpPr/>
          <p:nvPr/>
        </p:nvSpPr>
        <p:spPr>
          <a:xfrm>
            <a:off x="457200" y="3657600"/>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AI adoption maturity — where are you today?</a:t>
            </a:r>
            <a:endParaRPr lang="en-US" sz="950" dirty="0"/>
          </a:p>
        </p:txBody>
      </p:sp>
      <p:sp>
        <p:nvSpPr>
          <p:cNvPr id="10" name="Text 8"/>
          <p:cNvSpPr/>
          <p:nvPr/>
        </p:nvSpPr>
        <p:spPr>
          <a:xfrm>
            <a:off x="457200" y="3895344"/>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Use case prioritisation matrix</a:t>
            </a:r>
            <a:endParaRPr lang="en-US" sz="950" dirty="0"/>
          </a:p>
        </p:txBody>
      </p:sp>
      <p:sp>
        <p:nvSpPr>
          <p:cNvPr id="11" name="Text 9"/>
          <p:cNvSpPr/>
          <p:nvPr/>
        </p:nvSpPr>
        <p:spPr>
          <a:xfrm>
            <a:off x="457200" y="4133088"/>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Build vs Buy vs Fine-Tune vs Self-Host</a:t>
            </a:r>
            <a:endParaRPr lang="en-US" sz="950" dirty="0"/>
          </a:p>
        </p:txBody>
      </p:sp>
      <p:sp>
        <p:nvSpPr>
          <p:cNvPr id="12" name="Text 10"/>
          <p:cNvSpPr/>
          <p:nvPr/>
        </p:nvSpPr>
        <p:spPr>
          <a:xfrm>
            <a:off x="457200" y="4370832"/>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Five questions every leader must ask</a:t>
            </a:r>
            <a:endParaRPr lang="en-US" sz="950" dirty="0"/>
          </a:p>
        </p:txBody>
      </p:sp>
      <p:sp>
        <p:nvSpPr>
          <p:cNvPr id="13" name="Text 11"/>
          <p:cNvSpPr/>
          <p:nvPr/>
        </p:nvSpPr>
        <p:spPr>
          <a:xfrm>
            <a:off x="457200" y="4608576"/>
            <a:ext cx="4572000" cy="20116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Your 90-day action plan</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06</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AI ADOPTION MATURITY — WHERE ARE YOU TODAY?</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914400"/>
            <a:ext cx="1572768" cy="128016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8" name="Shape 6"/>
          <p:cNvSpPr/>
          <p:nvPr/>
        </p:nvSpPr>
        <p:spPr>
          <a:xfrm>
            <a:off x="365760" y="914400"/>
            <a:ext cx="1572768" cy="36576"/>
          </a:xfrm>
          <a:prstGeom prst="rect">
            <a:avLst/>
          </a:prstGeom>
          <a:solidFill>
            <a:srgbClr val="B8860B"/>
          </a:solidFill>
          <a:ln/>
        </p:spPr>
      </p:sp>
      <p:sp>
        <p:nvSpPr>
          <p:cNvPr id="9" name="Text 7"/>
          <p:cNvSpPr/>
          <p:nvPr/>
        </p:nvSpPr>
        <p:spPr>
          <a:xfrm>
            <a:off x="457200" y="1005840"/>
            <a:ext cx="1389888" cy="7863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Scattered experiments, no strategy, shadow AI</a:t>
            </a:r>
            <a:endParaRPr lang="en-US" sz="850" dirty="0"/>
          </a:p>
        </p:txBody>
      </p:sp>
      <p:sp>
        <p:nvSpPr>
          <p:cNvPr id="10" name="Shape 8"/>
          <p:cNvSpPr/>
          <p:nvPr/>
        </p:nvSpPr>
        <p:spPr>
          <a:xfrm>
            <a:off x="457200" y="1792224"/>
            <a:ext cx="1389888" cy="347472"/>
          </a:xfrm>
          <a:prstGeom prst="rect">
            <a:avLst/>
          </a:prstGeom>
          <a:solidFill>
            <a:srgbClr val="F4E4BC"/>
          </a:solidFill>
          <a:ln/>
        </p:spPr>
      </p:sp>
      <p:sp>
        <p:nvSpPr>
          <p:cNvPr id="11" name="Text 9"/>
          <p:cNvSpPr/>
          <p:nvPr/>
        </p:nvSpPr>
        <p:spPr>
          <a:xfrm>
            <a:off x="493776" y="1810512"/>
            <a:ext cx="1316736" cy="310896"/>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Employees use ChatGPT personally — no policy, no tracking</a:t>
            </a:r>
            <a:endParaRPr lang="en-US" sz="700" dirty="0"/>
          </a:p>
        </p:txBody>
      </p:sp>
      <p:sp>
        <p:nvSpPr>
          <p:cNvPr id="12" name="Shape 10"/>
          <p:cNvSpPr/>
          <p:nvPr/>
        </p:nvSpPr>
        <p:spPr>
          <a:xfrm>
            <a:off x="365760" y="3621024"/>
            <a:ext cx="1572768" cy="457200"/>
          </a:xfrm>
          <a:prstGeom prst="rect">
            <a:avLst/>
          </a:prstGeom>
          <a:solidFill>
            <a:srgbClr val="B8860B">
              <a:alpha val="80000"/>
            </a:srgbClr>
          </a:solidFill>
          <a:ln/>
        </p:spPr>
      </p:sp>
      <p:sp>
        <p:nvSpPr>
          <p:cNvPr id="13" name="Text 11"/>
          <p:cNvSpPr/>
          <p:nvPr/>
        </p:nvSpPr>
        <p:spPr>
          <a:xfrm>
            <a:off x="365760" y="3694176"/>
            <a:ext cx="157276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L1</a:t>
            </a:r>
            <a:endParaRPr lang="en-US" sz="1400" dirty="0"/>
          </a:p>
        </p:txBody>
      </p:sp>
      <p:sp>
        <p:nvSpPr>
          <p:cNvPr id="14" name="Shape 12"/>
          <p:cNvSpPr/>
          <p:nvPr/>
        </p:nvSpPr>
        <p:spPr>
          <a:xfrm>
            <a:off x="365760" y="4078224"/>
            <a:ext cx="1572768" cy="310896"/>
          </a:xfrm>
          <a:prstGeom prst="rect">
            <a:avLst/>
          </a:prstGeom>
          <a:solidFill>
            <a:srgbClr val="0A2540"/>
          </a:solidFill>
          <a:ln/>
        </p:spPr>
      </p:sp>
      <p:sp>
        <p:nvSpPr>
          <p:cNvPr id="15" name="Text 13"/>
          <p:cNvSpPr/>
          <p:nvPr/>
        </p:nvSpPr>
        <p:spPr>
          <a:xfrm>
            <a:off x="365760" y="4096512"/>
            <a:ext cx="1572768" cy="274320"/>
          </a:xfrm>
          <a:prstGeom prst="rect">
            <a:avLst/>
          </a:prstGeom>
          <a:noFill/>
          <a:ln/>
        </p:spPr>
        <p:txBody>
          <a:bodyPr wrap="square" lIns="0" tIns="0" rIns="0" bIns="0" rtlCol="0" anchor="ctr"/>
          <a:lstStyle/>
          <a:p>
            <a:pPr algn="ctr" indent="0" marL="0">
              <a:buNone/>
            </a:pPr>
            <a:r>
              <a:rPr lang="en-US" sz="850" b="1" spc="150" kern="0" dirty="0">
                <a:solidFill>
                  <a:srgbClr val="B8860B"/>
                </a:solidFill>
                <a:latin typeface="Calibri" pitchFamily="34" charset="0"/>
                <a:ea typeface="Calibri" pitchFamily="34" charset="-122"/>
                <a:cs typeface="Calibri" pitchFamily="34" charset="-120"/>
              </a:rPr>
              <a:t>AD HOC</a:t>
            </a:r>
            <a:endParaRPr lang="en-US" sz="850" dirty="0"/>
          </a:p>
        </p:txBody>
      </p:sp>
      <p:sp>
        <p:nvSpPr>
          <p:cNvPr id="16" name="Shape 14"/>
          <p:cNvSpPr/>
          <p:nvPr/>
        </p:nvSpPr>
        <p:spPr>
          <a:xfrm>
            <a:off x="2066544" y="914400"/>
            <a:ext cx="1572768" cy="128016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7" name="Shape 15"/>
          <p:cNvSpPr/>
          <p:nvPr/>
        </p:nvSpPr>
        <p:spPr>
          <a:xfrm>
            <a:off x="2066544" y="914400"/>
            <a:ext cx="1572768" cy="36576"/>
          </a:xfrm>
          <a:prstGeom prst="rect">
            <a:avLst/>
          </a:prstGeom>
          <a:solidFill>
            <a:srgbClr val="B8860B"/>
          </a:solidFill>
          <a:ln/>
        </p:spPr>
      </p:sp>
      <p:sp>
        <p:nvSpPr>
          <p:cNvPr id="18" name="Text 16"/>
          <p:cNvSpPr/>
          <p:nvPr/>
        </p:nvSpPr>
        <p:spPr>
          <a:xfrm>
            <a:off x="2157984" y="1005840"/>
            <a:ext cx="1389888" cy="7863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Pilot projects, basic infrastructure, isolated wins</a:t>
            </a:r>
            <a:endParaRPr lang="en-US" sz="850" dirty="0"/>
          </a:p>
        </p:txBody>
      </p:sp>
      <p:sp>
        <p:nvSpPr>
          <p:cNvPr id="19" name="Shape 17"/>
          <p:cNvSpPr/>
          <p:nvPr/>
        </p:nvSpPr>
        <p:spPr>
          <a:xfrm>
            <a:off x="2157984" y="1792224"/>
            <a:ext cx="1389888" cy="347472"/>
          </a:xfrm>
          <a:prstGeom prst="rect">
            <a:avLst/>
          </a:prstGeom>
          <a:solidFill>
            <a:srgbClr val="F4E4BC"/>
          </a:solidFill>
          <a:ln/>
        </p:spPr>
      </p:sp>
      <p:sp>
        <p:nvSpPr>
          <p:cNvPr id="20" name="Text 18"/>
          <p:cNvSpPr/>
          <p:nvPr/>
        </p:nvSpPr>
        <p:spPr>
          <a:xfrm>
            <a:off x="2194560" y="1810512"/>
            <a:ext cx="1316736" cy="310896"/>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2–3 AI pilots in IT and Marketing — no shared playbook</a:t>
            </a:r>
            <a:endParaRPr lang="en-US" sz="700" dirty="0"/>
          </a:p>
        </p:txBody>
      </p:sp>
      <p:sp>
        <p:nvSpPr>
          <p:cNvPr id="21" name="Shape 19"/>
          <p:cNvSpPr/>
          <p:nvPr/>
        </p:nvSpPr>
        <p:spPr>
          <a:xfrm>
            <a:off x="2066544" y="3364992"/>
            <a:ext cx="1572768" cy="713232"/>
          </a:xfrm>
          <a:prstGeom prst="rect">
            <a:avLst/>
          </a:prstGeom>
          <a:solidFill>
            <a:srgbClr val="B8860B">
              <a:alpha val="72000"/>
            </a:srgbClr>
          </a:solidFill>
          <a:ln/>
        </p:spPr>
      </p:sp>
      <p:sp>
        <p:nvSpPr>
          <p:cNvPr id="22" name="Text 20"/>
          <p:cNvSpPr/>
          <p:nvPr/>
        </p:nvSpPr>
        <p:spPr>
          <a:xfrm>
            <a:off x="2066544" y="3438144"/>
            <a:ext cx="157276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L2</a:t>
            </a:r>
            <a:endParaRPr lang="en-US" sz="1400" dirty="0"/>
          </a:p>
        </p:txBody>
      </p:sp>
      <p:sp>
        <p:nvSpPr>
          <p:cNvPr id="23" name="Shape 21"/>
          <p:cNvSpPr/>
          <p:nvPr/>
        </p:nvSpPr>
        <p:spPr>
          <a:xfrm>
            <a:off x="2066544" y="4078224"/>
            <a:ext cx="1572768" cy="310896"/>
          </a:xfrm>
          <a:prstGeom prst="rect">
            <a:avLst/>
          </a:prstGeom>
          <a:solidFill>
            <a:srgbClr val="0A2540"/>
          </a:solidFill>
          <a:ln/>
        </p:spPr>
      </p:sp>
      <p:sp>
        <p:nvSpPr>
          <p:cNvPr id="24" name="Text 22"/>
          <p:cNvSpPr/>
          <p:nvPr/>
        </p:nvSpPr>
        <p:spPr>
          <a:xfrm>
            <a:off x="2066544" y="4096512"/>
            <a:ext cx="1572768" cy="274320"/>
          </a:xfrm>
          <a:prstGeom prst="rect">
            <a:avLst/>
          </a:prstGeom>
          <a:noFill/>
          <a:ln/>
        </p:spPr>
        <p:txBody>
          <a:bodyPr wrap="square" lIns="0" tIns="0" rIns="0" bIns="0" rtlCol="0" anchor="ctr"/>
          <a:lstStyle/>
          <a:p>
            <a:pPr algn="ctr" indent="0" marL="0">
              <a:buNone/>
            </a:pPr>
            <a:r>
              <a:rPr lang="en-US" sz="850" b="1" spc="150" kern="0" dirty="0">
                <a:solidFill>
                  <a:srgbClr val="B8860B"/>
                </a:solidFill>
                <a:latin typeface="Calibri" pitchFamily="34" charset="0"/>
                <a:ea typeface="Calibri" pitchFamily="34" charset="-122"/>
                <a:cs typeface="Calibri" pitchFamily="34" charset="-120"/>
              </a:rPr>
              <a:t>DEVELOPING</a:t>
            </a:r>
            <a:endParaRPr lang="en-US" sz="850" dirty="0"/>
          </a:p>
        </p:txBody>
      </p:sp>
      <p:sp>
        <p:nvSpPr>
          <p:cNvPr id="25" name="Shape 23"/>
          <p:cNvSpPr/>
          <p:nvPr/>
        </p:nvSpPr>
        <p:spPr>
          <a:xfrm>
            <a:off x="3767328" y="914400"/>
            <a:ext cx="1572768" cy="128016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6" name="Shape 24"/>
          <p:cNvSpPr/>
          <p:nvPr/>
        </p:nvSpPr>
        <p:spPr>
          <a:xfrm>
            <a:off x="3767328" y="914400"/>
            <a:ext cx="1572768" cy="36576"/>
          </a:xfrm>
          <a:prstGeom prst="rect">
            <a:avLst/>
          </a:prstGeom>
          <a:solidFill>
            <a:srgbClr val="B8860B"/>
          </a:solidFill>
          <a:ln/>
        </p:spPr>
      </p:sp>
      <p:sp>
        <p:nvSpPr>
          <p:cNvPr id="27" name="Text 25"/>
          <p:cNvSpPr/>
          <p:nvPr/>
        </p:nvSpPr>
        <p:spPr>
          <a:xfrm>
            <a:off x="3858768" y="1005840"/>
            <a:ext cx="1389888" cy="7863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Repeatable processes, governance, approved toolstack</a:t>
            </a:r>
            <a:endParaRPr lang="en-US" sz="850" dirty="0"/>
          </a:p>
        </p:txBody>
      </p:sp>
      <p:sp>
        <p:nvSpPr>
          <p:cNvPr id="28" name="Shape 26"/>
          <p:cNvSpPr/>
          <p:nvPr/>
        </p:nvSpPr>
        <p:spPr>
          <a:xfrm>
            <a:off x="3858768" y="1792224"/>
            <a:ext cx="1389888" cy="347472"/>
          </a:xfrm>
          <a:prstGeom prst="rect">
            <a:avLst/>
          </a:prstGeom>
          <a:solidFill>
            <a:srgbClr val="F4E4BC"/>
          </a:solidFill>
          <a:ln/>
        </p:spPr>
      </p:sp>
      <p:sp>
        <p:nvSpPr>
          <p:cNvPr id="29" name="Text 27"/>
          <p:cNvSpPr/>
          <p:nvPr/>
        </p:nvSpPr>
        <p:spPr>
          <a:xfrm>
            <a:off x="3895344" y="1810512"/>
            <a:ext cx="1316736" cy="310896"/>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AI Centre of Excellence. 10+ use cases live. Clear approval.</a:t>
            </a:r>
            <a:endParaRPr lang="en-US" sz="700" dirty="0"/>
          </a:p>
        </p:txBody>
      </p:sp>
      <p:sp>
        <p:nvSpPr>
          <p:cNvPr id="30" name="Shape 28"/>
          <p:cNvSpPr/>
          <p:nvPr/>
        </p:nvSpPr>
        <p:spPr>
          <a:xfrm>
            <a:off x="3767328" y="3108960"/>
            <a:ext cx="1572768" cy="969264"/>
          </a:xfrm>
          <a:prstGeom prst="rect">
            <a:avLst/>
          </a:prstGeom>
          <a:solidFill>
            <a:srgbClr val="B8860B">
              <a:alpha val="64000"/>
            </a:srgbClr>
          </a:solidFill>
          <a:ln/>
        </p:spPr>
      </p:sp>
      <p:sp>
        <p:nvSpPr>
          <p:cNvPr id="31" name="Text 29"/>
          <p:cNvSpPr/>
          <p:nvPr/>
        </p:nvSpPr>
        <p:spPr>
          <a:xfrm>
            <a:off x="3767328" y="3182112"/>
            <a:ext cx="157276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L3</a:t>
            </a:r>
            <a:endParaRPr lang="en-US" sz="1400" dirty="0"/>
          </a:p>
        </p:txBody>
      </p:sp>
      <p:sp>
        <p:nvSpPr>
          <p:cNvPr id="32" name="Shape 30"/>
          <p:cNvSpPr/>
          <p:nvPr/>
        </p:nvSpPr>
        <p:spPr>
          <a:xfrm>
            <a:off x="3767328" y="4078224"/>
            <a:ext cx="1572768" cy="310896"/>
          </a:xfrm>
          <a:prstGeom prst="rect">
            <a:avLst/>
          </a:prstGeom>
          <a:solidFill>
            <a:srgbClr val="0A2540"/>
          </a:solidFill>
          <a:ln/>
        </p:spPr>
      </p:sp>
      <p:sp>
        <p:nvSpPr>
          <p:cNvPr id="33" name="Text 31"/>
          <p:cNvSpPr/>
          <p:nvPr/>
        </p:nvSpPr>
        <p:spPr>
          <a:xfrm>
            <a:off x="3767328" y="4096512"/>
            <a:ext cx="1572768" cy="274320"/>
          </a:xfrm>
          <a:prstGeom prst="rect">
            <a:avLst/>
          </a:prstGeom>
          <a:noFill/>
          <a:ln/>
        </p:spPr>
        <p:txBody>
          <a:bodyPr wrap="square" lIns="0" tIns="0" rIns="0" bIns="0" rtlCol="0" anchor="ctr"/>
          <a:lstStyle/>
          <a:p>
            <a:pPr algn="ctr" indent="0" marL="0">
              <a:buNone/>
            </a:pPr>
            <a:r>
              <a:rPr lang="en-US" sz="850" b="1" spc="150" kern="0" dirty="0">
                <a:solidFill>
                  <a:srgbClr val="B8860B"/>
                </a:solidFill>
                <a:latin typeface="Calibri" pitchFamily="34" charset="0"/>
                <a:ea typeface="Calibri" pitchFamily="34" charset="-122"/>
                <a:cs typeface="Calibri" pitchFamily="34" charset="-120"/>
              </a:rPr>
              <a:t>DEFINED</a:t>
            </a:r>
            <a:endParaRPr lang="en-US" sz="850" dirty="0"/>
          </a:p>
        </p:txBody>
      </p:sp>
      <p:sp>
        <p:nvSpPr>
          <p:cNvPr id="34" name="Shape 32"/>
          <p:cNvSpPr/>
          <p:nvPr/>
        </p:nvSpPr>
        <p:spPr>
          <a:xfrm>
            <a:off x="5468112" y="914400"/>
            <a:ext cx="1572768" cy="128016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5" name="Shape 33"/>
          <p:cNvSpPr/>
          <p:nvPr/>
        </p:nvSpPr>
        <p:spPr>
          <a:xfrm>
            <a:off x="5468112" y="914400"/>
            <a:ext cx="1572768" cy="36576"/>
          </a:xfrm>
          <a:prstGeom prst="rect">
            <a:avLst/>
          </a:prstGeom>
          <a:solidFill>
            <a:srgbClr val="B8860B"/>
          </a:solidFill>
          <a:ln/>
        </p:spPr>
      </p:sp>
      <p:sp>
        <p:nvSpPr>
          <p:cNvPr id="36" name="Text 34"/>
          <p:cNvSpPr/>
          <p:nvPr/>
        </p:nvSpPr>
        <p:spPr>
          <a:xfrm>
            <a:off x="5559552" y="1005840"/>
            <a:ext cx="1389888" cy="7863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AI in production, monitoring, embedded in workflows</a:t>
            </a:r>
            <a:endParaRPr lang="en-US" sz="850" dirty="0"/>
          </a:p>
        </p:txBody>
      </p:sp>
      <p:sp>
        <p:nvSpPr>
          <p:cNvPr id="37" name="Shape 35"/>
          <p:cNvSpPr/>
          <p:nvPr/>
        </p:nvSpPr>
        <p:spPr>
          <a:xfrm>
            <a:off x="5559552" y="1792224"/>
            <a:ext cx="1389888" cy="347472"/>
          </a:xfrm>
          <a:prstGeom prst="rect">
            <a:avLst/>
          </a:prstGeom>
          <a:solidFill>
            <a:srgbClr val="F4E4BC"/>
          </a:solidFill>
          <a:ln/>
        </p:spPr>
      </p:sp>
      <p:sp>
        <p:nvSpPr>
          <p:cNvPr id="38" name="Text 36"/>
          <p:cNvSpPr/>
          <p:nvPr/>
        </p:nvSpPr>
        <p:spPr>
          <a:xfrm>
            <a:off x="5596128" y="1810512"/>
            <a:ext cx="1316736" cy="310896"/>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AI co-pilots in Sales, Finance, HR. Real-time monitoring. ROI.</a:t>
            </a:r>
            <a:endParaRPr lang="en-US" sz="700" dirty="0"/>
          </a:p>
        </p:txBody>
      </p:sp>
      <p:sp>
        <p:nvSpPr>
          <p:cNvPr id="39" name="Shape 37"/>
          <p:cNvSpPr/>
          <p:nvPr/>
        </p:nvSpPr>
        <p:spPr>
          <a:xfrm>
            <a:off x="5468112" y="2852928"/>
            <a:ext cx="1572768" cy="1225296"/>
          </a:xfrm>
          <a:prstGeom prst="rect">
            <a:avLst/>
          </a:prstGeom>
          <a:solidFill>
            <a:srgbClr val="B8860B">
              <a:alpha val="56000"/>
            </a:srgbClr>
          </a:solidFill>
          <a:ln/>
        </p:spPr>
      </p:sp>
      <p:sp>
        <p:nvSpPr>
          <p:cNvPr id="40" name="Text 38"/>
          <p:cNvSpPr/>
          <p:nvPr/>
        </p:nvSpPr>
        <p:spPr>
          <a:xfrm>
            <a:off x="5468112" y="2926080"/>
            <a:ext cx="157276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L4</a:t>
            </a:r>
            <a:endParaRPr lang="en-US" sz="1400" dirty="0"/>
          </a:p>
        </p:txBody>
      </p:sp>
      <p:sp>
        <p:nvSpPr>
          <p:cNvPr id="41" name="Shape 39"/>
          <p:cNvSpPr/>
          <p:nvPr/>
        </p:nvSpPr>
        <p:spPr>
          <a:xfrm>
            <a:off x="5468112" y="4078224"/>
            <a:ext cx="1572768" cy="310896"/>
          </a:xfrm>
          <a:prstGeom prst="rect">
            <a:avLst/>
          </a:prstGeom>
          <a:solidFill>
            <a:srgbClr val="0A2540"/>
          </a:solidFill>
          <a:ln/>
        </p:spPr>
      </p:sp>
      <p:sp>
        <p:nvSpPr>
          <p:cNvPr id="42" name="Text 40"/>
          <p:cNvSpPr/>
          <p:nvPr/>
        </p:nvSpPr>
        <p:spPr>
          <a:xfrm>
            <a:off x="5468112" y="4096512"/>
            <a:ext cx="1572768" cy="274320"/>
          </a:xfrm>
          <a:prstGeom prst="rect">
            <a:avLst/>
          </a:prstGeom>
          <a:noFill/>
          <a:ln/>
        </p:spPr>
        <p:txBody>
          <a:bodyPr wrap="square" lIns="0" tIns="0" rIns="0" bIns="0" rtlCol="0" anchor="ctr"/>
          <a:lstStyle/>
          <a:p>
            <a:pPr algn="ctr" indent="0" marL="0">
              <a:buNone/>
            </a:pPr>
            <a:r>
              <a:rPr lang="en-US" sz="850" b="1" spc="150" kern="0" dirty="0">
                <a:solidFill>
                  <a:srgbClr val="B8860B"/>
                </a:solidFill>
                <a:latin typeface="Calibri" pitchFamily="34" charset="0"/>
                <a:ea typeface="Calibri" pitchFamily="34" charset="-122"/>
                <a:cs typeface="Calibri" pitchFamily="34" charset="-120"/>
              </a:rPr>
              <a:t>MANAGED</a:t>
            </a:r>
            <a:endParaRPr lang="en-US" sz="850" dirty="0"/>
          </a:p>
        </p:txBody>
      </p:sp>
      <p:sp>
        <p:nvSpPr>
          <p:cNvPr id="43" name="Shape 41"/>
          <p:cNvSpPr/>
          <p:nvPr/>
        </p:nvSpPr>
        <p:spPr>
          <a:xfrm>
            <a:off x="7168896" y="914400"/>
            <a:ext cx="1572768" cy="128016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4" name="Shape 42"/>
          <p:cNvSpPr/>
          <p:nvPr/>
        </p:nvSpPr>
        <p:spPr>
          <a:xfrm>
            <a:off x="7168896" y="914400"/>
            <a:ext cx="1572768" cy="36576"/>
          </a:xfrm>
          <a:prstGeom prst="rect">
            <a:avLst/>
          </a:prstGeom>
          <a:solidFill>
            <a:srgbClr val="B8860B"/>
          </a:solidFill>
          <a:ln/>
        </p:spPr>
      </p:sp>
      <p:sp>
        <p:nvSpPr>
          <p:cNvPr id="45" name="Text 43"/>
          <p:cNvSpPr/>
          <p:nvPr/>
        </p:nvSpPr>
        <p:spPr>
          <a:xfrm>
            <a:off x="7260336" y="1005840"/>
            <a:ext cx="1389888" cy="7863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AI is a competitive moat — continuous improvement</a:t>
            </a:r>
            <a:endParaRPr lang="en-US" sz="850" dirty="0"/>
          </a:p>
        </p:txBody>
      </p:sp>
      <p:sp>
        <p:nvSpPr>
          <p:cNvPr id="46" name="Shape 44"/>
          <p:cNvSpPr/>
          <p:nvPr/>
        </p:nvSpPr>
        <p:spPr>
          <a:xfrm>
            <a:off x="7260336" y="1792224"/>
            <a:ext cx="1389888" cy="347472"/>
          </a:xfrm>
          <a:prstGeom prst="rect">
            <a:avLst/>
          </a:prstGeom>
          <a:solidFill>
            <a:srgbClr val="F4E4BC"/>
          </a:solidFill>
          <a:ln/>
        </p:spPr>
      </p:sp>
      <p:sp>
        <p:nvSpPr>
          <p:cNvPr id="47" name="Text 45"/>
          <p:cNvSpPr/>
          <p:nvPr/>
        </p:nvSpPr>
        <p:spPr>
          <a:xfrm>
            <a:off x="7296912" y="1810512"/>
            <a:ext cx="1316736" cy="310896"/>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AI-native processes. Proprietary models. Industry-leading.</a:t>
            </a:r>
            <a:endParaRPr lang="en-US" sz="700" dirty="0"/>
          </a:p>
        </p:txBody>
      </p:sp>
      <p:sp>
        <p:nvSpPr>
          <p:cNvPr id="48" name="Shape 46"/>
          <p:cNvSpPr/>
          <p:nvPr/>
        </p:nvSpPr>
        <p:spPr>
          <a:xfrm>
            <a:off x="7168896" y="2596896"/>
            <a:ext cx="1572768" cy="1481328"/>
          </a:xfrm>
          <a:prstGeom prst="rect">
            <a:avLst/>
          </a:prstGeom>
          <a:solidFill>
            <a:srgbClr val="B8860B">
              <a:alpha val="48000"/>
            </a:srgbClr>
          </a:solidFill>
          <a:ln/>
        </p:spPr>
      </p:sp>
      <p:sp>
        <p:nvSpPr>
          <p:cNvPr id="49" name="Text 47"/>
          <p:cNvSpPr/>
          <p:nvPr/>
        </p:nvSpPr>
        <p:spPr>
          <a:xfrm>
            <a:off x="7168896" y="2670048"/>
            <a:ext cx="157276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L5</a:t>
            </a:r>
            <a:endParaRPr lang="en-US" sz="1400" dirty="0"/>
          </a:p>
        </p:txBody>
      </p:sp>
      <p:sp>
        <p:nvSpPr>
          <p:cNvPr id="50" name="Shape 48"/>
          <p:cNvSpPr/>
          <p:nvPr/>
        </p:nvSpPr>
        <p:spPr>
          <a:xfrm>
            <a:off x="7168896" y="4078224"/>
            <a:ext cx="1572768" cy="310896"/>
          </a:xfrm>
          <a:prstGeom prst="rect">
            <a:avLst/>
          </a:prstGeom>
          <a:solidFill>
            <a:srgbClr val="0A2540"/>
          </a:solidFill>
          <a:ln/>
        </p:spPr>
      </p:sp>
      <p:sp>
        <p:nvSpPr>
          <p:cNvPr id="51" name="Text 49"/>
          <p:cNvSpPr/>
          <p:nvPr/>
        </p:nvSpPr>
        <p:spPr>
          <a:xfrm>
            <a:off x="7168896" y="4096512"/>
            <a:ext cx="1572768" cy="274320"/>
          </a:xfrm>
          <a:prstGeom prst="rect">
            <a:avLst/>
          </a:prstGeom>
          <a:noFill/>
          <a:ln/>
        </p:spPr>
        <p:txBody>
          <a:bodyPr wrap="square" lIns="0" tIns="0" rIns="0" bIns="0" rtlCol="0" anchor="ctr"/>
          <a:lstStyle/>
          <a:p>
            <a:pPr algn="ctr" indent="0" marL="0">
              <a:buNone/>
            </a:pPr>
            <a:r>
              <a:rPr lang="en-US" sz="850" b="1" spc="150" kern="0" dirty="0">
                <a:solidFill>
                  <a:srgbClr val="B8860B"/>
                </a:solidFill>
                <a:latin typeface="Calibri" pitchFamily="34" charset="0"/>
                <a:ea typeface="Calibri" pitchFamily="34" charset="-122"/>
                <a:cs typeface="Calibri" pitchFamily="34" charset="-120"/>
              </a:rPr>
              <a:t>OPTIMISED</a:t>
            </a:r>
            <a:endParaRPr lang="en-US" sz="850" dirty="0"/>
          </a:p>
        </p:txBody>
      </p:sp>
      <p:sp>
        <p:nvSpPr>
          <p:cNvPr id="52" name="Shape 50"/>
          <p:cNvSpPr/>
          <p:nvPr/>
        </p:nvSpPr>
        <p:spPr>
          <a:xfrm>
            <a:off x="365760" y="2286000"/>
            <a:ext cx="3383280" cy="201168"/>
          </a:xfrm>
          <a:prstGeom prst="rect">
            <a:avLst/>
          </a:prstGeom>
          <a:solidFill>
            <a:srgbClr val="FCE8E6"/>
          </a:solidFill>
          <a:ln/>
        </p:spPr>
      </p:sp>
      <p:sp>
        <p:nvSpPr>
          <p:cNvPr id="53" name="Text 51"/>
          <p:cNvSpPr/>
          <p:nvPr/>
        </p:nvSpPr>
        <p:spPr>
          <a:xfrm>
            <a:off x="457200" y="2304288"/>
            <a:ext cx="3200400" cy="164592"/>
          </a:xfrm>
          <a:prstGeom prst="rect">
            <a:avLst/>
          </a:prstGeom>
          <a:noFill/>
          <a:ln/>
        </p:spPr>
        <p:txBody>
          <a:bodyPr wrap="square" lIns="0" tIns="0" rIns="0" bIns="0" rtlCol="0" anchor="ctr"/>
          <a:lstStyle/>
          <a:p>
            <a:pPr indent="0" marL="0">
              <a:buNone/>
            </a:pPr>
            <a:r>
              <a:rPr lang="en-US" sz="850" b="1" i="1" dirty="0">
                <a:solidFill>
                  <a:srgbClr val="9A3324"/>
                </a:solidFill>
                <a:latin typeface="Calibri" pitchFamily="34" charset="0"/>
                <a:ea typeface="Calibri" pitchFamily="34" charset="-122"/>
                <a:cs typeface="Calibri" pitchFamily="34" charset="-120"/>
              </a:rPr>
              <a:t>← Most organisations today (L1–L2)</a:t>
            </a:r>
            <a:endParaRPr lang="en-US" sz="850" dirty="0"/>
          </a:p>
        </p:txBody>
      </p:sp>
      <p:sp>
        <p:nvSpPr>
          <p:cNvPr id="54" name="Shape 52"/>
          <p:cNvSpPr/>
          <p:nvPr/>
        </p:nvSpPr>
        <p:spPr>
          <a:xfrm>
            <a:off x="3822192" y="2286000"/>
            <a:ext cx="4956048" cy="201168"/>
          </a:xfrm>
          <a:prstGeom prst="rect">
            <a:avLst/>
          </a:prstGeom>
          <a:solidFill>
            <a:srgbClr val="E8F0EA"/>
          </a:solidFill>
          <a:ln/>
        </p:spPr>
      </p:sp>
      <p:sp>
        <p:nvSpPr>
          <p:cNvPr id="55" name="Text 53"/>
          <p:cNvSpPr/>
          <p:nvPr/>
        </p:nvSpPr>
        <p:spPr>
          <a:xfrm>
            <a:off x="3913632" y="2304288"/>
            <a:ext cx="4864608" cy="164592"/>
          </a:xfrm>
          <a:prstGeom prst="rect">
            <a:avLst/>
          </a:prstGeom>
          <a:noFill/>
          <a:ln/>
        </p:spPr>
        <p:txBody>
          <a:bodyPr wrap="square" lIns="0" tIns="0" rIns="0" bIns="0" rtlCol="0" anchor="ctr"/>
          <a:lstStyle/>
          <a:p>
            <a:pPr indent="0" marL="0">
              <a:buNone/>
            </a:pPr>
            <a:r>
              <a:rPr lang="en-US" sz="850" b="1" i="1" dirty="0">
                <a:solidFill>
                  <a:srgbClr val="5B8C6B"/>
                </a:solidFill>
                <a:latin typeface="Calibri" pitchFamily="34" charset="0"/>
                <a:ea typeface="Calibri" pitchFamily="34" charset="-122"/>
                <a:cs typeface="Calibri" pitchFamily="34" charset="-120"/>
              </a:rPr>
              <a:t>Where competitive advantage is built →</a:t>
            </a:r>
            <a:endParaRPr lang="en-US" sz="850" dirty="0"/>
          </a:p>
        </p:txBody>
      </p:sp>
      <p:sp>
        <p:nvSpPr>
          <p:cNvPr id="56" name="Shape 54"/>
          <p:cNvSpPr/>
          <p:nvPr/>
        </p:nvSpPr>
        <p:spPr>
          <a:xfrm>
            <a:off x="365760" y="4572000"/>
            <a:ext cx="8412480" cy="457200"/>
          </a:xfrm>
          <a:prstGeom prst="rect">
            <a:avLst/>
          </a:prstGeom>
          <a:solidFill>
            <a:srgbClr val="EDF1F7"/>
          </a:solidFill>
          <a:ln/>
        </p:spPr>
      </p:sp>
      <p:sp>
        <p:nvSpPr>
          <p:cNvPr id="57" name="Shape 55"/>
          <p:cNvSpPr/>
          <p:nvPr/>
        </p:nvSpPr>
        <p:spPr>
          <a:xfrm>
            <a:off x="365760" y="4572000"/>
            <a:ext cx="36576" cy="457200"/>
          </a:xfrm>
          <a:prstGeom prst="rect">
            <a:avLst/>
          </a:prstGeom>
          <a:solidFill>
            <a:srgbClr val="B8860B"/>
          </a:solidFill>
          <a:ln/>
        </p:spPr>
      </p:sp>
      <p:sp>
        <p:nvSpPr>
          <p:cNvPr id="58" name="Text 56"/>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9" name="Text 57"/>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Moving from L2 to L3 is the most impactful jump: governance, measurement, and treating AI as a product. The window to differentiate is NOW.</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06</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USE CASE PRIORITISATION &amp; DEPLOYMENT OPTIONS</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Text 5"/>
          <p:cNvSpPr/>
          <p:nvPr/>
        </p:nvSpPr>
        <p:spPr>
          <a:xfrm>
            <a:off x="365760" y="786384"/>
            <a:ext cx="4251960" cy="201168"/>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PRIORITISE BY VALUE &amp; FEASIBILITY</a:t>
            </a:r>
            <a:endParaRPr lang="en-US" sz="850" dirty="0"/>
          </a:p>
        </p:txBody>
      </p:sp>
      <p:sp>
        <p:nvSpPr>
          <p:cNvPr id="8" name="Shape 6"/>
          <p:cNvSpPr/>
          <p:nvPr/>
        </p:nvSpPr>
        <p:spPr>
          <a:xfrm>
            <a:off x="365760" y="1078992"/>
            <a:ext cx="2125980" cy="1737360"/>
          </a:xfrm>
          <a:prstGeom prst="rect">
            <a:avLst/>
          </a:prstGeom>
          <a:solidFill>
            <a:srgbClr val="E8F0EA"/>
          </a:solidFill>
          <a:ln/>
        </p:spPr>
      </p:sp>
      <p:sp>
        <p:nvSpPr>
          <p:cNvPr id="9" name="Shape 7"/>
          <p:cNvSpPr/>
          <p:nvPr/>
        </p:nvSpPr>
        <p:spPr>
          <a:xfrm>
            <a:off x="365760" y="1078992"/>
            <a:ext cx="2125980" cy="36576"/>
          </a:xfrm>
          <a:prstGeom prst="rect">
            <a:avLst/>
          </a:prstGeom>
          <a:solidFill>
            <a:srgbClr val="5B8C6B"/>
          </a:solidFill>
          <a:ln/>
        </p:spPr>
      </p:sp>
      <p:sp>
        <p:nvSpPr>
          <p:cNvPr id="10" name="Text 8"/>
          <p:cNvSpPr/>
          <p:nvPr/>
        </p:nvSpPr>
        <p:spPr>
          <a:xfrm>
            <a:off x="457200" y="1170432"/>
            <a:ext cx="1943100" cy="219456"/>
          </a:xfrm>
          <a:prstGeom prst="rect">
            <a:avLst/>
          </a:prstGeom>
          <a:noFill/>
          <a:ln/>
        </p:spPr>
        <p:txBody>
          <a:bodyPr wrap="square" lIns="0" tIns="0" rIns="0" bIns="0" rtlCol="0" anchor="ctr"/>
          <a:lstStyle/>
          <a:p>
            <a:pPr indent="0" marL="0">
              <a:buNone/>
            </a:pPr>
            <a:r>
              <a:rPr lang="en-US" sz="1050" b="1" spc="100" kern="0" dirty="0">
                <a:solidFill>
                  <a:srgbClr val="5B8C6B"/>
                </a:solidFill>
                <a:latin typeface="Calibri" pitchFamily="34" charset="0"/>
                <a:ea typeface="Calibri" pitchFamily="34" charset="-122"/>
                <a:cs typeface="Calibri" pitchFamily="34" charset="-120"/>
              </a:rPr>
              <a:t>START HERE</a:t>
            </a:r>
            <a:endParaRPr lang="en-US" sz="1050" dirty="0"/>
          </a:p>
        </p:txBody>
      </p:sp>
      <p:sp>
        <p:nvSpPr>
          <p:cNvPr id="11" name="Text 9"/>
          <p:cNvSpPr/>
          <p:nvPr/>
        </p:nvSpPr>
        <p:spPr>
          <a:xfrm>
            <a:off x="457200" y="1463040"/>
            <a:ext cx="1943100" cy="1188720"/>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Email drafting</a:t>
            </a:r>
            <a:endParaRPr lang="en-US" sz="900" dirty="0"/>
          </a:p>
          <a:p>
            <a:pPr indent="0" marL="0">
              <a:buNone/>
            </a:pPr>
            <a:r>
              <a:rPr lang="en-US" sz="900" dirty="0">
                <a:solidFill>
                  <a:srgbClr val="47596B"/>
                </a:solidFill>
                <a:latin typeface="Calibri" pitchFamily="34" charset="0"/>
                <a:ea typeface="Calibri" pitchFamily="34" charset="-122"/>
                <a:cs typeface="Calibri" pitchFamily="34" charset="-120"/>
              </a:rPr>
              <a:t>Meeting summaries</a:t>
            </a:r>
            <a:endParaRPr lang="en-US" sz="900" dirty="0"/>
          </a:p>
          <a:p>
            <a:pPr indent="0" marL="0">
              <a:buNone/>
            </a:pPr>
            <a:r>
              <a:rPr lang="en-US" sz="900" dirty="0">
                <a:solidFill>
                  <a:srgbClr val="47596B"/>
                </a:solidFill>
                <a:latin typeface="Calibri" pitchFamily="34" charset="0"/>
                <a:ea typeface="Calibri" pitchFamily="34" charset="-122"/>
                <a:cs typeface="Calibri" pitchFamily="34" charset="-120"/>
              </a:rPr>
              <a:t>Code generation</a:t>
            </a:r>
            <a:endParaRPr lang="en-US" sz="900" dirty="0"/>
          </a:p>
          <a:p>
            <a:pPr indent="0" marL="0">
              <a:buNone/>
            </a:pPr>
            <a:r>
              <a:rPr lang="en-US" sz="900" dirty="0">
                <a:solidFill>
                  <a:srgbClr val="47596B"/>
                </a:solidFill>
                <a:latin typeface="Calibri" pitchFamily="34" charset="0"/>
                <a:ea typeface="Calibri" pitchFamily="34" charset="-122"/>
                <a:cs typeface="Calibri" pitchFamily="34" charset="-120"/>
              </a:rPr>
              <a:t>Document review</a:t>
            </a:r>
            <a:endParaRPr lang="en-US" sz="900" dirty="0"/>
          </a:p>
        </p:txBody>
      </p:sp>
      <p:sp>
        <p:nvSpPr>
          <p:cNvPr id="12" name="Shape 10"/>
          <p:cNvSpPr/>
          <p:nvPr/>
        </p:nvSpPr>
        <p:spPr>
          <a:xfrm>
            <a:off x="2491740" y="1078992"/>
            <a:ext cx="2125980" cy="1737360"/>
          </a:xfrm>
          <a:prstGeom prst="rect">
            <a:avLst/>
          </a:prstGeom>
          <a:solidFill>
            <a:srgbClr val="F4E4BC"/>
          </a:solidFill>
          <a:ln/>
        </p:spPr>
      </p:sp>
      <p:sp>
        <p:nvSpPr>
          <p:cNvPr id="13" name="Shape 11"/>
          <p:cNvSpPr/>
          <p:nvPr/>
        </p:nvSpPr>
        <p:spPr>
          <a:xfrm>
            <a:off x="2491740" y="1078992"/>
            <a:ext cx="2125980" cy="36576"/>
          </a:xfrm>
          <a:prstGeom prst="rect">
            <a:avLst/>
          </a:prstGeom>
          <a:solidFill>
            <a:srgbClr val="B8860B"/>
          </a:solidFill>
          <a:ln/>
        </p:spPr>
      </p:sp>
      <p:sp>
        <p:nvSpPr>
          <p:cNvPr id="14" name="Text 12"/>
          <p:cNvSpPr/>
          <p:nvPr/>
        </p:nvSpPr>
        <p:spPr>
          <a:xfrm>
            <a:off x="2583180" y="1170432"/>
            <a:ext cx="1943100" cy="219456"/>
          </a:xfrm>
          <a:prstGeom prst="rect">
            <a:avLst/>
          </a:prstGeom>
          <a:noFill/>
          <a:ln/>
        </p:spPr>
        <p:txBody>
          <a:bodyPr wrap="square" lIns="0" tIns="0" rIns="0" bIns="0" rtlCol="0" anchor="ctr"/>
          <a:lstStyle/>
          <a:p>
            <a:pPr indent="0" marL="0">
              <a:buNone/>
            </a:pPr>
            <a:r>
              <a:rPr lang="en-US" sz="1050" b="1" spc="100" kern="0" dirty="0">
                <a:solidFill>
                  <a:srgbClr val="B8860B"/>
                </a:solidFill>
                <a:latin typeface="Calibri" pitchFamily="34" charset="0"/>
                <a:ea typeface="Calibri" pitchFamily="34" charset="-122"/>
                <a:cs typeface="Calibri" pitchFamily="34" charset="-120"/>
              </a:rPr>
              <a:t>INVEST TO ENABLE</a:t>
            </a:r>
            <a:endParaRPr lang="en-US" sz="1050" dirty="0"/>
          </a:p>
        </p:txBody>
      </p:sp>
      <p:sp>
        <p:nvSpPr>
          <p:cNvPr id="15" name="Text 13"/>
          <p:cNvSpPr/>
          <p:nvPr/>
        </p:nvSpPr>
        <p:spPr>
          <a:xfrm>
            <a:off x="2583180" y="1463040"/>
            <a:ext cx="1943100" cy="1188720"/>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Data infrastructure</a:t>
            </a:r>
            <a:endParaRPr lang="en-US" sz="900" dirty="0"/>
          </a:p>
          <a:p>
            <a:pPr indent="0" marL="0">
              <a:buNone/>
            </a:pPr>
            <a:r>
              <a:rPr lang="en-US" sz="900" dirty="0">
                <a:solidFill>
                  <a:srgbClr val="47596B"/>
                </a:solidFill>
                <a:latin typeface="Calibri" pitchFamily="34" charset="0"/>
                <a:ea typeface="Calibri" pitchFamily="34" charset="-122"/>
                <a:cs typeface="Calibri" pitchFamily="34" charset="-120"/>
              </a:rPr>
              <a:t>Custom models</a:t>
            </a:r>
            <a:endParaRPr lang="en-US" sz="900" dirty="0"/>
          </a:p>
          <a:p>
            <a:pPr indent="0" marL="0">
              <a:buNone/>
            </a:pPr>
            <a:r>
              <a:rPr lang="en-US" sz="900" dirty="0">
                <a:solidFill>
                  <a:srgbClr val="47596B"/>
                </a:solidFill>
                <a:latin typeface="Calibri" pitchFamily="34" charset="0"/>
                <a:ea typeface="Calibri" pitchFamily="34" charset="-122"/>
                <a:cs typeface="Calibri" pitchFamily="34" charset="-120"/>
              </a:rPr>
              <a:t>Complex integrations</a:t>
            </a:r>
            <a:endParaRPr lang="en-US" sz="900" dirty="0"/>
          </a:p>
        </p:txBody>
      </p:sp>
      <p:sp>
        <p:nvSpPr>
          <p:cNvPr id="16" name="Shape 14"/>
          <p:cNvSpPr/>
          <p:nvPr/>
        </p:nvSpPr>
        <p:spPr>
          <a:xfrm>
            <a:off x="365760" y="2816352"/>
            <a:ext cx="2125980" cy="1737360"/>
          </a:xfrm>
          <a:prstGeom prst="rect">
            <a:avLst/>
          </a:prstGeom>
          <a:solidFill>
            <a:srgbClr val="FCE8E6"/>
          </a:solidFill>
          <a:ln/>
        </p:spPr>
      </p:sp>
      <p:sp>
        <p:nvSpPr>
          <p:cNvPr id="17" name="Shape 15"/>
          <p:cNvSpPr/>
          <p:nvPr/>
        </p:nvSpPr>
        <p:spPr>
          <a:xfrm>
            <a:off x="365760" y="2816352"/>
            <a:ext cx="2125980" cy="36576"/>
          </a:xfrm>
          <a:prstGeom prst="rect">
            <a:avLst/>
          </a:prstGeom>
          <a:solidFill>
            <a:srgbClr val="9A3324"/>
          </a:solidFill>
          <a:ln/>
        </p:spPr>
      </p:sp>
      <p:sp>
        <p:nvSpPr>
          <p:cNvPr id="18" name="Text 16"/>
          <p:cNvSpPr/>
          <p:nvPr/>
        </p:nvSpPr>
        <p:spPr>
          <a:xfrm>
            <a:off x="457200" y="2907792"/>
            <a:ext cx="1943100" cy="219456"/>
          </a:xfrm>
          <a:prstGeom prst="rect">
            <a:avLst/>
          </a:prstGeom>
          <a:noFill/>
          <a:ln/>
        </p:spPr>
        <p:txBody>
          <a:bodyPr wrap="square" lIns="0" tIns="0" rIns="0" bIns="0" rtlCol="0" anchor="ctr"/>
          <a:lstStyle/>
          <a:p>
            <a:pPr indent="0" marL="0">
              <a:buNone/>
            </a:pPr>
            <a:r>
              <a:rPr lang="en-US" sz="1050" b="1" spc="100" kern="0" dirty="0">
                <a:solidFill>
                  <a:srgbClr val="9A3324"/>
                </a:solidFill>
                <a:latin typeface="Calibri" pitchFamily="34" charset="0"/>
                <a:ea typeface="Calibri" pitchFamily="34" charset="-122"/>
                <a:cs typeface="Calibri" pitchFamily="34" charset="-120"/>
              </a:rPr>
              <a:t>DEPRIORITISE</a:t>
            </a:r>
            <a:endParaRPr lang="en-US" sz="1050" dirty="0"/>
          </a:p>
        </p:txBody>
      </p:sp>
      <p:sp>
        <p:nvSpPr>
          <p:cNvPr id="19" name="Text 17"/>
          <p:cNvSpPr/>
          <p:nvPr/>
        </p:nvSpPr>
        <p:spPr>
          <a:xfrm>
            <a:off x="457200" y="3200400"/>
            <a:ext cx="1943100" cy="1188720"/>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Vanity demos</a:t>
            </a:r>
            <a:endParaRPr lang="en-US" sz="900" dirty="0"/>
          </a:p>
          <a:p>
            <a:pPr indent="0" marL="0">
              <a:buNone/>
            </a:pPr>
            <a:r>
              <a:rPr lang="en-US" sz="900" dirty="0">
                <a:solidFill>
                  <a:srgbClr val="47596B"/>
                </a:solidFill>
                <a:latin typeface="Calibri" pitchFamily="34" charset="0"/>
                <a:ea typeface="Calibri" pitchFamily="34" charset="-122"/>
                <a:cs typeface="Calibri" pitchFamily="34" charset="-120"/>
              </a:rPr>
              <a:t>No clear business case</a:t>
            </a:r>
            <a:endParaRPr lang="en-US" sz="900" dirty="0"/>
          </a:p>
        </p:txBody>
      </p:sp>
      <p:sp>
        <p:nvSpPr>
          <p:cNvPr id="20" name="Shape 18"/>
          <p:cNvSpPr/>
          <p:nvPr/>
        </p:nvSpPr>
        <p:spPr>
          <a:xfrm>
            <a:off x="2491740" y="2816352"/>
            <a:ext cx="2125980" cy="1737360"/>
          </a:xfrm>
          <a:prstGeom prst="rect">
            <a:avLst/>
          </a:prstGeom>
          <a:solidFill>
            <a:srgbClr val="EDF1F7"/>
          </a:solidFill>
          <a:ln/>
        </p:spPr>
      </p:sp>
      <p:sp>
        <p:nvSpPr>
          <p:cNvPr id="21" name="Shape 19"/>
          <p:cNvSpPr/>
          <p:nvPr/>
        </p:nvSpPr>
        <p:spPr>
          <a:xfrm>
            <a:off x="2491740" y="2816352"/>
            <a:ext cx="2125980" cy="36576"/>
          </a:xfrm>
          <a:prstGeom prst="rect">
            <a:avLst/>
          </a:prstGeom>
          <a:solidFill>
            <a:srgbClr val="47596B"/>
          </a:solidFill>
          <a:ln/>
        </p:spPr>
      </p:sp>
      <p:sp>
        <p:nvSpPr>
          <p:cNvPr id="22" name="Text 20"/>
          <p:cNvSpPr/>
          <p:nvPr/>
        </p:nvSpPr>
        <p:spPr>
          <a:xfrm>
            <a:off x="2583180" y="2907792"/>
            <a:ext cx="1943100" cy="219456"/>
          </a:xfrm>
          <a:prstGeom prst="rect">
            <a:avLst/>
          </a:prstGeom>
          <a:noFill/>
          <a:ln/>
        </p:spPr>
        <p:txBody>
          <a:bodyPr wrap="square" lIns="0" tIns="0" rIns="0" bIns="0" rtlCol="0" anchor="ctr"/>
          <a:lstStyle/>
          <a:p>
            <a:pPr indent="0" marL="0">
              <a:buNone/>
            </a:pPr>
            <a:r>
              <a:rPr lang="en-US" sz="1050" b="1" spc="100" kern="0" dirty="0">
                <a:solidFill>
                  <a:srgbClr val="47596B"/>
                </a:solidFill>
                <a:latin typeface="Calibri" pitchFamily="34" charset="0"/>
                <a:ea typeface="Calibri" pitchFamily="34" charset="-122"/>
                <a:cs typeface="Calibri" pitchFamily="34" charset="-120"/>
              </a:rPr>
              <a:t>AVOID</a:t>
            </a:r>
            <a:endParaRPr lang="en-US" sz="1050" dirty="0"/>
          </a:p>
        </p:txBody>
      </p:sp>
      <p:sp>
        <p:nvSpPr>
          <p:cNvPr id="23" name="Text 21"/>
          <p:cNvSpPr/>
          <p:nvPr/>
        </p:nvSpPr>
        <p:spPr>
          <a:xfrm>
            <a:off x="2583180" y="3200400"/>
            <a:ext cx="1943100" cy="1188720"/>
          </a:xfrm>
          <a:prstGeom prst="rect">
            <a:avLst/>
          </a:prstGeom>
          <a:noFill/>
          <a:ln/>
        </p:spPr>
        <p:txBody>
          <a:bodyPr wrap="square" lIns="0" tIns="0" rIns="0" bIns="0" rtlCol="0" anchor="ctr"/>
          <a:lstStyle/>
          <a:p>
            <a:pPr indent="0" marL="0">
              <a:buNone/>
            </a:pPr>
            <a:r>
              <a:rPr lang="en-US" sz="900" dirty="0">
                <a:solidFill>
                  <a:srgbClr val="47596B"/>
                </a:solidFill>
                <a:latin typeface="Calibri" pitchFamily="34" charset="0"/>
                <a:ea typeface="Calibri" pitchFamily="34" charset="-122"/>
                <a:cs typeface="Calibri" pitchFamily="34" charset="-120"/>
              </a:rPr>
              <a:t>High effort + Low value</a:t>
            </a:r>
            <a:endParaRPr lang="en-US" sz="900" dirty="0"/>
          </a:p>
        </p:txBody>
      </p:sp>
      <p:sp>
        <p:nvSpPr>
          <p:cNvPr id="24" name="Shape 22"/>
          <p:cNvSpPr/>
          <p:nvPr/>
        </p:nvSpPr>
        <p:spPr>
          <a:xfrm>
            <a:off x="2482596" y="1078992"/>
            <a:ext cx="18288" cy="3474720"/>
          </a:xfrm>
          <a:prstGeom prst="rect">
            <a:avLst/>
          </a:prstGeom>
          <a:solidFill>
            <a:srgbClr val="D8DEE9"/>
          </a:solidFill>
          <a:ln/>
        </p:spPr>
      </p:sp>
      <p:sp>
        <p:nvSpPr>
          <p:cNvPr id="25" name="Shape 23"/>
          <p:cNvSpPr/>
          <p:nvPr/>
        </p:nvSpPr>
        <p:spPr>
          <a:xfrm>
            <a:off x="365760" y="2807208"/>
            <a:ext cx="4251960" cy="18288"/>
          </a:xfrm>
          <a:prstGeom prst="rect">
            <a:avLst/>
          </a:prstGeom>
          <a:solidFill>
            <a:srgbClr val="D8DEE9"/>
          </a:solidFill>
          <a:ln/>
        </p:spPr>
      </p:sp>
      <p:sp>
        <p:nvSpPr>
          <p:cNvPr id="26" name="Text 24"/>
          <p:cNvSpPr/>
          <p:nvPr/>
        </p:nvSpPr>
        <p:spPr>
          <a:xfrm>
            <a:off x="365760" y="4590288"/>
            <a:ext cx="4251960" cy="182880"/>
          </a:xfrm>
          <a:prstGeom prst="rect">
            <a:avLst/>
          </a:prstGeom>
          <a:noFill/>
          <a:ln/>
        </p:spPr>
        <p:txBody>
          <a:bodyPr wrap="square" lIns="0" tIns="0" rIns="0" bIns="0" rtlCol="0" anchor="ctr"/>
          <a:lstStyle/>
          <a:p>
            <a:pPr algn="ctr" indent="0" marL="0">
              <a:buNone/>
            </a:pPr>
            <a:r>
              <a:rPr lang="en-US" sz="800" spc="100" kern="0" dirty="0">
                <a:solidFill>
                  <a:srgbClr val="8898AA"/>
                </a:solidFill>
                <a:latin typeface="Calibri" pitchFamily="34" charset="0"/>
                <a:ea typeface="Calibri" pitchFamily="34" charset="-122"/>
                <a:cs typeface="Calibri" pitchFamily="34" charset="-120"/>
              </a:rPr>
              <a:t>LOW VALUE  ←        →  HIGH VALUE</a:t>
            </a:r>
            <a:endParaRPr lang="en-US" sz="800" dirty="0"/>
          </a:p>
        </p:txBody>
      </p:sp>
      <p:sp>
        <p:nvSpPr>
          <p:cNvPr id="27" name="Text 25"/>
          <p:cNvSpPr/>
          <p:nvPr/>
        </p:nvSpPr>
        <p:spPr>
          <a:xfrm>
            <a:off x="4754880" y="786384"/>
            <a:ext cx="4023360" cy="201168"/>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BUILD vs BUY vs FINE-TUNE</a:t>
            </a:r>
            <a:endParaRPr lang="en-US" sz="850" dirty="0"/>
          </a:p>
        </p:txBody>
      </p:sp>
      <p:sp>
        <p:nvSpPr>
          <p:cNvPr id="28" name="Shape 26"/>
          <p:cNvSpPr/>
          <p:nvPr/>
        </p:nvSpPr>
        <p:spPr>
          <a:xfrm>
            <a:off x="4754880" y="1078992"/>
            <a:ext cx="4023360" cy="80467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9" name="Shape 27"/>
          <p:cNvSpPr/>
          <p:nvPr/>
        </p:nvSpPr>
        <p:spPr>
          <a:xfrm>
            <a:off x="4754880" y="1078992"/>
            <a:ext cx="914400" cy="804672"/>
          </a:xfrm>
          <a:prstGeom prst="rect">
            <a:avLst/>
          </a:prstGeom>
          <a:solidFill>
            <a:srgbClr val="B8860B"/>
          </a:solidFill>
          <a:ln/>
        </p:spPr>
      </p:sp>
      <p:sp>
        <p:nvSpPr>
          <p:cNvPr id="30" name="Text 28"/>
          <p:cNvSpPr/>
          <p:nvPr/>
        </p:nvSpPr>
        <p:spPr>
          <a:xfrm>
            <a:off x="4754880" y="1316736"/>
            <a:ext cx="914400" cy="36576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API · BUY</a:t>
            </a:r>
            <a:endParaRPr lang="en-US" sz="900" dirty="0"/>
          </a:p>
        </p:txBody>
      </p:sp>
      <p:sp>
        <p:nvSpPr>
          <p:cNvPr id="31" name="Text 29"/>
          <p:cNvSpPr/>
          <p:nvPr/>
        </p:nvSpPr>
        <p:spPr>
          <a:xfrm>
            <a:off x="5797296" y="1188720"/>
            <a:ext cx="2889504" cy="292608"/>
          </a:xfrm>
          <a:prstGeom prst="rect">
            <a:avLst/>
          </a:prstGeom>
          <a:noFill/>
          <a:ln/>
        </p:spPr>
        <p:txBody>
          <a:bodyPr wrap="square" lIns="0" tIns="0" rIns="0" bIns="0" rtlCol="0" anchor="ctr"/>
          <a:lstStyle/>
          <a:p>
            <a:pPr indent="0" marL="0">
              <a:buNone/>
            </a:pPr>
            <a:r>
              <a:rPr lang="en-US" sz="850" dirty="0">
                <a:solidFill>
                  <a:srgbClr val="5B8C6B"/>
                </a:solidFill>
                <a:latin typeface="Calibri" pitchFamily="34" charset="0"/>
                <a:ea typeface="Calibri" pitchFamily="34" charset="-122"/>
                <a:cs typeface="Calibri" pitchFamily="34" charset="-120"/>
              </a:rPr>
              <a:t>✓  Fastest to start · Best capability today</a:t>
            </a:r>
            <a:endParaRPr lang="en-US" sz="850" dirty="0"/>
          </a:p>
        </p:txBody>
      </p:sp>
      <p:sp>
        <p:nvSpPr>
          <p:cNvPr id="32" name="Text 30"/>
          <p:cNvSpPr/>
          <p:nvPr/>
        </p:nvSpPr>
        <p:spPr>
          <a:xfrm>
            <a:off x="5797296" y="1499616"/>
            <a:ext cx="2889504" cy="292608"/>
          </a:xfrm>
          <a:prstGeom prst="rect">
            <a:avLst/>
          </a:prstGeom>
          <a:noFill/>
          <a:ln/>
        </p:spPr>
        <p:txBody>
          <a:bodyPr wrap="square" lIns="0" tIns="0" rIns="0" bIns="0" rtlCol="0" anchor="ctr"/>
          <a:lstStyle/>
          <a:p>
            <a:pPr indent="0" marL="0">
              <a:buNone/>
            </a:pPr>
            <a:r>
              <a:rPr lang="en-US" sz="850" dirty="0">
                <a:solidFill>
                  <a:srgbClr val="9A3324"/>
                </a:solidFill>
                <a:latin typeface="Calibri" pitchFamily="34" charset="0"/>
                <a:ea typeface="Calibri" pitchFamily="34" charset="-122"/>
                <a:cs typeface="Calibri" pitchFamily="34" charset="-120"/>
              </a:rPr>
              <a:t>✗  Data leaves your environment · Per-token cost</a:t>
            </a:r>
            <a:endParaRPr lang="en-US" sz="850" dirty="0"/>
          </a:p>
        </p:txBody>
      </p:sp>
      <p:sp>
        <p:nvSpPr>
          <p:cNvPr id="33" name="Shape 31"/>
          <p:cNvSpPr/>
          <p:nvPr/>
        </p:nvSpPr>
        <p:spPr>
          <a:xfrm>
            <a:off x="4754880" y="1956816"/>
            <a:ext cx="4023360" cy="80467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4" name="Shape 32"/>
          <p:cNvSpPr/>
          <p:nvPr/>
        </p:nvSpPr>
        <p:spPr>
          <a:xfrm>
            <a:off x="4754880" y="1956816"/>
            <a:ext cx="914400" cy="804672"/>
          </a:xfrm>
          <a:prstGeom prst="rect">
            <a:avLst/>
          </a:prstGeom>
          <a:solidFill>
            <a:srgbClr val="B8860B"/>
          </a:solidFill>
          <a:ln/>
        </p:spPr>
      </p:sp>
      <p:sp>
        <p:nvSpPr>
          <p:cNvPr id="35" name="Text 33"/>
          <p:cNvSpPr/>
          <p:nvPr/>
        </p:nvSpPr>
        <p:spPr>
          <a:xfrm>
            <a:off x="4754880" y="2194560"/>
            <a:ext cx="914400" cy="36576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MANAGED CLOUD</a:t>
            </a:r>
            <a:endParaRPr lang="en-US" sz="900" dirty="0"/>
          </a:p>
        </p:txBody>
      </p:sp>
      <p:sp>
        <p:nvSpPr>
          <p:cNvPr id="36" name="Text 34"/>
          <p:cNvSpPr/>
          <p:nvPr/>
        </p:nvSpPr>
        <p:spPr>
          <a:xfrm>
            <a:off x="5797296" y="2066544"/>
            <a:ext cx="2889504" cy="292608"/>
          </a:xfrm>
          <a:prstGeom prst="rect">
            <a:avLst/>
          </a:prstGeom>
          <a:noFill/>
          <a:ln/>
        </p:spPr>
        <p:txBody>
          <a:bodyPr wrap="square" lIns="0" tIns="0" rIns="0" bIns="0" rtlCol="0" anchor="ctr"/>
          <a:lstStyle/>
          <a:p>
            <a:pPr indent="0" marL="0">
              <a:buNone/>
            </a:pPr>
            <a:r>
              <a:rPr lang="en-US" sz="850" dirty="0">
                <a:solidFill>
                  <a:srgbClr val="5B8C6B"/>
                </a:solidFill>
                <a:latin typeface="Calibri" pitchFamily="34" charset="0"/>
                <a:ea typeface="Calibri" pitchFamily="34" charset="-122"/>
                <a:cs typeface="Calibri" pitchFamily="34" charset="-120"/>
              </a:rPr>
              <a:t>✓  Frontier capability · Data in your tenant</a:t>
            </a:r>
            <a:endParaRPr lang="en-US" sz="850" dirty="0"/>
          </a:p>
        </p:txBody>
      </p:sp>
      <p:sp>
        <p:nvSpPr>
          <p:cNvPr id="37" name="Text 35"/>
          <p:cNvSpPr/>
          <p:nvPr/>
        </p:nvSpPr>
        <p:spPr>
          <a:xfrm>
            <a:off x="5797296" y="2377440"/>
            <a:ext cx="2889504" cy="292608"/>
          </a:xfrm>
          <a:prstGeom prst="rect">
            <a:avLst/>
          </a:prstGeom>
          <a:noFill/>
          <a:ln/>
        </p:spPr>
        <p:txBody>
          <a:bodyPr wrap="square" lIns="0" tIns="0" rIns="0" bIns="0" rtlCol="0" anchor="ctr"/>
          <a:lstStyle/>
          <a:p>
            <a:pPr indent="0" marL="0">
              <a:buNone/>
            </a:pPr>
            <a:r>
              <a:rPr lang="en-US" sz="850" dirty="0">
                <a:solidFill>
                  <a:srgbClr val="9A3324"/>
                </a:solidFill>
                <a:latin typeface="Calibri" pitchFamily="34" charset="0"/>
                <a:ea typeface="Calibri" pitchFamily="34" charset="-122"/>
                <a:cs typeface="Calibri" pitchFamily="34" charset="-120"/>
              </a:rPr>
              <a:t>✗  Infrastructure overhead · Cloud lock-in</a:t>
            </a:r>
            <a:endParaRPr lang="en-US" sz="850" dirty="0"/>
          </a:p>
        </p:txBody>
      </p:sp>
      <p:sp>
        <p:nvSpPr>
          <p:cNvPr id="38" name="Shape 36"/>
          <p:cNvSpPr/>
          <p:nvPr/>
        </p:nvSpPr>
        <p:spPr>
          <a:xfrm>
            <a:off x="4754880" y="2834640"/>
            <a:ext cx="4023360" cy="80467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9" name="Shape 37"/>
          <p:cNvSpPr/>
          <p:nvPr/>
        </p:nvSpPr>
        <p:spPr>
          <a:xfrm>
            <a:off x="4754880" y="2834640"/>
            <a:ext cx="914400" cy="804672"/>
          </a:xfrm>
          <a:prstGeom prst="rect">
            <a:avLst/>
          </a:prstGeom>
          <a:solidFill>
            <a:srgbClr val="B8860B"/>
          </a:solidFill>
          <a:ln/>
        </p:spPr>
      </p:sp>
      <p:sp>
        <p:nvSpPr>
          <p:cNvPr id="40" name="Text 38"/>
          <p:cNvSpPr/>
          <p:nvPr/>
        </p:nvSpPr>
        <p:spPr>
          <a:xfrm>
            <a:off x="4754880" y="3072384"/>
            <a:ext cx="914400" cy="36576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FINE-TUNE</a:t>
            </a:r>
            <a:endParaRPr lang="en-US" sz="900" dirty="0"/>
          </a:p>
        </p:txBody>
      </p:sp>
      <p:sp>
        <p:nvSpPr>
          <p:cNvPr id="41" name="Text 39"/>
          <p:cNvSpPr/>
          <p:nvPr/>
        </p:nvSpPr>
        <p:spPr>
          <a:xfrm>
            <a:off x="5797296" y="2944368"/>
            <a:ext cx="2889504" cy="292608"/>
          </a:xfrm>
          <a:prstGeom prst="rect">
            <a:avLst/>
          </a:prstGeom>
          <a:noFill/>
          <a:ln/>
        </p:spPr>
        <p:txBody>
          <a:bodyPr wrap="square" lIns="0" tIns="0" rIns="0" bIns="0" rtlCol="0" anchor="ctr"/>
          <a:lstStyle/>
          <a:p>
            <a:pPr indent="0" marL="0">
              <a:buNone/>
            </a:pPr>
            <a:r>
              <a:rPr lang="en-US" sz="850" dirty="0">
                <a:solidFill>
                  <a:srgbClr val="5B8C6B"/>
                </a:solidFill>
                <a:latin typeface="Calibri" pitchFamily="34" charset="0"/>
                <a:ea typeface="Calibri" pitchFamily="34" charset="-122"/>
                <a:cs typeface="Calibri" pitchFamily="34" charset="-120"/>
              </a:rPr>
              <a:t>✓  Domain expertise · Smaller + cheaper at scale</a:t>
            </a:r>
            <a:endParaRPr lang="en-US" sz="850" dirty="0"/>
          </a:p>
        </p:txBody>
      </p:sp>
      <p:sp>
        <p:nvSpPr>
          <p:cNvPr id="42" name="Text 40"/>
          <p:cNvSpPr/>
          <p:nvPr/>
        </p:nvSpPr>
        <p:spPr>
          <a:xfrm>
            <a:off x="5797296" y="3255264"/>
            <a:ext cx="2889504" cy="292608"/>
          </a:xfrm>
          <a:prstGeom prst="rect">
            <a:avLst/>
          </a:prstGeom>
          <a:noFill/>
          <a:ln/>
        </p:spPr>
        <p:txBody>
          <a:bodyPr wrap="square" lIns="0" tIns="0" rIns="0" bIns="0" rtlCol="0" anchor="ctr"/>
          <a:lstStyle/>
          <a:p>
            <a:pPr indent="0" marL="0">
              <a:buNone/>
            </a:pPr>
            <a:r>
              <a:rPr lang="en-US" sz="850" dirty="0">
                <a:solidFill>
                  <a:srgbClr val="9A3324"/>
                </a:solidFill>
                <a:latin typeface="Calibri" pitchFamily="34" charset="0"/>
                <a:ea typeface="Calibri" pitchFamily="34" charset="-122"/>
                <a:cs typeface="Calibri" pitchFamily="34" charset="-120"/>
              </a:rPr>
              <a:t>✗  Weeks of ML work · Quality data needed</a:t>
            </a:r>
            <a:endParaRPr lang="en-US" sz="850" dirty="0"/>
          </a:p>
        </p:txBody>
      </p:sp>
      <p:sp>
        <p:nvSpPr>
          <p:cNvPr id="43" name="Shape 41"/>
          <p:cNvSpPr/>
          <p:nvPr/>
        </p:nvSpPr>
        <p:spPr>
          <a:xfrm>
            <a:off x="4754880" y="3712464"/>
            <a:ext cx="4023360" cy="80467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4" name="Shape 42"/>
          <p:cNvSpPr/>
          <p:nvPr/>
        </p:nvSpPr>
        <p:spPr>
          <a:xfrm>
            <a:off x="4754880" y="3712464"/>
            <a:ext cx="914400" cy="804672"/>
          </a:xfrm>
          <a:prstGeom prst="rect">
            <a:avLst/>
          </a:prstGeom>
          <a:solidFill>
            <a:srgbClr val="B8860B"/>
          </a:solidFill>
          <a:ln/>
        </p:spPr>
      </p:sp>
      <p:sp>
        <p:nvSpPr>
          <p:cNvPr id="45" name="Text 43"/>
          <p:cNvSpPr/>
          <p:nvPr/>
        </p:nvSpPr>
        <p:spPr>
          <a:xfrm>
            <a:off x="4754880" y="3950208"/>
            <a:ext cx="914400" cy="36576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SELF-HOST</a:t>
            </a:r>
            <a:endParaRPr lang="en-US" sz="900" dirty="0"/>
          </a:p>
        </p:txBody>
      </p:sp>
      <p:sp>
        <p:nvSpPr>
          <p:cNvPr id="46" name="Text 44"/>
          <p:cNvSpPr/>
          <p:nvPr/>
        </p:nvSpPr>
        <p:spPr>
          <a:xfrm>
            <a:off x="5797296" y="3822192"/>
            <a:ext cx="2889504" cy="292608"/>
          </a:xfrm>
          <a:prstGeom prst="rect">
            <a:avLst/>
          </a:prstGeom>
          <a:noFill/>
          <a:ln/>
        </p:spPr>
        <p:txBody>
          <a:bodyPr wrap="square" lIns="0" tIns="0" rIns="0" bIns="0" rtlCol="0" anchor="ctr"/>
          <a:lstStyle/>
          <a:p>
            <a:pPr indent="0" marL="0">
              <a:buNone/>
            </a:pPr>
            <a:r>
              <a:rPr lang="en-US" sz="850" dirty="0">
                <a:solidFill>
                  <a:srgbClr val="5B8C6B"/>
                </a:solidFill>
                <a:latin typeface="Calibri" pitchFamily="34" charset="0"/>
                <a:ea typeface="Calibri" pitchFamily="34" charset="-122"/>
                <a:cs typeface="Calibri" pitchFamily="34" charset="-120"/>
              </a:rPr>
              <a:t>✓  Full data control · No per-token cost</a:t>
            </a:r>
            <a:endParaRPr lang="en-US" sz="850" dirty="0"/>
          </a:p>
        </p:txBody>
      </p:sp>
      <p:sp>
        <p:nvSpPr>
          <p:cNvPr id="47" name="Text 45"/>
          <p:cNvSpPr/>
          <p:nvPr/>
        </p:nvSpPr>
        <p:spPr>
          <a:xfrm>
            <a:off x="5797296" y="4133088"/>
            <a:ext cx="2889504" cy="292608"/>
          </a:xfrm>
          <a:prstGeom prst="rect">
            <a:avLst/>
          </a:prstGeom>
          <a:noFill/>
          <a:ln/>
        </p:spPr>
        <p:txBody>
          <a:bodyPr wrap="square" lIns="0" tIns="0" rIns="0" bIns="0" rtlCol="0" anchor="ctr"/>
          <a:lstStyle/>
          <a:p>
            <a:pPr indent="0" marL="0">
              <a:buNone/>
            </a:pPr>
            <a:r>
              <a:rPr lang="en-US" sz="850" dirty="0">
                <a:solidFill>
                  <a:srgbClr val="9A3324"/>
                </a:solidFill>
                <a:latin typeface="Calibri" pitchFamily="34" charset="0"/>
                <a:ea typeface="Calibri" pitchFamily="34" charset="-122"/>
                <a:cs typeface="Calibri" pitchFamily="34" charset="-120"/>
              </a:rPr>
              <a:t>✗  GPU infrastructure · ML team needed</a:t>
            </a:r>
            <a:endParaRPr lang="en-US" sz="850" dirty="0"/>
          </a:p>
        </p:txBody>
      </p:sp>
      <p:sp>
        <p:nvSpPr>
          <p:cNvPr id="48" name="Shape 46"/>
          <p:cNvSpPr/>
          <p:nvPr/>
        </p:nvSpPr>
        <p:spPr>
          <a:xfrm>
            <a:off x="365760" y="4626864"/>
            <a:ext cx="8412480" cy="384048"/>
          </a:xfrm>
          <a:prstGeom prst="rect">
            <a:avLst/>
          </a:prstGeom>
          <a:solidFill>
            <a:srgbClr val="0A2540"/>
          </a:solidFill>
          <a:ln/>
        </p:spPr>
      </p:sp>
      <p:sp>
        <p:nvSpPr>
          <p:cNvPr id="49" name="Text 47"/>
          <p:cNvSpPr/>
          <p:nvPr/>
        </p:nvSpPr>
        <p:spPr>
          <a:xfrm>
            <a:off x="457200" y="4663440"/>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COST INSIGHT  ·  GPT-4 API dropped 400× in price over 18 months. Use cases unviable in 2023 are commercially viable today. Re-evaluate options quarterly.</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06</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FIVE QUESTIONS EVERY LEADER MUST ASK</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749808"/>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749808"/>
          </a:xfrm>
          <a:prstGeom prst="rect">
            <a:avLst/>
          </a:prstGeom>
          <a:solidFill>
            <a:srgbClr val="B8860B"/>
          </a:solidFill>
          <a:ln/>
        </p:spPr>
      </p:sp>
      <p:sp>
        <p:nvSpPr>
          <p:cNvPr id="9" name="Text 7"/>
          <p:cNvSpPr/>
          <p:nvPr/>
        </p:nvSpPr>
        <p:spPr>
          <a:xfrm>
            <a:off x="548640" y="1005840"/>
            <a:ext cx="640080" cy="420624"/>
          </a:xfrm>
          <a:prstGeom prst="rect">
            <a:avLst/>
          </a:prstGeom>
          <a:noFill/>
          <a:ln/>
        </p:spPr>
        <p:txBody>
          <a:bodyPr wrap="square" lIns="0" tIns="0" rIns="0" bIns="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01</a:t>
            </a:r>
            <a:endParaRPr lang="en-US" sz="2400" dirty="0"/>
          </a:p>
        </p:txBody>
      </p:sp>
      <p:sp>
        <p:nvSpPr>
          <p:cNvPr id="10" name="Text 8"/>
          <p:cNvSpPr/>
          <p:nvPr/>
        </p:nvSpPr>
        <p:spPr>
          <a:xfrm>
            <a:off x="1280160" y="896112"/>
            <a:ext cx="4937760" cy="292608"/>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What specific task is this improving, and how will we measure it?</a:t>
            </a:r>
            <a:endParaRPr lang="en-US" sz="1100" dirty="0"/>
          </a:p>
        </p:txBody>
      </p:sp>
      <p:sp>
        <p:nvSpPr>
          <p:cNvPr id="11" name="Text 9"/>
          <p:cNvSpPr/>
          <p:nvPr/>
        </p:nvSpPr>
        <p:spPr>
          <a:xfrm>
            <a:off x="1280160" y="1188720"/>
            <a:ext cx="4937760"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Without a metric, AI projects become science experiments. Tie every initiative to a measurable outcome.</a:t>
            </a:r>
            <a:endParaRPr lang="en-US" sz="850" dirty="0"/>
          </a:p>
        </p:txBody>
      </p:sp>
      <p:sp>
        <p:nvSpPr>
          <p:cNvPr id="12" name="Shape 10"/>
          <p:cNvSpPr/>
          <p:nvPr/>
        </p:nvSpPr>
        <p:spPr>
          <a:xfrm>
            <a:off x="6272784" y="914400"/>
            <a:ext cx="2432304" cy="603504"/>
          </a:xfrm>
          <a:prstGeom prst="rect">
            <a:avLst/>
          </a:prstGeom>
          <a:solidFill>
            <a:srgbClr val="F4E4BC"/>
          </a:solidFill>
          <a:ln/>
        </p:spPr>
      </p:sp>
      <p:sp>
        <p:nvSpPr>
          <p:cNvPr id="13" name="Text 11"/>
          <p:cNvSpPr/>
          <p:nvPr/>
        </p:nvSpPr>
        <p:spPr>
          <a:xfrm>
            <a:off x="6345936" y="932688"/>
            <a:ext cx="2286000" cy="146304"/>
          </a:xfrm>
          <a:prstGeom prst="rect">
            <a:avLst/>
          </a:prstGeom>
          <a:noFill/>
          <a:ln/>
        </p:spPr>
        <p:txBody>
          <a:bodyPr wrap="square" lIns="0" tIns="0" rIns="0" bIns="0" rtlCol="0" anchor="ctr"/>
          <a:lstStyle/>
          <a:p>
            <a:pPr indent="0" marL="0">
              <a:buNone/>
            </a:pPr>
            <a:r>
              <a:rPr lang="en-US" sz="650" b="1" spc="15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14" name="Text 12"/>
          <p:cNvSpPr/>
          <p:nvPr/>
        </p:nvSpPr>
        <p:spPr>
          <a:xfrm>
            <a:off x="6345936" y="1078992"/>
            <a:ext cx="2286000" cy="42062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'Reduce contract review time from 5 days to 4 hours' — not 'leverage AI for legal efficiency'.</a:t>
            </a:r>
            <a:endParaRPr lang="en-US" sz="750" dirty="0"/>
          </a:p>
        </p:txBody>
      </p:sp>
      <p:sp>
        <p:nvSpPr>
          <p:cNvPr id="15" name="Shape 13"/>
          <p:cNvSpPr/>
          <p:nvPr/>
        </p:nvSpPr>
        <p:spPr>
          <a:xfrm>
            <a:off x="365760" y="1645920"/>
            <a:ext cx="8412480" cy="749808"/>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6" name="Shape 14"/>
          <p:cNvSpPr/>
          <p:nvPr/>
        </p:nvSpPr>
        <p:spPr>
          <a:xfrm>
            <a:off x="365760" y="1645920"/>
            <a:ext cx="36576" cy="749808"/>
          </a:xfrm>
          <a:prstGeom prst="rect">
            <a:avLst/>
          </a:prstGeom>
          <a:solidFill>
            <a:srgbClr val="B8860B"/>
          </a:solidFill>
          <a:ln/>
        </p:spPr>
      </p:sp>
      <p:sp>
        <p:nvSpPr>
          <p:cNvPr id="17" name="Text 15"/>
          <p:cNvSpPr/>
          <p:nvPr/>
        </p:nvSpPr>
        <p:spPr>
          <a:xfrm>
            <a:off x="548640" y="1810512"/>
            <a:ext cx="640080" cy="420624"/>
          </a:xfrm>
          <a:prstGeom prst="rect">
            <a:avLst/>
          </a:prstGeom>
          <a:noFill/>
          <a:ln/>
        </p:spPr>
        <p:txBody>
          <a:bodyPr wrap="square" lIns="0" tIns="0" rIns="0" bIns="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02</a:t>
            </a:r>
            <a:endParaRPr lang="en-US" sz="2400" dirty="0"/>
          </a:p>
        </p:txBody>
      </p:sp>
      <p:sp>
        <p:nvSpPr>
          <p:cNvPr id="18" name="Text 16"/>
          <p:cNvSpPr/>
          <p:nvPr/>
        </p:nvSpPr>
        <p:spPr>
          <a:xfrm>
            <a:off x="1280160" y="1700784"/>
            <a:ext cx="4937760" cy="292608"/>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What data does this use, and are we permitted to use it that way?</a:t>
            </a:r>
            <a:endParaRPr lang="en-US" sz="1100" dirty="0"/>
          </a:p>
        </p:txBody>
      </p:sp>
      <p:sp>
        <p:nvSpPr>
          <p:cNvPr id="19" name="Text 17"/>
          <p:cNvSpPr/>
          <p:nvPr/>
        </p:nvSpPr>
        <p:spPr>
          <a:xfrm>
            <a:off x="1280160" y="1993392"/>
            <a:ext cx="4937760"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Privacy, GDPR, IP, and confidentiality apply to every deployment. Sending PII to an external LLM may violate obligations.</a:t>
            </a:r>
            <a:endParaRPr lang="en-US" sz="850" dirty="0"/>
          </a:p>
        </p:txBody>
      </p:sp>
      <p:sp>
        <p:nvSpPr>
          <p:cNvPr id="20" name="Shape 18"/>
          <p:cNvSpPr/>
          <p:nvPr/>
        </p:nvSpPr>
        <p:spPr>
          <a:xfrm>
            <a:off x="6272784" y="1719072"/>
            <a:ext cx="2432304" cy="603504"/>
          </a:xfrm>
          <a:prstGeom prst="rect">
            <a:avLst/>
          </a:prstGeom>
          <a:solidFill>
            <a:srgbClr val="F4E4BC"/>
          </a:solidFill>
          <a:ln/>
        </p:spPr>
      </p:sp>
      <p:sp>
        <p:nvSpPr>
          <p:cNvPr id="21" name="Text 19"/>
          <p:cNvSpPr/>
          <p:nvPr/>
        </p:nvSpPr>
        <p:spPr>
          <a:xfrm>
            <a:off x="6345936" y="1737360"/>
            <a:ext cx="2286000" cy="146304"/>
          </a:xfrm>
          <a:prstGeom prst="rect">
            <a:avLst/>
          </a:prstGeom>
          <a:noFill/>
          <a:ln/>
        </p:spPr>
        <p:txBody>
          <a:bodyPr wrap="square" lIns="0" tIns="0" rIns="0" bIns="0" rtlCol="0" anchor="ctr"/>
          <a:lstStyle/>
          <a:p>
            <a:pPr indent="0" marL="0">
              <a:buNone/>
            </a:pPr>
            <a:r>
              <a:rPr lang="en-US" sz="650" b="1" spc="15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22" name="Text 20"/>
          <p:cNvSpPr/>
          <p:nvPr/>
        </p:nvSpPr>
        <p:spPr>
          <a:xfrm>
            <a:off x="6345936" y="1883664"/>
            <a:ext cx="2286000" cy="42062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Confirm: is this data personal? Regulated? Does the vendor's agreement cover this use?</a:t>
            </a:r>
            <a:endParaRPr lang="en-US" sz="750" dirty="0"/>
          </a:p>
        </p:txBody>
      </p:sp>
      <p:sp>
        <p:nvSpPr>
          <p:cNvPr id="23" name="Shape 21"/>
          <p:cNvSpPr/>
          <p:nvPr/>
        </p:nvSpPr>
        <p:spPr>
          <a:xfrm>
            <a:off x="365760" y="2450592"/>
            <a:ext cx="8412480" cy="749808"/>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4" name="Shape 22"/>
          <p:cNvSpPr/>
          <p:nvPr/>
        </p:nvSpPr>
        <p:spPr>
          <a:xfrm>
            <a:off x="365760" y="2450592"/>
            <a:ext cx="36576" cy="749808"/>
          </a:xfrm>
          <a:prstGeom prst="rect">
            <a:avLst/>
          </a:prstGeom>
          <a:solidFill>
            <a:srgbClr val="B8860B"/>
          </a:solidFill>
          <a:ln/>
        </p:spPr>
      </p:sp>
      <p:sp>
        <p:nvSpPr>
          <p:cNvPr id="25" name="Text 23"/>
          <p:cNvSpPr/>
          <p:nvPr/>
        </p:nvSpPr>
        <p:spPr>
          <a:xfrm>
            <a:off x="548640" y="2615184"/>
            <a:ext cx="640080" cy="420624"/>
          </a:xfrm>
          <a:prstGeom prst="rect">
            <a:avLst/>
          </a:prstGeom>
          <a:noFill/>
          <a:ln/>
        </p:spPr>
        <p:txBody>
          <a:bodyPr wrap="square" lIns="0" tIns="0" rIns="0" bIns="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03</a:t>
            </a:r>
            <a:endParaRPr lang="en-US" sz="2400" dirty="0"/>
          </a:p>
        </p:txBody>
      </p:sp>
      <p:sp>
        <p:nvSpPr>
          <p:cNvPr id="26" name="Text 24"/>
          <p:cNvSpPr/>
          <p:nvPr/>
        </p:nvSpPr>
        <p:spPr>
          <a:xfrm>
            <a:off x="1280160" y="2505456"/>
            <a:ext cx="4937760" cy="292608"/>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What happens when this system is wrong — and who is accountable?</a:t>
            </a:r>
            <a:endParaRPr lang="en-US" sz="1100" dirty="0"/>
          </a:p>
        </p:txBody>
      </p:sp>
      <p:sp>
        <p:nvSpPr>
          <p:cNvPr id="27" name="Text 25"/>
          <p:cNvSpPr/>
          <p:nvPr/>
        </p:nvSpPr>
        <p:spPr>
          <a:xfrm>
            <a:off x="1280160" y="2798064"/>
            <a:ext cx="4937760"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AI makes mistakes. Define accountability, escalation, and human review before deployment.</a:t>
            </a:r>
            <a:endParaRPr lang="en-US" sz="850" dirty="0"/>
          </a:p>
        </p:txBody>
      </p:sp>
      <p:sp>
        <p:nvSpPr>
          <p:cNvPr id="28" name="Shape 26"/>
          <p:cNvSpPr/>
          <p:nvPr/>
        </p:nvSpPr>
        <p:spPr>
          <a:xfrm>
            <a:off x="6272784" y="2523744"/>
            <a:ext cx="2432304" cy="603504"/>
          </a:xfrm>
          <a:prstGeom prst="rect">
            <a:avLst/>
          </a:prstGeom>
          <a:solidFill>
            <a:srgbClr val="F4E4BC"/>
          </a:solidFill>
          <a:ln/>
        </p:spPr>
      </p:sp>
      <p:sp>
        <p:nvSpPr>
          <p:cNvPr id="29" name="Text 27"/>
          <p:cNvSpPr/>
          <p:nvPr/>
        </p:nvSpPr>
        <p:spPr>
          <a:xfrm>
            <a:off x="6345936" y="2542032"/>
            <a:ext cx="2286000" cy="146304"/>
          </a:xfrm>
          <a:prstGeom prst="rect">
            <a:avLst/>
          </a:prstGeom>
          <a:noFill/>
          <a:ln/>
        </p:spPr>
        <p:txBody>
          <a:bodyPr wrap="square" lIns="0" tIns="0" rIns="0" bIns="0" rtlCol="0" anchor="ctr"/>
          <a:lstStyle/>
          <a:p>
            <a:pPr indent="0" marL="0">
              <a:buNone/>
            </a:pPr>
            <a:r>
              <a:rPr lang="en-US" sz="650" b="1" spc="15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30" name="Text 28"/>
          <p:cNvSpPr/>
          <p:nvPr/>
        </p:nvSpPr>
        <p:spPr>
          <a:xfrm>
            <a:off x="6345936" y="2688336"/>
            <a:ext cx="2286000" cy="42062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For AI hiring: who reviews the shortlist? Who is responsible if output is discriminatory?</a:t>
            </a:r>
            <a:endParaRPr lang="en-US" sz="750" dirty="0"/>
          </a:p>
        </p:txBody>
      </p:sp>
      <p:sp>
        <p:nvSpPr>
          <p:cNvPr id="31" name="Shape 29"/>
          <p:cNvSpPr/>
          <p:nvPr/>
        </p:nvSpPr>
        <p:spPr>
          <a:xfrm>
            <a:off x="365760" y="3255264"/>
            <a:ext cx="8412480" cy="749808"/>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2" name="Shape 30"/>
          <p:cNvSpPr/>
          <p:nvPr/>
        </p:nvSpPr>
        <p:spPr>
          <a:xfrm>
            <a:off x="365760" y="3255264"/>
            <a:ext cx="36576" cy="749808"/>
          </a:xfrm>
          <a:prstGeom prst="rect">
            <a:avLst/>
          </a:prstGeom>
          <a:solidFill>
            <a:srgbClr val="B8860B"/>
          </a:solidFill>
          <a:ln/>
        </p:spPr>
      </p:sp>
      <p:sp>
        <p:nvSpPr>
          <p:cNvPr id="33" name="Text 31"/>
          <p:cNvSpPr/>
          <p:nvPr/>
        </p:nvSpPr>
        <p:spPr>
          <a:xfrm>
            <a:off x="548640" y="3419856"/>
            <a:ext cx="640080" cy="420624"/>
          </a:xfrm>
          <a:prstGeom prst="rect">
            <a:avLst/>
          </a:prstGeom>
          <a:noFill/>
          <a:ln/>
        </p:spPr>
        <p:txBody>
          <a:bodyPr wrap="square" lIns="0" tIns="0" rIns="0" bIns="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04</a:t>
            </a:r>
            <a:endParaRPr lang="en-US" sz="2400" dirty="0"/>
          </a:p>
        </p:txBody>
      </p:sp>
      <p:sp>
        <p:nvSpPr>
          <p:cNvPr id="34" name="Text 32"/>
          <p:cNvSpPr/>
          <p:nvPr/>
        </p:nvSpPr>
        <p:spPr>
          <a:xfrm>
            <a:off x="1280160" y="3310128"/>
            <a:ext cx="4937760" cy="292608"/>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Are our people trained to use this critically — not just accept its output?</a:t>
            </a:r>
            <a:endParaRPr lang="en-US" sz="1100" dirty="0"/>
          </a:p>
        </p:txBody>
      </p:sp>
      <p:sp>
        <p:nvSpPr>
          <p:cNvPr id="35" name="Text 33"/>
          <p:cNvSpPr/>
          <p:nvPr/>
        </p:nvSpPr>
        <p:spPr>
          <a:xfrm>
            <a:off x="1280160" y="3602736"/>
            <a:ext cx="4937760"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The greatest GenAI risk is humans who stop thinking. AI literacy must accompany every rollout.</a:t>
            </a:r>
            <a:endParaRPr lang="en-US" sz="850" dirty="0"/>
          </a:p>
        </p:txBody>
      </p:sp>
      <p:sp>
        <p:nvSpPr>
          <p:cNvPr id="36" name="Shape 34"/>
          <p:cNvSpPr/>
          <p:nvPr/>
        </p:nvSpPr>
        <p:spPr>
          <a:xfrm>
            <a:off x="6272784" y="3328416"/>
            <a:ext cx="2432304" cy="603504"/>
          </a:xfrm>
          <a:prstGeom prst="rect">
            <a:avLst/>
          </a:prstGeom>
          <a:solidFill>
            <a:srgbClr val="F4E4BC"/>
          </a:solidFill>
          <a:ln/>
        </p:spPr>
      </p:sp>
      <p:sp>
        <p:nvSpPr>
          <p:cNvPr id="37" name="Text 35"/>
          <p:cNvSpPr/>
          <p:nvPr/>
        </p:nvSpPr>
        <p:spPr>
          <a:xfrm>
            <a:off x="6345936" y="3346704"/>
            <a:ext cx="2286000" cy="146304"/>
          </a:xfrm>
          <a:prstGeom prst="rect">
            <a:avLst/>
          </a:prstGeom>
          <a:noFill/>
          <a:ln/>
        </p:spPr>
        <p:txBody>
          <a:bodyPr wrap="square" lIns="0" tIns="0" rIns="0" bIns="0" rtlCol="0" anchor="ctr"/>
          <a:lstStyle/>
          <a:p>
            <a:pPr indent="0" marL="0">
              <a:buNone/>
            </a:pPr>
            <a:r>
              <a:rPr lang="en-US" sz="650" b="1" spc="15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38" name="Text 36"/>
          <p:cNvSpPr/>
          <p:nvPr/>
        </p:nvSpPr>
        <p:spPr>
          <a:xfrm>
            <a:off x="6345936" y="3493008"/>
            <a:ext cx="2286000" cy="42062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Train staff: 'AI output is a first draft. Always verify facts. Always apply judgment.'</a:t>
            </a:r>
            <a:endParaRPr lang="en-US" sz="750" dirty="0"/>
          </a:p>
        </p:txBody>
      </p:sp>
      <p:sp>
        <p:nvSpPr>
          <p:cNvPr id="39" name="Shape 37"/>
          <p:cNvSpPr/>
          <p:nvPr/>
        </p:nvSpPr>
        <p:spPr>
          <a:xfrm>
            <a:off x="365760" y="4059936"/>
            <a:ext cx="8412480" cy="749808"/>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0" name="Shape 38"/>
          <p:cNvSpPr/>
          <p:nvPr/>
        </p:nvSpPr>
        <p:spPr>
          <a:xfrm>
            <a:off x="365760" y="4059936"/>
            <a:ext cx="36576" cy="749808"/>
          </a:xfrm>
          <a:prstGeom prst="rect">
            <a:avLst/>
          </a:prstGeom>
          <a:solidFill>
            <a:srgbClr val="B8860B"/>
          </a:solidFill>
          <a:ln/>
        </p:spPr>
      </p:sp>
      <p:sp>
        <p:nvSpPr>
          <p:cNvPr id="41" name="Text 39"/>
          <p:cNvSpPr/>
          <p:nvPr/>
        </p:nvSpPr>
        <p:spPr>
          <a:xfrm>
            <a:off x="548640" y="4224528"/>
            <a:ext cx="640080" cy="420624"/>
          </a:xfrm>
          <a:prstGeom prst="rect">
            <a:avLst/>
          </a:prstGeom>
          <a:noFill/>
          <a:ln/>
        </p:spPr>
        <p:txBody>
          <a:bodyPr wrap="square" lIns="0" tIns="0" rIns="0" bIns="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05</a:t>
            </a:r>
            <a:endParaRPr lang="en-US" sz="2400" dirty="0"/>
          </a:p>
        </p:txBody>
      </p:sp>
      <p:sp>
        <p:nvSpPr>
          <p:cNvPr id="42" name="Text 40"/>
          <p:cNvSpPr/>
          <p:nvPr/>
        </p:nvSpPr>
        <p:spPr>
          <a:xfrm>
            <a:off x="1280160" y="4114800"/>
            <a:ext cx="4937760" cy="292608"/>
          </a:xfrm>
          <a:prstGeom prst="rect">
            <a:avLst/>
          </a:prstGeom>
          <a:noFill/>
          <a:ln/>
        </p:spPr>
        <p:txBody>
          <a:bodyPr wrap="square" lIns="0" tIns="0" rIns="0" bIns="0" rtlCol="0" anchor="ctr"/>
          <a:lstStyle/>
          <a:p>
            <a:pPr indent="0" marL="0">
              <a:buNone/>
            </a:pPr>
            <a:r>
              <a:rPr lang="en-US" sz="1100" b="1" dirty="0">
                <a:solidFill>
                  <a:srgbClr val="0A2540"/>
                </a:solidFill>
                <a:latin typeface="Calibri" pitchFamily="34" charset="0"/>
                <a:ea typeface="Calibri" pitchFamily="34" charset="-122"/>
                <a:cs typeface="Calibri" pitchFamily="34" charset="-120"/>
              </a:rPr>
              <a:t>What is our exit strategy if the vendor relationship changes?</a:t>
            </a:r>
            <a:endParaRPr lang="en-US" sz="1100" dirty="0"/>
          </a:p>
        </p:txBody>
      </p:sp>
      <p:sp>
        <p:nvSpPr>
          <p:cNvPr id="43" name="Text 41"/>
          <p:cNvSpPr/>
          <p:nvPr/>
        </p:nvSpPr>
        <p:spPr>
          <a:xfrm>
            <a:off x="1280160" y="4407408"/>
            <a:ext cx="4937760"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Model deprecation, pricing shifts, and acquisitions are common. Build on abstraction layers.</a:t>
            </a:r>
            <a:endParaRPr lang="en-US" sz="850" dirty="0"/>
          </a:p>
        </p:txBody>
      </p:sp>
      <p:sp>
        <p:nvSpPr>
          <p:cNvPr id="44" name="Shape 42"/>
          <p:cNvSpPr/>
          <p:nvPr/>
        </p:nvSpPr>
        <p:spPr>
          <a:xfrm>
            <a:off x="6272784" y="4133088"/>
            <a:ext cx="2432304" cy="603504"/>
          </a:xfrm>
          <a:prstGeom prst="rect">
            <a:avLst/>
          </a:prstGeom>
          <a:solidFill>
            <a:srgbClr val="F4E4BC"/>
          </a:solidFill>
          <a:ln/>
        </p:spPr>
      </p:sp>
      <p:sp>
        <p:nvSpPr>
          <p:cNvPr id="45" name="Text 43"/>
          <p:cNvSpPr/>
          <p:nvPr/>
        </p:nvSpPr>
        <p:spPr>
          <a:xfrm>
            <a:off x="6345936" y="4151376"/>
            <a:ext cx="2286000" cy="146304"/>
          </a:xfrm>
          <a:prstGeom prst="rect">
            <a:avLst/>
          </a:prstGeom>
          <a:noFill/>
          <a:ln/>
        </p:spPr>
        <p:txBody>
          <a:bodyPr wrap="square" lIns="0" tIns="0" rIns="0" bIns="0" rtlCol="0" anchor="ctr"/>
          <a:lstStyle/>
          <a:p>
            <a:pPr indent="0" marL="0">
              <a:buNone/>
            </a:pPr>
            <a:r>
              <a:rPr lang="en-US" sz="650" b="1" spc="150" kern="0" dirty="0">
                <a:solidFill>
                  <a:srgbClr val="B8860B"/>
                </a:solidFill>
                <a:latin typeface="Calibri" pitchFamily="34" charset="0"/>
                <a:ea typeface="Calibri" pitchFamily="34" charset="-122"/>
                <a:cs typeface="Calibri" pitchFamily="34" charset="-120"/>
              </a:rPr>
              <a:t>EXAMPLE</a:t>
            </a:r>
            <a:endParaRPr lang="en-US" sz="650" dirty="0"/>
          </a:p>
        </p:txBody>
      </p:sp>
      <p:sp>
        <p:nvSpPr>
          <p:cNvPr id="46" name="Text 44"/>
          <p:cNvSpPr/>
          <p:nvPr/>
        </p:nvSpPr>
        <p:spPr>
          <a:xfrm>
            <a:off x="6345936" y="4297680"/>
            <a:ext cx="2286000" cy="420624"/>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Use LangChain or similar so swapping GPT-4 to Claude is config change, not a rebuild.</a:t>
            </a:r>
            <a:endParaRPr lang="en-US" sz="750" dirty="0"/>
          </a:p>
        </p:txBody>
      </p:sp>
      <p:sp>
        <p:nvSpPr>
          <p:cNvPr id="47" name="Shape 45"/>
          <p:cNvSpPr/>
          <p:nvPr/>
        </p:nvSpPr>
        <p:spPr>
          <a:xfrm>
            <a:off x="365760" y="4626864"/>
            <a:ext cx="8412480" cy="384048"/>
          </a:xfrm>
          <a:prstGeom prst="rect">
            <a:avLst/>
          </a:prstGeom>
          <a:solidFill>
            <a:srgbClr val="0A2540"/>
          </a:solidFill>
          <a:ln/>
        </p:spPr>
      </p:sp>
      <p:sp>
        <p:nvSpPr>
          <p:cNvPr id="48" name="Text 46"/>
          <p:cNvSpPr/>
          <p:nvPr/>
        </p:nvSpPr>
        <p:spPr>
          <a:xfrm>
            <a:off x="457200" y="4663440"/>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MOST IMPORTANT QUESTION  ·  Is this solving a real business problem — or are we doing AI because everyone else is?</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06</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YOUR 90-DAY ACTION PLAN</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2615184" cy="369417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8" name="Shape 6"/>
          <p:cNvSpPr/>
          <p:nvPr/>
        </p:nvSpPr>
        <p:spPr>
          <a:xfrm>
            <a:off x="365760" y="841248"/>
            <a:ext cx="2615184" cy="512064"/>
          </a:xfrm>
          <a:prstGeom prst="rect">
            <a:avLst/>
          </a:prstGeom>
          <a:solidFill>
            <a:srgbClr val="B8860B"/>
          </a:solidFill>
          <a:ln/>
        </p:spPr>
      </p:sp>
      <p:sp>
        <p:nvSpPr>
          <p:cNvPr id="9" name="Text 7"/>
          <p:cNvSpPr/>
          <p:nvPr/>
        </p:nvSpPr>
        <p:spPr>
          <a:xfrm>
            <a:off x="475488" y="877824"/>
            <a:ext cx="2432304" cy="182880"/>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DAYS 1–30</a:t>
            </a:r>
            <a:endParaRPr lang="en-US" sz="850" dirty="0"/>
          </a:p>
        </p:txBody>
      </p:sp>
      <p:sp>
        <p:nvSpPr>
          <p:cNvPr id="10" name="Text 8"/>
          <p:cNvSpPr/>
          <p:nvPr/>
        </p:nvSpPr>
        <p:spPr>
          <a:xfrm>
            <a:off x="475488" y="1078992"/>
            <a:ext cx="243230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Assess &amp; Govern</a:t>
            </a:r>
            <a:endParaRPr lang="en-US" sz="1200" dirty="0"/>
          </a:p>
        </p:txBody>
      </p:sp>
      <p:sp>
        <p:nvSpPr>
          <p:cNvPr id="11" name="Shape 9"/>
          <p:cNvSpPr/>
          <p:nvPr/>
        </p:nvSpPr>
        <p:spPr>
          <a:xfrm>
            <a:off x="457200" y="1426464"/>
            <a:ext cx="2432304" cy="548640"/>
          </a:xfrm>
          <a:prstGeom prst="rect">
            <a:avLst/>
          </a:prstGeom>
          <a:solidFill>
            <a:srgbClr val="FFFFFF"/>
          </a:solidFill>
          <a:ln/>
        </p:spPr>
      </p:sp>
      <p:sp>
        <p:nvSpPr>
          <p:cNvPr id="12" name="Shape 10"/>
          <p:cNvSpPr/>
          <p:nvPr/>
        </p:nvSpPr>
        <p:spPr>
          <a:xfrm>
            <a:off x="457200" y="1426464"/>
            <a:ext cx="36576" cy="548640"/>
          </a:xfrm>
          <a:prstGeom prst="rect">
            <a:avLst/>
          </a:prstGeom>
          <a:solidFill>
            <a:srgbClr val="B8860B"/>
          </a:solidFill>
          <a:ln/>
        </p:spPr>
      </p:sp>
      <p:sp>
        <p:nvSpPr>
          <p:cNvPr id="13" name="Text 11"/>
          <p:cNvSpPr/>
          <p:nvPr/>
        </p:nvSpPr>
        <p:spPr>
          <a:xfrm>
            <a:off x="548640" y="1463040"/>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Audit existing AI tool usage — discover shadow AI</a:t>
            </a:r>
            <a:endParaRPr lang="en-US" sz="850" dirty="0"/>
          </a:p>
        </p:txBody>
      </p:sp>
      <p:sp>
        <p:nvSpPr>
          <p:cNvPr id="14" name="Text 12"/>
          <p:cNvSpPr/>
          <p:nvPr/>
        </p:nvSpPr>
        <p:spPr>
          <a:xfrm>
            <a:off x="548640" y="1737360"/>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Survey all teams: what AI tools are you using?</a:t>
            </a:r>
            <a:endParaRPr lang="en-US" sz="700" dirty="0"/>
          </a:p>
        </p:txBody>
      </p:sp>
      <p:sp>
        <p:nvSpPr>
          <p:cNvPr id="15" name="Shape 13"/>
          <p:cNvSpPr/>
          <p:nvPr/>
        </p:nvSpPr>
        <p:spPr>
          <a:xfrm>
            <a:off x="457200" y="2029968"/>
            <a:ext cx="2432304" cy="548640"/>
          </a:xfrm>
          <a:prstGeom prst="rect">
            <a:avLst/>
          </a:prstGeom>
          <a:solidFill>
            <a:srgbClr val="EDF1F7"/>
          </a:solidFill>
          <a:ln/>
        </p:spPr>
      </p:sp>
      <p:sp>
        <p:nvSpPr>
          <p:cNvPr id="16" name="Shape 14"/>
          <p:cNvSpPr/>
          <p:nvPr/>
        </p:nvSpPr>
        <p:spPr>
          <a:xfrm>
            <a:off x="457200" y="2029968"/>
            <a:ext cx="36576" cy="548640"/>
          </a:xfrm>
          <a:prstGeom prst="rect">
            <a:avLst/>
          </a:prstGeom>
          <a:solidFill>
            <a:srgbClr val="B8860B"/>
          </a:solidFill>
          <a:ln/>
        </p:spPr>
      </p:sp>
      <p:sp>
        <p:nvSpPr>
          <p:cNvPr id="17" name="Text 15"/>
          <p:cNvSpPr/>
          <p:nvPr/>
        </p:nvSpPr>
        <p:spPr>
          <a:xfrm>
            <a:off x="548640" y="2066544"/>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Publish an AI use policy</a:t>
            </a:r>
            <a:endParaRPr lang="en-US" sz="850" dirty="0"/>
          </a:p>
        </p:txBody>
      </p:sp>
      <p:sp>
        <p:nvSpPr>
          <p:cNvPr id="18" name="Text 16"/>
          <p:cNvSpPr/>
          <p:nvPr/>
        </p:nvSpPr>
        <p:spPr>
          <a:xfrm>
            <a:off x="548640" y="2340864"/>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1-page: approved for X, not for Y</a:t>
            </a:r>
            <a:endParaRPr lang="en-US" sz="700" dirty="0"/>
          </a:p>
        </p:txBody>
      </p:sp>
      <p:sp>
        <p:nvSpPr>
          <p:cNvPr id="19" name="Shape 17"/>
          <p:cNvSpPr/>
          <p:nvPr/>
        </p:nvSpPr>
        <p:spPr>
          <a:xfrm>
            <a:off x="457200" y="2633472"/>
            <a:ext cx="2432304" cy="548640"/>
          </a:xfrm>
          <a:prstGeom prst="rect">
            <a:avLst/>
          </a:prstGeom>
          <a:solidFill>
            <a:srgbClr val="FFFFFF"/>
          </a:solidFill>
          <a:ln/>
        </p:spPr>
      </p:sp>
      <p:sp>
        <p:nvSpPr>
          <p:cNvPr id="20" name="Shape 18"/>
          <p:cNvSpPr/>
          <p:nvPr/>
        </p:nvSpPr>
        <p:spPr>
          <a:xfrm>
            <a:off x="457200" y="2633472"/>
            <a:ext cx="36576" cy="548640"/>
          </a:xfrm>
          <a:prstGeom prst="rect">
            <a:avLst/>
          </a:prstGeom>
          <a:solidFill>
            <a:srgbClr val="B8860B"/>
          </a:solidFill>
          <a:ln/>
        </p:spPr>
      </p:sp>
      <p:sp>
        <p:nvSpPr>
          <p:cNvPr id="21" name="Text 19"/>
          <p:cNvSpPr/>
          <p:nvPr/>
        </p:nvSpPr>
        <p:spPr>
          <a:xfrm>
            <a:off x="548640" y="2670048"/>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Identify top 5 highest-value, lowest-risk cases</a:t>
            </a:r>
            <a:endParaRPr lang="en-US" sz="850" dirty="0"/>
          </a:p>
        </p:txBody>
      </p:sp>
      <p:sp>
        <p:nvSpPr>
          <p:cNvPr id="22" name="Text 20"/>
          <p:cNvSpPr/>
          <p:nvPr/>
        </p:nvSpPr>
        <p:spPr>
          <a:xfrm>
            <a:off x="548640" y="2944368"/>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Score: value × feasibility × data</a:t>
            </a:r>
            <a:endParaRPr lang="en-US" sz="700" dirty="0"/>
          </a:p>
        </p:txBody>
      </p:sp>
      <p:sp>
        <p:nvSpPr>
          <p:cNvPr id="23" name="Shape 21"/>
          <p:cNvSpPr/>
          <p:nvPr/>
        </p:nvSpPr>
        <p:spPr>
          <a:xfrm>
            <a:off x="457200" y="3236976"/>
            <a:ext cx="2432304" cy="548640"/>
          </a:xfrm>
          <a:prstGeom prst="rect">
            <a:avLst/>
          </a:prstGeom>
          <a:solidFill>
            <a:srgbClr val="EDF1F7"/>
          </a:solidFill>
          <a:ln/>
        </p:spPr>
      </p:sp>
      <p:sp>
        <p:nvSpPr>
          <p:cNvPr id="24" name="Shape 22"/>
          <p:cNvSpPr/>
          <p:nvPr/>
        </p:nvSpPr>
        <p:spPr>
          <a:xfrm>
            <a:off x="457200" y="3236976"/>
            <a:ext cx="36576" cy="548640"/>
          </a:xfrm>
          <a:prstGeom prst="rect">
            <a:avLst/>
          </a:prstGeom>
          <a:solidFill>
            <a:srgbClr val="B8860B"/>
          </a:solidFill>
          <a:ln/>
        </p:spPr>
      </p:sp>
      <p:sp>
        <p:nvSpPr>
          <p:cNvPr id="25" name="Text 23"/>
          <p:cNvSpPr/>
          <p:nvPr/>
        </p:nvSpPr>
        <p:spPr>
          <a:xfrm>
            <a:off x="548640" y="3273552"/>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Assign business owners (not CTO)</a:t>
            </a:r>
            <a:endParaRPr lang="en-US" sz="850" dirty="0"/>
          </a:p>
        </p:txBody>
      </p:sp>
      <p:sp>
        <p:nvSpPr>
          <p:cNvPr id="26" name="Text 24"/>
          <p:cNvSpPr/>
          <p:nvPr/>
        </p:nvSpPr>
        <p:spPr>
          <a:xfrm>
            <a:off x="548640" y="3547872"/>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Head of Sales / CFO / CMO owns it</a:t>
            </a:r>
            <a:endParaRPr lang="en-US" sz="700" dirty="0"/>
          </a:p>
        </p:txBody>
      </p:sp>
      <p:sp>
        <p:nvSpPr>
          <p:cNvPr id="27" name="Shape 25"/>
          <p:cNvSpPr/>
          <p:nvPr/>
        </p:nvSpPr>
        <p:spPr>
          <a:xfrm>
            <a:off x="457200" y="3840480"/>
            <a:ext cx="2432304" cy="548640"/>
          </a:xfrm>
          <a:prstGeom prst="rect">
            <a:avLst/>
          </a:prstGeom>
          <a:solidFill>
            <a:srgbClr val="FFFFFF"/>
          </a:solidFill>
          <a:ln/>
        </p:spPr>
      </p:sp>
      <p:sp>
        <p:nvSpPr>
          <p:cNvPr id="28" name="Shape 26"/>
          <p:cNvSpPr/>
          <p:nvPr/>
        </p:nvSpPr>
        <p:spPr>
          <a:xfrm>
            <a:off x="457200" y="3840480"/>
            <a:ext cx="36576" cy="548640"/>
          </a:xfrm>
          <a:prstGeom prst="rect">
            <a:avLst/>
          </a:prstGeom>
          <a:solidFill>
            <a:srgbClr val="B8860B"/>
          </a:solidFill>
          <a:ln/>
        </p:spPr>
      </p:sp>
      <p:sp>
        <p:nvSpPr>
          <p:cNvPr id="29" name="Text 27"/>
          <p:cNvSpPr/>
          <p:nvPr/>
        </p:nvSpPr>
        <p:spPr>
          <a:xfrm>
            <a:off x="548640" y="3877056"/>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Enrol leadership in AI literacy training</a:t>
            </a:r>
            <a:endParaRPr lang="en-US" sz="850" dirty="0"/>
          </a:p>
        </p:txBody>
      </p:sp>
      <p:sp>
        <p:nvSpPr>
          <p:cNvPr id="30" name="Text 28"/>
          <p:cNvSpPr/>
          <p:nvPr/>
        </p:nvSpPr>
        <p:spPr>
          <a:xfrm>
            <a:off x="548640" y="4151376"/>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This deck + prompt engineering workshop</a:t>
            </a:r>
            <a:endParaRPr lang="en-US" sz="700" dirty="0"/>
          </a:p>
        </p:txBody>
      </p:sp>
      <p:sp>
        <p:nvSpPr>
          <p:cNvPr id="31" name="Shape 29"/>
          <p:cNvSpPr/>
          <p:nvPr/>
        </p:nvSpPr>
        <p:spPr>
          <a:xfrm>
            <a:off x="3172968" y="841248"/>
            <a:ext cx="2615184" cy="369417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2" name="Shape 30"/>
          <p:cNvSpPr/>
          <p:nvPr/>
        </p:nvSpPr>
        <p:spPr>
          <a:xfrm>
            <a:off x="3172968" y="841248"/>
            <a:ext cx="2615184" cy="512064"/>
          </a:xfrm>
          <a:prstGeom prst="rect">
            <a:avLst/>
          </a:prstGeom>
          <a:solidFill>
            <a:srgbClr val="B8860B"/>
          </a:solidFill>
          <a:ln/>
        </p:spPr>
      </p:sp>
      <p:sp>
        <p:nvSpPr>
          <p:cNvPr id="33" name="Text 31"/>
          <p:cNvSpPr/>
          <p:nvPr/>
        </p:nvSpPr>
        <p:spPr>
          <a:xfrm>
            <a:off x="3282696" y="877824"/>
            <a:ext cx="2432304" cy="182880"/>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DAYS 31–60</a:t>
            </a:r>
            <a:endParaRPr lang="en-US" sz="850" dirty="0"/>
          </a:p>
        </p:txBody>
      </p:sp>
      <p:sp>
        <p:nvSpPr>
          <p:cNvPr id="34" name="Text 32"/>
          <p:cNvSpPr/>
          <p:nvPr/>
        </p:nvSpPr>
        <p:spPr>
          <a:xfrm>
            <a:off x="3282696" y="1078992"/>
            <a:ext cx="243230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Pilot &amp; Learn</a:t>
            </a:r>
            <a:endParaRPr lang="en-US" sz="1200" dirty="0"/>
          </a:p>
        </p:txBody>
      </p:sp>
      <p:sp>
        <p:nvSpPr>
          <p:cNvPr id="35" name="Shape 33"/>
          <p:cNvSpPr/>
          <p:nvPr/>
        </p:nvSpPr>
        <p:spPr>
          <a:xfrm>
            <a:off x="3264408" y="1426464"/>
            <a:ext cx="2432304" cy="548640"/>
          </a:xfrm>
          <a:prstGeom prst="rect">
            <a:avLst/>
          </a:prstGeom>
          <a:solidFill>
            <a:srgbClr val="FFFFFF"/>
          </a:solidFill>
          <a:ln/>
        </p:spPr>
      </p:sp>
      <p:sp>
        <p:nvSpPr>
          <p:cNvPr id="36" name="Shape 34"/>
          <p:cNvSpPr/>
          <p:nvPr/>
        </p:nvSpPr>
        <p:spPr>
          <a:xfrm>
            <a:off x="3264408" y="1426464"/>
            <a:ext cx="36576" cy="548640"/>
          </a:xfrm>
          <a:prstGeom prst="rect">
            <a:avLst/>
          </a:prstGeom>
          <a:solidFill>
            <a:srgbClr val="B8860B"/>
          </a:solidFill>
          <a:ln/>
        </p:spPr>
      </p:sp>
      <p:sp>
        <p:nvSpPr>
          <p:cNvPr id="37" name="Text 35"/>
          <p:cNvSpPr/>
          <p:nvPr/>
        </p:nvSpPr>
        <p:spPr>
          <a:xfrm>
            <a:off x="3355848" y="1463040"/>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Launch 2–3 focused pilots with success metrics</a:t>
            </a:r>
            <a:endParaRPr lang="en-US" sz="850" dirty="0"/>
          </a:p>
        </p:txBody>
      </p:sp>
      <p:sp>
        <p:nvSpPr>
          <p:cNvPr id="38" name="Text 36"/>
          <p:cNvSpPr/>
          <p:nvPr/>
        </p:nvSpPr>
        <p:spPr>
          <a:xfrm>
            <a:off x="3355848" y="1737360"/>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'Reduce draft time from 3h to 30min'</a:t>
            </a:r>
            <a:endParaRPr lang="en-US" sz="700" dirty="0"/>
          </a:p>
        </p:txBody>
      </p:sp>
      <p:sp>
        <p:nvSpPr>
          <p:cNvPr id="39" name="Shape 37"/>
          <p:cNvSpPr/>
          <p:nvPr/>
        </p:nvSpPr>
        <p:spPr>
          <a:xfrm>
            <a:off x="3264408" y="2029968"/>
            <a:ext cx="2432304" cy="548640"/>
          </a:xfrm>
          <a:prstGeom prst="rect">
            <a:avLst/>
          </a:prstGeom>
          <a:solidFill>
            <a:srgbClr val="EDF1F7"/>
          </a:solidFill>
          <a:ln/>
        </p:spPr>
      </p:sp>
      <p:sp>
        <p:nvSpPr>
          <p:cNvPr id="40" name="Shape 38"/>
          <p:cNvSpPr/>
          <p:nvPr/>
        </p:nvSpPr>
        <p:spPr>
          <a:xfrm>
            <a:off x="3264408" y="2029968"/>
            <a:ext cx="36576" cy="548640"/>
          </a:xfrm>
          <a:prstGeom prst="rect">
            <a:avLst/>
          </a:prstGeom>
          <a:solidFill>
            <a:srgbClr val="B8860B"/>
          </a:solidFill>
          <a:ln/>
        </p:spPr>
      </p:sp>
      <p:sp>
        <p:nvSpPr>
          <p:cNvPr id="41" name="Text 39"/>
          <p:cNvSpPr/>
          <p:nvPr/>
        </p:nvSpPr>
        <p:spPr>
          <a:xfrm>
            <a:off x="3355848" y="2066544"/>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Capture ROI data from day one</a:t>
            </a:r>
            <a:endParaRPr lang="en-US" sz="850" dirty="0"/>
          </a:p>
        </p:txBody>
      </p:sp>
      <p:sp>
        <p:nvSpPr>
          <p:cNvPr id="42" name="Text 40"/>
          <p:cNvSpPr/>
          <p:nvPr/>
        </p:nvSpPr>
        <p:spPr>
          <a:xfrm>
            <a:off x="3355848" y="2340864"/>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Track before/after weekly</a:t>
            </a:r>
            <a:endParaRPr lang="en-US" sz="700" dirty="0"/>
          </a:p>
        </p:txBody>
      </p:sp>
      <p:sp>
        <p:nvSpPr>
          <p:cNvPr id="43" name="Shape 41"/>
          <p:cNvSpPr/>
          <p:nvPr/>
        </p:nvSpPr>
        <p:spPr>
          <a:xfrm>
            <a:off x="3264408" y="2633472"/>
            <a:ext cx="2432304" cy="548640"/>
          </a:xfrm>
          <a:prstGeom prst="rect">
            <a:avLst/>
          </a:prstGeom>
          <a:solidFill>
            <a:srgbClr val="FFFFFF"/>
          </a:solidFill>
          <a:ln/>
        </p:spPr>
      </p:sp>
      <p:sp>
        <p:nvSpPr>
          <p:cNvPr id="44" name="Shape 42"/>
          <p:cNvSpPr/>
          <p:nvPr/>
        </p:nvSpPr>
        <p:spPr>
          <a:xfrm>
            <a:off x="3264408" y="2633472"/>
            <a:ext cx="36576" cy="548640"/>
          </a:xfrm>
          <a:prstGeom prst="rect">
            <a:avLst/>
          </a:prstGeom>
          <a:solidFill>
            <a:srgbClr val="B8860B"/>
          </a:solidFill>
          <a:ln/>
        </p:spPr>
      </p:sp>
      <p:sp>
        <p:nvSpPr>
          <p:cNvPr id="45" name="Text 43"/>
          <p:cNvSpPr/>
          <p:nvPr/>
        </p:nvSpPr>
        <p:spPr>
          <a:xfrm>
            <a:off x="3355848" y="2670048"/>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Build a RAG proof-of-concept</a:t>
            </a:r>
            <a:endParaRPr lang="en-US" sz="850" dirty="0"/>
          </a:p>
        </p:txBody>
      </p:sp>
      <p:sp>
        <p:nvSpPr>
          <p:cNvPr id="46" name="Text 44"/>
          <p:cNvSpPr/>
          <p:nvPr/>
        </p:nvSpPr>
        <p:spPr>
          <a:xfrm>
            <a:off x="3355848" y="2944368"/>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Start with HR policy bot</a:t>
            </a:r>
            <a:endParaRPr lang="en-US" sz="700" dirty="0"/>
          </a:p>
        </p:txBody>
      </p:sp>
      <p:sp>
        <p:nvSpPr>
          <p:cNvPr id="47" name="Shape 45"/>
          <p:cNvSpPr/>
          <p:nvPr/>
        </p:nvSpPr>
        <p:spPr>
          <a:xfrm>
            <a:off x="3264408" y="3236976"/>
            <a:ext cx="2432304" cy="548640"/>
          </a:xfrm>
          <a:prstGeom prst="rect">
            <a:avLst/>
          </a:prstGeom>
          <a:solidFill>
            <a:srgbClr val="EDF1F7"/>
          </a:solidFill>
          <a:ln/>
        </p:spPr>
      </p:sp>
      <p:sp>
        <p:nvSpPr>
          <p:cNvPr id="48" name="Shape 46"/>
          <p:cNvSpPr/>
          <p:nvPr/>
        </p:nvSpPr>
        <p:spPr>
          <a:xfrm>
            <a:off x="3264408" y="3236976"/>
            <a:ext cx="36576" cy="548640"/>
          </a:xfrm>
          <a:prstGeom prst="rect">
            <a:avLst/>
          </a:prstGeom>
          <a:solidFill>
            <a:srgbClr val="B8860B"/>
          </a:solidFill>
          <a:ln/>
        </p:spPr>
      </p:sp>
      <p:sp>
        <p:nvSpPr>
          <p:cNvPr id="49" name="Text 47"/>
          <p:cNvSpPr/>
          <p:nvPr/>
        </p:nvSpPr>
        <p:spPr>
          <a:xfrm>
            <a:off x="3355848" y="3273552"/>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Form cross-functional AI working group</a:t>
            </a:r>
            <a:endParaRPr lang="en-US" sz="850" dirty="0"/>
          </a:p>
        </p:txBody>
      </p:sp>
      <p:sp>
        <p:nvSpPr>
          <p:cNvPr id="50" name="Text 48"/>
          <p:cNvSpPr/>
          <p:nvPr/>
        </p:nvSpPr>
        <p:spPr>
          <a:xfrm>
            <a:off x="3355848" y="3547872"/>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One rep from each function, weekly cadence</a:t>
            </a:r>
            <a:endParaRPr lang="en-US" sz="700" dirty="0"/>
          </a:p>
        </p:txBody>
      </p:sp>
      <p:sp>
        <p:nvSpPr>
          <p:cNvPr id="51" name="Shape 49"/>
          <p:cNvSpPr/>
          <p:nvPr/>
        </p:nvSpPr>
        <p:spPr>
          <a:xfrm>
            <a:off x="3264408" y="3840480"/>
            <a:ext cx="2432304" cy="548640"/>
          </a:xfrm>
          <a:prstGeom prst="rect">
            <a:avLst/>
          </a:prstGeom>
          <a:solidFill>
            <a:srgbClr val="FFFFFF"/>
          </a:solidFill>
          <a:ln/>
        </p:spPr>
      </p:sp>
      <p:sp>
        <p:nvSpPr>
          <p:cNvPr id="52" name="Shape 50"/>
          <p:cNvSpPr/>
          <p:nvPr/>
        </p:nvSpPr>
        <p:spPr>
          <a:xfrm>
            <a:off x="3264408" y="3840480"/>
            <a:ext cx="36576" cy="548640"/>
          </a:xfrm>
          <a:prstGeom prst="rect">
            <a:avLst/>
          </a:prstGeom>
          <a:solidFill>
            <a:srgbClr val="B8860B"/>
          </a:solidFill>
          <a:ln/>
        </p:spPr>
      </p:sp>
      <p:sp>
        <p:nvSpPr>
          <p:cNvPr id="53" name="Text 51"/>
          <p:cNvSpPr/>
          <p:nvPr/>
        </p:nvSpPr>
        <p:spPr>
          <a:xfrm>
            <a:off x="3355848" y="3877056"/>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Run data quality assessment</a:t>
            </a:r>
            <a:endParaRPr lang="en-US" sz="850" dirty="0"/>
          </a:p>
        </p:txBody>
      </p:sp>
      <p:sp>
        <p:nvSpPr>
          <p:cNvPr id="54" name="Text 52"/>
          <p:cNvSpPr/>
          <p:nvPr/>
        </p:nvSpPr>
        <p:spPr>
          <a:xfrm>
            <a:off x="3355848" y="4151376"/>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Can we actually use CRM data for AI?</a:t>
            </a:r>
            <a:endParaRPr lang="en-US" sz="700" dirty="0"/>
          </a:p>
        </p:txBody>
      </p:sp>
      <p:sp>
        <p:nvSpPr>
          <p:cNvPr id="55" name="Shape 53"/>
          <p:cNvSpPr/>
          <p:nvPr/>
        </p:nvSpPr>
        <p:spPr>
          <a:xfrm>
            <a:off x="5980176" y="841248"/>
            <a:ext cx="2615184" cy="3694176"/>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56" name="Shape 54"/>
          <p:cNvSpPr/>
          <p:nvPr/>
        </p:nvSpPr>
        <p:spPr>
          <a:xfrm>
            <a:off x="5980176" y="841248"/>
            <a:ext cx="2615184" cy="512064"/>
          </a:xfrm>
          <a:prstGeom prst="rect">
            <a:avLst/>
          </a:prstGeom>
          <a:solidFill>
            <a:srgbClr val="B8860B"/>
          </a:solidFill>
          <a:ln/>
        </p:spPr>
      </p:sp>
      <p:sp>
        <p:nvSpPr>
          <p:cNvPr id="57" name="Text 55"/>
          <p:cNvSpPr/>
          <p:nvPr/>
        </p:nvSpPr>
        <p:spPr>
          <a:xfrm>
            <a:off x="6089904" y="877824"/>
            <a:ext cx="2432304" cy="182880"/>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DAYS 61–90</a:t>
            </a:r>
            <a:endParaRPr lang="en-US" sz="850" dirty="0"/>
          </a:p>
        </p:txBody>
      </p:sp>
      <p:sp>
        <p:nvSpPr>
          <p:cNvPr id="58" name="Text 56"/>
          <p:cNvSpPr/>
          <p:nvPr/>
        </p:nvSpPr>
        <p:spPr>
          <a:xfrm>
            <a:off x="6089904" y="1078992"/>
            <a:ext cx="2432304" cy="23774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Scale &amp; Govern</a:t>
            </a:r>
            <a:endParaRPr lang="en-US" sz="1200" dirty="0"/>
          </a:p>
        </p:txBody>
      </p:sp>
      <p:sp>
        <p:nvSpPr>
          <p:cNvPr id="59" name="Shape 57"/>
          <p:cNvSpPr/>
          <p:nvPr/>
        </p:nvSpPr>
        <p:spPr>
          <a:xfrm>
            <a:off x="6071616" y="1426464"/>
            <a:ext cx="2432304" cy="548640"/>
          </a:xfrm>
          <a:prstGeom prst="rect">
            <a:avLst/>
          </a:prstGeom>
          <a:solidFill>
            <a:srgbClr val="FFFFFF"/>
          </a:solidFill>
          <a:ln/>
        </p:spPr>
      </p:sp>
      <p:sp>
        <p:nvSpPr>
          <p:cNvPr id="60" name="Shape 58"/>
          <p:cNvSpPr/>
          <p:nvPr/>
        </p:nvSpPr>
        <p:spPr>
          <a:xfrm>
            <a:off x="6071616" y="1426464"/>
            <a:ext cx="36576" cy="548640"/>
          </a:xfrm>
          <a:prstGeom prst="rect">
            <a:avLst/>
          </a:prstGeom>
          <a:solidFill>
            <a:srgbClr val="B8860B"/>
          </a:solidFill>
          <a:ln/>
        </p:spPr>
      </p:sp>
      <p:sp>
        <p:nvSpPr>
          <p:cNvPr id="61" name="Text 59"/>
          <p:cNvSpPr/>
          <p:nvPr/>
        </p:nvSpPr>
        <p:spPr>
          <a:xfrm>
            <a:off x="6163056" y="1463040"/>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Scale the 1–2 pilots with clearest ROI</a:t>
            </a:r>
            <a:endParaRPr lang="en-US" sz="850" dirty="0"/>
          </a:p>
        </p:txBody>
      </p:sp>
      <p:sp>
        <p:nvSpPr>
          <p:cNvPr id="62" name="Text 60"/>
          <p:cNvSpPr/>
          <p:nvPr/>
        </p:nvSpPr>
        <p:spPr>
          <a:xfrm>
            <a:off x="6163056" y="1737360"/>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Roll out contract review to all legal teams</a:t>
            </a:r>
            <a:endParaRPr lang="en-US" sz="700" dirty="0"/>
          </a:p>
        </p:txBody>
      </p:sp>
      <p:sp>
        <p:nvSpPr>
          <p:cNvPr id="63" name="Shape 61"/>
          <p:cNvSpPr/>
          <p:nvPr/>
        </p:nvSpPr>
        <p:spPr>
          <a:xfrm>
            <a:off x="6071616" y="2029968"/>
            <a:ext cx="2432304" cy="548640"/>
          </a:xfrm>
          <a:prstGeom prst="rect">
            <a:avLst/>
          </a:prstGeom>
          <a:solidFill>
            <a:srgbClr val="EDF1F7"/>
          </a:solidFill>
          <a:ln/>
        </p:spPr>
      </p:sp>
      <p:sp>
        <p:nvSpPr>
          <p:cNvPr id="64" name="Shape 62"/>
          <p:cNvSpPr/>
          <p:nvPr/>
        </p:nvSpPr>
        <p:spPr>
          <a:xfrm>
            <a:off x="6071616" y="2029968"/>
            <a:ext cx="36576" cy="548640"/>
          </a:xfrm>
          <a:prstGeom prst="rect">
            <a:avLst/>
          </a:prstGeom>
          <a:solidFill>
            <a:srgbClr val="B8860B"/>
          </a:solidFill>
          <a:ln/>
        </p:spPr>
      </p:sp>
      <p:sp>
        <p:nvSpPr>
          <p:cNvPr id="65" name="Text 63"/>
          <p:cNvSpPr/>
          <p:nvPr/>
        </p:nvSpPr>
        <p:spPr>
          <a:xfrm>
            <a:off x="6163056" y="2066544"/>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Formalise use case approval process</a:t>
            </a:r>
            <a:endParaRPr lang="en-US" sz="850" dirty="0"/>
          </a:p>
        </p:txBody>
      </p:sp>
      <p:sp>
        <p:nvSpPr>
          <p:cNvPr id="66" name="Text 64"/>
          <p:cNvSpPr/>
          <p:nvPr/>
        </p:nvSpPr>
        <p:spPr>
          <a:xfrm>
            <a:off x="6163056" y="2340864"/>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Risk matrix: green/amber/red gates</a:t>
            </a:r>
            <a:endParaRPr lang="en-US" sz="700" dirty="0"/>
          </a:p>
        </p:txBody>
      </p:sp>
      <p:sp>
        <p:nvSpPr>
          <p:cNvPr id="67" name="Shape 65"/>
          <p:cNvSpPr/>
          <p:nvPr/>
        </p:nvSpPr>
        <p:spPr>
          <a:xfrm>
            <a:off x="6071616" y="2633472"/>
            <a:ext cx="2432304" cy="548640"/>
          </a:xfrm>
          <a:prstGeom prst="rect">
            <a:avLst/>
          </a:prstGeom>
          <a:solidFill>
            <a:srgbClr val="FFFFFF"/>
          </a:solidFill>
          <a:ln/>
        </p:spPr>
      </p:sp>
      <p:sp>
        <p:nvSpPr>
          <p:cNvPr id="68" name="Shape 66"/>
          <p:cNvSpPr/>
          <p:nvPr/>
        </p:nvSpPr>
        <p:spPr>
          <a:xfrm>
            <a:off x="6071616" y="2633472"/>
            <a:ext cx="36576" cy="548640"/>
          </a:xfrm>
          <a:prstGeom prst="rect">
            <a:avLst/>
          </a:prstGeom>
          <a:solidFill>
            <a:srgbClr val="B8860B"/>
          </a:solidFill>
          <a:ln/>
        </p:spPr>
      </p:sp>
      <p:sp>
        <p:nvSpPr>
          <p:cNvPr id="69" name="Text 67"/>
          <p:cNvSpPr/>
          <p:nvPr/>
        </p:nvSpPr>
        <p:spPr>
          <a:xfrm>
            <a:off x="6163056" y="2670048"/>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Set up LLMOps — monitoring, cost, safety</a:t>
            </a:r>
            <a:endParaRPr lang="en-US" sz="850" dirty="0"/>
          </a:p>
        </p:txBody>
      </p:sp>
      <p:sp>
        <p:nvSpPr>
          <p:cNvPr id="70" name="Text 68"/>
          <p:cNvSpPr/>
          <p:nvPr/>
        </p:nvSpPr>
        <p:spPr>
          <a:xfrm>
            <a:off x="6163056" y="2944368"/>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Dashboard: cost, error rate, satisfaction</a:t>
            </a:r>
            <a:endParaRPr lang="en-US" sz="700" dirty="0"/>
          </a:p>
        </p:txBody>
      </p:sp>
      <p:sp>
        <p:nvSpPr>
          <p:cNvPr id="71" name="Shape 69"/>
          <p:cNvSpPr/>
          <p:nvPr/>
        </p:nvSpPr>
        <p:spPr>
          <a:xfrm>
            <a:off x="6071616" y="3236976"/>
            <a:ext cx="2432304" cy="548640"/>
          </a:xfrm>
          <a:prstGeom prst="rect">
            <a:avLst/>
          </a:prstGeom>
          <a:solidFill>
            <a:srgbClr val="EDF1F7"/>
          </a:solidFill>
          <a:ln/>
        </p:spPr>
      </p:sp>
      <p:sp>
        <p:nvSpPr>
          <p:cNvPr id="72" name="Shape 70"/>
          <p:cNvSpPr/>
          <p:nvPr/>
        </p:nvSpPr>
        <p:spPr>
          <a:xfrm>
            <a:off x="6071616" y="3236976"/>
            <a:ext cx="36576" cy="548640"/>
          </a:xfrm>
          <a:prstGeom prst="rect">
            <a:avLst/>
          </a:prstGeom>
          <a:solidFill>
            <a:srgbClr val="B8860B"/>
          </a:solidFill>
          <a:ln/>
        </p:spPr>
      </p:sp>
      <p:sp>
        <p:nvSpPr>
          <p:cNvPr id="73" name="Text 71"/>
          <p:cNvSpPr/>
          <p:nvPr/>
        </p:nvSpPr>
        <p:spPr>
          <a:xfrm>
            <a:off x="6163056" y="3273552"/>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Define AI maturity targets</a:t>
            </a:r>
            <a:endParaRPr lang="en-US" sz="850" dirty="0"/>
          </a:p>
        </p:txBody>
      </p:sp>
      <p:sp>
        <p:nvSpPr>
          <p:cNvPr id="74" name="Text 72"/>
          <p:cNvSpPr/>
          <p:nvPr/>
        </p:nvSpPr>
        <p:spPr>
          <a:xfrm>
            <a:off x="6163056" y="3547872"/>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L2 → L3 by Q4 with 3 measured use cases</a:t>
            </a:r>
            <a:endParaRPr lang="en-US" sz="700" dirty="0"/>
          </a:p>
        </p:txBody>
      </p:sp>
      <p:sp>
        <p:nvSpPr>
          <p:cNvPr id="75" name="Shape 73"/>
          <p:cNvSpPr/>
          <p:nvPr/>
        </p:nvSpPr>
        <p:spPr>
          <a:xfrm>
            <a:off x="6071616" y="3840480"/>
            <a:ext cx="2432304" cy="548640"/>
          </a:xfrm>
          <a:prstGeom prst="rect">
            <a:avLst/>
          </a:prstGeom>
          <a:solidFill>
            <a:srgbClr val="FFFFFF"/>
          </a:solidFill>
          <a:ln/>
        </p:spPr>
      </p:sp>
      <p:sp>
        <p:nvSpPr>
          <p:cNvPr id="76" name="Shape 74"/>
          <p:cNvSpPr/>
          <p:nvPr/>
        </p:nvSpPr>
        <p:spPr>
          <a:xfrm>
            <a:off x="6071616" y="3840480"/>
            <a:ext cx="36576" cy="548640"/>
          </a:xfrm>
          <a:prstGeom prst="rect">
            <a:avLst/>
          </a:prstGeom>
          <a:solidFill>
            <a:srgbClr val="B8860B"/>
          </a:solidFill>
          <a:ln/>
        </p:spPr>
      </p:sp>
      <p:sp>
        <p:nvSpPr>
          <p:cNvPr id="77" name="Text 75"/>
          <p:cNvSpPr/>
          <p:nvPr/>
        </p:nvSpPr>
        <p:spPr>
          <a:xfrm>
            <a:off x="6163056" y="3877056"/>
            <a:ext cx="2286000" cy="256032"/>
          </a:xfrm>
          <a:prstGeom prst="rect">
            <a:avLst/>
          </a:prstGeom>
          <a:noFill/>
          <a:ln/>
        </p:spPr>
        <p:txBody>
          <a:bodyPr wrap="square" lIns="0" tIns="0" rIns="0" bIns="0" rtlCol="0" anchor="ctr"/>
          <a:lstStyle/>
          <a:p>
            <a:pPr indent="0" marL="0">
              <a:buNone/>
            </a:pPr>
            <a:r>
              <a:rPr lang="en-US" sz="850" b="1" dirty="0">
                <a:solidFill>
                  <a:srgbClr val="0A2540"/>
                </a:solidFill>
                <a:latin typeface="Calibri" pitchFamily="34" charset="0"/>
                <a:ea typeface="Calibri" pitchFamily="34" charset="-122"/>
                <a:cs typeface="Calibri" pitchFamily="34" charset="-120"/>
              </a:rPr>
              <a:t>Present strategy and roadmap to board</a:t>
            </a:r>
            <a:endParaRPr lang="en-US" sz="850" dirty="0"/>
          </a:p>
        </p:txBody>
      </p:sp>
      <p:sp>
        <p:nvSpPr>
          <p:cNvPr id="78" name="Text 76"/>
          <p:cNvSpPr/>
          <p:nvPr/>
        </p:nvSpPr>
        <p:spPr>
          <a:xfrm>
            <a:off x="6163056" y="4151376"/>
            <a:ext cx="2286000" cy="201168"/>
          </a:xfrm>
          <a:prstGeom prst="rect">
            <a:avLst/>
          </a:prstGeom>
          <a:noFill/>
          <a:ln/>
        </p:spPr>
        <p:txBody>
          <a:bodyPr wrap="square" lIns="0" tIns="0" rIns="0" bIns="0" rtlCol="0" anchor="ctr"/>
          <a:lstStyle/>
          <a:p>
            <a:pPr indent="0" marL="0">
              <a:buNone/>
            </a:pPr>
            <a:r>
              <a:rPr lang="en-US" sz="700" i="1" dirty="0">
                <a:solidFill>
                  <a:srgbClr val="47596B"/>
                </a:solidFill>
                <a:latin typeface="Calibri" pitchFamily="34" charset="0"/>
                <a:ea typeface="Calibri" pitchFamily="34" charset="-122"/>
                <a:cs typeface="Calibri" pitchFamily="34" charset="-120"/>
              </a:rPr>
              <a:t>→ This deck + pilot results + 12-month plan</a:t>
            </a:r>
            <a:endParaRPr lang="en-US" sz="700" dirty="0"/>
          </a:p>
        </p:txBody>
      </p:sp>
      <p:sp>
        <p:nvSpPr>
          <p:cNvPr id="79" name="Shape 77"/>
          <p:cNvSpPr/>
          <p:nvPr/>
        </p:nvSpPr>
        <p:spPr>
          <a:xfrm>
            <a:off x="365760" y="4626864"/>
            <a:ext cx="8412480" cy="384048"/>
          </a:xfrm>
          <a:prstGeom prst="rect">
            <a:avLst/>
          </a:prstGeom>
          <a:solidFill>
            <a:srgbClr val="0A2540"/>
          </a:solidFill>
          <a:ln/>
        </p:spPr>
      </p:sp>
      <p:sp>
        <p:nvSpPr>
          <p:cNvPr id="80" name="Text 78"/>
          <p:cNvSpPr/>
          <p:nvPr/>
        </p:nvSpPr>
        <p:spPr>
          <a:xfrm>
            <a:off x="457200" y="4663440"/>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GOAL of the first 90 days  ·  Not to deploy AI at scale — but to build the governance, measurement, and literacy foundation that makes safe scaling possible.</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06</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PROMPT QUALITY LADDER — WHY MOST AI OUTPUTS DISAPPOINT</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Instructions to a New Intern vs a Seasoned Briefing</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'Write a report on AI' gives you generic fluff — like asking an intern with no context. 'You are our Chief Strategy Officer. Write a 2-page board briefing on how AI will affect our payments business in 18 months. Tone: authoritative. Audience: non-technical NEDs.' gets you something useable.</a:t>
            </a:r>
            <a:endParaRPr lang="en-US" sz="1000" dirty="0"/>
          </a:p>
        </p:txBody>
      </p:sp>
      <p:sp>
        <p:nvSpPr>
          <p:cNvPr id="11" name="Text 9"/>
          <p:cNvSpPr/>
          <p:nvPr/>
        </p:nvSpPr>
        <p:spPr>
          <a:xfrm>
            <a:off x="365760" y="1828800"/>
            <a:ext cx="8412480" cy="201168"/>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THE SAME TASK AT FIVE LEVELS OF PROMPT QUALITY</a:t>
            </a:r>
            <a:endParaRPr lang="en-US" sz="850" dirty="0"/>
          </a:p>
        </p:txBody>
      </p:sp>
      <p:sp>
        <p:nvSpPr>
          <p:cNvPr id="12" name="Shape 10"/>
          <p:cNvSpPr/>
          <p:nvPr/>
        </p:nvSpPr>
        <p:spPr>
          <a:xfrm>
            <a:off x="365760" y="2103120"/>
            <a:ext cx="8412480" cy="45720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13" name="Shape 11"/>
          <p:cNvSpPr/>
          <p:nvPr/>
        </p:nvSpPr>
        <p:spPr>
          <a:xfrm>
            <a:off x="365760" y="2103120"/>
            <a:ext cx="36576" cy="457200"/>
          </a:xfrm>
          <a:prstGeom prst="rect">
            <a:avLst/>
          </a:prstGeom>
          <a:solidFill>
            <a:srgbClr val="47596B"/>
          </a:solidFill>
          <a:ln/>
        </p:spPr>
      </p:sp>
      <p:sp>
        <p:nvSpPr>
          <p:cNvPr id="14" name="Shape 12"/>
          <p:cNvSpPr/>
          <p:nvPr/>
        </p:nvSpPr>
        <p:spPr>
          <a:xfrm>
            <a:off x="402336" y="2103120"/>
            <a:ext cx="1115568" cy="457200"/>
          </a:xfrm>
          <a:prstGeom prst="rect">
            <a:avLst/>
          </a:prstGeom>
          <a:solidFill>
            <a:srgbClr val="47596B"/>
          </a:solidFill>
          <a:ln/>
        </p:spPr>
      </p:sp>
      <p:sp>
        <p:nvSpPr>
          <p:cNvPr id="15" name="Text 13"/>
          <p:cNvSpPr/>
          <p:nvPr/>
        </p:nvSpPr>
        <p:spPr>
          <a:xfrm>
            <a:off x="438912" y="2139696"/>
            <a:ext cx="1042416" cy="164592"/>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LEVEL 1</a:t>
            </a:r>
            <a:endParaRPr lang="en-US" sz="700" dirty="0"/>
          </a:p>
        </p:txBody>
      </p:sp>
      <p:sp>
        <p:nvSpPr>
          <p:cNvPr id="16" name="Text 14"/>
          <p:cNvSpPr/>
          <p:nvPr/>
        </p:nvSpPr>
        <p:spPr>
          <a:xfrm>
            <a:off x="438912" y="2322576"/>
            <a:ext cx="1042416"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Bare Prompt</a:t>
            </a:r>
            <a:endParaRPr lang="en-US" sz="800" dirty="0"/>
          </a:p>
        </p:txBody>
      </p:sp>
      <p:sp>
        <p:nvSpPr>
          <p:cNvPr id="17" name="Text 15"/>
          <p:cNvSpPr/>
          <p:nvPr/>
        </p:nvSpPr>
        <p:spPr>
          <a:xfrm>
            <a:off x="1591056" y="2139696"/>
            <a:ext cx="3931920" cy="384048"/>
          </a:xfrm>
          <a:prstGeom prst="rect">
            <a:avLst/>
          </a:prstGeom>
          <a:noFill/>
          <a:ln/>
        </p:spPr>
        <p:txBody>
          <a:bodyPr wrap="square" lIns="0" tIns="0" rIns="0" bIns="0" rtlCol="0" anchor="ctr"/>
          <a:lstStyle/>
          <a:p>
            <a:pPr indent="0" marL="0">
              <a:buNone/>
            </a:pPr>
            <a:r>
              <a:rPr lang="en-US" sz="800" i="1" dirty="0">
                <a:solidFill>
                  <a:srgbClr val="1E3A5F"/>
                </a:solidFill>
                <a:latin typeface="Calibri" pitchFamily="34" charset="0"/>
                <a:ea typeface="Calibri" pitchFamily="34" charset="-122"/>
                <a:cs typeface="Calibri" pitchFamily="34" charset="-120"/>
              </a:rPr>
              <a:t>"Write a business case for AI."</a:t>
            </a:r>
            <a:endParaRPr lang="en-US" sz="800" dirty="0"/>
          </a:p>
        </p:txBody>
      </p:sp>
      <p:sp>
        <p:nvSpPr>
          <p:cNvPr id="18" name="Shape 16"/>
          <p:cNvSpPr/>
          <p:nvPr/>
        </p:nvSpPr>
        <p:spPr>
          <a:xfrm>
            <a:off x="5596128" y="2139696"/>
            <a:ext cx="3108960" cy="384048"/>
          </a:xfrm>
          <a:prstGeom prst="rect">
            <a:avLst/>
          </a:prstGeom>
          <a:solidFill>
            <a:srgbClr val="47596B">
              <a:alpha val="6000"/>
            </a:srgbClr>
          </a:solidFill>
          <a:ln/>
        </p:spPr>
      </p:sp>
      <p:sp>
        <p:nvSpPr>
          <p:cNvPr id="19" name="Text 17"/>
          <p:cNvSpPr/>
          <p:nvPr/>
        </p:nvSpPr>
        <p:spPr>
          <a:xfrm>
            <a:off x="5650992" y="2157984"/>
            <a:ext cx="2999232" cy="347472"/>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Output:  Generic, surface-level, could be from any company, needs complete rework</a:t>
            </a:r>
            <a:endParaRPr lang="en-US" sz="750" dirty="0"/>
          </a:p>
        </p:txBody>
      </p:sp>
      <p:sp>
        <p:nvSpPr>
          <p:cNvPr id="20" name="Shape 18"/>
          <p:cNvSpPr/>
          <p:nvPr/>
        </p:nvSpPr>
        <p:spPr>
          <a:xfrm>
            <a:off x="365760" y="2596896"/>
            <a:ext cx="8412480" cy="45720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1" name="Shape 19"/>
          <p:cNvSpPr/>
          <p:nvPr/>
        </p:nvSpPr>
        <p:spPr>
          <a:xfrm>
            <a:off x="365760" y="2596896"/>
            <a:ext cx="36576" cy="457200"/>
          </a:xfrm>
          <a:prstGeom prst="rect">
            <a:avLst/>
          </a:prstGeom>
          <a:solidFill>
            <a:srgbClr val="2E5266"/>
          </a:solidFill>
          <a:ln/>
        </p:spPr>
      </p:sp>
      <p:sp>
        <p:nvSpPr>
          <p:cNvPr id="22" name="Shape 20"/>
          <p:cNvSpPr/>
          <p:nvPr/>
        </p:nvSpPr>
        <p:spPr>
          <a:xfrm>
            <a:off x="402336" y="2596896"/>
            <a:ext cx="1115568" cy="457200"/>
          </a:xfrm>
          <a:prstGeom prst="rect">
            <a:avLst/>
          </a:prstGeom>
          <a:solidFill>
            <a:srgbClr val="2E5266"/>
          </a:solidFill>
          <a:ln/>
        </p:spPr>
      </p:sp>
      <p:sp>
        <p:nvSpPr>
          <p:cNvPr id="23" name="Text 21"/>
          <p:cNvSpPr/>
          <p:nvPr/>
        </p:nvSpPr>
        <p:spPr>
          <a:xfrm>
            <a:off x="438912" y="2633472"/>
            <a:ext cx="1042416" cy="164592"/>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LEVEL 2</a:t>
            </a:r>
            <a:endParaRPr lang="en-US" sz="700" dirty="0"/>
          </a:p>
        </p:txBody>
      </p:sp>
      <p:sp>
        <p:nvSpPr>
          <p:cNvPr id="24" name="Text 22"/>
          <p:cNvSpPr/>
          <p:nvPr/>
        </p:nvSpPr>
        <p:spPr>
          <a:xfrm>
            <a:off x="438912" y="2816352"/>
            <a:ext cx="1042416"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Added Context</a:t>
            </a:r>
            <a:endParaRPr lang="en-US" sz="800" dirty="0"/>
          </a:p>
        </p:txBody>
      </p:sp>
      <p:sp>
        <p:nvSpPr>
          <p:cNvPr id="25" name="Text 23"/>
          <p:cNvSpPr/>
          <p:nvPr/>
        </p:nvSpPr>
        <p:spPr>
          <a:xfrm>
            <a:off x="1591056" y="2633472"/>
            <a:ext cx="3931920" cy="384048"/>
          </a:xfrm>
          <a:prstGeom prst="rect">
            <a:avLst/>
          </a:prstGeom>
          <a:noFill/>
          <a:ln/>
        </p:spPr>
        <p:txBody>
          <a:bodyPr wrap="square" lIns="0" tIns="0" rIns="0" bIns="0" rtlCol="0" anchor="ctr"/>
          <a:lstStyle/>
          <a:p>
            <a:pPr indent="0" marL="0">
              <a:buNone/>
            </a:pPr>
            <a:r>
              <a:rPr lang="en-US" sz="800" i="1" dirty="0">
                <a:solidFill>
                  <a:srgbClr val="1E3A5F"/>
                </a:solidFill>
                <a:latin typeface="Calibri" pitchFamily="34" charset="0"/>
                <a:ea typeface="Calibri" pitchFamily="34" charset="-122"/>
                <a:cs typeface="Calibri" pitchFamily="34" charset="-120"/>
              </a:rPr>
              <a:t>"Write a business case for adopting AI in our finance team."</a:t>
            </a:r>
            <a:endParaRPr lang="en-US" sz="800" dirty="0"/>
          </a:p>
        </p:txBody>
      </p:sp>
      <p:sp>
        <p:nvSpPr>
          <p:cNvPr id="26" name="Shape 24"/>
          <p:cNvSpPr/>
          <p:nvPr/>
        </p:nvSpPr>
        <p:spPr>
          <a:xfrm>
            <a:off x="5596128" y="2633472"/>
            <a:ext cx="3108960" cy="384048"/>
          </a:xfrm>
          <a:prstGeom prst="rect">
            <a:avLst/>
          </a:prstGeom>
          <a:solidFill>
            <a:srgbClr val="2E5266">
              <a:alpha val="6000"/>
            </a:srgbClr>
          </a:solidFill>
          <a:ln/>
        </p:spPr>
      </p:sp>
      <p:sp>
        <p:nvSpPr>
          <p:cNvPr id="27" name="Text 25"/>
          <p:cNvSpPr/>
          <p:nvPr/>
        </p:nvSpPr>
        <p:spPr>
          <a:xfrm>
            <a:off x="5650992" y="2651760"/>
            <a:ext cx="2999232" cy="347472"/>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Output:  Better focus — still misses audience, tone, format, constraints</a:t>
            </a:r>
            <a:endParaRPr lang="en-US" sz="750" dirty="0"/>
          </a:p>
        </p:txBody>
      </p:sp>
      <p:sp>
        <p:nvSpPr>
          <p:cNvPr id="28" name="Shape 26"/>
          <p:cNvSpPr/>
          <p:nvPr/>
        </p:nvSpPr>
        <p:spPr>
          <a:xfrm>
            <a:off x="365760" y="3090672"/>
            <a:ext cx="8412480" cy="45720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29" name="Shape 27"/>
          <p:cNvSpPr/>
          <p:nvPr/>
        </p:nvSpPr>
        <p:spPr>
          <a:xfrm>
            <a:off x="365760" y="3090672"/>
            <a:ext cx="36576" cy="457200"/>
          </a:xfrm>
          <a:prstGeom prst="rect">
            <a:avLst/>
          </a:prstGeom>
          <a:solidFill>
            <a:srgbClr val="0F766E"/>
          </a:solidFill>
          <a:ln/>
        </p:spPr>
      </p:sp>
      <p:sp>
        <p:nvSpPr>
          <p:cNvPr id="30" name="Shape 28"/>
          <p:cNvSpPr/>
          <p:nvPr/>
        </p:nvSpPr>
        <p:spPr>
          <a:xfrm>
            <a:off x="402336" y="3090672"/>
            <a:ext cx="1115568" cy="457200"/>
          </a:xfrm>
          <a:prstGeom prst="rect">
            <a:avLst/>
          </a:prstGeom>
          <a:solidFill>
            <a:srgbClr val="0F766E"/>
          </a:solidFill>
          <a:ln/>
        </p:spPr>
      </p:sp>
      <p:sp>
        <p:nvSpPr>
          <p:cNvPr id="31" name="Text 29"/>
          <p:cNvSpPr/>
          <p:nvPr/>
        </p:nvSpPr>
        <p:spPr>
          <a:xfrm>
            <a:off x="438912" y="3127248"/>
            <a:ext cx="1042416" cy="164592"/>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LEVEL 3</a:t>
            </a:r>
            <a:endParaRPr lang="en-US" sz="700" dirty="0"/>
          </a:p>
        </p:txBody>
      </p:sp>
      <p:sp>
        <p:nvSpPr>
          <p:cNvPr id="32" name="Text 30"/>
          <p:cNvSpPr/>
          <p:nvPr/>
        </p:nvSpPr>
        <p:spPr>
          <a:xfrm>
            <a:off x="438912" y="3310128"/>
            <a:ext cx="1042416"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Role + Goal</a:t>
            </a:r>
            <a:endParaRPr lang="en-US" sz="800" dirty="0"/>
          </a:p>
        </p:txBody>
      </p:sp>
      <p:sp>
        <p:nvSpPr>
          <p:cNvPr id="33" name="Text 31"/>
          <p:cNvSpPr/>
          <p:nvPr/>
        </p:nvSpPr>
        <p:spPr>
          <a:xfrm>
            <a:off x="1591056" y="3127248"/>
            <a:ext cx="3931920" cy="384048"/>
          </a:xfrm>
          <a:prstGeom prst="rect">
            <a:avLst/>
          </a:prstGeom>
          <a:noFill/>
          <a:ln/>
        </p:spPr>
        <p:txBody>
          <a:bodyPr wrap="square" lIns="0" tIns="0" rIns="0" bIns="0" rtlCol="0" anchor="ctr"/>
          <a:lstStyle/>
          <a:p>
            <a:pPr indent="0" marL="0">
              <a:buNone/>
            </a:pPr>
            <a:r>
              <a:rPr lang="en-US" sz="800" i="1" dirty="0">
                <a:solidFill>
                  <a:srgbClr val="1E3A5F"/>
                </a:solidFill>
                <a:latin typeface="Calibri" pitchFamily="34" charset="0"/>
                <a:ea typeface="Calibri" pitchFamily="34" charset="-122"/>
                <a:cs typeface="Calibri" pitchFamily="34" charset="-120"/>
              </a:rPr>
              <a:t>"You are a CFO. Write a business case for AI in a finance team of 50 people."</a:t>
            </a:r>
            <a:endParaRPr lang="en-US" sz="800" dirty="0"/>
          </a:p>
        </p:txBody>
      </p:sp>
      <p:sp>
        <p:nvSpPr>
          <p:cNvPr id="34" name="Shape 32"/>
          <p:cNvSpPr/>
          <p:nvPr/>
        </p:nvSpPr>
        <p:spPr>
          <a:xfrm>
            <a:off x="5596128" y="3127248"/>
            <a:ext cx="3108960" cy="384048"/>
          </a:xfrm>
          <a:prstGeom prst="rect">
            <a:avLst/>
          </a:prstGeom>
          <a:solidFill>
            <a:srgbClr val="0F766E">
              <a:alpha val="6000"/>
            </a:srgbClr>
          </a:solidFill>
          <a:ln/>
        </p:spPr>
      </p:sp>
      <p:sp>
        <p:nvSpPr>
          <p:cNvPr id="35" name="Text 33"/>
          <p:cNvSpPr/>
          <p:nvPr/>
        </p:nvSpPr>
        <p:spPr>
          <a:xfrm>
            <a:off x="5650992" y="3145536"/>
            <a:ext cx="2999232" cy="347472"/>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Output:  Now has a perspective — still lacks format, length, specific data to include</a:t>
            </a:r>
            <a:endParaRPr lang="en-US" sz="750" dirty="0"/>
          </a:p>
        </p:txBody>
      </p:sp>
      <p:sp>
        <p:nvSpPr>
          <p:cNvPr id="36" name="Shape 34"/>
          <p:cNvSpPr/>
          <p:nvPr/>
        </p:nvSpPr>
        <p:spPr>
          <a:xfrm>
            <a:off x="365760" y="3584448"/>
            <a:ext cx="8412480" cy="45720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37" name="Shape 35"/>
          <p:cNvSpPr/>
          <p:nvPr/>
        </p:nvSpPr>
        <p:spPr>
          <a:xfrm>
            <a:off x="365760" y="3584448"/>
            <a:ext cx="36576" cy="457200"/>
          </a:xfrm>
          <a:prstGeom prst="rect">
            <a:avLst/>
          </a:prstGeom>
          <a:solidFill>
            <a:srgbClr val="0F766E"/>
          </a:solidFill>
          <a:ln/>
        </p:spPr>
      </p:sp>
      <p:sp>
        <p:nvSpPr>
          <p:cNvPr id="38" name="Shape 36"/>
          <p:cNvSpPr/>
          <p:nvPr/>
        </p:nvSpPr>
        <p:spPr>
          <a:xfrm>
            <a:off x="402336" y="3584448"/>
            <a:ext cx="1115568" cy="457200"/>
          </a:xfrm>
          <a:prstGeom prst="rect">
            <a:avLst/>
          </a:prstGeom>
          <a:solidFill>
            <a:srgbClr val="0F766E"/>
          </a:solidFill>
          <a:ln/>
        </p:spPr>
      </p:sp>
      <p:sp>
        <p:nvSpPr>
          <p:cNvPr id="39" name="Text 37"/>
          <p:cNvSpPr/>
          <p:nvPr/>
        </p:nvSpPr>
        <p:spPr>
          <a:xfrm>
            <a:off x="438912" y="3621024"/>
            <a:ext cx="1042416" cy="164592"/>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LEVEL 4</a:t>
            </a:r>
            <a:endParaRPr lang="en-US" sz="700" dirty="0"/>
          </a:p>
        </p:txBody>
      </p:sp>
      <p:sp>
        <p:nvSpPr>
          <p:cNvPr id="40" name="Text 38"/>
          <p:cNvSpPr/>
          <p:nvPr/>
        </p:nvSpPr>
        <p:spPr>
          <a:xfrm>
            <a:off x="438912" y="3803904"/>
            <a:ext cx="1042416"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Full Brief</a:t>
            </a:r>
            <a:endParaRPr lang="en-US" sz="800" dirty="0"/>
          </a:p>
        </p:txBody>
      </p:sp>
      <p:sp>
        <p:nvSpPr>
          <p:cNvPr id="41" name="Text 39"/>
          <p:cNvSpPr/>
          <p:nvPr/>
        </p:nvSpPr>
        <p:spPr>
          <a:xfrm>
            <a:off x="1591056" y="3621024"/>
            <a:ext cx="3931920" cy="384048"/>
          </a:xfrm>
          <a:prstGeom prst="rect">
            <a:avLst/>
          </a:prstGeom>
          <a:noFill/>
          <a:ln/>
        </p:spPr>
        <p:txBody>
          <a:bodyPr wrap="square" lIns="0" tIns="0" rIns="0" bIns="0" rtlCol="0" anchor="ctr"/>
          <a:lstStyle/>
          <a:p>
            <a:pPr indent="0" marL="0">
              <a:buNone/>
            </a:pPr>
            <a:r>
              <a:rPr lang="en-US" sz="800" i="1" dirty="0">
                <a:solidFill>
                  <a:srgbClr val="1E3A5F"/>
                </a:solidFill>
                <a:latin typeface="Calibri" pitchFamily="34" charset="0"/>
                <a:ea typeface="Calibri" pitchFamily="34" charset="-122"/>
                <a:cs typeface="Calibri" pitchFamily="34" charset="-120"/>
              </a:rPr>
              <a:t>"You are CFO at a £2B UK insurer. Write a 1-page business case for a claims AI pilot. Include: problem statement, proposed solution, cost estimate, expected ROI, risks. Audience: CEO and board. Tone: clear, direct."</a:t>
            </a:r>
            <a:endParaRPr lang="en-US" sz="800" dirty="0"/>
          </a:p>
        </p:txBody>
      </p:sp>
      <p:sp>
        <p:nvSpPr>
          <p:cNvPr id="42" name="Shape 40"/>
          <p:cNvSpPr/>
          <p:nvPr/>
        </p:nvSpPr>
        <p:spPr>
          <a:xfrm>
            <a:off x="5596128" y="3621024"/>
            <a:ext cx="3108960" cy="384048"/>
          </a:xfrm>
          <a:prstGeom prst="rect">
            <a:avLst/>
          </a:prstGeom>
          <a:solidFill>
            <a:srgbClr val="0F766E">
              <a:alpha val="6000"/>
            </a:srgbClr>
          </a:solidFill>
          <a:ln/>
        </p:spPr>
      </p:sp>
      <p:sp>
        <p:nvSpPr>
          <p:cNvPr id="43" name="Text 41"/>
          <p:cNvSpPr/>
          <p:nvPr/>
        </p:nvSpPr>
        <p:spPr>
          <a:xfrm>
            <a:off x="5650992" y="3639312"/>
            <a:ext cx="2999232" cy="347472"/>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Output:  Near-production quality — specific enough to be immediately useful with light editing</a:t>
            </a:r>
            <a:endParaRPr lang="en-US" sz="750" dirty="0"/>
          </a:p>
        </p:txBody>
      </p:sp>
      <p:sp>
        <p:nvSpPr>
          <p:cNvPr id="44" name="Shape 42"/>
          <p:cNvSpPr/>
          <p:nvPr/>
        </p:nvSpPr>
        <p:spPr>
          <a:xfrm>
            <a:off x="365760" y="4078224"/>
            <a:ext cx="8412480" cy="457200"/>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5" name="Shape 43"/>
          <p:cNvSpPr/>
          <p:nvPr/>
        </p:nvSpPr>
        <p:spPr>
          <a:xfrm>
            <a:off x="365760" y="4078224"/>
            <a:ext cx="36576" cy="457200"/>
          </a:xfrm>
          <a:prstGeom prst="rect">
            <a:avLst/>
          </a:prstGeom>
          <a:solidFill>
            <a:srgbClr val="5B8C6B"/>
          </a:solidFill>
          <a:ln/>
        </p:spPr>
      </p:sp>
      <p:sp>
        <p:nvSpPr>
          <p:cNvPr id="46" name="Shape 44"/>
          <p:cNvSpPr/>
          <p:nvPr/>
        </p:nvSpPr>
        <p:spPr>
          <a:xfrm>
            <a:off x="402336" y="4078224"/>
            <a:ext cx="1115568" cy="457200"/>
          </a:xfrm>
          <a:prstGeom prst="rect">
            <a:avLst/>
          </a:prstGeom>
          <a:solidFill>
            <a:srgbClr val="5B8C6B"/>
          </a:solidFill>
          <a:ln/>
        </p:spPr>
      </p:sp>
      <p:sp>
        <p:nvSpPr>
          <p:cNvPr id="47" name="Text 45"/>
          <p:cNvSpPr/>
          <p:nvPr/>
        </p:nvSpPr>
        <p:spPr>
          <a:xfrm>
            <a:off x="438912" y="4114800"/>
            <a:ext cx="1042416" cy="164592"/>
          </a:xfrm>
          <a:prstGeom prst="rect">
            <a:avLst/>
          </a:prstGeom>
          <a:noFill/>
          <a:ln/>
        </p:spPr>
        <p:txBody>
          <a:bodyPr wrap="square" lIns="0" tIns="0" rIns="0" bIns="0" rtlCol="0" anchor="ctr"/>
          <a:lstStyle/>
          <a:p>
            <a:pPr algn="ctr" indent="0" marL="0">
              <a:buNone/>
            </a:pPr>
            <a:r>
              <a:rPr lang="en-US" sz="700" b="1" spc="100" kern="0" dirty="0">
                <a:solidFill>
                  <a:srgbClr val="FFFFFF"/>
                </a:solidFill>
                <a:latin typeface="Calibri" pitchFamily="34" charset="0"/>
                <a:ea typeface="Calibri" pitchFamily="34" charset="-122"/>
                <a:cs typeface="Calibri" pitchFamily="34" charset="-120"/>
              </a:rPr>
              <a:t>LEVEL 5</a:t>
            </a:r>
            <a:endParaRPr lang="en-US" sz="700" dirty="0"/>
          </a:p>
        </p:txBody>
      </p:sp>
      <p:sp>
        <p:nvSpPr>
          <p:cNvPr id="48" name="Text 46"/>
          <p:cNvSpPr/>
          <p:nvPr/>
        </p:nvSpPr>
        <p:spPr>
          <a:xfrm>
            <a:off x="438912" y="4297680"/>
            <a:ext cx="1042416"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Few-Shot + Chain</a:t>
            </a:r>
            <a:endParaRPr lang="en-US" sz="800" dirty="0"/>
          </a:p>
        </p:txBody>
      </p:sp>
      <p:sp>
        <p:nvSpPr>
          <p:cNvPr id="49" name="Text 47"/>
          <p:cNvSpPr/>
          <p:nvPr/>
        </p:nvSpPr>
        <p:spPr>
          <a:xfrm>
            <a:off x="1591056" y="4114800"/>
            <a:ext cx="3931920" cy="384048"/>
          </a:xfrm>
          <a:prstGeom prst="rect">
            <a:avLst/>
          </a:prstGeom>
          <a:noFill/>
          <a:ln/>
        </p:spPr>
        <p:txBody>
          <a:bodyPr wrap="square" lIns="0" tIns="0" rIns="0" bIns="0" rtlCol="0" anchor="ctr"/>
          <a:lstStyle/>
          <a:p>
            <a:pPr indent="0" marL="0">
              <a:buNone/>
            </a:pPr>
            <a:r>
              <a:rPr lang="en-US" sz="800" i="1" dirty="0">
                <a:solidFill>
                  <a:srgbClr val="1E3A5F"/>
                </a:solidFill>
                <a:latin typeface="Calibri" pitchFamily="34" charset="0"/>
                <a:ea typeface="Calibri" pitchFamily="34" charset="-122"/>
                <a:cs typeface="Calibri" pitchFamily="34" charset="-120"/>
              </a:rPr>
              <a:t>"[EXAMPLE business case]. Using that format and tone, write a business case for AI in claims at our company. First, list your assumptions. Then draft each section. Finally, score your own output on clarity 1-10 and suggest improvements."</a:t>
            </a:r>
            <a:endParaRPr lang="en-US" sz="800" dirty="0"/>
          </a:p>
        </p:txBody>
      </p:sp>
      <p:sp>
        <p:nvSpPr>
          <p:cNvPr id="50" name="Shape 48"/>
          <p:cNvSpPr/>
          <p:nvPr/>
        </p:nvSpPr>
        <p:spPr>
          <a:xfrm>
            <a:off x="5596128" y="4114800"/>
            <a:ext cx="3108960" cy="384048"/>
          </a:xfrm>
          <a:prstGeom prst="rect">
            <a:avLst/>
          </a:prstGeom>
          <a:solidFill>
            <a:srgbClr val="5B8C6B">
              <a:alpha val="6000"/>
            </a:srgbClr>
          </a:solidFill>
          <a:ln/>
        </p:spPr>
      </p:sp>
      <p:sp>
        <p:nvSpPr>
          <p:cNvPr id="51" name="Text 49"/>
          <p:cNvSpPr/>
          <p:nvPr/>
        </p:nvSpPr>
        <p:spPr>
          <a:xfrm>
            <a:off x="5650992" y="4133088"/>
            <a:ext cx="2999232" cy="347472"/>
          </a:xfrm>
          <a:prstGeom prst="rect">
            <a:avLst/>
          </a:prstGeom>
          <a:noFill/>
          <a:ln/>
        </p:spPr>
        <p:txBody>
          <a:bodyPr wrap="square" lIns="0" tIns="0" rIns="0" bIns="0" rtlCol="0" anchor="ctr"/>
          <a:lstStyle/>
          <a:p>
            <a:pPr indent="0" marL="0">
              <a:buNone/>
            </a:pPr>
            <a:r>
              <a:rPr lang="en-US" sz="750" i="1" dirty="0">
                <a:solidFill>
                  <a:srgbClr val="0A2540"/>
                </a:solidFill>
                <a:latin typeface="Calibri" pitchFamily="34" charset="0"/>
                <a:ea typeface="Calibri" pitchFamily="34" charset="-122"/>
                <a:cs typeface="Calibri" pitchFamily="34" charset="-120"/>
              </a:rPr>
              <a:t>Output:  Consistently excellent — model follows your format, self-critiques, produces minimal edit-distance from final</a:t>
            </a:r>
            <a:endParaRPr lang="en-US" sz="750" dirty="0"/>
          </a:p>
        </p:txBody>
      </p:sp>
      <p:sp>
        <p:nvSpPr>
          <p:cNvPr id="52" name="Shape 50"/>
          <p:cNvSpPr/>
          <p:nvPr/>
        </p:nvSpPr>
        <p:spPr>
          <a:xfrm>
            <a:off x="365760" y="4572000"/>
            <a:ext cx="8412480" cy="457200"/>
          </a:xfrm>
          <a:prstGeom prst="rect">
            <a:avLst/>
          </a:prstGeom>
          <a:solidFill>
            <a:srgbClr val="EDF1F7"/>
          </a:solidFill>
          <a:ln/>
        </p:spPr>
      </p:sp>
      <p:sp>
        <p:nvSpPr>
          <p:cNvPr id="53" name="Shape 51"/>
          <p:cNvSpPr/>
          <p:nvPr/>
        </p:nvSpPr>
        <p:spPr>
          <a:xfrm>
            <a:off x="365760" y="4572000"/>
            <a:ext cx="36576" cy="457200"/>
          </a:xfrm>
          <a:prstGeom prst="rect">
            <a:avLst/>
          </a:prstGeom>
          <a:solidFill>
            <a:srgbClr val="B8860B"/>
          </a:solidFill>
          <a:ln/>
        </p:spPr>
      </p:sp>
      <p:sp>
        <p:nvSpPr>
          <p:cNvPr id="54" name="Text 52"/>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5" name="Text 53"/>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The single highest-ROI AI skill in your organisation is teaching people to brief at Level 4 or 5. A 30-minute training session can multiply output quality permanently.</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06</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SIX AI ADOPTION ANTI-PATTERNS — WHAT TO WATCH FOR</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Text 5"/>
          <p:cNvSpPr/>
          <p:nvPr/>
        </p:nvSpPr>
        <p:spPr>
          <a:xfrm>
            <a:off x="365760" y="768096"/>
            <a:ext cx="8412480" cy="219456"/>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Beyond the three big mistakes — these are the subtler patterns that quietly undermine AI programmes.</a:t>
            </a:r>
            <a:endParaRPr lang="en-US" sz="1000" dirty="0"/>
          </a:p>
        </p:txBody>
      </p:sp>
      <p:sp>
        <p:nvSpPr>
          <p:cNvPr id="8" name="Shape 6"/>
          <p:cNvSpPr/>
          <p:nvPr/>
        </p:nvSpPr>
        <p:spPr>
          <a:xfrm>
            <a:off x="365760" y="1078992"/>
            <a:ext cx="3986784" cy="115214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9" name="Shape 7"/>
          <p:cNvSpPr/>
          <p:nvPr/>
        </p:nvSpPr>
        <p:spPr>
          <a:xfrm>
            <a:off x="365760" y="1078992"/>
            <a:ext cx="658368" cy="1152144"/>
          </a:xfrm>
          <a:prstGeom prst="rect">
            <a:avLst/>
          </a:prstGeom>
          <a:solidFill>
            <a:srgbClr val="9A3324"/>
          </a:solidFill>
          <a:ln/>
        </p:spPr>
      </p:sp>
      <p:sp>
        <p:nvSpPr>
          <p:cNvPr id="10" name="Text 8"/>
          <p:cNvSpPr/>
          <p:nvPr/>
        </p:nvSpPr>
        <p:spPr>
          <a:xfrm>
            <a:off x="438912" y="1188720"/>
            <a:ext cx="512064"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p:nvPr/>
        </p:nvSpPr>
        <p:spPr>
          <a:xfrm>
            <a:off x="1133856" y="1133856"/>
            <a:ext cx="3145536" cy="256032"/>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Pilot Purgatory</a:t>
            </a:r>
            <a:endParaRPr lang="en-US" sz="1050" dirty="0"/>
          </a:p>
        </p:txBody>
      </p:sp>
      <p:sp>
        <p:nvSpPr>
          <p:cNvPr id="12" name="Text 10"/>
          <p:cNvSpPr/>
          <p:nvPr/>
        </p:nvSpPr>
        <p:spPr>
          <a:xfrm>
            <a:off x="1133856" y="1389888"/>
            <a:ext cx="3145536"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Running endless pilots that never scale. Permanent 'exploring mode'. No one is accountable for making a decision.</a:t>
            </a:r>
            <a:endParaRPr lang="en-US" sz="800" dirty="0"/>
          </a:p>
        </p:txBody>
      </p:sp>
      <p:sp>
        <p:nvSpPr>
          <p:cNvPr id="13" name="Shape 11"/>
          <p:cNvSpPr/>
          <p:nvPr/>
        </p:nvSpPr>
        <p:spPr>
          <a:xfrm>
            <a:off x="1133856" y="1719072"/>
            <a:ext cx="3145536" cy="164592"/>
          </a:xfrm>
          <a:prstGeom prst="rect">
            <a:avLst/>
          </a:prstGeom>
          <a:solidFill>
            <a:srgbClr val="E8F0EA"/>
          </a:solidFill>
          <a:ln/>
        </p:spPr>
      </p:sp>
      <p:sp>
        <p:nvSpPr>
          <p:cNvPr id="14" name="Text 12"/>
          <p:cNvSpPr/>
          <p:nvPr/>
        </p:nvSpPr>
        <p:spPr>
          <a:xfrm>
            <a:off x="1188720" y="1728216"/>
            <a:ext cx="3035808" cy="146304"/>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Fix:  Set a 90-day pilot deadline. Define the scaling trigger upfront: 'If we save 20h/week, we roll out to all teams.'</a:t>
            </a:r>
            <a:endParaRPr lang="en-US" sz="700" dirty="0"/>
          </a:p>
        </p:txBody>
      </p:sp>
      <p:sp>
        <p:nvSpPr>
          <p:cNvPr id="15" name="Shape 13"/>
          <p:cNvSpPr/>
          <p:nvPr/>
        </p:nvSpPr>
        <p:spPr>
          <a:xfrm>
            <a:off x="1133856" y="1901952"/>
            <a:ext cx="3145536" cy="256032"/>
          </a:xfrm>
          <a:prstGeom prst="rect">
            <a:avLst/>
          </a:prstGeom>
          <a:solidFill>
            <a:srgbClr val="F4E4BC"/>
          </a:solidFill>
          <a:ln/>
        </p:spPr>
      </p:sp>
      <p:sp>
        <p:nvSpPr>
          <p:cNvPr id="16" name="Text 14"/>
          <p:cNvSpPr/>
          <p:nvPr/>
        </p:nvSpPr>
        <p:spPr>
          <a:xfrm>
            <a:off x="1188720" y="1911096"/>
            <a:ext cx="3035808" cy="23774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Organisation runs 11 AI pilots in year one. Two years later, still running 11 pilots.</a:t>
            </a:r>
            <a:endParaRPr lang="en-US" sz="700" dirty="0"/>
          </a:p>
        </p:txBody>
      </p:sp>
      <p:sp>
        <p:nvSpPr>
          <p:cNvPr id="17" name="Shape 15"/>
          <p:cNvSpPr/>
          <p:nvPr/>
        </p:nvSpPr>
        <p:spPr>
          <a:xfrm>
            <a:off x="4590288" y="1078992"/>
            <a:ext cx="3986784" cy="115214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8" name="Shape 16"/>
          <p:cNvSpPr/>
          <p:nvPr/>
        </p:nvSpPr>
        <p:spPr>
          <a:xfrm>
            <a:off x="4590288" y="1078992"/>
            <a:ext cx="658368" cy="1152144"/>
          </a:xfrm>
          <a:prstGeom prst="rect">
            <a:avLst/>
          </a:prstGeom>
          <a:solidFill>
            <a:srgbClr val="9A3324"/>
          </a:solidFill>
          <a:ln/>
        </p:spPr>
      </p:sp>
      <p:sp>
        <p:nvSpPr>
          <p:cNvPr id="19" name="Text 17"/>
          <p:cNvSpPr/>
          <p:nvPr/>
        </p:nvSpPr>
        <p:spPr>
          <a:xfrm>
            <a:off x="4663440" y="1188720"/>
            <a:ext cx="512064"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20" name="Text 18"/>
          <p:cNvSpPr/>
          <p:nvPr/>
        </p:nvSpPr>
        <p:spPr>
          <a:xfrm>
            <a:off x="5358384" y="1133856"/>
            <a:ext cx="3145536" cy="256032"/>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Vendor Capture</a:t>
            </a:r>
            <a:endParaRPr lang="en-US" sz="1050" dirty="0"/>
          </a:p>
        </p:txBody>
      </p:sp>
      <p:sp>
        <p:nvSpPr>
          <p:cNvPr id="21" name="Text 19"/>
          <p:cNvSpPr/>
          <p:nvPr/>
        </p:nvSpPr>
        <p:spPr>
          <a:xfrm>
            <a:off x="5358384" y="1389888"/>
            <a:ext cx="3145536"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Committing deeply to one vendor's ecosystem before the market has matured. Rebuilding becomes prohibitively expensive.</a:t>
            </a:r>
            <a:endParaRPr lang="en-US" sz="800" dirty="0"/>
          </a:p>
        </p:txBody>
      </p:sp>
      <p:sp>
        <p:nvSpPr>
          <p:cNvPr id="22" name="Shape 20"/>
          <p:cNvSpPr/>
          <p:nvPr/>
        </p:nvSpPr>
        <p:spPr>
          <a:xfrm>
            <a:off x="5358384" y="1719072"/>
            <a:ext cx="3145536" cy="164592"/>
          </a:xfrm>
          <a:prstGeom prst="rect">
            <a:avLst/>
          </a:prstGeom>
          <a:solidFill>
            <a:srgbClr val="E8F0EA"/>
          </a:solidFill>
          <a:ln/>
        </p:spPr>
      </p:sp>
      <p:sp>
        <p:nvSpPr>
          <p:cNvPr id="23" name="Text 21"/>
          <p:cNvSpPr/>
          <p:nvPr/>
        </p:nvSpPr>
        <p:spPr>
          <a:xfrm>
            <a:off x="5413248" y="1728216"/>
            <a:ext cx="3035808" cy="146304"/>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Fix:  Build an orchestration layer. Keep model-switching possible with config change, not rebuild.</a:t>
            </a:r>
            <a:endParaRPr lang="en-US" sz="700" dirty="0"/>
          </a:p>
        </p:txBody>
      </p:sp>
      <p:sp>
        <p:nvSpPr>
          <p:cNvPr id="24" name="Shape 22"/>
          <p:cNvSpPr/>
          <p:nvPr/>
        </p:nvSpPr>
        <p:spPr>
          <a:xfrm>
            <a:off x="5358384" y="1901952"/>
            <a:ext cx="3145536" cy="256032"/>
          </a:xfrm>
          <a:prstGeom prst="rect">
            <a:avLst/>
          </a:prstGeom>
          <a:solidFill>
            <a:srgbClr val="F4E4BC"/>
          </a:solidFill>
          <a:ln/>
        </p:spPr>
      </p:sp>
      <p:sp>
        <p:nvSpPr>
          <p:cNvPr id="25" name="Text 23"/>
          <p:cNvSpPr/>
          <p:nvPr/>
        </p:nvSpPr>
        <p:spPr>
          <a:xfrm>
            <a:off x="5413248" y="1911096"/>
            <a:ext cx="3035808" cy="23774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Company builds custom workflows on GPT-3.5. GPT-4 launches — they can't afford to migrate.</a:t>
            </a:r>
            <a:endParaRPr lang="en-US" sz="700" dirty="0"/>
          </a:p>
        </p:txBody>
      </p:sp>
      <p:sp>
        <p:nvSpPr>
          <p:cNvPr id="26" name="Shape 24"/>
          <p:cNvSpPr/>
          <p:nvPr/>
        </p:nvSpPr>
        <p:spPr>
          <a:xfrm>
            <a:off x="365760" y="2304288"/>
            <a:ext cx="3986784" cy="115214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7" name="Shape 25"/>
          <p:cNvSpPr/>
          <p:nvPr/>
        </p:nvSpPr>
        <p:spPr>
          <a:xfrm>
            <a:off x="365760" y="2304288"/>
            <a:ext cx="658368" cy="1152144"/>
          </a:xfrm>
          <a:prstGeom prst="rect">
            <a:avLst/>
          </a:prstGeom>
          <a:solidFill>
            <a:srgbClr val="B8860B"/>
          </a:solidFill>
          <a:ln/>
        </p:spPr>
      </p:sp>
      <p:sp>
        <p:nvSpPr>
          <p:cNvPr id="28" name="Text 26"/>
          <p:cNvSpPr/>
          <p:nvPr/>
        </p:nvSpPr>
        <p:spPr>
          <a:xfrm>
            <a:off x="438912" y="2414016"/>
            <a:ext cx="512064"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9" name="Text 27"/>
          <p:cNvSpPr/>
          <p:nvPr/>
        </p:nvSpPr>
        <p:spPr>
          <a:xfrm>
            <a:off x="1133856" y="2359152"/>
            <a:ext cx="3145536" cy="256032"/>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AI Washing</a:t>
            </a:r>
            <a:endParaRPr lang="en-US" sz="1050" dirty="0"/>
          </a:p>
        </p:txBody>
      </p:sp>
      <p:sp>
        <p:nvSpPr>
          <p:cNvPr id="30" name="Text 28"/>
          <p:cNvSpPr/>
          <p:nvPr/>
        </p:nvSpPr>
        <p:spPr>
          <a:xfrm>
            <a:off x="1133856" y="2615184"/>
            <a:ext cx="3145536"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Labelling existing automation as 'AI' to satisfy stakeholders. Metrics inflate. Real progress is hidden.</a:t>
            </a:r>
            <a:endParaRPr lang="en-US" sz="800" dirty="0"/>
          </a:p>
        </p:txBody>
      </p:sp>
      <p:sp>
        <p:nvSpPr>
          <p:cNvPr id="31" name="Shape 29"/>
          <p:cNvSpPr/>
          <p:nvPr/>
        </p:nvSpPr>
        <p:spPr>
          <a:xfrm>
            <a:off x="1133856" y="2944368"/>
            <a:ext cx="3145536" cy="164592"/>
          </a:xfrm>
          <a:prstGeom prst="rect">
            <a:avLst/>
          </a:prstGeom>
          <a:solidFill>
            <a:srgbClr val="E8F0EA"/>
          </a:solidFill>
          <a:ln/>
        </p:spPr>
      </p:sp>
      <p:sp>
        <p:nvSpPr>
          <p:cNvPr id="32" name="Text 30"/>
          <p:cNvSpPr/>
          <p:nvPr/>
        </p:nvSpPr>
        <p:spPr>
          <a:xfrm>
            <a:off x="1188720" y="2953512"/>
            <a:ext cx="3035808" cy="146304"/>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Fix:  Define AI clearly in your organisation. Separate RPA, ML, and GenAI in reporting.</a:t>
            </a:r>
            <a:endParaRPr lang="en-US" sz="700" dirty="0"/>
          </a:p>
        </p:txBody>
      </p:sp>
      <p:sp>
        <p:nvSpPr>
          <p:cNvPr id="33" name="Shape 31"/>
          <p:cNvSpPr/>
          <p:nvPr/>
        </p:nvSpPr>
        <p:spPr>
          <a:xfrm>
            <a:off x="1133856" y="3127248"/>
            <a:ext cx="3145536" cy="256032"/>
          </a:xfrm>
          <a:prstGeom prst="rect">
            <a:avLst/>
          </a:prstGeom>
          <a:solidFill>
            <a:srgbClr val="F4E4BC"/>
          </a:solidFill>
          <a:ln/>
        </p:spPr>
      </p:sp>
      <p:sp>
        <p:nvSpPr>
          <p:cNvPr id="34" name="Text 32"/>
          <p:cNvSpPr/>
          <p:nvPr/>
        </p:nvSpPr>
        <p:spPr>
          <a:xfrm>
            <a:off x="1188720" y="3136392"/>
            <a:ext cx="3035808" cy="23774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'Our AI scans invoices' — it's a regex pattern match that has run since 2019.</a:t>
            </a:r>
            <a:endParaRPr lang="en-US" sz="700" dirty="0"/>
          </a:p>
        </p:txBody>
      </p:sp>
      <p:sp>
        <p:nvSpPr>
          <p:cNvPr id="35" name="Shape 33"/>
          <p:cNvSpPr/>
          <p:nvPr/>
        </p:nvSpPr>
        <p:spPr>
          <a:xfrm>
            <a:off x="4590288" y="2304288"/>
            <a:ext cx="3986784" cy="115214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6" name="Shape 34"/>
          <p:cNvSpPr/>
          <p:nvPr/>
        </p:nvSpPr>
        <p:spPr>
          <a:xfrm>
            <a:off x="4590288" y="2304288"/>
            <a:ext cx="658368" cy="1152144"/>
          </a:xfrm>
          <a:prstGeom prst="rect">
            <a:avLst/>
          </a:prstGeom>
          <a:solidFill>
            <a:srgbClr val="47596B"/>
          </a:solidFill>
          <a:ln/>
        </p:spPr>
      </p:sp>
      <p:sp>
        <p:nvSpPr>
          <p:cNvPr id="37" name="Text 35"/>
          <p:cNvSpPr/>
          <p:nvPr/>
        </p:nvSpPr>
        <p:spPr>
          <a:xfrm>
            <a:off x="4663440" y="2414016"/>
            <a:ext cx="512064"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38" name="Text 36"/>
          <p:cNvSpPr/>
          <p:nvPr/>
        </p:nvSpPr>
        <p:spPr>
          <a:xfrm>
            <a:off x="5358384" y="2359152"/>
            <a:ext cx="3145536" cy="256032"/>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Accuracy Mirage</a:t>
            </a:r>
            <a:endParaRPr lang="en-US" sz="1050" dirty="0"/>
          </a:p>
        </p:txBody>
      </p:sp>
      <p:sp>
        <p:nvSpPr>
          <p:cNvPr id="39" name="Text 37"/>
          <p:cNvSpPr/>
          <p:nvPr/>
        </p:nvSpPr>
        <p:spPr>
          <a:xfrm>
            <a:off x="5358384" y="2615184"/>
            <a:ext cx="3145536"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Measuring AI accuracy on easy cases only. Edge cases and hallucinations only surface in production.</a:t>
            </a:r>
            <a:endParaRPr lang="en-US" sz="800" dirty="0"/>
          </a:p>
        </p:txBody>
      </p:sp>
      <p:sp>
        <p:nvSpPr>
          <p:cNvPr id="40" name="Shape 38"/>
          <p:cNvSpPr/>
          <p:nvPr/>
        </p:nvSpPr>
        <p:spPr>
          <a:xfrm>
            <a:off x="5358384" y="2944368"/>
            <a:ext cx="3145536" cy="164592"/>
          </a:xfrm>
          <a:prstGeom prst="rect">
            <a:avLst/>
          </a:prstGeom>
          <a:solidFill>
            <a:srgbClr val="E8F0EA"/>
          </a:solidFill>
          <a:ln/>
        </p:spPr>
      </p:sp>
      <p:sp>
        <p:nvSpPr>
          <p:cNvPr id="41" name="Text 39"/>
          <p:cNvSpPr/>
          <p:nvPr/>
        </p:nvSpPr>
        <p:spPr>
          <a:xfrm>
            <a:off x="5413248" y="2953512"/>
            <a:ext cx="3035808" cy="146304"/>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Fix:  Red-team your AI before launch. Include edge cases and adversarial prompts in evaluation.</a:t>
            </a:r>
            <a:endParaRPr lang="en-US" sz="700" dirty="0"/>
          </a:p>
        </p:txBody>
      </p:sp>
      <p:sp>
        <p:nvSpPr>
          <p:cNvPr id="42" name="Shape 40"/>
          <p:cNvSpPr/>
          <p:nvPr/>
        </p:nvSpPr>
        <p:spPr>
          <a:xfrm>
            <a:off x="5358384" y="3127248"/>
            <a:ext cx="3145536" cy="256032"/>
          </a:xfrm>
          <a:prstGeom prst="rect">
            <a:avLst/>
          </a:prstGeom>
          <a:solidFill>
            <a:srgbClr val="F4E4BC"/>
          </a:solidFill>
          <a:ln/>
        </p:spPr>
      </p:sp>
      <p:sp>
        <p:nvSpPr>
          <p:cNvPr id="43" name="Text 41"/>
          <p:cNvSpPr/>
          <p:nvPr/>
        </p:nvSpPr>
        <p:spPr>
          <a:xfrm>
            <a:off x="5413248" y="3136392"/>
            <a:ext cx="3035808" cy="23774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Chatbot scores 94% accuracy in testing — built on 200 FAQ-style queries. Fails on anything nuanced.</a:t>
            </a:r>
            <a:endParaRPr lang="en-US" sz="700" dirty="0"/>
          </a:p>
        </p:txBody>
      </p:sp>
      <p:sp>
        <p:nvSpPr>
          <p:cNvPr id="44" name="Shape 42"/>
          <p:cNvSpPr/>
          <p:nvPr/>
        </p:nvSpPr>
        <p:spPr>
          <a:xfrm>
            <a:off x="365760" y="3529584"/>
            <a:ext cx="3986784" cy="115214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5" name="Shape 43"/>
          <p:cNvSpPr/>
          <p:nvPr/>
        </p:nvSpPr>
        <p:spPr>
          <a:xfrm>
            <a:off x="365760" y="3529584"/>
            <a:ext cx="658368" cy="1152144"/>
          </a:xfrm>
          <a:prstGeom prst="rect">
            <a:avLst/>
          </a:prstGeom>
          <a:solidFill>
            <a:srgbClr val="2E5266"/>
          </a:solidFill>
          <a:ln/>
        </p:spPr>
      </p:sp>
      <p:sp>
        <p:nvSpPr>
          <p:cNvPr id="46" name="Text 44"/>
          <p:cNvSpPr/>
          <p:nvPr/>
        </p:nvSpPr>
        <p:spPr>
          <a:xfrm>
            <a:off x="438912" y="3639312"/>
            <a:ext cx="512064"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47" name="Text 45"/>
          <p:cNvSpPr/>
          <p:nvPr/>
        </p:nvSpPr>
        <p:spPr>
          <a:xfrm>
            <a:off x="1133856" y="3584448"/>
            <a:ext cx="3145536" cy="256032"/>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Human Rubber-Stamping</a:t>
            </a:r>
            <a:endParaRPr lang="en-US" sz="1050" dirty="0"/>
          </a:p>
        </p:txBody>
      </p:sp>
      <p:sp>
        <p:nvSpPr>
          <p:cNvPr id="48" name="Text 46"/>
          <p:cNvSpPr/>
          <p:nvPr/>
        </p:nvSpPr>
        <p:spPr>
          <a:xfrm>
            <a:off x="1133856" y="3840480"/>
            <a:ext cx="3145536"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Humans in the loop who don't actually review outputs — they just click approve. False sense of oversight.</a:t>
            </a:r>
            <a:endParaRPr lang="en-US" sz="800" dirty="0"/>
          </a:p>
        </p:txBody>
      </p:sp>
      <p:sp>
        <p:nvSpPr>
          <p:cNvPr id="49" name="Shape 47"/>
          <p:cNvSpPr/>
          <p:nvPr/>
        </p:nvSpPr>
        <p:spPr>
          <a:xfrm>
            <a:off x="1133856" y="4169664"/>
            <a:ext cx="3145536" cy="164592"/>
          </a:xfrm>
          <a:prstGeom prst="rect">
            <a:avLst/>
          </a:prstGeom>
          <a:solidFill>
            <a:srgbClr val="E8F0EA"/>
          </a:solidFill>
          <a:ln/>
        </p:spPr>
      </p:sp>
      <p:sp>
        <p:nvSpPr>
          <p:cNvPr id="50" name="Text 48"/>
          <p:cNvSpPr/>
          <p:nvPr/>
        </p:nvSpPr>
        <p:spPr>
          <a:xfrm>
            <a:off x="1188720" y="4178808"/>
            <a:ext cx="3035808" cy="146304"/>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Fix:  Track reviewer rejection rate. If under 2%, your human oversight is theatre, not governance.</a:t>
            </a:r>
            <a:endParaRPr lang="en-US" sz="700" dirty="0"/>
          </a:p>
        </p:txBody>
      </p:sp>
      <p:sp>
        <p:nvSpPr>
          <p:cNvPr id="51" name="Shape 49"/>
          <p:cNvSpPr/>
          <p:nvPr/>
        </p:nvSpPr>
        <p:spPr>
          <a:xfrm>
            <a:off x="1133856" y="4352544"/>
            <a:ext cx="3145536" cy="256032"/>
          </a:xfrm>
          <a:prstGeom prst="rect">
            <a:avLst/>
          </a:prstGeom>
          <a:solidFill>
            <a:srgbClr val="F4E4BC"/>
          </a:solidFill>
          <a:ln/>
        </p:spPr>
      </p:sp>
      <p:sp>
        <p:nvSpPr>
          <p:cNvPr id="52" name="Text 50"/>
          <p:cNvSpPr/>
          <p:nvPr/>
        </p:nvSpPr>
        <p:spPr>
          <a:xfrm>
            <a:off x="1188720" y="4361688"/>
            <a:ext cx="3035808" cy="23774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Legal team approves AI contract summaries 'for compliance' — average review time: 4 seconds.</a:t>
            </a:r>
            <a:endParaRPr lang="en-US" sz="700" dirty="0"/>
          </a:p>
        </p:txBody>
      </p:sp>
      <p:sp>
        <p:nvSpPr>
          <p:cNvPr id="53" name="Shape 51"/>
          <p:cNvSpPr/>
          <p:nvPr/>
        </p:nvSpPr>
        <p:spPr>
          <a:xfrm>
            <a:off x="4590288" y="3529584"/>
            <a:ext cx="3986784" cy="115214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54" name="Shape 52"/>
          <p:cNvSpPr/>
          <p:nvPr/>
        </p:nvSpPr>
        <p:spPr>
          <a:xfrm>
            <a:off x="4590288" y="3529584"/>
            <a:ext cx="658368" cy="1152144"/>
          </a:xfrm>
          <a:prstGeom prst="rect">
            <a:avLst/>
          </a:prstGeom>
          <a:solidFill>
            <a:srgbClr val="0F766E"/>
          </a:solidFill>
          <a:ln/>
        </p:spPr>
      </p:sp>
      <p:sp>
        <p:nvSpPr>
          <p:cNvPr id="55" name="Text 53"/>
          <p:cNvSpPr/>
          <p:nvPr/>
        </p:nvSpPr>
        <p:spPr>
          <a:xfrm>
            <a:off x="4663440" y="3639312"/>
            <a:ext cx="512064" cy="29260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56" name="Text 54"/>
          <p:cNvSpPr/>
          <p:nvPr/>
        </p:nvSpPr>
        <p:spPr>
          <a:xfrm>
            <a:off x="5358384" y="3584448"/>
            <a:ext cx="3145536" cy="256032"/>
          </a:xfrm>
          <a:prstGeom prst="rect">
            <a:avLst/>
          </a:prstGeom>
          <a:noFill/>
          <a:ln/>
        </p:spPr>
        <p:txBody>
          <a:bodyPr wrap="square" lIns="0" tIns="0" rIns="0" bIns="0" rtlCol="0" anchor="ctr"/>
          <a:lstStyle/>
          <a:p>
            <a:pPr indent="0" marL="0">
              <a:buNone/>
            </a:pPr>
            <a:r>
              <a:rPr lang="en-US" sz="1050" b="1" dirty="0">
                <a:solidFill>
                  <a:srgbClr val="0A2540"/>
                </a:solidFill>
                <a:latin typeface="Calibri" pitchFamily="34" charset="0"/>
                <a:ea typeface="Calibri" pitchFamily="34" charset="-122"/>
                <a:cs typeface="Calibri" pitchFamily="34" charset="-120"/>
              </a:rPr>
              <a:t>Change Blindness</a:t>
            </a:r>
            <a:endParaRPr lang="en-US" sz="1050" dirty="0"/>
          </a:p>
        </p:txBody>
      </p:sp>
      <p:sp>
        <p:nvSpPr>
          <p:cNvPr id="57" name="Text 55"/>
          <p:cNvSpPr/>
          <p:nvPr/>
        </p:nvSpPr>
        <p:spPr>
          <a:xfrm>
            <a:off x="5358384" y="3840480"/>
            <a:ext cx="3145536" cy="310896"/>
          </a:xfrm>
          <a:prstGeom prst="rect">
            <a:avLst/>
          </a:prstGeom>
          <a:noFill/>
          <a:ln/>
        </p:spPr>
        <p:txBody>
          <a:bodyPr wrap="square" lIns="0" tIns="0" rIns="0" bIns="0" rtlCol="0" anchor="ctr"/>
          <a:lstStyle/>
          <a:p>
            <a:pPr indent="0" marL="0">
              <a:buNone/>
            </a:pPr>
            <a:r>
              <a:rPr lang="en-US" sz="800" dirty="0">
                <a:solidFill>
                  <a:srgbClr val="47596B"/>
                </a:solidFill>
                <a:latin typeface="Calibri" pitchFamily="34" charset="0"/>
                <a:ea typeface="Calibri" pitchFamily="34" charset="-122"/>
                <a:cs typeface="Calibri" pitchFamily="34" charset="-120"/>
              </a:rPr>
              <a:t>Deploying AI without a change management plan. Tools adopted, behaviour unchanged. ROI never materialises.</a:t>
            </a:r>
            <a:endParaRPr lang="en-US" sz="800" dirty="0"/>
          </a:p>
        </p:txBody>
      </p:sp>
      <p:sp>
        <p:nvSpPr>
          <p:cNvPr id="58" name="Shape 56"/>
          <p:cNvSpPr/>
          <p:nvPr/>
        </p:nvSpPr>
        <p:spPr>
          <a:xfrm>
            <a:off x="5358384" y="4169664"/>
            <a:ext cx="3145536" cy="164592"/>
          </a:xfrm>
          <a:prstGeom prst="rect">
            <a:avLst/>
          </a:prstGeom>
          <a:solidFill>
            <a:srgbClr val="E8F0EA"/>
          </a:solidFill>
          <a:ln/>
        </p:spPr>
      </p:sp>
      <p:sp>
        <p:nvSpPr>
          <p:cNvPr id="59" name="Text 57"/>
          <p:cNvSpPr/>
          <p:nvPr/>
        </p:nvSpPr>
        <p:spPr>
          <a:xfrm>
            <a:off x="5413248" y="4178808"/>
            <a:ext cx="3035808" cy="146304"/>
          </a:xfrm>
          <a:prstGeom prst="rect">
            <a:avLst/>
          </a:prstGeom>
          <a:noFill/>
          <a:ln/>
        </p:spPr>
        <p:txBody>
          <a:bodyPr wrap="square" lIns="0" tIns="0" rIns="0" bIns="0" rtlCol="0" anchor="ctr"/>
          <a:lstStyle/>
          <a:p>
            <a:pPr indent="0" marL="0">
              <a:buNone/>
            </a:pPr>
            <a:r>
              <a:rPr lang="en-US" sz="700" dirty="0">
                <a:solidFill>
                  <a:srgbClr val="0A2540"/>
                </a:solidFill>
                <a:latin typeface="Calibri" pitchFamily="34" charset="0"/>
                <a:ea typeface="Calibri" pitchFamily="34" charset="-122"/>
                <a:cs typeface="Calibri" pitchFamily="34" charset="-120"/>
              </a:rPr>
              <a:t>Fix:  Pair every AI deployment with: training, a champion, a success metric, and a 30-day check-in.</a:t>
            </a:r>
            <a:endParaRPr lang="en-US" sz="700" dirty="0"/>
          </a:p>
        </p:txBody>
      </p:sp>
      <p:sp>
        <p:nvSpPr>
          <p:cNvPr id="60" name="Shape 58"/>
          <p:cNvSpPr/>
          <p:nvPr/>
        </p:nvSpPr>
        <p:spPr>
          <a:xfrm>
            <a:off x="5358384" y="4352544"/>
            <a:ext cx="3145536" cy="256032"/>
          </a:xfrm>
          <a:prstGeom prst="rect">
            <a:avLst/>
          </a:prstGeom>
          <a:solidFill>
            <a:srgbClr val="F4E4BC"/>
          </a:solidFill>
          <a:ln/>
        </p:spPr>
      </p:sp>
      <p:sp>
        <p:nvSpPr>
          <p:cNvPr id="61" name="Text 59"/>
          <p:cNvSpPr/>
          <p:nvPr/>
        </p:nvSpPr>
        <p:spPr>
          <a:xfrm>
            <a:off x="5413248" y="4361688"/>
            <a:ext cx="3035808" cy="237744"/>
          </a:xfrm>
          <a:prstGeom prst="rect">
            <a:avLst/>
          </a:prstGeom>
          <a:noFill/>
          <a:ln/>
        </p:spPr>
        <p:txBody>
          <a:bodyPr wrap="square" lIns="0" tIns="0" rIns="0" bIns="0" rtlCol="0" anchor="ctr"/>
          <a:lstStyle/>
          <a:p>
            <a:pPr indent="0" marL="0">
              <a:buNone/>
            </a:pPr>
            <a:r>
              <a:rPr lang="en-US" sz="700" i="1" dirty="0">
                <a:solidFill>
                  <a:srgbClr val="0A2540"/>
                </a:solidFill>
                <a:latin typeface="Calibri" pitchFamily="34" charset="0"/>
                <a:ea typeface="Calibri" pitchFamily="34" charset="-122"/>
                <a:cs typeface="Calibri" pitchFamily="34" charset="-120"/>
              </a:rPr>
              <a:t>e.g.  Company deploys Copilot to 500 developers. 6 months later, 60% have never used it once.</a:t>
            </a:r>
            <a:endParaRPr lang="en-US" sz="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06</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BUILDING THE AI BUSINESS CASE — A FRAMEWORK FOR EVERY USE CASE</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Measure Like a Finance Director, Not a Technology Enthusiast</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The question is never 'how impressive is the AI?' — it is 'what does it cost, what does it change, and what does that change worth?' Every AI initiative should be able to answer all three before it receives budget.</a:t>
            </a:r>
            <a:endParaRPr lang="en-US" sz="1000" dirty="0"/>
          </a:p>
        </p:txBody>
      </p:sp>
      <p:sp>
        <p:nvSpPr>
          <p:cNvPr id="11" name="Shape 9"/>
          <p:cNvSpPr/>
          <p:nvPr/>
        </p:nvSpPr>
        <p:spPr>
          <a:xfrm>
            <a:off x="365760" y="1847088"/>
            <a:ext cx="1975104" cy="261518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2" name="Shape 10"/>
          <p:cNvSpPr/>
          <p:nvPr/>
        </p:nvSpPr>
        <p:spPr>
          <a:xfrm>
            <a:off x="365760" y="1847088"/>
            <a:ext cx="1975104" cy="402336"/>
          </a:xfrm>
          <a:prstGeom prst="rect">
            <a:avLst/>
          </a:prstGeom>
          <a:solidFill>
            <a:srgbClr val="1E3A5F"/>
          </a:solidFill>
          <a:ln/>
        </p:spPr>
      </p:sp>
      <p:sp>
        <p:nvSpPr>
          <p:cNvPr id="13" name="Text 11"/>
          <p:cNvSpPr/>
          <p:nvPr/>
        </p:nvSpPr>
        <p:spPr>
          <a:xfrm>
            <a:off x="457200" y="1874520"/>
            <a:ext cx="1792224" cy="347472"/>
          </a:xfrm>
          <a:prstGeom prst="rect">
            <a:avLst/>
          </a:prstGeom>
          <a:noFill/>
          <a:ln/>
        </p:spPr>
        <p:txBody>
          <a:bodyPr wrap="square" lIns="0" tIns="0" rIns="0" bIns="0" rtlCol="0" anchor="ctr"/>
          <a:lstStyle/>
          <a:p>
            <a:pPr indent="0" marL="0">
              <a:buNone/>
            </a:pPr>
            <a:r>
              <a:rPr lang="en-US" sz="900" b="1" spc="50" kern="0" dirty="0">
                <a:solidFill>
                  <a:srgbClr val="FFFFFF"/>
                </a:solidFill>
                <a:latin typeface="Calibri" pitchFamily="34" charset="0"/>
                <a:ea typeface="Calibri" pitchFamily="34" charset="-122"/>
                <a:cs typeface="Calibri" pitchFamily="34" charset="-120"/>
              </a:rPr>
              <a:t>MEASURE THE BASELINE</a:t>
            </a:r>
            <a:endParaRPr lang="en-US" sz="900" dirty="0"/>
          </a:p>
        </p:txBody>
      </p:sp>
      <p:sp>
        <p:nvSpPr>
          <p:cNvPr id="14" name="Shape 12"/>
          <p:cNvSpPr/>
          <p:nvPr/>
        </p:nvSpPr>
        <p:spPr>
          <a:xfrm>
            <a:off x="457200" y="2340864"/>
            <a:ext cx="36576" cy="36576"/>
          </a:xfrm>
          <a:prstGeom prst="rect">
            <a:avLst/>
          </a:prstGeom>
          <a:solidFill>
            <a:srgbClr val="1E3A5F"/>
          </a:solidFill>
          <a:ln/>
        </p:spPr>
      </p:sp>
      <p:sp>
        <p:nvSpPr>
          <p:cNvPr id="15" name="Text 13"/>
          <p:cNvSpPr/>
          <p:nvPr/>
        </p:nvSpPr>
        <p:spPr>
          <a:xfrm>
            <a:off x="548640" y="226771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Time per task (minutes/hours)</a:t>
            </a:r>
            <a:endParaRPr lang="en-US" sz="850" dirty="0"/>
          </a:p>
        </p:txBody>
      </p:sp>
      <p:sp>
        <p:nvSpPr>
          <p:cNvPr id="16" name="Shape 14"/>
          <p:cNvSpPr/>
          <p:nvPr/>
        </p:nvSpPr>
        <p:spPr>
          <a:xfrm>
            <a:off x="457200" y="2706624"/>
            <a:ext cx="36576" cy="36576"/>
          </a:xfrm>
          <a:prstGeom prst="rect">
            <a:avLst/>
          </a:prstGeom>
          <a:solidFill>
            <a:srgbClr val="1E3A5F"/>
          </a:solidFill>
          <a:ln/>
        </p:spPr>
      </p:sp>
      <p:sp>
        <p:nvSpPr>
          <p:cNvPr id="17" name="Text 15"/>
          <p:cNvSpPr/>
          <p:nvPr/>
        </p:nvSpPr>
        <p:spPr>
          <a:xfrm>
            <a:off x="548640" y="263347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Tasks completed per week</a:t>
            </a:r>
            <a:endParaRPr lang="en-US" sz="850" dirty="0"/>
          </a:p>
        </p:txBody>
      </p:sp>
      <p:sp>
        <p:nvSpPr>
          <p:cNvPr id="18" name="Shape 16"/>
          <p:cNvSpPr/>
          <p:nvPr/>
        </p:nvSpPr>
        <p:spPr>
          <a:xfrm>
            <a:off x="457200" y="3072384"/>
            <a:ext cx="36576" cy="36576"/>
          </a:xfrm>
          <a:prstGeom prst="rect">
            <a:avLst/>
          </a:prstGeom>
          <a:solidFill>
            <a:srgbClr val="1E3A5F"/>
          </a:solidFill>
          <a:ln/>
        </p:spPr>
      </p:sp>
      <p:sp>
        <p:nvSpPr>
          <p:cNvPr id="19" name="Text 17"/>
          <p:cNvSpPr/>
          <p:nvPr/>
        </p:nvSpPr>
        <p:spPr>
          <a:xfrm>
            <a:off x="548640" y="299923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Error rate or rework rate</a:t>
            </a:r>
            <a:endParaRPr lang="en-US" sz="850" dirty="0"/>
          </a:p>
        </p:txBody>
      </p:sp>
      <p:sp>
        <p:nvSpPr>
          <p:cNvPr id="20" name="Shape 18"/>
          <p:cNvSpPr/>
          <p:nvPr/>
        </p:nvSpPr>
        <p:spPr>
          <a:xfrm>
            <a:off x="457200" y="3438144"/>
            <a:ext cx="36576" cy="36576"/>
          </a:xfrm>
          <a:prstGeom prst="rect">
            <a:avLst/>
          </a:prstGeom>
          <a:solidFill>
            <a:srgbClr val="1E3A5F"/>
          </a:solidFill>
          <a:ln/>
        </p:spPr>
      </p:sp>
      <p:sp>
        <p:nvSpPr>
          <p:cNvPr id="21" name="Text 19"/>
          <p:cNvSpPr/>
          <p:nvPr/>
        </p:nvSpPr>
        <p:spPr>
          <a:xfrm>
            <a:off x="548640" y="336499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Headcount or contractor cost</a:t>
            </a:r>
            <a:endParaRPr lang="en-US" sz="850" dirty="0"/>
          </a:p>
        </p:txBody>
      </p:sp>
      <p:sp>
        <p:nvSpPr>
          <p:cNvPr id="22" name="Shape 20"/>
          <p:cNvSpPr/>
          <p:nvPr/>
        </p:nvSpPr>
        <p:spPr>
          <a:xfrm>
            <a:off x="457200" y="3803904"/>
            <a:ext cx="36576" cy="36576"/>
          </a:xfrm>
          <a:prstGeom prst="rect">
            <a:avLst/>
          </a:prstGeom>
          <a:solidFill>
            <a:srgbClr val="1E3A5F"/>
          </a:solidFill>
          <a:ln/>
        </p:spPr>
      </p:sp>
      <p:sp>
        <p:nvSpPr>
          <p:cNvPr id="23" name="Text 21"/>
          <p:cNvSpPr/>
          <p:nvPr/>
        </p:nvSpPr>
        <p:spPr>
          <a:xfrm>
            <a:off x="548640" y="373075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Cost per unit output</a:t>
            </a:r>
            <a:endParaRPr lang="en-US" sz="850" dirty="0"/>
          </a:p>
        </p:txBody>
      </p:sp>
      <p:sp>
        <p:nvSpPr>
          <p:cNvPr id="24" name="Shape 22"/>
          <p:cNvSpPr/>
          <p:nvPr/>
        </p:nvSpPr>
        <p:spPr>
          <a:xfrm>
            <a:off x="2487168" y="1847088"/>
            <a:ext cx="1975104" cy="261518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5" name="Shape 23"/>
          <p:cNvSpPr/>
          <p:nvPr/>
        </p:nvSpPr>
        <p:spPr>
          <a:xfrm>
            <a:off x="2487168" y="1847088"/>
            <a:ext cx="1975104" cy="402336"/>
          </a:xfrm>
          <a:prstGeom prst="rect">
            <a:avLst/>
          </a:prstGeom>
          <a:solidFill>
            <a:srgbClr val="0F766E"/>
          </a:solidFill>
          <a:ln/>
        </p:spPr>
      </p:sp>
      <p:sp>
        <p:nvSpPr>
          <p:cNvPr id="26" name="Text 24"/>
          <p:cNvSpPr/>
          <p:nvPr/>
        </p:nvSpPr>
        <p:spPr>
          <a:xfrm>
            <a:off x="2578608" y="1874520"/>
            <a:ext cx="1792224" cy="347472"/>
          </a:xfrm>
          <a:prstGeom prst="rect">
            <a:avLst/>
          </a:prstGeom>
          <a:noFill/>
          <a:ln/>
        </p:spPr>
        <p:txBody>
          <a:bodyPr wrap="square" lIns="0" tIns="0" rIns="0" bIns="0" rtlCol="0" anchor="ctr"/>
          <a:lstStyle/>
          <a:p>
            <a:pPr indent="0" marL="0">
              <a:buNone/>
            </a:pPr>
            <a:r>
              <a:rPr lang="en-US" sz="900" b="1" spc="50" kern="0" dirty="0">
                <a:solidFill>
                  <a:srgbClr val="FFFFFF"/>
                </a:solidFill>
                <a:latin typeface="Calibri" pitchFamily="34" charset="0"/>
                <a:ea typeface="Calibri" pitchFamily="34" charset="-122"/>
                <a:cs typeface="Calibri" pitchFamily="34" charset="-120"/>
              </a:rPr>
              <a:t>QUANTIFY THE CHANGE</a:t>
            </a:r>
            <a:endParaRPr lang="en-US" sz="900" dirty="0"/>
          </a:p>
        </p:txBody>
      </p:sp>
      <p:sp>
        <p:nvSpPr>
          <p:cNvPr id="27" name="Shape 25"/>
          <p:cNvSpPr/>
          <p:nvPr/>
        </p:nvSpPr>
        <p:spPr>
          <a:xfrm>
            <a:off x="2578608" y="2340864"/>
            <a:ext cx="36576" cy="36576"/>
          </a:xfrm>
          <a:prstGeom prst="rect">
            <a:avLst/>
          </a:prstGeom>
          <a:solidFill>
            <a:srgbClr val="0F766E"/>
          </a:solidFill>
          <a:ln/>
        </p:spPr>
      </p:sp>
      <p:sp>
        <p:nvSpPr>
          <p:cNvPr id="28" name="Text 26"/>
          <p:cNvSpPr/>
          <p:nvPr/>
        </p:nvSpPr>
        <p:spPr>
          <a:xfrm>
            <a:off x="2670048" y="226771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Time saved per task (%)</a:t>
            </a:r>
            <a:endParaRPr lang="en-US" sz="850" dirty="0"/>
          </a:p>
        </p:txBody>
      </p:sp>
      <p:sp>
        <p:nvSpPr>
          <p:cNvPr id="29" name="Shape 27"/>
          <p:cNvSpPr/>
          <p:nvPr/>
        </p:nvSpPr>
        <p:spPr>
          <a:xfrm>
            <a:off x="2578608" y="2706624"/>
            <a:ext cx="36576" cy="36576"/>
          </a:xfrm>
          <a:prstGeom prst="rect">
            <a:avLst/>
          </a:prstGeom>
          <a:solidFill>
            <a:srgbClr val="0F766E"/>
          </a:solidFill>
          <a:ln/>
        </p:spPr>
      </p:sp>
      <p:sp>
        <p:nvSpPr>
          <p:cNvPr id="30" name="Text 28"/>
          <p:cNvSpPr/>
          <p:nvPr/>
        </p:nvSpPr>
        <p:spPr>
          <a:xfrm>
            <a:off x="2670048" y="263347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Volume uplift (can do more)</a:t>
            </a:r>
            <a:endParaRPr lang="en-US" sz="850" dirty="0"/>
          </a:p>
        </p:txBody>
      </p:sp>
      <p:sp>
        <p:nvSpPr>
          <p:cNvPr id="31" name="Shape 29"/>
          <p:cNvSpPr/>
          <p:nvPr/>
        </p:nvSpPr>
        <p:spPr>
          <a:xfrm>
            <a:off x="2578608" y="3072384"/>
            <a:ext cx="36576" cy="36576"/>
          </a:xfrm>
          <a:prstGeom prst="rect">
            <a:avLst/>
          </a:prstGeom>
          <a:solidFill>
            <a:srgbClr val="0F766E"/>
          </a:solidFill>
          <a:ln/>
        </p:spPr>
      </p:sp>
      <p:sp>
        <p:nvSpPr>
          <p:cNvPr id="32" name="Text 30"/>
          <p:cNvSpPr/>
          <p:nvPr/>
        </p:nvSpPr>
        <p:spPr>
          <a:xfrm>
            <a:off x="2670048" y="299923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Error reduction (%)</a:t>
            </a:r>
            <a:endParaRPr lang="en-US" sz="850" dirty="0"/>
          </a:p>
        </p:txBody>
      </p:sp>
      <p:sp>
        <p:nvSpPr>
          <p:cNvPr id="33" name="Shape 31"/>
          <p:cNvSpPr/>
          <p:nvPr/>
        </p:nvSpPr>
        <p:spPr>
          <a:xfrm>
            <a:off x="2578608" y="3438144"/>
            <a:ext cx="36576" cy="36576"/>
          </a:xfrm>
          <a:prstGeom prst="rect">
            <a:avLst/>
          </a:prstGeom>
          <a:solidFill>
            <a:srgbClr val="0F766E"/>
          </a:solidFill>
          <a:ln/>
        </p:spPr>
      </p:sp>
      <p:sp>
        <p:nvSpPr>
          <p:cNvPr id="34" name="Text 32"/>
          <p:cNvSpPr/>
          <p:nvPr/>
        </p:nvSpPr>
        <p:spPr>
          <a:xfrm>
            <a:off x="2670048" y="336499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Headcount avoided or redeployed</a:t>
            </a:r>
            <a:endParaRPr lang="en-US" sz="850" dirty="0"/>
          </a:p>
        </p:txBody>
      </p:sp>
      <p:sp>
        <p:nvSpPr>
          <p:cNvPr id="35" name="Shape 33"/>
          <p:cNvSpPr/>
          <p:nvPr/>
        </p:nvSpPr>
        <p:spPr>
          <a:xfrm>
            <a:off x="2578608" y="3803904"/>
            <a:ext cx="36576" cy="36576"/>
          </a:xfrm>
          <a:prstGeom prst="rect">
            <a:avLst/>
          </a:prstGeom>
          <a:solidFill>
            <a:srgbClr val="0F766E"/>
          </a:solidFill>
          <a:ln/>
        </p:spPr>
      </p:sp>
      <p:sp>
        <p:nvSpPr>
          <p:cNvPr id="36" name="Text 34"/>
          <p:cNvSpPr/>
          <p:nvPr/>
        </p:nvSpPr>
        <p:spPr>
          <a:xfrm>
            <a:off x="2670048" y="373075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Quality improvement (NPS, CSAT)</a:t>
            </a:r>
            <a:endParaRPr lang="en-US" sz="850" dirty="0"/>
          </a:p>
        </p:txBody>
      </p:sp>
      <p:sp>
        <p:nvSpPr>
          <p:cNvPr id="37" name="Shape 35"/>
          <p:cNvSpPr/>
          <p:nvPr/>
        </p:nvSpPr>
        <p:spPr>
          <a:xfrm>
            <a:off x="4608576" y="1847088"/>
            <a:ext cx="1975104" cy="261518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8" name="Shape 36"/>
          <p:cNvSpPr/>
          <p:nvPr/>
        </p:nvSpPr>
        <p:spPr>
          <a:xfrm>
            <a:off x="4608576" y="1847088"/>
            <a:ext cx="1975104" cy="402336"/>
          </a:xfrm>
          <a:prstGeom prst="rect">
            <a:avLst/>
          </a:prstGeom>
          <a:solidFill>
            <a:srgbClr val="5B8C6B"/>
          </a:solidFill>
          <a:ln/>
        </p:spPr>
      </p:sp>
      <p:sp>
        <p:nvSpPr>
          <p:cNvPr id="39" name="Text 37"/>
          <p:cNvSpPr/>
          <p:nvPr/>
        </p:nvSpPr>
        <p:spPr>
          <a:xfrm>
            <a:off x="4700016" y="1874520"/>
            <a:ext cx="1792224" cy="347472"/>
          </a:xfrm>
          <a:prstGeom prst="rect">
            <a:avLst/>
          </a:prstGeom>
          <a:noFill/>
          <a:ln/>
        </p:spPr>
        <p:txBody>
          <a:bodyPr wrap="square" lIns="0" tIns="0" rIns="0" bIns="0" rtlCol="0" anchor="ctr"/>
          <a:lstStyle/>
          <a:p>
            <a:pPr indent="0" marL="0">
              <a:buNone/>
            </a:pPr>
            <a:r>
              <a:rPr lang="en-US" sz="900" b="1" spc="50" kern="0" dirty="0">
                <a:solidFill>
                  <a:srgbClr val="FFFFFF"/>
                </a:solidFill>
                <a:latin typeface="Calibri" pitchFamily="34" charset="0"/>
                <a:ea typeface="Calibri" pitchFamily="34" charset="-122"/>
                <a:cs typeface="Calibri" pitchFamily="34" charset="-120"/>
              </a:rPr>
              <a:t>CALCULATE THE VALUE</a:t>
            </a:r>
            <a:endParaRPr lang="en-US" sz="900" dirty="0"/>
          </a:p>
        </p:txBody>
      </p:sp>
      <p:sp>
        <p:nvSpPr>
          <p:cNvPr id="40" name="Shape 38"/>
          <p:cNvSpPr/>
          <p:nvPr/>
        </p:nvSpPr>
        <p:spPr>
          <a:xfrm>
            <a:off x="4700016" y="2340864"/>
            <a:ext cx="36576" cy="36576"/>
          </a:xfrm>
          <a:prstGeom prst="rect">
            <a:avLst/>
          </a:prstGeom>
          <a:solidFill>
            <a:srgbClr val="5B8C6B"/>
          </a:solidFill>
          <a:ln/>
        </p:spPr>
      </p:sp>
      <p:sp>
        <p:nvSpPr>
          <p:cNvPr id="41" name="Text 39"/>
          <p:cNvSpPr/>
          <p:nvPr/>
        </p:nvSpPr>
        <p:spPr>
          <a:xfrm>
            <a:off x="4791456" y="226771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Time saved × hourly cost × volume</a:t>
            </a:r>
            <a:endParaRPr lang="en-US" sz="850" dirty="0"/>
          </a:p>
        </p:txBody>
      </p:sp>
      <p:sp>
        <p:nvSpPr>
          <p:cNvPr id="42" name="Shape 40"/>
          <p:cNvSpPr/>
          <p:nvPr/>
        </p:nvSpPr>
        <p:spPr>
          <a:xfrm>
            <a:off x="4700016" y="2706624"/>
            <a:ext cx="36576" cy="36576"/>
          </a:xfrm>
          <a:prstGeom prst="rect">
            <a:avLst/>
          </a:prstGeom>
          <a:solidFill>
            <a:srgbClr val="5B8C6B"/>
          </a:solidFill>
          <a:ln/>
        </p:spPr>
      </p:sp>
      <p:sp>
        <p:nvSpPr>
          <p:cNvPr id="43" name="Text 41"/>
          <p:cNvSpPr/>
          <p:nvPr/>
        </p:nvSpPr>
        <p:spPr>
          <a:xfrm>
            <a:off x="4791456" y="263347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Headcount avoided × fully-loaded cost</a:t>
            </a:r>
            <a:endParaRPr lang="en-US" sz="850" dirty="0"/>
          </a:p>
        </p:txBody>
      </p:sp>
      <p:sp>
        <p:nvSpPr>
          <p:cNvPr id="44" name="Shape 42"/>
          <p:cNvSpPr/>
          <p:nvPr/>
        </p:nvSpPr>
        <p:spPr>
          <a:xfrm>
            <a:off x="4700016" y="3072384"/>
            <a:ext cx="36576" cy="36576"/>
          </a:xfrm>
          <a:prstGeom prst="rect">
            <a:avLst/>
          </a:prstGeom>
          <a:solidFill>
            <a:srgbClr val="5B8C6B"/>
          </a:solidFill>
          <a:ln/>
        </p:spPr>
      </p:sp>
      <p:sp>
        <p:nvSpPr>
          <p:cNvPr id="45" name="Text 43"/>
          <p:cNvSpPr/>
          <p:nvPr/>
        </p:nvSpPr>
        <p:spPr>
          <a:xfrm>
            <a:off x="4791456" y="299923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Error cost avoided × volume</a:t>
            </a:r>
            <a:endParaRPr lang="en-US" sz="850" dirty="0"/>
          </a:p>
        </p:txBody>
      </p:sp>
      <p:sp>
        <p:nvSpPr>
          <p:cNvPr id="46" name="Shape 44"/>
          <p:cNvSpPr/>
          <p:nvPr/>
        </p:nvSpPr>
        <p:spPr>
          <a:xfrm>
            <a:off x="4700016" y="3438144"/>
            <a:ext cx="36576" cy="36576"/>
          </a:xfrm>
          <a:prstGeom prst="rect">
            <a:avLst/>
          </a:prstGeom>
          <a:solidFill>
            <a:srgbClr val="5B8C6B"/>
          </a:solidFill>
          <a:ln/>
        </p:spPr>
      </p:sp>
      <p:sp>
        <p:nvSpPr>
          <p:cNvPr id="47" name="Text 45"/>
          <p:cNvSpPr/>
          <p:nvPr/>
        </p:nvSpPr>
        <p:spPr>
          <a:xfrm>
            <a:off x="4791456" y="336499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Revenue uplift from speed or quality</a:t>
            </a:r>
            <a:endParaRPr lang="en-US" sz="850" dirty="0"/>
          </a:p>
        </p:txBody>
      </p:sp>
      <p:sp>
        <p:nvSpPr>
          <p:cNvPr id="48" name="Shape 46"/>
          <p:cNvSpPr/>
          <p:nvPr/>
        </p:nvSpPr>
        <p:spPr>
          <a:xfrm>
            <a:off x="4700016" y="3803904"/>
            <a:ext cx="36576" cy="36576"/>
          </a:xfrm>
          <a:prstGeom prst="rect">
            <a:avLst/>
          </a:prstGeom>
          <a:solidFill>
            <a:srgbClr val="5B8C6B"/>
          </a:solidFill>
          <a:ln/>
        </p:spPr>
      </p:sp>
      <p:sp>
        <p:nvSpPr>
          <p:cNvPr id="49" name="Text 47"/>
          <p:cNvSpPr/>
          <p:nvPr/>
        </p:nvSpPr>
        <p:spPr>
          <a:xfrm>
            <a:off x="4791456" y="373075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Risk reduction (regulatory, reputational)</a:t>
            </a:r>
            <a:endParaRPr lang="en-US" sz="850" dirty="0"/>
          </a:p>
        </p:txBody>
      </p:sp>
      <p:sp>
        <p:nvSpPr>
          <p:cNvPr id="50" name="Shape 48"/>
          <p:cNvSpPr/>
          <p:nvPr/>
        </p:nvSpPr>
        <p:spPr>
          <a:xfrm>
            <a:off x="6729984" y="1847088"/>
            <a:ext cx="1975104" cy="2615184"/>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51" name="Shape 49"/>
          <p:cNvSpPr/>
          <p:nvPr/>
        </p:nvSpPr>
        <p:spPr>
          <a:xfrm>
            <a:off x="6729984" y="1847088"/>
            <a:ext cx="1975104" cy="402336"/>
          </a:xfrm>
          <a:prstGeom prst="rect">
            <a:avLst/>
          </a:prstGeom>
          <a:solidFill>
            <a:srgbClr val="9A3324"/>
          </a:solidFill>
          <a:ln/>
        </p:spPr>
      </p:sp>
      <p:sp>
        <p:nvSpPr>
          <p:cNvPr id="52" name="Text 50"/>
          <p:cNvSpPr/>
          <p:nvPr/>
        </p:nvSpPr>
        <p:spPr>
          <a:xfrm>
            <a:off x="6821424" y="1874520"/>
            <a:ext cx="1792224" cy="347472"/>
          </a:xfrm>
          <a:prstGeom prst="rect">
            <a:avLst/>
          </a:prstGeom>
          <a:noFill/>
          <a:ln/>
        </p:spPr>
        <p:txBody>
          <a:bodyPr wrap="square" lIns="0" tIns="0" rIns="0" bIns="0" rtlCol="0" anchor="ctr"/>
          <a:lstStyle/>
          <a:p>
            <a:pPr indent="0" marL="0">
              <a:buNone/>
            </a:pPr>
            <a:r>
              <a:rPr lang="en-US" sz="900" b="1" spc="50" kern="0" dirty="0">
                <a:solidFill>
                  <a:srgbClr val="FFFFFF"/>
                </a:solidFill>
                <a:latin typeface="Calibri" pitchFamily="34" charset="0"/>
                <a:ea typeface="Calibri" pitchFamily="34" charset="-122"/>
                <a:cs typeface="Calibri" pitchFamily="34" charset="-120"/>
              </a:rPr>
              <a:t>ACCOUNT FOR ALL COSTS</a:t>
            </a:r>
            <a:endParaRPr lang="en-US" sz="900" dirty="0"/>
          </a:p>
        </p:txBody>
      </p:sp>
      <p:sp>
        <p:nvSpPr>
          <p:cNvPr id="53" name="Shape 51"/>
          <p:cNvSpPr/>
          <p:nvPr/>
        </p:nvSpPr>
        <p:spPr>
          <a:xfrm>
            <a:off x="6821424" y="2340864"/>
            <a:ext cx="36576" cy="36576"/>
          </a:xfrm>
          <a:prstGeom prst="rect">
            <a:avLst/>
          </a:prstGeom>
          <a:solidFill>
            <a:srgbClr val="9A3324"/>
          </a:solidFill>
          <a:ln/>
        </p:spPr>
      </p:sp>
      <p:sp>
        <p:nvSpPr>
          <p:cNvPr id="54" name="Text 52"/>
          <p:cNvSpPr/>
          <p:nvPr/>
        </p:nvSpPr>
        <p:spPr>
          <a:xfrm>
            <a:off x="6912864" y="226771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API / licence fees</a:t>
            </a:r>
            <a:endParaRPr lang="en-US" sz="850" dirty="0"/>
          </a:p>
        </p:txBody>
      </p:sp>
      <p:sp>
        <p:nvSpPr>
          <p:cNvPr id="55" name="Shape 53"/>
          <p:cNvSpPr/>
          <p:nvPr/>
        </p:nvSpPr>
        <p:spPr>
          <a:xfrm>
            <a:off x="6821424" y="2706624"/>
            <a:ext cx="36576" cy="36576"/>
          </a:xfrm>
          <a:prstGeom prst="rect">
            <a:avLst/>
          </a:prstGeom>
          <a:solidFill>
            <a:srgbClr val="9A3324"/>
          </a:solidFill>
          <a:ln/>
        </p:spPr>
      </p:sp>
      <p:sp>
        <p:nvSpPr>
          <p:cNvPr id="56" name="Text 54"/>
          <p:cNvSpPr/>
          <p:nvPr/>
        </p:nvSpPr>
        <p:spPr>
          <a:xfrm>
            <a:off x="6912864" y="263347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Integration &amp; engineering</a:t>
            </a:r>
            <a:endParaRPr lang="en-US" sz="850" dirty="0"/>
          </a:p>
        </p:txBody>
      </p:sp>
      <p:sp>
        <p:nvSpPr>
          <p:cNvPr id="57" name="Shape 55"/>
          <p:cNvSpPr/>
          <p:nvPr/>
        </p:nvSpPr>
        <p:spPr>
          <a:xfrm>
            <a:off x="6821424" y="3072384"/>
            <a:ext cx="36576" cy="36576"/>
          </a:xfrm>
          <a:prstGeom prst="rect">
            <a:avLst/>
          </a:prstGeom>
          <a:solidFill>
            <a:srgbClr val="9A3324"/>
          </a:solidFill>
          <a:ln/>
        </p:spPr>
      </p:sp>
      <p:sp>
        <p:nvSpPr>
          <p:cNvPr id="58" name="Text 56"/>
          <p:cNvSpPr/>
          <p:nvPr/>
        </p:nvSpPr>
        <p:spPr>
          <a:xfrm>
            <a:off x="6912864" y="299923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Training &amp; change management</a:t>
            </a:r>
            <a:endParaRPr lang="en-US" sz="850" dirty="0"/>
          </a:p>
        </p:txBody>
      </p:sp>
      <p:sp>
        <p:nvSpPr>
          <p:cNvPr id="59" name="Shape 57"/>
          <p:cNvSpPr/>
          <p:nvPr/>
        </p:nvSpPr>
        <p:spPr>
          <a:xfrm>
            <a:off x="6821424" y="3438144"/>
            <a:ext cx="36576" cy="36576"/>
          </a:xfrm>
          <a:prstGeom prst="rect">
            <a:avLst/>
          </a:prstGeom>
          <a:solidFill>
            <a:srgbClr val="9A3324"/>
          </a:solidFill>
          <a:ln/>
        </p:spPr>
      </p:sp>
      <p:sp>
        <p:nvSpPr>
          <p:cNvPr id="60" name="Text 58"/>
          <p:cNvSpPr/>
          <p:nvPr/>
        </p:nvSpPr>
        <p:spPr>
          <a:xfrm>
            <a:off x="6912864" y="336499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Governance &amp; compliance overhead</a:t>
            </a:r>
            <a:endParaRPr lang="en-US" sz="850" dirty="0"/>
          </a:p>
        </p:txBody>
      </p:sp>
      <p:sp>
        <p:nvSpPr>
          <p:cNvPr id="61" name="Shape 59"/>
          <p:cNvSpPr/>
          <p:nvPr/>
        </p:nvSpPr>
        <p:spPr>
          <a:xfrm>
            <a:off x="6821424" y="3803904"/>
            <a:ext cx="36576" cy="36576"/>
          </a:xfrm>
          <a:prstGeom prst="rect">
            <a:avLst/>
          </a:prstGeom>
          <a:solidFill>
            <a:srgbClr val="9A3324"/>
          </a:solidFill>
          <a:ln/>
        </p:spPr>
      </p:sp>
      <p:sp>
        <p:nvSpPr>
          <p:cNvPr id="62" name="Text 60"/>
          <p:cNvSpPr/>
          <p:nvPr/>
        </p:nvSpPr>
        <p:spPr>
          <a:xfrm>
            <a:off x="6912864" y="3730752"/>
            <a:ext cx="1700784" cy="329184"/>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Ongoing monitoring &amp; maintenance</a:t>
            </a:r>
            <a:endParaRPr lang="en-US" sz="850" dirty="0"/>
          </a:p>
        </p:txBody>
      </p:sp>
      <p:sp>
        <p:nvSpPr>
          <p:cNvPr id="63" name="Shape 61"/>
          <p:cNvSpPr/>
          <p:nvPr/>
        </p:nvSpPr>
        <p:spPr>
          <a:xfrm>
            <a:off x="365760" y="4553712"/>
            <a:ext cx="8412480" cy="548640"/>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64" name="Shape 62"/>
          <p:cNvSpPr/>
          <p:nvPr/>
        </p:nvSpPr>
        <p:spPr>
          <a:xfrm>
            <a:off x="365760" y="4553712"/>
            <a:ext cx="36576" cy="548640"/>
          </a:xfrm>
          <a:prstGeom prst="rect">
            <a:avLst/>
          </a:prstGeom>
          <a:solidFill>
            <a:srgbClr val="B8860B"/>
          </a:solidFill>
          <a:ln/>
        </p:spPr>
      </p:sp>
      <p:sp>
        <p:nvSpPr>
          <p:cNvPr id="65" name="Text 63"/>
          <p:cNvSpPr/>
          <p:nvPr/>
        </p:nvSpPr>
        <p:spPr>
          <a:xfrm>
            <a:off x="493776" y="4572000"/>
            <a:ext cx="3200400" cy="182880"/>
          </a:xfrm>
          <a:prstGeom prst="rect">
            <a:avLst/>
          </a:prstGeom>
          <a:noFill/>
          <a:ln/>
        </p:spPr>
        <p:txBody>
          <a:bodyPr wrap="square" lIns="0" tIns="0" rIns="0" bIns="0" rtlCol="0" anchor="ctr"/>
          <a:lstStyle/>
          <a:p>
            <a:pPr indent="0" marL="0">
              <a:buNone/>
            </a:pPr>
            <a:r>
              <a:rPr lang="en-US" sz="900" b="1" dirty="0">
                <a:solidFill>
                  <a:srgbClr val="B8860B"/>
                </a:solidFill>
                <a:latin typeface="Calibri" pitchFamily="34" charset="0"/>
                <a:ea typeface="Calibri" pitchFamily="34" charset="-122"/>
                <a:cs typeface="Calibri" pitchFamily="34" charset="-120"/>
              </a:rPr>
              <a:t>EXAMPLE  ·  Contract Review AI</a:t>
            </a:r>
            <a:endParaRPr lang="en-US" sz="900" dirty="0"/>
          </a:p>
        </p:txBody>
      </p:sp>
      <p:sp>
        <p:nvSpPr>
          <p:cNvPr id="66" name="Text 64"/>
          <p:cNvSpPr/>
          <p:nvPr/>
        </p:nvSpPr>
        <p:spPr>
          <a:xfrm>
            <a:off x="493776" y="4754880"/>
            <a:ext cx="3474720" cy="274320"/>
          </a:xfrm>
          <a:prstGeom prst="rect">
            <a:avLst/>
          </a:prstGeom>
          <a:noFill/>
          <a:ln/>
        </p:spPr>
        <p:txBody>
          <a:bodyPr wrap="square" lIns="0" tIns="0" rIns="0" bIns="0" rtlCol="0" anchor="ctr"/>
          <a:lstStyle/>
          <a:p>
            <a:pPr indent="0" marL="0">
              <a:buNone/>
            </a:pPr>
            <a:r>
              <a:rPr lang="en-US" sz="800" dirty="0">
                <a:solidFill>
                  <a:srgbClr val="0A2540"/>
                </a:solidFill>
                <a:latin typeface="Calibri" pitchFamily="34" charset="0"/>
                <a:ea typeface="Calibri" pitchFamily="34" charset="-122"/>
                <a:cs typeface="Calibri" pitchFamily="34" charset="-120"/>
              </a:rPr>
              <a:t>Baseline: 4h per contract · 50/week · £85/h lawyer</a:t>
            </a:r>
            <a:endParaRPr lang="en-US" sz="800" dirty="0"/>
          </a:p>
        </p:txBody>
      </p:sp>
      <p:sp>
        <p:nvSpPr>
          <p:cNvPr id="67" name="Text 65"/>
          <p:cNvSpPr/>
          <p:nvPr/>
        </p:nvSpPr>
        <p:spPr>
          <a:xfrm>
            <a:off x="4005072" y="4572000"/>
            <a:ext cx="2651760" cy="182880"/>
          </a:xfrm>
          <a:prstGeom prst="rect">
            <a:avLst/>
          </a:prstGeom>
          <a:noFill/>
          <a:ln/>
        </p:spPr>
        <p:txBody>
          <a:bodyPr wrap="square" lIns="0" tIns="0" rIns="0" bIns="0" rtlCol="0" anchor="ctr"/>
          <a:lstStyle/>
          <a:p>
            <a:pPr indent="0" marL="0">
              <a:buNone/>
            </a:pPr>
            <a:r>
              <a:rPr lang="en-US" sz="800" dirty="0">
                <a:solidFill>
                  <a:srgbClr val="0A2540"/>
                </a:solidFill>
                <a:latin typeface="Calibri" pitchFamily="34" charset="0"/>
                <a:ea typeface="Calibri" pitchFamily="34" charset="-122"/>
                <a:cs typeface="Calibri" pitchFamily="34" charset="-120"/>
              </a:rPr>
              <a:t>Change: AI reduces review time to 45 min</a:t>
            </a:r>
            <a:endParaRPr lang="en-US" sz="800" dirty="0"/>
          </a:p>
        </p:txBody>
      </p:sp>
      <p:sp>
        <p:nvSpPr>
          <p:cNvPr id="68" name="Text 66"/>
          <p:cNvSpPr/>
          <p:nvPr/>
        </p:nvSpPr>
        <p:spPr>
          <a:xfrm>
            <a:off x="4005072" y="4754880"/>
            <a:ext cx="2651760" cy="274320"/>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Saving: 3.25h × 50 × £85 = £13,812/week = £718K/year</a:t>
            </a:r>
            <a:endParaRPr lang="en-US" sz="800" dirty="0"/>
          </a:p>
        </p:txBody>
      </p:sp>
      <p:sp>
        <p:nvSpPr>
          <p:cNvPr id="69" name="Text 67"/>
          <p:cNvSpPr/>
          <p:nvPr/>
        </p:nvSpPr>
        <p:spPr>
          <a:xfrm>
            <a:off x="6729984" y="4663440"/>
            <a:ext cx="1993392" cy="365760"/>
          </a:xfrm>
          <a:prstGeom prst="rect">
            <a:avLst/>
          </a:prstGeom>
          <a:noFill/>
          <a:ln/>
        </p:spPr>
        <p:txBody>
          <a:bodyPr wrap="square" lIns="0" tIns="0" rIns="0" bIns="0" rtlCol="0" anchor="ctr"/>
          <a:lstStyle/>
          <a:p>
            <a:pPr indent="0" marL="0">
              <a:buNone/>
            </a:pPr>
            <a:r>
              <a:rPr lang="en-US" sz="800" b="1" dirty="0">
                <a:solidFill>
                  <a:srgbClr val="B8860B"/>
                </a:solidFill>
                <a:latin typeface="Calibri" pitchFamily="34" charset="0"/>
                <a:ea typeface="Calibri" pitchFamily="34" charset="-122"/>
                <a:cs typeface="Calibri" pitchFamily="34" charset="-120"/>
              </a:rPr>
              <a:t>Cost: £120K/year all-in  →  ROI: 499%  ·  Payback: 9 weeks</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06</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AI ECONOMICS — HOW YOU ACTUALLY PAY FOR IT</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841248"/>
            <a:ext cx="8412480" cy="859536"/>
          </a:xfrm>
          <a:prstGeom prst="rect">
            <a:avLst/>
          </a:prstGeom>
          <a:solidFill>
            <a:srgbClr val="F4E4BC"/>
          </a:solidFill>
          <a:ln/>
          <a:effectLst>
            <a:outerShdw sx="100000" sy="100000" kx="0" ky="0" algn="bl" rotWithShape="0" blurRad="76200" dist="25400" dir="8100000">
              <a:srgbClr val="000000">
                <a:alpha val="8000"/>
              </a:srgbClr>
            </a:outerShdw>
          </a:effectLst>
        </p:spPr>
      </p:sp>
      <p:sp>
        <p:nvSpPr>
          <p:cNvPr id="8" name="Shape 6"/>
          <p:cNvSpPr/>
          <p:nvPr/>
        </p:nvSpPr>
        <p:spPr>
          <a:xfrm>
            <a:off x="365760" y="841248"/>
            <a:ext cx="36576" cy="859536"/>
          </a:xfrm>
          <a:prstGeom prst="rect">
            <a:avLst/>
          </a:prstGeom>
          <a:solidFill>
            <a:srgbClr val="B8860B"/>
          </a:solidFill>
          <a:ln/>
        </p:spPr>
      </p:sp>
      <p:sp>
        <p:nvSpPr>
          <p:cNvPr id="9" name="Text 7"/>
          <p:cNvSpPr/>
          <p:nvPr/>
        </p:nvSpPr>
        <p:spPr>
          <a:xfrm>
            <a:off x="548640" y="877824"/>
            <a:ext cx="8183880" cy="219456"/>
          </a:xfrm>
          <a:prstGeom prst="rect">
            <a:avLst/>
          </a:prstGeom>
          <a:noFill/>
          <a:ln/>
        </p:spPr>
        <p:txBody>
          <a:bodyPr wrap="square" lIns="0" tIns="0" rIns="0" bIns="0" rtlCol="0" anchor="ctr"/>
          <a:lstStyle/>
          <a:p>
            <a:pPr indent="0" marL="0">
              <a:buNone/>
            </a:pPr>
            <a:r>
              <a:rPr lang="en-US" sz="900" b="1" spc="150" kern="0" dirty="0">
                <a:solidFill>
                  <a:srgbClr val="B8860B"/>
                </a:solidFill>
                <a:latin typeface="Calibri" pitchFamily="34" charset="0"/>
                <a:ea typeface="Calibri" pitchFamily="34" charset="-122"/>
                <a:cs typeface="Calibri" pitchFamily="34" charset="-120"/>
              </a:rPr>
              <a:t>ANALOGY  ·  Electricity vs Hiring an Employee</a:t>
            </a:r>
            <a:endParaRPr lang="en-US" sz="900" dirty="0"/>
          </a:p>
        </p:txBody>
      </p:sp>
      <p:sp>
        <p:nvSpPr>
          <p:cNvPr id="10" name="Text 8"/>
          <p:cNvSpPr/>
          <p:nvPr/>
        </p:nvSpPr>
        <p:spPr>
          <a:xfrm>
            <a:off x="548640" y="1115568"/>
            <a:ext cx="8183880" cy="548640"/>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API pricing is like electricity — you pay per unit used (per token). A subscription is like hiring staff — a flat monthly fee per person. Self-hosting is like building your own power plant — huge upfront cost, cheap once running. The right model depends on your scale.</a:t>
            </a:r>
            <a:endParaRPr lang="en-US" sz="1000" dirty="0"/>
          </a:p>
        </p:txBody>
      </p:sp>
      <p:sp>
        <p:nvSpPr>
          <p:cNvPr id="11" name="Text 9"/>
          <p:cNvSpPr/>
          <p:nvPr/>
        </p:nvSpPr>
        <p:spPr>
          <a:xfrm>
            <a:off x="365760" y="1810512"/>
            <a:ext cx="8412480" cy="219456"/>
          </a:xfrm>
          <a:prstGeom prst="rect">
            <a:avLst/>
          </a:prstGeom>
          <a:noFill/>
          <a:ln/>
        </p:spPr>
        <p:txBody>
          <a:bodyPr wrap="square" lIns="0" tIns="0" rIns="0" bIns="0" rtlCol="0" anchor="ctr"/>
          <a:lstStyle/>
          <a:p>
            <a:pPr indent="0" marL="0">
              <a:buNone/>
            </a:pPr>
            <a:r>
              <a:rPr lang="en-US" sz="850" b="1" spc="200" kern="0" dirty="0">
                <a:solidFill>
                  <a:srgbClr val="B8860B"/>
                </a:solidFill>
                <a:latin typeface="Calibri" pitchFamily="34" charset="0"/>
                <a:ea typeface="Calibri" pitchFamily="34" charset="-122"/>
                <a:cs typeface="Calibri" pitchFamily="34" charset="-120"/>
              </a:rPr>
              <a:t>THE FOUR WAYS YOU PAY</a:t>
            </a:r>
            <a:endParaRPr lang="en-US" sz="850" dirty="0"/>
          </a:p>
        </p:txBody>
      </p:sp>
      <p:sp>
        <p:nvSpPr>
          <p:cNvPr id="12" name="Shape 10"/>
          <p:cNvSpPr/>
          <p:nvPr/>
        </p:nvSpPr>
        <p:spPr>
          <a:xfrm>
            <a:off x="365760" y="2084832"/>
            <a:ext cx="1975104" cy="137160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13" name="Shape 11"/>
          <p:cNvSpPr/>
          <p:nvPr/>
        </p:nvSpPr>
        <p:spPr>
          <a:xfrm>
            <a:off x="365760" y="2084832"/>
            <a:ext cx="1975104" cy="384048"/>
          </a:xfrm>
          <a:prstGeom prst="rect">
            <a:avLst/>
          </a:prstGeom>
          <a:solidFill>
            <a:srgbClr val="B8860B"/>
          </a:solidFill>
          <a:ln/>
        </p:spPr>
      </p:sp>
      <p:sp>
        <p:nvSpPr>
          <p:cNvPr id="14" name="Text 12"/>
          <p:cNvSpPr/>
          <p:nvPr/>
        </p:nvSpPr>
        <p:spPr>
          <a:xfrm>
            <a:off x="457200" y="2121408"/>
            <a:ext cx="179222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PER-TOKEN (API)</a:t>
            </a:r>
            <a:endParaRPr lang="en-US" sz="900" dirty="0"/>
          </a:p>
        </p:txBody>
      </p:sp>
      <p:sp>
        <p:nvSpPr>
          <p:cNvPr id="15" name="Text 13"/>
          <p:cNvSpPr/>
          <p:nvPr/>
        </p:nvSpPr>
        <p:spPr>
          <a:xfrm>
            <a:off x="457200" y="2523744"/>
            <a:ext cx="179222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Pay for each word in and out</a:t>
            </a:r>
            <a:endParaRPr lang="en-US" sz="850" dirty="0"/>
          </a:p>
        </p:txBody>
      </p:sp>
      <p:sp>
        <p:nvSpPr>
          <p:cNvPr id="16" name="Shape 14"/>
          <p:cNvSpPr/>
          <p:nvPr/>
        </p:nvSpPr>
        <p:spPr>
          <a:xfrm>
            <a:off x="457200" y="2816352"/>
            <a:ext cx="1792224" cy="292608"/>
          </a:xfrm>
          <a:prstGeom prst="rect">
            <a:avLst/>
          </a:prstGeom>
          <a:solidFill>
            <a:srgbClr val="F4E4BC"/>
          </a:solidFill>
          <a:ln/>
        </p:spPr>
      </p:sp>
      <p:sp>
        <p:nvSpPr>
          <p:cNvPr id="17" name="Text 15"/>
          <p:cNvSpPr/>
          <p:nvPr/>
        </p:nvSpPr>
        <p:spPr>
          <a:xfrm>
            <a:off x="493776" y="2834640"/>
            <a:ext cx="1719072" cy="256032"/>
          </a:xfrm>
          <a:prstGeom prst="rect">
            <a:avLst/>
          </a:prstGeom>
          <a:noFill/>
          <a:ln/>
        </p:spPr>
        <p:txBody>
          <a:bodyPr wrap="square" lIns="0" tIns="0" rIns="0" bIns="0" rtlCol="0" anchor="ctr"/>
          <a:lstStyle/>
          <a:p>
            <a:pPr indent="0" marL="0">
              <a:buNone/>
            </a:pPr>
            <a:r>
              <a:rPr lang="en-US" sz="800" b="1" dirty="0">
                <a:solidFill>
                  <a:srgbClr val="0A2540"/>
                </a:solidFill>
                <a:latin typeface="Calibri" pitchFamily="34" charset="0"/>
                <a:ea typeface="Calibri" pitchFamily="34" charset="-122"/>
                <a:cs typeface="Calibri" pitchFamily="34" charset="-120"/>
              </a:rPr>
              <a:t>~$2.50–15 per million tokens</a:t>
            </a:r>
            <a:endParaRPr lang="en-US" sz="800" dirty="0"/>
          </a:p>
        </p:txBody>
      </p:sp>
      <p:sp>
        <p:nvSpPr>
          <p:cNvPr id="18" name="Text 16"/>
          <p:cNvSpPr/>
          <p:nvPr/>
        </p:nvSpPr>
        <p:spPr>
          <a:xfrm>
            <a:off x="457200" y="3145536"/>
            <a:ext cx="1792224" cy="274320"/>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 Variable usage, prototyping</a:t>
            </a:r>
            <a:endParaRPr lang="en-US" sz="750" dirty="0"/>
          </a:p>
        </p:txBody>
      </p:sp>
      <p:sp>
        <p:nvSpPr>
          <p:cNvPr id="19" name="Shape 17"/>
          <p:cNvSpPr/>
          <p:nvPr/>
        </p:nvSpPr>
        <p:spPr>
          <a:xfrm>
            <a:off x="2487168" y="2084832"/>
            <a:ext cx="1975104" cy="137160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0" name="Shape 18"/>
          <p:cNvSpPr/>
          <p:nvPr/>
        </p:nvSpPr>
        <p:spPr>
          <a:xfrm>
            <a:off x="2487168" y="2084832"/>
            <a:ext cx="1975104" cy="384048"/>
          </a:xfrm>
          <a:prstGeom prst="rect">
            <a:avLst/>
          </a:prstGeom>
          <a:solidFill>
            <a:srgbClr val="B8860B"/>
          </a:solidFill>
          <a:ln/>
        </p:spPr>
      </p:sp>
      <p:sp>
        <p:nvSpPr>
          <p:cNvPr id="21" name="Text 19"/>
          <p:cNvSpPr/>
          <p:nvPr/>
        </p:nvSpPr>
        <p:spPr>
          <a:xfrm>
            <a:off x="2578608" y="2121408"/>
            <a:ext cx="179222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PER-SEAT (Subscription)</a:t>
            </a:r>
            <a:endParaRPr lang="en-US" sz="900" dirty="0"/>
          </a:p>
        </p:txBody>
      </p:sp>
      <p:sp>
        <p:nvSpPr>
          <p:cNvPr id="22" name="Text 20"/>
          <p:cNvSpPr/>
          <p:nvPr/>
        </p:nvSpPr>
        <p:spPr>
          <a:xfrm>
            <a:off x="2578608" y="2523744"/>
            <a:ext cx="179222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Flat fee per user per month</a:t>
            </a:r>
            <a:endParaRPr lang="en-US" sz="850" dirty="0"/>
          </a:p>
        </p:txBody>
      </p:sp>
      <p:sp>
        <p:nvSpPr>
          <p:cNvPr id="23" name="Shape 21"/>
          <p:cNvSpPr/>
          <p:nvPr/>
        </p:nvSpPr>
        <p:spPr>
          <a:xfrm>
            <a:off x="2578608" y="2816352"/>
            <a:ext cx="1792224" cy="292608"/>
          </a:xfrm>
          <a:prstGeom prst="rect">
            <a:avLst/>
          </a:prstGeom>
          <a:solidFill>
            <a:srgbClr val="F4E4BC"/>
          </a:solidFill>
          <a:ln/>
        </p:spPr>
      </p:sp>
      <p:sp>
        <p:nvSpPr>
          <p:cNvPr id="24" name="Text 22"/>
          <p:cNvSpPr/>
          <p:nvPr/>
        </p:nvSpPr>
        <p:spPr>
          <a:xfrm>
            <a:off x="2615184" y="2834640"/>
            <a:ext cx="1719072" cy="256032"/>
          </a:xfrm>
          <a:prstGeom prst="rect">
            <a:avLst/>
          </a:prstGeom>
          <a:noFill/>
          <a:ln/>
        </p:spPr>
        <p:txBody>
          <a:bodyPr wrap="square" lIns="0" tIns="0" rIns="0" bIns="0" rtlCol="0" anchor="ctr"/>
          <a:lstStyle/>
          <a:p>
            <a:pPr indent="0" marL="0">
              <a:buNone/>
            </a:pPr>
            <a:r>
              <a:rPr lang="en-US" sz="800" b="1" dirty="0">
                <a:solidFill>
                  <a:srgbClr val="0A2540"/>
                </a:solidFill>
                <a:latin typeface="Calibri" pitchFamily="34" charset="0"/>
                <a:ea typeface="Calibri" pitchFamily="34" charset="-122"/>
                <a:cs typeface="Calibri" pitchFamily="34" charset="-120"/>
              </a:rPr>
              <a:t>$20–60 per user / month</a:t>
            </a:r>
            <a:endParaRPr lang="en-US" sz="800" dirty="0"/>
          </a:p>
        </p:txBody>
      </p:sp>
      <p:sp>
        <p:nvSpPr>
          <p:cNvPr id="25" name="Text 23"/>
          <p:cNvSpPr/>
          <p:nvPr/>
        </p:nvSpPr>
        <p:spPr>
          <a:xfrm>
            <a:off x="2578608" y="3145536"/>
            <a:ext cx="1792224" cy="274320"/>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 Broad employee rollout</a:t>
            </a:r>
            <a:endParaRPr lang="en-US" sz="750" dirty="0"/>
          </a:p>
        </p:txBody>
      </p:sp>
      <p:sp>
        <p:nvSpPr>
          <p:cNvPr id="26" name="Shape 24"/>
          <p:cNvSpPr/>
          <p:nvPr/>
        </p:nvSpPr>
        <p:spPr>
          <a:xfrm>
            <a:off x="4608576" y="2084832"/>
            <a:ext cx="1975104" cy="137160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7" name="Shape 25"/>
          <p:cNvSpPr/>
          <p:nvPr/>
        </p:nvSpPr>
        <p:spPr>
          <a:xfrm>
            <a:off x="4608576" y="2084832"/>
            <a:ext cx="1975104" cy="384048"/>
          </a:xfrm>
          <a:prstGeom prst="rect">
            <a:avLst/>
          </a:prstGeom>
          <a:solidFill>
            <a:srgbClr val="B8860B"/>
          </a:solidFill>
          <a:ln/>
        </p:spPr>
      </p:sp>
      <p:sp>
        <p:nvSpPr>
          <p:cNvPr id="28" name="Text 26"/>
          <p:cNvSpPr/>
          <p:nvPr/>
        </p:nvSpPr>
        <p:spPr>
          <a:xfrm>
            <a:off x="4700016" y="2121408"/>
            <a:ext cx="179222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COMMITTED SPEND</a:t>
            </a:r>
            <a:endParaRPr lang="en-US" sz="900" dirty="0"/>
          </a:p>
        </p:txBody>
      </p:sp>
      <p:sp>
        <p:nvSpPr>
          <p:cNvPr id="29" name="Text 27"/>
          <p:cNvSpPr/>
          <p:nvPr/>
        </p:nvSpPr>
        <p:spPr>
          <a:xfrm>
            <a:off x="4700016" y="2523744"/>
            <a:ext cx="179222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Volume discount for commitment</a:t>
            </a:r>
            <a:endParaRPr lang="en-US" sz="850" dirty="0"/>
          </a:p>
        </p:txBody>
      </p:sp>
      <p:sp>
        <p:nvSpPr>
          <p:cNvPr id="30" name="Shape 28"/>
          <p:cNvSpPr/>
          <p:nvPr/>
        </p:nvSpPr>
        <p:spPr>
          <a:xfrm>
            <a:off x="4700016" y="2816352"/>
            <a:ext cx="1792224" cy="292608"/>
          </a:xfrm>
          <a:prstGeom prst="rect">
            <a:avLst/>
          </a:prstGeom>
          <a:solidFill>
            <a:srgbClr val="F4E4BC"/>
          </a:solidFill>
          <a:ln/>
        </p:spPr>
      </p:sp>
      <p:sp>
        <p:nvSpPr>
          <p:cNvPr id="31" name="Text 29"/>
          <p:cNvSpPr/>
          <p:nvPr/>
        </p:nvSpPr>
        <p:spPr>
          <a:xfrm>
            <a:off x="4736592" y="2834640"/>
            <a:ext cx="1719072" cy="256032"/>
          </a:xfrm>
          <a:prstGeom prst="rect">
            <a:avLst/>
          </a:prstGeom>
          <a:noFill/>
          <a:ln/>
        </p:spPr>
        <p:txBody>
          <a:bodyPr wrap="square" lIns="0" tIns="0" rIns="0" bIns="0" rtlCol="0" anchor="ctr"/>
          <a:lstStyle/>
          <a:p>
            <a:pPr indent="0" marL="0">
              <a:buNone/>
            </a:pPr>
            <a:r>
              <a:rPr lang="en-US" sz="800" b="1" dirty="0">
                <a:solidFill>
                  <a:srgbClr val="0A2540"/>
                </a:solidFill>
                <a:latin typeface="Calibri" pitchFamily="34" charset="0"/>
                <a:ea typeface="Calibri" pitchFamily="34" charset="-122"/>
                <a:cs typeface="Calibri" pitchFamily="34" charset="-120"/>
              </a:rPr>
              <a:t>20–50% off at scale</a:t>
            </a:r>
            <a:endParaRPr lang="en-US" sz="800" dirty="0"/>
          </a:p>
        </p:txBody>
      </p:sp>
      <p:sp>
        <p:nvSpPr>
          <p:cNvPr id="32" name="Text 30"/>
          <p:cNvSpPr/>
          <p:nvPr/>
        </p:nvSpPr>
        <p:spPr>
          <a:xfrm>
            <a:off x="4700016" y="3145536"/>
            <a:ext cx="1792224" cy="274320"/>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 Predictable high volume</a:t>
            </a:r>
            <a:endParaRPr lang="en-US" sz="750" dirty="0"/>
          </a:p>
        </p:txBody>
      </p:sp>
      <p:sp>
        <p:nvSpPr>
          <p:cNvPr id="33" name="Shape 31"/>
          <p:cNvSpPr/>
          <p:nvPr/>
        </p:nvSpPr>
        <p:spPr>
          <a:xfrm>
            <a:off x="6729984" y="2084832"/>
            <a:ext cx="1975104" cy="1371600"/>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4" name="Shape 32"/>
          <p:cNvSpPr/>
          <p:nvPr/>
        </p:nvSpPr>
        <p:spPr>
          <a:xfrm>
            <a:off x="6729984" y="2084832"/>
            <a:ext cx="1975104" cy="384048"/>
          </a:xfrm>
          <a:prstGeom prst="rect">
            <a:avLst/>
          </a:prstGeom>
          <a:solidFill>
            <a:srgbClr val="B8860B"/>
          </a:solidFill>
          <a:ln/>
        </p:spPr>
      </p:sp>
      <p:sp>
        <p:nvSpPr>
          <p:cNvPr id="35" name="Text 33"/>
          <p:cNvSpPr/>
          <p:nvPr/>
        </p:nvSpPr>
        <p:spPr>
          <a:xfrm>
            <a:off x="6821424" y="2121408"/>
            <a:ext cx="1792224" cy="31089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SELF-HOSTED</a:t>
            </a:r>
            <a:endParaRPr lang="en-US" sz="900" dirty="0"/>
          </a:p>
        </p:txBody>
      </p:sp>
      <p:sp>
        <p:nvSpPr>
          <p:cNvPr id="36" name="Text 34"/>
          <p:cNvSpPr/>
          <p:nvPr/>
        </p:nvSpPr>
        <p:spPr>
          <a:xfrm>
            <a:off x="6821424" y="2523744"/>
            <a:ext cx="1792224" cy="292608"/>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Your own infrastructure</a:t>
            </a:r>
            <a:endParaRPr lang="en-US" sz="850" dirty="0"/>
          </a:p>
        </p:txBody>
      </p:sp>
      <p:sp>
        <p:nvSpPr>
          <p:cNvPr id="37" name="Shape 35"/>
          <p:cNvSpPr/>
          <p:nvPr/>
        </p:nvSpPr>
        <p:spPr>
          <a:xfrm>
            <a:off x="6821424" y="2816352"/>
            <a:ext cx="1792224" cy="292608"/>
          </a:xfrm>
          <a:prstGeom prst="rect">
            <a:avLst/>
          </a:prstGeom>
          <a:solidFill>
            <a:srgbClr val="F4E4BC"/>
          </a:solidFill>
          <a:ln/>
        </p:spPr>
      </p:sp>
      <p:sp>
        <p:nvSpPr>
          <p:cNvPr id="38" name="Text 36"/>
          <p:cNvSpPr/>
          <p:nvPr/>
        </p:nvSpPr>
        <p:spPr>
          <a:xfrm>
            <a:off x="6858000" y="2834640"/>
            <a:ext cx="1719072" cy="256032"/>
          </a:xfrm>
          <a:prstGeom prst="rect">
            <a:avLst/>
          </a:prstGeom>
          <a:noFill/>
          <a:ln/>
        </p:spPr>
        <p:txBody>
          <a:bodyPr wrap="square" lIns="0" tIns="0" rIns="0" bIns="0" rtlCol="0" anchor="ctr"/>
          <a:lstStyle/>
          <a:p>
            <a:pPr indent="0" marL="0">
              <a:buNone/>
            </a:pPr>
            <a:r>
              <a:rPr lang="en-US" sz="800" b="1" dirty="0">
                <a:solidFill>
                  <a:srgbClr val="0A2540"/>
                </a:solidFill>
                <a:latin typeface="Calibri" pitchFamily="34" charset="0"/>
                <a:ea typeface="Calibri" pitchFamily="34" charset="-122"/>
                <a:cs typeface="Calibri" pitchFamily="34" charset="-120"/>
              </a:rPr>
              <a:t>GPU + engineering cost</a:t>
            </a:r>
            <a:endParaRPr lang="en-US" sz="800" dirty="0"/>
          </a:p>
        </p:txBody>
      </p:sp>
      <p:sp>
        <p:nvSpPr>
          <p:cNvPr id="39" name="Text 37"/>
          <p:cNvSpPr/>
          <p:nvPr/>
        </p:nvSpPr>
        <p:spPr>
          <a:xfrm>
            <a:off x="6821424" y="3145536"/>
            <a:ext cx="1792224" cy="274320"/>
          </a:xfrm>
          <a:prstGeom prst="rect">
            <a:avLst/>
          </a:prstGeom>
          <a:noFill/>
          <a:ln/>
        </p:spPr>
        <p:txBody>
          <a:bodyPr wrap="square" lIns="0" tIns="0" rIns="0" bIns="0" rtlCol="0" anchor="ctr"/>
          <a:lstStyle/>
          <a:p>
            <a:pPr indent="0" marL="0">
              <a:buNone/>
            </a:pPr>
            <a:r>
              <a:rPr lang="en-US" sz="750" i="1" dirty="0">
                <a:solidFill>
                  <a:srgbClr val="B8860B"/>
                </a:solidFill>
                <a:latin typeface="Calibri" pitchFamily="34" charset="0"/>
                <a:ea typeface="Calibri" pitchFamily="34" charset="-122"/>
                <a:cs typeface="Calibri" pitchFamily="34" charset="-120"/>
              </a:rPr>
              <a:t>→ Massive scale, data control</a:t>
            </a:r>
            <a:endParaRPr lang="en-US" sz="750" dirty="0"/>
          </a:p>
        </p:txBody>
      </p:sp>
      <p:sp>
        <p:nvSpPr>
          <p:cNvPr id="40" name="Shape 38"/>
          <p:cNvSpPr/>
          <p:nvPr/>
        </p:nvSpPr>
        <p:spPr>
          <a:xfrm>
            <a:off x="365760" y="3621024"/>
            <a:ext cx="8412480" cy="896112"/>
          </a:xfrm>
          <a:prstGeom prst="rect">
            <a:avLst/>
          </a:prstGeom>
          <a:solidFill>
            <a:srgbClr val="FAFBFD"/>
          </a:solidFill>
          <a:ln/>
          <a:effectLst>
            <a:outerShdw sx="100000" sy="100000" kx="0" ky="0" algn="bl" rotWithShape="0" blurRad="76200" dist="25400" dir="8100000">
              <a:srgbClr val="000000">
                <a:alpha val="8000"/>
              </a:srgbClr>
            </a:outerShdw>
          </a:effectLst>
        </p:spPr>
      </p:sp>
      <p:sp>
        <p:nvSpPr>
          <p:cNvPr id="41" name="Shape 39"/>
          <p:cNvSpPr/>
          <p:nvPr/>
        </p:nvSpPr>
        <p:spPr>
          <a:xfrm>
            <a:off x="365760" y="3621024"/>
            <a:ext cx="36576" cy="896112"/>
          </a:xfrm>
          <a:prstGeom prst="rect">
            <a:avLst/>
          </a:prstGeom>
          <a:solidFill>
            <a:srgbClr val="9A3324"/>
          </a:solidFill>
          <a:ln/>
        </p:spPr>
      </p:sp>
      <p:sp>
        <p:nvSpPr>
          <p:cNvPr id="42" name="Text 40"/>
          <p:cNvSpPr/>
          <p:nvPr/>
        </p:nvSpPr>
        <p:spPr>
          <a:xfrm>
            <a:off x="512064" y="3657600"/>
            <a:ext cx="8229600" cy="219456"/>
          </a:xfrm>
          <a:prstGeom prst="rect">
            <a:avLst/>
          </a:prstGeom>
          <a:noFill/>
          <a:ln/>
        </p:spPr>
        <p:txBody>
          <a:bodyPr wrap="square" lIns="0" tIns="0" rIns="0" bIns="0" rtlCol="0" anchor="ctr"/>
          <a:lstStyle/>
          <a:p>
            <a:pPr indent="0" marL="0">
              <a:buNone/>
            </a:pPr>
            <a:r>
              <a:rPr lang="en-US" sz="950" b="1" dirty="0">
                <a:solidFill>
                  <a:srgbClr val="9A3324"/>
                </a:solidFill>
                <a:latin typeface="Calibri" pitchFamily="34" charset="0"/>
                <a:ea typeface="Calibri" pitchFamily="34" charset="-122"/>
                <a:cs typeface="Calibri" pitchFamily="34" charset="-120"/>
              </a:rPr>
              <a:t>THE HIDDEN COSTS  ·  Total Cost of Ownership is far more than the API bill</a:t>
            </a:r>
            <a:endParaRPr lang="en-US" sz="950" dirty="0"/>
          </a:p>
        </p:txBody>
      </p:sp>
      <p:sp>
        <p:nvSpPr>
          <p:cNvPr id="43" name="Text 41"/>
          <p:cNvSpPr/>
          <p:nvPr/>
        </p:nvSpPr>
        <p:spPr>
          <a:xfrm>
            <a:off x="512064" y="3931920"/>
            <a:ext cx="1627632" cy="201168"/>
          </a:xfrm>
          <a:prstGeom prst="rect">
            <a:avLst/>
          </a:prstGeom>
          <a:noFill/>
          <a:ln/>
        </p:spPr>
        <p:txBody>
          <a:bodyPr wrap="square" lIns="0" tIns="0" rIns="0" bIns="0" rtlCol="0" anchor="ctr"/>
          <a:lstStyle/>
          <a:p>
            <a:pPr indent="0" marL="0">
              <a:buNone/>
            </a:pPr>
            <a:r>
              <a:rPr lang="en-US" sz="800" b="1" dirty="0">
                <a:solidFill>
                  <a:srgbClr val="0A2540"/>
                </a:solidFill>
                <a:latin typeface="Calibri" pitchFamily="34" charset="0"/>
                <a:ea typeface="Calibri" pitchFamily="34" charset="-122"/>
                <a:cs typeface="Calibri" pitchFamily="34" charset="-120"/>
              </a:rPr>
              <a:t>•  Integration &amp; engineering</a:t>
            </a:r>
            <a:endParaRPr lang="en-US" sz="800" dirty="0"/>
          </a:p>
        </p:txBody>
      </p:sp>
      <p:sp>
        <p:nvSpPr>
          <p:cNvPr id="44" name="Text 42"/>
          <p:cNvSpPr/>
          <p:nvPr/>
        </p:nvSpPr>
        <p:spPr>
          <a:xfrm>
            <a:off x="640080" y="4133088"/>
            <a:ext cx="1499616" cy="329184"/>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Connecting AI to your systems</a:t>
            </a:r>
            <a:endParaRPr lang="en-US" sz="750" dirty="0"/>
          </a:p>
        </p:txBody>
      </p:sp>
      <p:sp>
        <p:nvSpPr>
          <p:cNvPr id="45" name="Text 43"/>
          <p:cNvSpPr/>
          <p:nvPr/>
        </p:nvSpPr>
        <p:spPr>
          <a:xfrm>
            <a:off x="2167128" y="3931920"/>
            <a:ext cx="1627632" cy="201168"/>
          </a:xfrm>
          <a:prstGeom prst="rect">
            <a:avLst/>
          </a:prstGeom>
          <a:noFill/>
          <a:ln/>
        </p:spPr>
        <p:txBody>
          <a:bodyPr wrap="square" lIns="0" tIns="0" rIns="0" bIns="0" rtlCol="0" anchor="ctr"/>
          <a:lstStyle/>
          <a:p>
            <a:pPr indent="0" marL="0">
              <a:buNone/>
            </a:pPr>
            <a:r>
              <a:rPr lang="en-US" sz="800" b="1" dirty="0">
                <a:solidFill>
                  <a:srgbClr val="0A2540"/>
                </a:solidFill>
                <a:latin typeface="Calibri" pitchFamily="34" charset="0"/>
                <a:ea typeface="Calibri" pitchFamily="34" charset="-122"/>
                <a:cs typeface="Calibri" pitchFamily="34" charset="-120"/>
              </a:rPr>
              <a:t>•  Fine-tuning &amp; data prep</a:t>
            </a:r>
            <a:endParaRPr lang="en-US" sz="800" dirty="0"/>
          </a:p>
        </p:txBody>
      </p:sp>
      <p:sp>
        <p:nvSpPr>
          <p:cNvPr id="46" name="Text 44"/>
          <p:cNvSpPr/>
          <p:nvPr/>
        </p:nvSpPr>
        <p:spPr>
          <a:xfrm>
            <a:off x="2295144" y="4133088"/>
            <a:ext cx="1499616" cy="329184"/>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Cleaning, labelling, training</a:t>
            </a:r>
            <a:endParaRPr lang="en-US" sz="750" dirty="0"/>
          </a:p>
        </p:txBody>
      </p:sp>
      <p:sp>
        <p:nvSpPr>
          <p:cNvPr id="47" name="Text 45"/>
          <p:cNvSpPr/>
          <p:nvPr/>
        </p:nvSpPr>
        <p:spPr>
          <a:xfrm>
            <a:off x="3822192" y="3931920"/>
            <a:ext cx="1627632" cy="201168"/>
          </a:xfrm>
          <a:prstGeom prst="rect">
            <a:avLst/>
          </a:prstGeom>
          <a:noFill/>
          <a:ln/>
        </p:spPr>
        <p:txBody>
          <a:bodyPr wrap="square" lIns="0" tIns="0" rIns="0" bIns="0" rtlCol="0" anchor="ctr"/>
          <a:lstStyle/>
          <a:p>
            <a:pPr indent="0" marL="0">
              <a:buNone/>
            </a:pPr>
            <a:r>
              <a:rPr lang="en-US" sz="800" b="1" dirty="0">
                <a:solidFill>
                  <a:srgbClr val="0A2540"/>
                </a:solidFill>
                <a:latin typeface="Calibri" pitchFamily="34" charset="0"/>
                <a:ea typeface="Calibri" pitchFamily="34" charset="-122"/>
                <a:cs typeface="Calibri" pitchFamily="34" charset="-120"/>
              </a:rPr>
              <a:t>•  Monitoring &amp; LLMOps</a:t>
            </a:r>
            <a:endParaRPr lang="en-US" sz="800" dirty="0"/>
          </a:p>
        </p:txBody>
      </p:sp>
      <p:sp>
        <p:nvSpPr>
          <p:cNvPr id="48" name="Text 46"/>
          <p:cNvSpPr/>
          <p:nvPr/>
        </p:nvSpPr>
        <p:spPr>
          <a:xfrm>
            <a:off x="3950208" y="4133088"/>
            <a:ext cx="1499616" cy="329184"/>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Tracking cost, quality, safety</a:t>
            </a:r>
            <a:endParaRPr lang="en-US" sz="750" dirty="0"/>
          </a:p>
        </p:txBody>
      </p:sp>
      <p:sp>
        <p:nvSpPr>
          <p:cNvPr id="49" name="Text 47"/>
          <p:cNvSpPr/>
          <p:nvPr/>
        </p:nvSpPr>
        <p:spPr>
          <a:xfrm>
            <a:off x="5477256" y="3931920"/>
            <a:ext cx="1627632" cy="201168"/>
          </a:xfrm>
          <a:prstGeom prst="rect">
            <a:avLst/>
          </a:prstGeom>
          <a:noFill/>
          <a:ln/>
        </p:spPr>
        <p:txBody>
          <a:bodyPr wrap="square" lIns="0" tIns="0" rIns="0" bIns="0" rtlCol="0" anchor="ctr"/>
          <a:lstStyle/>
          <a:p>
            <a:pPr indent="0" marL="0">
              <a:buNone/>
            </a:pPr>
            <a:r>
              <a:rPr lang="en-US" sz="800" b="1" dirty="0">
                <a:solidFill>
                  <a:srgbClr val="0A2540"/>
                </a:solidFill>
                <a:latin typeface="Calibri" pitchFamily="34" charset="0"/>
                <a:ea typeface="Calibri" pitchFamily="34" charset="-122"/>
                <a:cs typeface="Calibri" pitchFamily="34" charset="-120"/>
              </a:rPr>
              <a:t>•  Governance &amp; compliance</a:t>
            </a:r>
            <a:endParaRPr lang="en-US" sz="800" dirty="0"/>
          </a:p>
        </p:txBody>
      </p:sp>
      <p:sp>
        <p:nvSpPr>
          <p:cNvPr id="50" name="Text 48"/>
          <p:cNvSpPr/>
          <p:nvPr/>
        </p:nvSpPr>
        <p:spPr>
          <a:xfrm>
            <a:off x="5605272" y="4133088"/>
            <a:ext cx="1499616" cy="329184"/>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Review, audit, legal sign-off</a:t>
            </a:r>
            <a:endParaRPr lang="en-US" sz="750" dirty="0"/>
          </a:p>
        </p:txBody>
      </p:sp>
      <p:sp>
        <p:nvSpPr>
          <p:cNvPr id="51" name="Text 49"/>
          <p:cNvSpPr/>
          <p:nvPr/>
        </p:nvSpPr>
        <p:spPr>
          <a:xfrm>
            <a:off x="7132320" y="3931920"/>
            <a:ext cx="1627632" cy="201168"/>
          </a:xfrm>
          <a:prstGeom prst="rect">
            <a:avLst/>
          </a:prstGeom>
          <a:noFill/>
          <a:ln/>
        </p:spPr>
        <p:txBody>
          <a:bodyPr wrap="square" lIns="0" tIns="0" rIns="0" bIns="0" rtlCol="0" anchor="ctr"/>
          <a:lstStyle/>
          <a:p>
            <a:pPr indent="0" marL="0">
              <a:buNone/>
            </a:pPr>
            <a:r>
              <a:rPr lang="en-US" sz="800" b="1" dirty="0">
                <a:solidFill>
                  <a:srgbClr val="0A2540"/>
                </a:solidFill>
                <a:latin typeface="Calibri" pitchFamily="34" charset="0"/>
                <a:ea typeface="Calibri" pitchFamily="34" charset="-122"/>
                <a:cs typeface="Calibri" pitchFamily="34" charset="-120"/>
              </a:rPr>
              <a:t>•  Change management &amp; training</a:t>
            </a:r>
            <a:endParaRPr lang="en-US" sz="800" dirty="0"/>
          </a:p>
        </p:txBody>
      </p:sp>
      <p:sp>
        <p:nvSpPr>
          <p:cNvPr id="52" name="Text 50"/>
          <p:cNvSpPr/>
          <p:nvPr/>
        </p:nvSpPr>
        <p:spPr>
          <a:xfrm>
            <a:off x="7260336" y="4133088"/>
            <a:ext cx="1499616" cy="329184"/>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Getting people to actually use it</a:t>
            </a:r>
            <a:endParaRPr lang="en-US" sz="750" dirty="0"/>
          </a:p>
        </p:txBody>
      </p:sp>
      <p:sp>
        <p:nvSpPr>
          <p:cNvPr id="53" name="Shape 51"/>
          <p:cNvSpPr/>
          <p:nvPr/>
        </p:nvSpPr>
        <p:spPr>
          <a:xfrm>
            <a:off x="365760" y="4572000"/>
            <a:ext cx="8412480" cy="457200"/>
          </a:xfrm>
          <a:prstGeom prst="rect">
            <a:avLst/>
          </a:prstGeom>
          <a:solidFill>
            <a:srgbClr val="EDF1F7"/>
          </a:solidFill>
          <a:ln/>
        </p:spPr>
      </p:sp>
      <p:sp>
        <p:nvSpPr>
          <p:cNvPr id="54" name="Shape 52"/>
          <p:cNvSpPr/>
          <p:nvPr/>
        </p:nvSpPr>
        <p:spPr>
          <a:xfrm>
            <a:off x="365760" y="4572000"/>
            <a:ext cx="36576" cy="457200"/>
          </a:xfrm>
          <a:prstGeom prst="rect">
            <a:avLst/>
          </a:prstGeom>
          <a:solidFill>
            <a:srgbClr val="B8860B"/>
          </a:solidFill>
          <a:ln/>
        </p:spPr>
      </p:sp>
      <p:sp>
        <p:nvSpPr>
          <p:cNvPr id="55" name="Text 53"/>
          <p:cNvSpPr/>
          <p:nvPr/>
        </p:nvSpPr>
        <p:spPr>
          <a:xfrm>
            <a:off x="530352" y="4608576"/>
            <a:ext cx="1371600" cy="164592"/>
          </a:xfrm>
          <a:prstGeom prst="rect">
            <a:avLst/>
          </a:prstGeom>
          <a:noFill/>
          <a:ln/>
        </p:spPr>
        <p:txBody>
          <a:bodyPr wrap="square" lIns="0" tIns="0" rIns="0" bIns="0" rtlCol="0" anchor="ctr"/>
          <a:lstStyle/>
          <a:p>
            <a:pPr indent="0" marL="0">
              <a:buNone/>
            </a:pPr>
            <a:r>
              <a:rPr lang="en-US" sz="750" b="1" spc="150" kern="0" dirty="0">
                <a:solidFill>
                  <a:srgbClr val="B8860B"/>
                </a:solidFill>
                <a:latin typeface="Calibri" pitchFamily="34" charset="0"/>
                <a:ea typeface="Calibri" pitchFamily="34" charset="-122"/>
                <a:cs typeface="Calibri" pitchFamily="34" charset="-120"/>
              </a:rPr>
              <a:t>FOR LEADERS</a:t>
            </a:r>
            <a:endParaRPr lang="en-US" sz="750" dirty="0"/>
          </a:p>
        </p:txBody>
      </p:sp>
      <p:sp>
        <p:nvSpPr>
          <p:cNvPr id="56" name="Text 54"/>
          <p:cNvSpPr/>
          <p:nvPr/>
        </p:nvSpPr>
        <p:spPr>
          <a:xfrm>
            <a:off x="530352" y="4773168"/>
            <a:ext cx="8183880" cy="237744"/>
          </a:xfrm>
          <a:prstGeom prst="rect">
            <a:avLst/>
          </a:prstGeom>
          <a:noFill/>
          <a:ln/>
        </p:spPr>
        <p:txBody>
          <a:bodyPr wrap="square" lIns="0" tIns="0" rIns="0" bIns="0" rtlCol="0" anchor="ctr"/>
          <a:lstStyle/>
          <a:p>
            <a:pPr indent="0" marL="0">
              <a:buNone/>
            </a:pPr>
            <a:r>
              <a:rPr lang="en-US" sz="950" dirty="0">
                <a:solidFill>
                  <a:srgbClr val="0A2540"/>
                </a:solidFill>
                <a:latin typeface="Calibri" pitchFamily="34" charset="0"/>
                <a:ea typeface="Calibri" pitchFamily="34" charset="-122"/>
                <a:cs typeface="Calibri" pitchFamily="34" charset="-120"/>
              </a:rPr>
              <a:t>The API bill is often the smallest line item. Budget for integration, governance, and change management — typically 60–80% of total AI programme cost.</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B8860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CH 06</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CASE STUDY — KLARNA'S AI CUSTOMER SERVICE ASSISTANT</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Text 5"/>
          <p:cNvSpPr/>
          <p:nvPr/>
        </p:nvSpPr>
        <p:spPr>
          <a:xfrm>
            <a:off x="365760" y="768096"/>
            <a:ext cx="8412480" cy="219456"/>
          </a:xfrm>
          <a:prstGeom prst="rect">
            <a:avLst/>
          </a:prstGeom>
          <a:noFill/>
          <a:ln/>
        </p:spPr>
        <p:txBody>
          <a:bodyPr wrap="square" lIns="0" tIns="0" rIns="0" bIns="0" rtlCol="0" anchor="ctr"/>
          <a:lstStyle/>
          <a:p>
            <a:pPr indent="0" marL="0">
              <a:buNone/>
            </a:pPr>
            <a:r>
              <a:rPr lang="en-US" sz="1000" i="1" dirty="0">
                <a:solidFill>
                  <a:srgbClr val="47596B"/>
                </a:solidFill>
                <a:latin typeface="Calibri" pitchFamily="34" charset="0"/>
                <a:ea typeface="Calibri" pitchFamily="34" charset="-122"/>
                <a:cs typeface="Calibri" pitchFamily="34" charset="-120"/>
              </a:rPr>
              <a:t>A real, public deployment showing the full picture: investment, results, and the strategic lesson.</a:t>
            </a:r>
            <a:endParaRPr lang="en-US" sz="1000" dirty="0"/>
          </a:p>
        </p:txBody>
      </p:sp>
      <p:sp>
        <p:nvSpPr>
          <p:cNvPr id="8" name="Shape 6"/>
          <p:cNvSpPr/>
          <p:nvPr/>
        </p:nvSpPr>
        <p:spPr>
          <a:xfrm>
            <a:off x="365760" y="1097280"/>
            <a:ext cx="1975104" cy="1097280"/>
          </a:xfrm>
          <a:prstGeom prst="rect">
            <a:avLst/>
          </a:prstGeom>
          <a:solidFill>
            <a:srgbClr val="0A2540"/>
          </a:solidFill>
          <a:ln/>
          <a:effectLst>
            <a:outerShdw sx="100000" sy="100000" kx="0" ky="0" algn="bl" rotWithShape="0" blurRad="152400" dist="38100" dir="8100000">
              <a:srgbClr val="000000">
                <a:alpha val="6000"/>
              </a:srgbClr>
            </a:outerShdw>
          </a:effectLst>
        </p:spPr>
      </p:sp>
      <p:sp>
        <p:nvSpPr>
          <p:cNvPr id="9" name="Shape 7"/>
          <p:cNvSpPr/>
          <p:nvPr/>
        </p:nvSpPr>
        <p:spPr>
          <a:xfrm>
            <a:off x="365760" y="1097280"/>
            <a:ext cx="1975104" cy="36576"/>
          </a:xfrm>
          <a:prstGeom prst="rect">
            <a:avLst/>
          </a:prstGeom>
          <a:solidFill>
            <a:srgbClr val="B8860B"/>
          </a:solidFill>
          <a:ln/>
        </p:spPr>
      </p:sp>
      <p:sp>
        <p:nvSpPr>
          <p:cNvPr id="10" name="Text 8"/>
          <p:cNvSpPr/>
          <p:nvPr/>
        </p:nvSpPr>
        <p:spPr>
          <a:xfrm>
            <a:off x="365760" y="1225296"/>
            <a:ext cx="1975104" cy="457200"/>
          </a:xfrm>
          <a:prstGeom prst="rect">
            <a:avLst/>
          </a:prstGeom>
          <a:noFill/>
          <a:ln/>
        </p:spPr>
        <p:txBody>
          <a:bodyPr wrap="square" lIns="0" tIns="0" rIns="0" bIns="0" rtlCol="0" anchor="ctr"/>
          <a:lstStyle/>
          <a:p>
            <a:pPr algn="ctr" indent="0" marL="0">
              <a:buNone/>
            </a:pPr>
            <a:r>
              <a:rPr lang="en-US" sz="2600" b="1" dirty="0">
                <a:solidFill>
                  <a:srgbClr val="B8860B"/>
                </a:solidFill>
                <a:latin typeface="Calibri" pitchFamily="34" charset="0"/>
                <a:ea typeface="Calibri" pitchFamily="34" charset="-122"/>
                <a:cs typeface="Calibri" pitchFamily="34" charset="-120"/>
              </a:rPr>
              <a:t>2.3M</a:t>
            </a:r>
            <a:endParaRPr lang="en-US" sz="2600" dirty="0"/>
          </a:p>
        </p:txBody>
      </p:sp>
      <p:sp>
        <p:nvSpPr>
          <p:cNvPr id="11" name="Text 9"/>
          <p:cNvSpPr/>
          <p:nvPr/>
        </p:nvSpPr>
        <p:spPr>
          <a:xfrm>
            <a:off x="438912" y="1700784"/>
            <a:ext cx="1828800" cy="420624"/>
          </a:xfrm>
          <a:prstGeom prst="rect">
            <a:avLst/>
          </a:prstGeom>
          <a:noFill/>
          <a:ln/>
        </p:spPr>
        <p:txBody>
          <a:bodyPr wrap="square" lIns="0" tIns="0" rIns="0" bIns="0" rtlCol="0" anchor="ctr"/>
          <a:lstStyle/>
          <a:p>
            <a:pPr algn="ctr" indent="0" marL="0">
              <a:buNone/>
            </a:pPr>
            <a:r>
              <a:rPr lang="en-US" sz="850" dirty="0">
                <a:solidFill>
                  <a:srgbClr val="EDF1F7"/>
                </a:solidFill>
                <a:latin typeface="Calibri" pitchFamily="34" charset="0"/>
                <a:ea typeface="Calibri" pitchFamily="34" charset="-122"/>
                <a:cs typeface="Calibri" pitchFamily="34" charset="-120"/>
              </a:rPr>
              <a:t>Conversations handled</a:t>
            </a:r>
            <a:endParaRPr lang="en-US" sz="850" dirty="0"/>
          </a:p>
          <a:p>
            <a:pPr algn="ctr" indent="0" marL="0">
              <a:buNone/>
            </a:pPr>
            <a:r>
              <a:rPr lang="en-US" sz="850" dirty="0">
                <a:solidFill>
                  <a:srgbClr val="EDF1F7"/>
                </a:solidFill>
                <a:latin typeface="Calibri" pitchFamily="34" charset="0"/>
                <a:ea typeface="Calibri" pitchFamily="34" charset="-122"/>
                <a:cs typeface="Calibri" pitchFamily="34" charset="-120"/>
              </a:rPr>
              <a:t>per month</a:t>
            </a:r>
            <a:endParaRPr lang="en-US" sz="850" dirty="0"/>
          </a:p>
        </p:txBody>
      </p:sp>
      <p:sp>
        <p:nvSpPr>
          <p:cNvPr id="12" name="Shape 10"/>
          <p:cNvSpPr/>
          <p:nvPr/>
        </p:nvSpPr>
        <p:spPr>
          <a:xfrm>
            <a:off x="2487168" y="1097280"/>
            <a:ext cx="1975104" cy="1097280"/>
          </a:xfrm>
          <a:prstGeom prst="rect">
            <a:avLst/>
          </a:prstGeom>
          <a:solidFill>
            <a:srgbClr val="0A2540"/>
          </a:solidFill>
          <a:ln/>
          <a:effectLst>
            <a:outerShdw sx="100000" sy="100000" kx="0" ky="0" algn="bl" rotWithShape="0" blurRad="152400" dist="38100" dir="8100000">
              <a:srgbClr val="000000">
                <a:alpha val="6000"/>
              </a:srgbClr>
            </a:outerShdw>
          </a:effectLst>
        </p:spPr>
      </p:sp>
      <p:sp>
        <p:nvSpPr>
          <p:cNvPr id="13" name="Shape 11"/>
          <p:cNvSpPr/>
          <p:nvPr/>
        </p:nvSpPr>
        <p:spPr>
          <a:xfrm>
            <a:off x="2487168" y="1097280"/>
            <a:ext cx="1975104" cy="36576"/>
          </a:xfrm>
          <a:prstGeom prst="rect">
            <a:avLst/>
          </a:prstGeom>
          <a:solidFill>
            <a:srgbClr val="B8860B"/>
          </a:solidFill>
          <a:ln/>
        </p:spPr>
      </p:sp>
      <p:sp>
        <p:nvSpPr>
          <p:cNvPr id="14" name="Text 12"/>
          <p:cNvSpPr/>
          <p:nvPr/>
        </p:nvSpPr>
        <p:spPr>
          <a:xfrm>
            <a:off x="2487168" y="1225296"/>
            <a:ext cx="1975104" cy="457200"/>
          </a:xfrm>
          <a:prstGeom prst="rect">
            <a:avLst/>
          </a:prstGeom>
          <a:noFill/>
          <a:ln/>
        </p:spPr>
        <p:txBody>
          <a:bodyPr wrap="square" lIns="0" tIns="0" rIns="0" bIns="0" rtlCol="0" anchor="ctr"/>
          <a:lstStyle/>
          <a:p>
            <a:pPr algn="ctr" indent="0" marL="0">
              <a:buNone/>
            </a:pPr>
            <a:r>
              <a:rPr lang="en-US" sz="2600" b="1" dirty="0">
                <a:solidFill>
                  <a:srgbClr val="B8860B"/>
                </a:solidFill>
                <a:latin typeface="Calibri" pitchFamily="34" charset="0"/>
                <a:ea typeface="Calibri" pitchFamily="34" charset="-122"/>
                <a:cs typeface="Calibri" pitchFamily="34" charset="-120"/>
              </a:rPr>
              <a:t>700</a:t>
            </a:r>
            <a:endParaRPr lang="en-US" sz="2600" dirty="0"/>
          </a:p>
        </p:txBody>
      </p:sp>
      <p:sp>
        <p:nvSpPr>
          <p:cNvPr id="15" name="Text 13"/>
          <p:cNvSpPr/>
          <p:nvPr/>
        </p:nvSpPr>
        <p:spPr>
          <a:xfrm>
            <a:off x="2560320" y="1700784"/>
            <a:ext cx="1828800" cy="420624"/>
          </a:xfrm>
          <a:prstGeom prst="rect">
            <a:avLst/>
          </a:prstGeom>
          <a:noFill/>
          <a:ln/>
        </p:spPr>
        <p:txBody>
          <a:bodyPr wrap="square" lIns="0" tIns="0" rIns="0" bIns="0" rtlCol="0" anchor="ctr"/>
          <a:lstStyle/>
          <a:p>
            <a:pPr algn="ctr" indent="0" marL="0">
              <a:buNone/>
            </a:pPr>
            <a:r>
              <a:rPr lang="en-US" sz="850" dirty="0">
                <a:solidFill>
                  <a:srgbClr val="EDF1F7"/>
                </a:solidFill>
                <a:latin typeface="Calibri" pitchFamily="34" charset="0"/>
                <a:ea typeface="Calibri" pitchFamily="34" charset="-122"/>
                <a:cs typeface="Calibri" pitchFamily="34" charset="-120"/>
              </a:rPr>
              <a:t>Full-time agents'</a:t>
            </a:r>
            <a:endParaRPr lang="en-US" sz="850" dirty="0"/>
          </a:p>
          <a:p>
            <a:pPr algn="ctr" indent="0" marL="0">
              <a:buNone/>
            </a:pPr>
            <a:r>
              <a:rPr lang="en-US" sz="850" dirty="0">
                <a:solidFill>
                  <a:srgbClr val="EDF1F7"/>
                </a:solidFill>
                <a:latin typeface="Calibri" pitchFamily="34" charset="0"/>
                <a:ea typeface="Calibri" pitchFamily="34" charset="-122"/>
                <a:cs typeface="Calibri" pitchFamily="34" charset="-120"/>
              </a:rPr>
              <a:t>work equivalent</a:t>
            </a:r>
            <a:endParaRPr lang="en-US" sz="850" dirty="0"/>
          </a:p>
        </p:txBody>
      </p:sp>
      <p:sp>
        <p:nvSpPr>
          <p:cNvPr id="16" name="Shape 14"/>
          <p:cNvSpPr/>
          <p:nvPr/>
        </p:nvSpPr>
        <p:spPr>
          <a:xfrm>
            <a:off x="4608576" y="1097280"/>
            <a:ext cx="1975104" cy="1097280"/>
          </a:xfrm>
          <a:prstGeom prst="rect">
            <a:avLst/>
          </a:prstGeom>
          <a:solidFill>
            <a:srgbClr val="0A2540"/>
          </a:solidFill>
          <a:ln/>
          <a:effectLst>
            <a:outerShdw sx="100000" sy="100000" kx="0" ky="0" algn="bl" rotWithShape="0" blurRad="152400" dist="38100" dir="8100000">
              <a:srgbClr val="000000">
                <a:alpha val="6000"/>
              </a:srgbClr>
            </a:outerShdw>
          </a:effectLst>
        </p:spPr>
      </p:sp>
      <p:sp>
        <p:nvSpPr>
          <p:cNvPr id="17" name="Shape 15"/>
          <p:cNvSpPr/>
          <p:nvPr/>
        </p:nvSpPr>
        <p:spPr>
          <a:xfrm>
            <a:off x="4608576" y="1097280"/>
            <a:ext cx="1975104" cy="36576"/>
          </a:xfrm>
          <a:prstGeom prst="rect">
            <a:avLst/>
          </a:prstGeom>
          <a:solidFill>
            <a:srgbClr val="B8860B"/>
          </a:solidFill>
          <a:ln/>
        </p:spPr>
      </p:sp>
      <p:sp>
        <p:nvSpPr>
          <p:cNvPr id="18" name="Text 16"/>
          <p:cNvSpPr/>
          <p:nvPr/>
        </p:nvSpPr>
        <p:spPr>
          <a:xfrm>
            <a:off x="4608576" y="1225296"/>
            <a:ext cx="1975104" cy="457200"/>
          </a:xfrm>
          <a:prstGeom prst="rect">
            <a:avLst/>
          </a:prstGeom>
          <a:noFill/>
          <a:ln/>
        </p:spPr>
        <p:txBody>
          <a:bodyPr wrap="square" lIns="0" tIns="0" rIns="0" bIns="0" rtlCol="0" anchor="ctr"/>
          <a:lstStyle/>
          <a:p>
            <a:pPr algn="ctr" indent="0" marL="0">
              <a:buNone/>
            </a:pPr>
            <a:r>
              <a:rPr lang="en-US" sz="2600" b="1" dirty="0">
                <a:solidFill>
                  <a:srgbClr val="B8860B"/>
                </a:solidFill>
                <a:latin typeface="Calibri" pitchFamily="34" charset="0"/>
                <a:ea typeface="Calibri" pitchFamily="34" charset="-122"/>
                <a:cs typeface="Calibri" pitchFamily="34" charset="-120"/>
              </a:rPr>
              <a:t>2/3</a:t>
            </a:r>
            <a:endParaRPr lang="en-US" sz="2600" dirty="0"/>
          </a:p>
        </p:txBody>
      </p:sp>
      <p:sp>
        <p:nvSpPr>
          <p:cNvPr id="19" name="Text 17"/>
          <p:cNvSpPr/>
          <p:nvPr/>
        </p:nvSpPr>
        <p:spPr>
          <a:xfrm>
            <a:off x="4681728" y="1700784"/>
            <a:ext cx="1828800" cy="420624"/>
          </a:xfrm>
          <a:prstGeom prst="rect">
            <a:avLst/>
          </a:prstGeom>
          <a:noFill/>
          <a:ln/>
        </p:spPr>
        <p:txBody>
          <a:bodyPr wrap="square" lIns="0" tIns="0" rIns="0" bIns="0" rtlCol="0" anchor="ctr"/>
          <a:lstStyle/>
          <a:p>
            <a:pPr algn="ctr" indent="0" marL="0">
              <a:buNone/>
            </a:pPr>
            <a:r>
              <a:rPr lang="en-US" sz="850" dirty="0">
                <a:solidFill>
                  <a:srgbClr val="EDF1F7"/>
                </a:solidFill>
                <a:latin typeface="Calibri" pitchFamily="34" charset="0"/>
                <a:ea typeface="Calibri" pitchFamily="34" charset="-122"/>
                <a:cs typeface="Calibri" pitchFamily="34" charset="-120"/>
              </a:rPr>
              <a:t>Of all customer</a:t>
            </a:r>
            <a:endParaRPr lang="en-US" sz="850" dirty="0"/>
          </a:p>
          <a:p>
            <a:pPr algn="ctr" indent="0" marL="0">
              <a:buNone/>
            </a:pPr>
            <a:r>
              <a:rPr lang="en-US" sz="850" dirty="0">
                <a:solidFill>
                  <a:srgbClr val="EDF1F7"/>
                </a:solidFill>
                <a:latin typeface="Calibri" pitchFamily="34" charset="0"/>
                <a:ea typeface="Calibri" pitchFamily="34" charset="-122"/>
                <a:cs typeface="Calibri" pitchFamily="34" charset="-120"/>
              </a:rPr>
              <a:t>service chats</a:t>
            </a:r>
            <a:endParaRPr lang="en-US" sz="850" dirty="0"/>
          </a:p>
        </p:txBody>
      </p:sp>
      <p:sp>
        <p:nvSpPr>
          <p:cNvPr id="20" name="Shape 18"/>
          <p:cNvSpPr/>
          <p:nvPr/>
        </p:nvSpPr>
        <p:spPr>
          <a:xfrm>
            <a:off x="6729984" y="1097280"/>
            <a:ext cx="1975104" cy="1097280"/>
          </a:xfrm>
          <a:prstGeom prst="rect">
            <a:avLst/>
          </a:prstGeom>
          <a:solidFill>
            <a:srgbClr val="0A2540"/>
          </a:solidFill>
          <a:ln/>
          <a:effectLst>
            <a:outerShdw sx="100000" sy="100000" kx="0" ky="0" algn="bl" rotWithShape="0" blurRad="152400" dist="38100" dir="8100000">
              <a:srgbClr val="000000">
                <a:alpha val="6000"/>
              </a:srgbClr>
            </a:outerShdw>
          </a:effectLst>
        </p:spPr>
      </p:sp>
      <p:sp>
        <p:nvSpPr>
          <p:cNvPr id="21" name="Shape 19"/>
          <p:cNvSpPr/>
          <p:nvPr/>
        </p:nvSpPr>
        <p:spPr>
          <a:xfrm>
            <a:off x="6729984" y="1097280"/>
            <a:ext cx="1975104" cy="36576"/>
          </a:xfrm>
          <a:prstGeom prst="rect">
            <a:avLst/>
          </a:prstGeom>
          <a:solidFill>
            <a:srgbClr val="B8860B"/>
          </a:solidFill>
          <a:ln/>
        </p:spPr>
      </p:sp>
      <p:sp>
        <p:nvSpPr>
          <p:cNvPr id="22" name="Text 20"/>
          <p:cNvSpPr/>
          <p:nvPr/>
        </p:nvSpPr>
        <p:spPr>
          <a:xfrm>
            <a:off x="6729984" y="1225296"/>
            <a:ext cx="1975104" cy="457200"/>
          </a:xfrm>
          <a:prstGeom prst="rect">
            <a:avLst/>
          </a:prstGeom>
          <a:noFill/>
          <a:ln/>
        </p:spPr>
        <p:txBody>
          <a:bodyPr wrap="square" lIns="0" tIns="0" rIns="0" bIns="0" rtlCol="0" anchor="ctr"/>
          <a:lstStyle/>
          <a:p>
            <a:pPr algn="ctr" indent="0" marL="0">
              <a:buNone/>
            </a:pPr>
            <a:r>
              <a:rPr lang="en-US" sz="2600" b="1" dirty="0">
                <a:solidFill>
                  <a:srgbClr val="B8860B"/>
                </a:solidFill>
                <a:latin typeface="Calibri" pitchFamily="34" charset="0"/>
                <a:ea typeface="Calibri" pitchFamily="34" charset="-122"/>
                <a:cs typeface="Calibri" pitchFamily="34" charset="-120"/>
              </a:rPr>
              <a:t>$40M</a:t>
            </a:r>
            <a:endParaRPr lang="en-US" sz="2600" dirty="0"/>
          </a:p>
        </p:txBody>
      </p:sp>
      <p:sp>
        <p:nvSpPr>
          <p:cNvPr id="23" name="Text 21"/>
          <p:cNvSpPr/>
          <p:nvPr/>
        </p:nvSpPr>
        <p:spPr>
          <a:xfrm>
            <a:off x="6803136" y="1700784"/>
            <a:ext cx="1828800" cy="420624"/>
          </a:xfrm>
          <a:prstGeom prst="rect">
            <a:avLst/>
          </a:prstGeom>
          <a:noFill/>
          <a:ln/>
        </p:spPr>
        <p:txBody>
          <a:bodyPr wrap="square" lIns="0" tIns="0" rIns="0" bIns="0" rtlCol="0" anchor="ctr"/>
          <a:lstStyle/>
          <a:p>
            <a:pPr algn="ctr" indent="0" marL="0">
              <a:buNone/>
            </a:pPr>
            <a:r>
              <a:rPr lang="en-US" sz="850" dirty="0">
                <a:solidFill>
                  <a:srgbClr val="EDF1F7"/>
                </a:solidFill>
                <a:latin typeface="Calibri" pitchFamily="34" charset="0"/>
                <a:ea typeface="Calibri" pitchFamily="34" charset="-122"/>
                <a:cs typeface="Calibri" pitchFamily="34" charset="-120"/>
              </a:rPr>
              <a:t>Projected annual</a:t>
            </a:r>
            <a:endParaRPr lang="en-US" sz="850" dirty="0"/>
          </a:p>
          <a:p>
            <a:pPr algn="ctr" indent="0" marL="0">
              <a:buNone/>
            </a:pPr>
            <a:r>
              <a:rPr lang="en-US" sz="850" dirty="0">
                <a:solidFill>
                  <a:srgbClr val="EDF1F7"/>
                </a:solidFill>
                <a:latin typeface="Calibri" pitchFamily="34" charset="0"/>
                <a:ea typeface="Calibri" pitchFamily="34" charset="-122"/>
                <a:cs typeface="Calibri" pitchFamily="34" charset="-120"/>
              </a:rPr>
              <a:t>profit improvement</a:t>
            </a:r>
            <a:endParaRPr lang="en-US" sz="850" dirty="0"/>
          </a:p>
        </p:txBody>
      </p:sp>
      <p:sp>
        <p:nvSpPr>
          <p:cNvPr id="24" name="Shape 22"/>
          <p:cNvSpPr/>
          <p:nvPr/>
        </p:nvSpPr>
        <p:spPr>
          <a:xfrm>
            <a:off x="365760" y="2340864"/>
            <a:ext cx="2615184" cy="2176272"/>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25" name="Shape 23"/>
          <p:cNvSpPr/>
          <p:nvPr/>
        </p:nvSpPr>
        <p:spPr>
          <a:xfrm>
            <a:off x="365760" y="2340864"/>
            <a:ext cx="2615184" cy="365760"/>
          </a:xfrm>
          <a:prstGeom prst="rect">
            <a:avLst/>
          </a:prstGeom>
          <a:solidFill>
            <a:srgbClr val="2E5266"/>
          </a:solidFill>
          <a:ln/>
        </p:spPr>
      </p:sp>
      <p:sp>
        <p:nvSpPr>
          <p:cNvPr id="26" name="Text 24"/>
          <p:cNvSpPr/>
          <p:nvPr/>
        </p:nvSpPr>
        <p:spPr>
          <a:xfrm>
            <a:off x="475488" y="2368296"/>
            <a:ext cx="2395728" cy="310896"/>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WHAT THEY DID</a:t>
            </a:r>
            <a:endParaRPr lang="en-US" sz="1000" dirty="0"/>
          </a:p>
        </p:txBody>
      </p:sp>
      <p:sp>
        <p:nvSpPr>
          <p:cNvPr id="27" name="Shape 25"/>
          <p:cNvSpPr/>
          <p:nvPr/>
        </p:nvSpPr>
        <p:spPr>
          <a:xfrm>
            <a:off x="493776" y="2852928"/>
            <a:ext cx="36576" cy="36576"/>
          </a:xfrm>
          <a:prstGeom prst="rect">
            <a:avLst/>
          </a:prstGeom>
          <a:solidFill>
            <a:srgbClr val="2E5266"/>
          </a:solidFill>
          <a:ln/>
        </p:spPr>
      </p:sp>
      <p:sp>
        <p:nvSpPr>
          <p:cNvPr id="28" name="Text 26"/>
          <p:cNvSpPr/>
          <p:nvPr/>
        </p:nvSpPr>
        <p:spPr>
          <a:xfrm>
            <a:off x="585216" y="2779776"/>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Deployed an AI assistant powered by OpenAI</a:t>
            </a:r>
            <a:endParaRPr lang="en-US" sz="850" dirty="0"/>
          </a:p>
        </p:txBody>
      </p:sp>
      <p:sp>
        <p:nvSpPr>
          <p:cNvPr id="29" name="Shape 27"/>
          <p:cNvSpPr/>
          <p:nvPr/>
        </p:nvSpPr>
        <p:spPr>
          <a:xfrm>
            <a:off x="493776" y="3255264"/>
            <a:ext cx="36576" cy="36576"/>
          </a:xfrm>
          <a:prstGeom prst="rect">
            <a:avLst/>
          </a:prstGeom>
          <a:solidFill>
            <a:srgbClr val="2E5266"/>
          </a:solidFill>
          <a:ln/>
        </p:spPr>
      </p:sp>
      <p:sp>
        <p:nvSpPr>
          <p:cNvPr id="30" name="Text 28"/>
          <p:cNvSpPr/>
          <p:nvPr/>
        </p:nvSpPr>
        <p:spPr>
          <a:xfrm>
            <a:off x="585216" y="3182112"/>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Handles refunds, returns, payments, disputes</a:t>
            </a:r>
            <a:endParaRPr lang="en-US" sz="850" dirty="0"/>
          </a:p>
        </p:txBody>
      </p:sp>
      <p:sp>
        <p:nvSpPr>
          <p:cNvPr id="31" name="Shape 29"/>
          <p:cNvSpPr/>
          <p:nvPr/>
        </p:nvSpPr>
        <p:spPr>
          <a:xfrm>
            <a:off x="493776" y="3657600"/>
            <a:ext cx="36576" cy="36576"/>
          </a:xfrm>
          <a:prstGeom prst="rect">
            <a:avLst/>
          </a:prstGeom>
          <a:solidFill>
            <a:srgbClr val="2E5266"/>
          </a:solidFill>
          <a:ln/>
        </p:spPr>
      </p:sp>
      <p:sp>
        <p:nvSpPr>
          <p:cNvPr id="32" name="Text 30"/>
          <p:cNvSpPr/>
          <p:nvPr/>
        </p:nvSpPr>
        <p:spPr>
          <a:xfrm>
            <a:off x="585216" y="3584448"/>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Live in 23 markets, 35+ languages</a:t>
            </a:r>
            <a:endParaRPr lang="en-US" sz="850" dirty="0"/>
          </a:p>
        </p:txBody>
      </p:sp>
      <p:sp>
        <p:nvSpPr>
          <p:cNvPr id="33" name="Shape 31"/>
          <p:cNvSpPr/>
          <p:nvPr/>
        </p:nvSpPr>
        <p:spPr>
          <a:xfrm>
            <a:off x="493776" y="4059936"/>
            <a:ext cx="36576" cy="36576"/>
          </a:xfrm>
          <a:prstGeom prst="rect">
            <a:avLst/>
          </a:prstGeom>
          <a:solidFill>
            <a:srgbClr val="2E5266"/>
          </a:solidFill>
          <a:ln/>
        </p:spPr>
      </p:sp>
      <p:sp>
        <p:nvSpPr>
          <p:cNvPr id="34" name="Text 32"/>
          <p:cNvSpPr/>
          <p:nvPr/>
        </p:nvSpPr>
        <p:spPr>
          <a:xfrm>
            <a:off x="585216" y="3986784"/>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Launched in 2024, scaled in weeks</a:t>
            </a:r>
            <a:endParaRPr lang="en-US" sz="850" dirty="0"/>
          </a:p>
        </p:txBody>
      </p:sp>
      <p:sp>
        <p:nvSpPr>
          <p:cNvPr id="35" name="Shape 33"/>
          <p:cNvSpPr/>
          <p:nvPr/>
        </p:nvSpPr>
        <p:spPr>
          <a:xfrm>
            <a:off x="3172968" y="2340864"/>
            <a:ext cx="2615184" cy="2176272"/>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36" name="Shape 34"/>
          <p:cNvSpPr/>
          <p:nvPr/>
        </p:nvSpPr>
        <p:spPr>
          <a:xfrm>
            <a:off x="3172968" y="2340864"/>
            <a:ext cx="2615184" cy="365760"/>
          </a:xfrm>
          <a:prstGeom prst="rect">
            <a:avLst/>
          </a:prstGeom>
          <a:solidFill>
            <a:srgbClr val="0F766E"/>
          </a:solidFill>
          <a:ln/>
        </p:spPr>
      </p:sp>
      <p:sp>
        <p:nvSpPr>
          <p:cNvPr id="37" name="Text 35"/>
          <p:cNvSpPr/>
          <p:nvPr/>
        </p:nvSpPr>
        <p:spPr>
          <a:xfrm>
            <a:off x="3282696" y="2368296"/>
            <a:ext cx="2395728" cy="310896"/>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THE RESULTS</a:t>
            </a:r>
            <a:endParaRPr lang="en-US" sz="1000" dirty="0"/>
          </a:p>
        </p:txBody>
      </p:sp>
      <p:sp>
        <p:nvSpPr>
          <p:cNvPr id="38" name="Shape 36"/>
          <p:cNvSpPr/>
          <p:nvPr/>
        </p:nvSpPr>
        <p:spPr>
          <a:xfrm>
            <a:off x="3300984" y="2852928"/>
            <a:ext cx="36576" cy="36576"/>
          </a:xfrm>
          <a:prstGeom prst="rect">
            <a:avLst/>
          </a:prstGeom>
          <a:solidFill>
            <a:srgbClr val="0F766E"/>
          </a:solidFill>
          <a:ln/>
        </p:spPr>
      </p:sp>
      <p:sp>
        <p:nvSpPr>
          <p:cNvPr id="39" name="Text 37"/>
          <p:cNvSpPr/>
          <p:nvPr/>
        </p:nvSpPr>
        <p:spPr>
          <a:xfrm>
            <a:off x="3392424" y="2779776"/>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Resolution time: 11 min → under 2 min</a:t>
            </a:r>
            <a:endParaRPr lang="en-US" sz="850" dirty="0"/>
          </a:p>
        </p:txBody>
      </p:sp>
      <p:sp>
        <p:nvSpPr>
          <p:cNvPr id="40" name="Shape 38"/>
          <p:cNvSpPr/>
          <p:nvPr/>
        </p:nvSpPr>
        <p:spPr>
          <a:xfrm>
            <a:off x="3300984" y="3255264"/>
            <a:ext cx="36576" cy="36576"/>
          </a:xfrm>
          <a:prstGeom prst="rect">
            <a:avLst/>
          </a:prstGeom>
          <a:solidFill>
            <a:srgbClr val="0F766E"/>
          </a:solidFill>
          <a:ln/>
        </p:spPr>
      </p:sp>
      <p:sp>
        <p:nvSpPr>
          <p:cNvPr id="41" name="Text 39"/>
          <p:cNvSpPr/>
          <p:nvPr/>
        </p:nvSpPr>
        <p:spPr>
          <a:xfrm>
            <a:off x="3392424" y="3182112"/>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On par with human satisfaction scores</a:t>
            </a:r>
            <a:endParaRPr lang="en-US" sz="850" dirty="0"/>
          </a:p>
        </p:txBody>
      </p:sp>
      <p:sp>
        <p:nvSpPr>
          <p:cNvPr id="42" name="Shape 40"/>
          <p:cNvSpPr/>
          <p:nvPr/>
        </p:nvSpPr>
        <p:spPr>
          <a:xfrm>
            <a:off x="3300984" y="3657600"/>
            <a:ext cx="36576" cy="36576"/>
          </a:xfrm>
          <a:prstGeom prst="rect">
            <a:avLst/>
          </a:prstGeom>
          <a:solidFill>
            <a:srgbClr val="0F766E"/>
          </a:solidFill>
          <a:ln/>
        </p:spPr>
      </p:sp>
      <p:sp>
        <p:nvSpPr>
          <p:cNvPr id="43" name="Text 41"/>
          <p:cNvSpPr/>
          <p:nvPr/>
        </p:nvSpPr>
        <p:spPr>
          <a:xfrm>
            <a:off x="3392424" y="3584448"/>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24% drop in repeat enquiries</a:t>
            </a:r>
            <a:endParaRPr lang="en-US" sz="850" dirty="0"/>
          </a:p>
        </p:txBody>
      </p:sp>
      <p:sp>
        <p:nvSpPr>
          <p:cNvPr id="44" name="Shape 42"/>
          <p:cNvSpPr/>
          <p:nvPr/>
        </p:nvSpPr>
        <p:spPr>
          <a:xfrm>
            <a:off x="3300984" y="4059936"/>
            <a:ext cx="36576" cy="36576"/>
          </a:xfrm>
          <a:prstGeom prst="rect">
            <a:avLst/>
          </a:prstGeom>
          <a:solidFill>
            <a:srgbClr val="0F766E"/>
          </a:solidFill>
          <a:ln/>
        </p:spPr>
      </p:sp>
      <p:sp>
        <p:nvSpPr>
          <p:cNvPr id="45" name="Text 43"/>
          <p:cNvSpPr/>
          <p:nvPr/>
        </p:nvSpPr>
        <p:spPr>
          <a:xfrm>
            <a:off x="3392424" y="3986784"/>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Faster, consistent, always available</a:t>
            </a:r>
            <a:endParaRPr lang="en-US" sz="850" dirty="0"/>
          </a:p>
        </p:txBody>
      </p:sp>
      <p:sp>
        <p:nvSpPr>
          <p:cNvPr id="46" name="Shape 44"/>
          <p:cNvSpPr/>
          <p:nvPr/>
        </p:nvSpPr>
        <p:spPr>
          <a:xfrm>
            <a:off x="5980176" y="2340864"/>
            <a:ext cx="2615184" cy="2176272"/>
          </a:xfrm>
          <a:prstGeom prst="rect">
            <a:avLst/>
          </a:prstGeom>
          <a:solidFill>
            <a:srgbClr val="FAFBFD"/>
          </a:solidFill>
          <a:ln/>
          <a:effectLst>
            <a:outerShdw sx="100000" sy="100000" kx="0" ky="0" algn="bl" rotWithShape="0" blurRad="152400" dist="38100" dir="8100000">
              <a:srgbClr val="000000">
                <a:alpha val="6000"/>
              </a:srgbClr>
            </a:outerShdw>
          </a:effectLst>
        </p:spPr>
      </p:sp>
      <p:sp>
        <p:nvSpPr>
          <p:cNvPr id="47" name="Shape 45"/>
          <p:cNvSpPr/>
          <p:nvPr/>
        </p:nvSpPr>
        <p:spPr>
          <a:xfrm>
            <a:off x="5980176" y="2340864"/>
            <a:ext cx="2615184" cy="365760"/>
          </a:xfrm>
          <a:prstGeom prst="rect">
            <a:avLst/>
          </a:prstGeom>
          <a:solidFill>
            <a:srgbClr val="B8860B"/>
          </a:solidFill>
          <a:ln/>
        </p:spPr>
      </p:sp>
      <p:sp>
        <p:nvSpPr>
          <p:cNvPr id="48" name="Text 46"/>
          <p:cNvSpPr/>
          <p:nvPr/>
        </p:nvSpPr>
        <p:spPr>
          <a:xfrm>
            <a:off x="6089904" y="2368296"/>
            <a:ext cx="2395728" cy="310896"/>
          </a:xfrm>
          <a:prstGeom prst="rect">
            <a:avLst/>
          </a:prstGeom>
          <a:noFill/>
          <a:ln/>
        </p:spPr>
        <p:txBody>
          <a:bodyPr wrap="square" lIns="0" tIns="0" rIns="0" bIns="0" rtlCol="0" anchor="ctr"/>
          <a:lstStyle/>
          <a:p>
            <a:pPr indent="0" marL="0">
              <a:buNone/>
            </a:pPr>
            <a:r>
              <a:rPr lang="en-US" sz="1000" b="1" spc="100" kern="0" dirty="0">
                <a:solidFill>
                  <a:srgbClr val="FFFFFF"/>
                </a:solidFill>
                <a:latin typeface="Calibri" pitchFamily="34" charset="0"/>
                <a:ea typeface="Calibri" pitchFamily="34" charset="-122"/>
                <a:cs typeface="Calibri" pitchFamily="34" charset="-120"/>
              </a:rPr>
              <a:t>THE LESSON</a:t>
            </a:r>
            <a:endParaRPr lang="en-US" sz="1000" dirty="0"/>
          </a:p>
        </p:txBody>
      </p:sp>
      <p:sp>
        <p:nvSpPr>
          <p:cNvPr id="49" name="Shape 47"/>
          <p:cNvSpPr/>
          <p:nvPr/>
        </p:nvSpPr>
        <p:spPr>
          <a:xfrm>
            <a:off x="6108192" y="2852928"/>
            <a:ext cx="36576" cy="36576"/>
          </a:xfrm>
          <a:prstGeom prst="rect">
            <a:avLst/>
          </a:prstGeom>
          <a:solidFill>
            <a:srgbClr val="B8860B"/>
          </a:solidFill>
          <a:ln/>
        </p:spPr>
      </p:sp>
      <p:sp>
        <p:nvSpPr>
          <p:cNvPr id="50" name="Text 48"/>
          <p:cNvSpPr/>
          <p:nvPr/>
        </p:nvSpPr>
        <p:spPr>
          <a:xfrm>
            <a:off x="6199632" y="2779776"/>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Started with ONE high-volume use case</a:t>
            </a:r>
            <a:endParaRPr lang="en-US" sz="850" dirty="0"/>
          </a:p>
        </p:txBody>
      </p:sp>
      <p:sp>
        <p:nvSpPr>
          <p:cNvPr id="51" name="Shape 49"/>
          <p:cNvSpPr/>
          <p:nvPr/>
        </p:nvSpPr>
        <p:spPr>
          <a:xfrm>
            <a:off x="6108192" y="3255264"/>
            <a:ext cx="36576" cy="36576"/>
          </a:xfrm>
          <a:prstGeom prst="rect">
            <a:avLst/>
          </a:prstGeom>
          <a:solidFill>
            <a:srgbClr val="B8860B"/>
          </a:solidFill>
          <a:ln/>
        </p:spPr>
      </p:sp>
      <p:sp>
        <p:nvSpPr>
          <p:cNvPr id="52" name="Text 50"/>
          <p:cNvSpPr/>
          <p:nvPr/>
        </p:nvSpPr>
        <p:spPr>
          <a:xfrm>
            <a:off x="6199632" y="3182112"/>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Measured outcomes from day one</a:t>
            </a:r>
            <a:endParaRPr lang="en-US" sz="850" dirty="0"/>
          </a:p>
        </p:txBody>
      </p:sp>
      <p:sp>
        <p:nvSpPr>
          <p:cNvPr id="53" name="Shape 51"/>
          <p:cNvSpPr/>
          <p:nvPr/>
        </p:nvSpPr>
        <p:spPr>
          <a:xfrm>
            <a:off x="6108192" y="3657600"/>
            <a:ext cx="36576" cy="36576"/>
          </a:xfrm>
          <a:prstGeom prst="rect">
            <a:avLst/>
          </a:prstGeom>
          <a:solidFill>
            <a:srgbClr val="B8860B"/>
          </a:solidFill>
          <a:ln/>
        </p:spPr>
      </p:sp>
      <p:sp>
        <p:nvSpPr>
          <p:cNvPr id="54" name="Text 52"/>
          <p:cNvSpPr/>
          <p:nvPr/>
        </p:nvSpPr>
        <p:spPr>
          <a:xfrm>
            <a:off x="6199632" y="3584448"/>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Kept humans for complex escalations</a:t>
            </a:r>
            <a:endParaRPr lang="en-US" sz="850" dirty="0"/>
          </a:p>
        </p:txBody>
      </p:sp>
      <p:sp>
        <p:nvSpPr>
          <p:cNvPr id="55" name="Shape 53"/>
          <p:cNvSpPr/>
          <p:nvPr/>
        </p:nvSpPr>
        <p:spPr>
          <a:xfrm>
            <a:off x="6108192" y="4059936"/>
            <a:ext cx="36576" cy="36576"/>
          </a:xfrm>
          <a:prstGeom prst="rect">
            <a:avLst/>
          </a:prstGeom>
          <a:solidFill>
            <a:srgbClr val="B8860B"/>
          </a:solidFill>
          <a:ln/>
        </p:spPr>
      </p:sp>
      <p:sp>
        <p:nvSpPr>
          <p:cNvPr id="56" name="Text 54"/>
          <p:cNvSpPr/>
          <p:nvPr/>
        </p:nvSpPr>
        <p:spPr>
          <a:xfrm>
            <a:off x="6199632" y="3986784"/>
            <a:ext cx="2322576" cy="365760"/>
          </a:xfrm>
          <a:prstGeom prst="rect">
            <a:avLst/>
          </a:prstGeom>
          <a:noFill/>
          <a:ln/>
        </p:spPr>
        <p:txBody>
          <a:bodyPr wrap="square" lIns="0" tIns="0" rIns="0" bIns="0" rtlCol="0" anchor="ctr"/>
          <a:lstStyle/>
          <a:p>
            <a:pPr indent="0" marL="0">
              <a:buNone/>
            </a:pPr>
            <a:r>
              <a:rPr lang="en-US" sz="850" dirty="0">
                <a:solidFill>
                  <a:srgbClr val="47596B"/>
                </a:solidFill>
                <a:latin typeface="Calibri" pitchFamily="34" charset="0"/>
                <a:ea typeface="Calibri" pitchFamily="34" charset="-122"/>
                <a:cs typeface="Calibri" pitchFamily="34" charset="-120"/>
              </a:rPr>
              <a:t>Clear ROI before scaling further</a:t>
            </a:r>
            <a:endParaRPr lang="en-US" sz="850" dirty="0"/>
          </a:p>
        </p:txBody>
      </p:sp>
      <p:sp>
        <p:nvSpPr>
          <p:cNvPr id="57" name="Shape 55"/>
          <p:cNvSpPr/>
          <p:nvPr/>
        </p:nvSpPr>
        <p:spPr>
          <a:xfrm>
            <a:off x="365760" y="4626864"/>
            <a:ext cx="8412480" cy="384048"/>
          </a:xfrm>
          <a:prstGeom prst="rect">
            <a:avLst/>
          </a:prstGeom>
          <a:solidFill>
            <a:srgbClr val="0A2540"/>
          </a:solidFill>
          <a:ln/>
        </p:spPr>
      </p:sp>
      <p:sp>
        <p:nvSpPr>
          <p:cNvPr id="58" name="Text 56"/>
          <p:cNvSpPr/>
          <p:nvPr/>
        </p:nvSpPr>
        <p:spPr>
          <a:xfrm>
            <a:off x="457200" y="4663440"/>
            <a:ext cx="8229600" cy="310896"/>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THE TAKEAWAY  ·  Klarna didn't 'do AI'. They solved one expensive, high-volume problem, measured it rigorously, and scaled from proven ROI. That is the playbook.</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47596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APPX</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ANALOGY CHEAT SHEET — EVERY KEY CONCEPT IN PLAIN ENGLISH</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914400"/>
            <a:ext cx="4078224" cy="457200"/>
          </a:xfrm>
          <a:prstGeom prst="rect">
            <a:avLst/>
          </a:prstGeom>
          <a:solidFill>
            <a:srgbClr val="EDF1F7"/>
          </a:solidFill>
          <a:ln/>
        </p:spPr>
      </p:sp>
      <p:sp>
        <p:nvSpPr>
          <p:cNvPr id="8" name="Shape 6"/>
          <p:cNvSpPr/>
          <p:nvPr/>
        </p:nvSpPr>
        <p:spPr>
          <a:xfrm>
            <a:off x="365760" y="914400"/>
            <a:ext cx="36576" cy="457200"/>
          </a:xfrm>
          <a:prstGeom prst="rect">
            <a:avLst/>
          </a:prstGeom>
          <a:solidFill>
            <a:srgbClr val="B8860B"/>
          </a:solidFill>
          <a:ln/>
        </p:spPr>
      </p:sp>
      <p:sp>
        <p:nvSpPr>
          <p:cNvPr id="9" name="Text 7"/>
          <p:cNvSpPr/>
          <p:nvPr/>
        </p:nvSpPr>
        <p:spPr>
          <a:xfrm>
            <a:off x="493776" y="969264"/>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Large Language Model</a:t>
            </a:r>
            <a:endParaRPr lang="en-US" sz="900" dirty="0"/>
          </a:p>
        </p:txBody>
      </p:sp>
      <p:sp>
        <p:nvSpPr>
          <p:cNvPr id="10" name="Shape 8"/>
          <p:cNvSpPr/>
          <p:nvPr/>
        </p:nvSpPr>
        <p:spPr>
          <a:xfrm>
            <a:off x="1993392" y="1005840"/>
            <a:ext cx="18288" cy="274320"/>
          </a:xfrm>
          <a:prstGeom prst="rect">
            <a:avLst/>
          </a:prstGeom>
          <a:solidFill>
            <a:srgbClr val="D8DEE9"/>
          </a:solidFill>
          <a:ln/>
        </p:spPr>
      </p:sp>
      <p:sp>
        <p:nvSpPr>
          <p:cNvPr id="11" name="Text 9"/>
          <p:cNvSpPr/>
          <p:nvPr/>
        </p:nvSpPr>
        <p:spPr>
          <a:xfrm>
            <a:off x="2084832" y="969264"/>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A brilliant person who read everything — graduated 2 years ago, can't learn new things alone</a:t>
            </a:r>
            <a:endParaRPr lang="en-US" sz="800" dirty="0"/>
          </a:p>
        </p:txBody>
      </p:sp>
      <p:sp>
        <p:nvSpPr>
          <p:cNvPr id="12" name="Shape 10"/>
          <p:cNvSpPr/>
          <p:nvPr/>
        </p:nvSpPr>
        <p:spPr>
          <a:xfrm>
            <a:off x="365760" y="1426464"/>
            <a:ext cx="4078224" cy="457200"/>
          </a:xfrm>
          <a:prstGeom prst="rect">
            <a:avLst/>
          </a:prstGeom>
          <a:solidFill>
            <a:srgbClr val="FFFFFF"/>
          </a:solidFill>
          <a:ln/>
        </p:spPr>
      </p:sp>
      <p:sp>
        <p:nvSpPr>
          <p:cNvPr id="13" name="Shape 11"/>
          <p:cNvSpPr/>
          <p:nvPr/>
        </p:nvSpPr>
        <p:spPr>
          <a:xfrm>
            <a:off x="365760" y="1426464"/>
            <a:ext cx="36576" cy="457200"/>
          </a:xfrm>
          <a:prstGeom prst="rect">
            <a:avLst/>
          </a:prstGeom>
          <a:solidFill>
            <a:srgbClr val="B8860B"/>
          </a:solidFill>
          <a:ln/>
        </p:spPr>
      </p:sp>
      <p:sp>
        <p:nvSpPr>
          <p:cNvPr id="14" name="Text 12"/>
          <p:cNvSpPr/>
          <p:nvPr/>
        </p:nvSpPr>
        <p:spPr>
          <a:xfrm>
            <a:off x="493776" y="1481328"/>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Token</a:t>
            </a:r>
            <a:endParaRPr lang="en-US" sz="900" dirty="0"/>
          </a:p>
        </p:txBody>
      </p:sp>
      <p:sp>
        <p:nvSpPr>
          <p:cNvPr id="15" name="Shape 13"/>
          <p:cNvSpPr/>
          <p:nvPr/>
        </p:nvSpPr>
        <p:spPr>
          <a:xfrm>
            <a:off x="1993392" y="1517904"/>
            <a:ext cx="18288" cy="274320"/>
          </a:xfrm>
          <a:prstGeom prst="rect">
            <a:avLst/>
          </a:prstGeom>
          <a:solidFill>
            <a:srgbClr val="D8DEE9"/>
          </a:solidFill>
          <a:ln/>
        </p:spPr>
      </p:sp>
      <p:sp>
        <p:nvSpPr>
          <p:cNvPr id="16" name="Text 14"/>
          <p:cNvSpPr/>
          <p:nvPr/>
        </p:nvSpPr>
        <p:spPr>
          <a:xfrm>
            <a:off x="2084832" y="1481328"/>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A Post-it note. A word is roughly 1–2 Post-its. The AI sees Post-its, not words.</a:t>
            </a:r>
            <a:endParaRPr lang="en-US" sz="800" dirty="0"/>
          </a:p>
        </p:txBody>
      </p:sp>
      <p:sp>
        <p:nvSpPr>
          <p:cNvPr id="17" name="Shape 15"/>
          <p:cNvSpPr/>
          <p:nvPr/>
        </p:nvSpPr>
        <p:spPr>
          <a:xfrm>
            <a:off x="365760" y="1938528"/>
            <a:ext cx="4078224" cy="457200"/>
          </a:xfrm>
          <a:prstGeom prst="rect">
            <a:avLst/>
          </a:prstGeom>
          <a:solidFill>
            <a:srgbClr val="EDF1F7"/>
          </a:solidFill>
          <a:ln/>
        </p:spPr>
      </p:sp>
      <p:sp>
        <p:nvSpPr>
          <p:cNvPr id="18" name="Shape 16"/>
          <p:cNvSpPr/>
          <p:nvPr/>
        </p:nvSpPr>
        <p:spPr>
          <a:xfrm>
            <a:off x="365760" y="1938528"/>
            <a:ext cx="36576" cy="457200"/>
          </a:xfrm>
          <a:prstGeom prst="rect">
            <a:avLst/>
          </a:prstGeom>
          <a:solidFill>
            <a:srgbClr val="B8860B"/>
          </a:solidFill>
          <a:ln/>
        </p:spPr>
      </p:sp>
      <p:sp>
        <p:nvSpPr>
          <p:cNvPr id="19" name="Text 17"/>
          <p:cNvSpPr/>
          <p:nvPr/>
        </p:nvSpPr>
        <p:spPr>
          <a:xfrm>
            <a:off x="493776" y="1993392"/>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Context Window</a:t>
            </a:r>
            <a:endParaRPr lang="en-US" sz="900" dirty="0"/>
          </a:p>
        </p:txBody>
      </p:sp>
      <p:sp>
        <p:nvSpPr>
          <p:cNvPr id="20" name="Shape 18"/>
          <p:cNvSpPr/>
          <p:nvPr/>
        </p:nvSpPr>
        <p:spPr>
          <a:xfrm>
            <a:off x="1993392" y="2029968"/>
            <a:ext cx="18288" cy="274320"/>
          </a:xfrm>
          <a:prstGeom prst="rect">
            <a:avLst/>
          </a:prstGeom>
          <a:solidFill>
            <a:srgbClr val="D8DEE9"/>
          </a:solidFill>
          <a:ln/>
        </p:spPr>
      </p:sp>
      <p:sp>
        <p:nvSpPr>
          <p:cNvPr id="21" name="Text 19"/>
          <p:cNvSpPr/>
          <p:nvPr/>
        </p:nvSpPr>
        <p:spPr>
          <a:xfrm>
            <a:off x="2084832" y="1993392"/>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The whiteboard in front of you. Bigger whiteboard = more you can work with at once.</a:t>
            </a:r>
            <a:endParaRPr lang="en-US" sz="800" dirty="0"/>
          </a:p>
        </p:txBody>
      </p:sp>
      <p:sp>
        <p:nvSpPr>
          <p:cNvPr id="22" name="Shape 20"/>
          <p:cNvSpPr/>
          <p:nvPr/>
        </p:nvSpPr>
        <p:spPr>
          <a:xfrm>
            <a:off x="365760" y="2450592"/>
            <a:ext cx="4078224" cy="457200"/>
          </a:xfrm>
          <a:prstGeom prst="rect">
            <a:avLst/>
          </a:prstGeom>
          <a:solidFill>
            <a:srgbClr val="FFFFFF"/>
          </a:solidFill>
          <a:ln/>
        </p:spPr>
      </p:sp>
      <p:sp>
        <p:nvSpPr>
          <p:cNvPr id="23" name="Shape 21"/>
          <p:cNvSpPr/>
          <p:nvPr/>
        </p:nvSpPr>
        <p:spPr>
          <a:xfrm>
            <a:off x="365760" y="2450592"/>
            <a:ext cx="36576" cy="457200"/>
          </a:xfrm>
          <a:prstGeom prst="rect">
            <a:avLst/>
          </a:prstGeom>
          <a:solidFill>
            <a:srgbClr val="B8860B"/>
          </a:solidFill>
          <a:ln/>
        </p:spPr>
      </p:sp>
      <p:sp>
        <p:nvSpPr>
          <p:cNvPr id="24" name="Text 22"/>
          <p:cNvSpPr/>
          <p:nvPr/>
        </p:nvSpPr>
        <p:spPr>
          <a:xfrm>
            <a:off x="493776" y="2505456"/>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Hallucination</a:t>
            </a:r>
            <a:endParaRPr lang="en-US" sz="900" dirty="0"/>
          </a:p>
        </p:txBody>
      </p:sp>
      <p:sp>
        <p:nvSpPr>
          <p:cNvPr id="25" name="Shape 23"/>
          <p:cNvSpPr/>
          <p:nvPr/>
        </p:nvSpPr>
        <p:spPr>
          <a:xfrm>
            <a:off x="1993392" y="2542032"/>
            <a:ext cx="18288" cy="274320"/>
          </a:xfrm>
          <a:prstGeom prst="rect">
            <a:avLst/>
          </a:prstGeom>
          <a:solidFill>
            <a:srgbClr val="D8DEE9"/>
          </a:solidFill>
          <a:ln/>
        </p:spPr>
      </p:sp>
      <p:sp>
        <p:nvSpPr>
          <p:cNvPr id="26" name="Text 24"/>
          <p:cNvSpPr/>
          <p:nvPr/>
        </p:nvSpPr>
        <p:spPr>
          <a:xfrm>
            <a:off x="2084832" y="2505456"/>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A confident colleague who never says 'I don't know' — sometimes makes things up authoritatively.</a:t>
            </a:r>
            <a:endParaRPr lang="en-US" sz="800" dirty="0"/>
          </a:p>
        </p:txBody>
      </p:sp>
      <p:sp>
        <p:nvSpPr>
          <p:cNvPr id="27" name="Shape 25"/>
          <p:cNvSpPr/>
          <p:nvPr/>
        </p:nvSpPr>
        <p:spPr>
          <a:xfrm>
            <a:off x="365760" y="2962656"/>
            <a:ext cx="4078224" cy="457200"/>
          </a:xfrm>
          <a:prstGeom prst="rect">
            <a:avLst/>
          </a:prstGeom>
          <a:solidFill>
            <a:srgbClr val="EDF1F7"/>
          </a:solidFill>
          <a:ln/>
        </p:spPr>
      </p:sp>
      <p:sp>
        <p:nvSpPr>
          <p:cNvPr id="28" name="Shape 26"/>
          <p:cNvSpPr/>
          <p:nvPr/>
        </p:nvSpPr>
        <p:spPr>
          <a:xfrm>
            <a:off x="365760" y="2962656"/>
            <a:ext cx="36576" cy="457200"/>
          </a:xfrm>
          <a:prstGeom prst="rect">
            <a:avLst/>
          </a:prstGeom>
          <a:solidFill>
            <a:srgbClr val="B8860B"/>
          </a:solidFill>
          <a:ln/>
        </p:spPr>
      </p:sp>
      <p:sp>
        <p:nvSpPr>
          <p:cNvPr id="29" name="Text 27"/>
          <p:cNvSpPr/>
          <p:nvPr/>
        </p:nvSpPr>
        <p:spPr>
          <a:xfrm>
            <a:off x="493776" y="3017520"/>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Embedding</a:t>
            </a:r>
            <a:endParaRPr lang="en-US" sz="900" dirty="0"/>
          </a:p>
        </p:txBody>
      </p:sp>
      <p:sp>
        <p:nvSpPr>
          <p:cNvPr id="30" name="Shape 28"/>
          <p:cNvSpPr/>
          <p:nvPr/>
        </p:nvSpPr>
        <p:spPr>
          <a:xfrm>
            <a:off x="1993392" y="3054096"/>
            <a:ext cx="18288" cy="274320"/>
          </a:xfrm>
          <a:prstGeom prst="rect">
            <a:avLst/>
          </a:prstGeom>
          <a:solidFill>
            <a:srgbClr val="D8DEE9"/>
          </a:solidFill>
          <a:ln/>
        </p:spPr>
      </p:sp>
      <p:sp>
        <p:nvSpPr>
          <p:cNvPr id="31" name="Text 29"/>
          <p:cNvSpPr/>
          <p:nvPr/>
        </p:nvSpPr>
        <p:spPr>
          <a:xfrm>
            <a:off x="2084832" y="3017520"/>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A map where similar things live near each other. 'King' and 'Queen' close. Apple-Inc far apart.</a:t>
            </a:r>
            <a:endParaRPr lang="en-US" sz="800" dirty="0"/>
          </a:p>
        </p:txBody>
      </p:sp>
      <p:sp>
        <p:nvSpPr>
          <p:cNvPr id="32" name="Shape 30"/>
          <p:cNvSpPr/>
          <p:nvPr/>
        </p:nvSpPr>
        <p:spPr>
          <a:xfrm>
            <a:off x="365760" y="3474720"/>
            <a:ext cx="4078224" cy="457200"/>
          </a:xfrm>
          <a:prstGeom prst="rect">
            <a:avLst/>
          </a:prstGeom>
          <a:solidFill>
            <a:srgbClr val="FFFFFF"/>
          </a:solidFill>
          <a:ln/>
        </p:spPr>
      </p:sp>
      <p:sp>
        <p:nvSpPr>
          <p:cNvPr id="33" name="Shape 31"/>
          <p:cNvSpPr/>
          <p:nvPr/>
        </p:nvSpPr>
        <p:spPr>
          <a:xfrm>
            <a:off x="365760" y="3474720"/>
            <a:ext cx="36576" cy="457200"/>
          </a:xfrm>
          <a:prstGeom prst="rect">
            <a:avLst/>
          </a:prstGeom>
          <a:solidFill>
            <a:srgbClr val="B8860B"/>
          </a:solidFill>
          <a:ln/>
        </p:spPr>
      </p:sp>
      <p:sp>
        <p:nvSpPr>
          <p:cNvPr id="34" name="Text 32"/>
          <p:cNvSpPr/>
          <p:nvPr/>
        </p:nvSpPr>
        <p:spPr>
          <a:xfrm>
            <a:off x="493776" y="3529584"/>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RAG</a:t>
            </a:r>
            <a:endParaRPr lang="en-US" sz="900" dirty="0"/>
          </a:p>
        </p:txBody>
      </p:sp>
      <p:sp>
        <p:nvSpPr>
          <p:cNvPr id="35" name="Shape 33"/>
          <p:cNvSpPr/>
          <p:nvPr/>
        </p:nvSpPr>
        <p:spPr>
          <a:xfrm>
            <a:off x="1993392" y="3566160"/>
            <a:ext cx="18288" cy="274320"/>
          </a:xfrm>
          <a:prstGeom prst="rect">
            <a:avLst/>
          </a:prstGeom>
          <a:solidFill>
            <a:srgbClr val="D8DEE9"/>
          </a:solidFill>
          <a:ln/>
        </p:spPr>
      </p:sp>
      <p:sp>
        <p:nvSpPr>
          <p:cNvPr id="36" name="Text 34"/>
          <p:cNvSpPr/>
          <p:nvPr/>
        </p:nvSpPr>
        <p:spPr>
          <a:xfrm>
            <a:off x="2084832" y="3529584"/>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Giving your AI a live library card for your company's documents before it answers.</a:t>
            </a:r>
            <a:endParaRPr lang="en-US" sz="800" dirty="0"/>
          </a:p>
        </p:txBody>
      </p:sp>
      <p:sp>
        <p:nvSpPr>
          <p:cNvPr id="37" name="Shape 35"/>
          <p:cNvSpPr/>
          <p:nvPr/>
        </p:nvSpPr>
        <p:spPr>
          <a:xfrm>
            <a:off x="365760" y="3986784"/>
            <a:ext cx="4078224" cy="457200"/>
          </a:xfrm>
          <a:prstGeom prst="rect">
            <a:avLst/>
          </a:prstGeom>
          <a:solidFill>
            <a:srgbClr val="EDF1F7"/>
          </a:solidFill>
          <a:ln/>
        </p:spPr>
      </p:sp>
      <p:sp>
        <p:nvSpPr>
          <p:cNvPr id="38" name="Shape 36"/>
          <p:cNvSpPr/>
          <p:nvPr/>
        </p:nvSpPr>
        <p:spPr>
          <a:xfrm>
            <a:off x="365760" y="3986784"/>
            <a:ext cx="36576" cy="457200"/>
          </a:xfrm>
          <a:prstGeom prst="rect">
            <a:avLst/>
          </a:prstGeom>
          <a:solidFill>
            <a:srgbClr val="B8860B"/>
          </a:solidFill>
          <a:ln/>
        </p:spPr>
      </p:sp>
      <p:sp>
        <p:nvSpPr>
          <p:cNvPr id="39" name="Text 37"/>
          <p:cNvSpPr/>
          <p:nvPr/>
        </p:nvSpPr>
        <p:spPr>
          <a:xfrm>
            <a:off x="493776" y="4041648"/>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Fine-Tuning</a:t>
            </a:r>
            <a:endParaRPr lang="en-US" sz="900" dirty="0"/>
          </a:p>
        </p:txBody>
      </p:sp>
      <p:sp>
        <p:nvSpPr>
          <p:cNvPr id="40" name="Shape 38"/>
          <p:cNvSpPr/>
          <p:nvPr/>
        </p:nvSpPr>
        <p:spPr>
          <a:xfrm>
            <a:off x="1993392" y="4078224"/>
            <a:ext cx="18288" cy="274320"/>
          </a:xfrm>
          <a:prstGeom prst="rect">
            <a:avLst/>
          </a:prstGeom>
          <a:solidFill>
            <a:srgbClr val="D8DEE9"/>
          </a:solidFill>
          <a:ln/>
        </p:spPr>
      </p:sp>
      <p:sp>
        <p:nvSpPr>
          <p:cNvPr id="41" name="Text 39"/>
          <p:cNvSpPr/>
          <p:nvPr/>
        </p:nvSpPr>
        <p:spPr>
          <a:xfrm>
            <a:off x="2084832" y="4041648"/>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Sending a Harvard graduate on a specialised induction in your company's domain.</a:t>
            </a:r>
            <a:endParaRPr lang="en-US" sz="800" dirty="0"/>
          </a:p>
        </p:txBody>
      </p:sp>
      <p:sp>
        <p:nvSpPr>
          <p:cNvPr id="42" name="Shape 40"/>
          <p:cNvSpPr/>
          <p:nvPr/>
        </p:nvSpPr>
        <p:spPr>
          <a:xfrm>
            <a:off x="4700016" y="914400"/>
            <a:ext cx="4078224" cy="457200"/>
          </a:xfrm>
          <a:prstGeom prst="rect">
            <a:avLst/>
          </a:prstGeom>
          <a:solidFill>
            <a:srgbClr val="EDF1F7"/>
          </a:solidFill>
          <a:ln/>
        </p:spPr>
      </p:sp>
      <p:sp>
        <p:nvSpPr>
          <p:cNvPr id="43" name="Shape 41"/>
          <p:cNvSpPr/>
          <p:nvPr/>
        </p:nvSpPr>
        <p:spPr>
          <a:xfrm>
            <a:off x="4700016" y="914400"/>
            <a:ext cx="36576" cy="457200"/>
          </a:xfrm>
          <a:prstGeom prst="rect">
            <a:avLst/>
          </a:prstGeom>
          <a:solidFill>
            <a:srgbClr val="B8860B"/>
          </a:solidFill>
          <a:ln/>
        </p:spPr>
      </p:sp>
      <p:sp>
        <p:nvSpPr>
          <p:cNvPr id="44" name="Text 42"/>
          <p:cNvSpPr/>
          <p:nvPr/>
        </p:nvSpPr>
        <p:spPr>
          <a:xfrm>
            <a:off x="4828032" y="969264"/>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AI Agent</a:t>
            </a:r>
            <a:endParaRPr lang="en-US" sz="900" dirty="0"/>
          </a:p>
        </p:txBody>
      </p:sp>
      <p:sp>
        <p:nvSpPr>
          <p:cNvPr id="45" name="Shape 43"/>
          <p:cNvSpPr/>
          <p:nvPr/>
        </p:nvSpPr>
        <p:spPr>
          <a:xfrm>
            <a:off x="6327648" y="1005840"/>
            <a:ext cx="18288" cy="274320"/>
          </a:xfrm>
          <a:prstGeom prst="rect">
            <a:avLst/>
          </a:prstGeom>
          <a:solidFill>
            <a:srgbClr val="D8DEE9"/>
          </a:solidFill>
          <a:ln/>
        </p:spPr>
      </p:sp>
      <p:sp>
        <p:nvSpPr>
          <p:cNvPr id="46" name="Text 44"/>
          <p:cNvSpPr/>
          <p:nvPr/>
        </p:nvSpPr>
        <p:spPr>
          <a:xfrm>
            <a:off x="6419088" y="969264"/>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An employee with a computer, phone, and system access who can actually do things.</a:t>
            </a:r>
            <a:endParaRPr lang="en-US" sz="800" dirty="0"/>
          </a:p>
        </p:txBody>
      </p:sp>
      <p:sp>
        <p:nvSpPr>
          <p:cNvPr id="47" name="Shape 45"/>
          <p:cNvSpPr/>
          <p:nvPr/>
        </p:nvSpPr>
        <p:spPr>
          <a:xfrm>
            <a:off x="4700016" y="1426464"/>
            <a:ext cx="4078224" cy="457200"/>
          </a:xfrm>
          <a:prstGeom prst="rect">
            <a:avLst/>
          </a:prstGeom>
          <a:solidFill>
            <a:srgbClr val="FFFFFF"/>
          </a:solidFill>
          <a:ln/>
        </p:spPr>
      </p:sp>
      <p:sp>
        <p:nvSpPr>
          <p:cNvPr id="48" name="Shape 46"/>
          <p:cNvSpPr/>
          <p:nvPr/>
        </p:nvSpPr>
        <p:spPr>
          <a:xfrm>
            <a:off x="4700016" y="1426464"/>
            <a:ext cx="36576" cy="457200"/>
          </a:xfrm>
          <a:prstGeom prst="rect">
            <a:avLst/>
          </a:prstGeom>
          <a:solidFill>
            <a:srgbClr val="B8860B"/>
          </a:solidFill>
          <a:ln/>
        </p:spPr>
      </p:sp>
      <p:sp>
        <p:nvSpPr>
          <p:cNvPr id="49" name="Text 47"/>
          <p:cNvSpPr/>
          <p:nvPr/>
        </p:nvSpPr>
        <p:spPr>
          <a:xfrm>
            <a:off x="4828032" y="1481328"/>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Agentic AI</a:t>
            </a:r>
            <a:endParaRPr lang="en-US" sz="900" dirty="0"/>
          </a:p>
        </p:txBody>
      </p:sp>
      <p:sp>
        <p:nvSpPr>
          <p:cNvPr id="50" name="Shape 48"/>
          <p:cNvSpPr/>
          <p:nvPr/>
        </p:nvSpPr>
        <p:spPr>
          <a:xfrm>
            <a:off x="6327648" y="1517904"/>
            <a:ext cx="18288" cy="274320"/>
          </a:xfrm>
          <a:prstGeom prst="rect">
            <a:avLst/>
          </a:prstGeom>
          <a:solidFill>
            <a:srgbClr val="D8DEE9"/>
          </a:solidFill>
          <a:ln/>
        </p:spPr>
      </p:sp>
      <p:sp>
        <p:nvSpPr>
          <p:cNvPr id="51" name="Text 49"/>
          <p:cNvSpPr/>
          <p:nvPr/>
        </p:nvSpPr>
        <p:spPr>
          <a:xfrm>
            <a:off x="6419088" y="1481328"/>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A full construction crew working autonomously on an entire project — not one contractor.</a:t>
            </a:r>
            <a:endParaRPr lang="en-US" sz="800" dirty="0"/>
          </a:p>
        </p:txBody>
      </p:sp>
      <p:sp>
        <p:nvSpPr>
          <p:cNvPr id="52" name="Shape 50"/>
          <p:cNvSpPr/>
          <p:nvPr/>
        </p:nvSpPr>
        <p:spPr>
          <a:xfrm>
            <a:off x="4700016" y="1938528"/>
            <a:ext cx="4078224" cy="457200"/>
          </a:xfrm>
          <a:prstGeom prst="rect">
            <a:avLst/>
          </a:prstGeom>
          <a:solidFill>
            <a:srgbClr val="EDF1F7"/>
          </a:solidFill>
          <a:ln/>
        </p:spPr>
      </p:sp>
      <p:sp>
        <p:nvSpPr>
          <p:cNvPr id="53" name="Shape 51"/>
          <p:cNvSpPr/>
          <p:nvPr/>
        </p:nvSpPr>
        <p:spPr>
          <a:xfrm>
            <a:off x="4700016" y="1938528"/>
            <a:ext cx="36576" cy="457200"/>
          </a:xfrm>
          <a:prstGeom prst="rect">
            <a:avLst/>
          </a:prstGeom>
          <a:solidFill>
            <a:srgbClr val="B8860B"/>
          </a:solidFill>
          <a:ln/>
        </p:spPr>
      </p:sp>
      <p:sp>
        <p:nvSpPr>
          <p:cNvPr id="54" name="Text 52"/>
          <p:cNvSpPr/>
          <p:nvPr/>
        </p:nvSpPr>
        <p:spPr>
          <a:xfrm>
            <a:off x="4828032" y="1993392"/>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Temperature</a:t>
            </a:r>
            <a:endParaRPr lang="en-US" sz="900" dirty="0"/>
          </a:p>
        </p:txBody>
      </p:sp>
      <p:sp>
        <p:nvSpPr>
          <p:cNvPr id="55" name="Shape 53"/>
          <p:cNvSpPr/>
          <p:nvPr/>
        </p:nvSpPr>
        <p:spPr>
          <a:xfrm>
            <a:off x="6327648" y="2029968"/>
            <a:ext cx="18288" cy="274320"/>
          </a:xfrm>
          <a:prstGeom prst="rect">
            <a:avLst/>
          </a:prstGeom>
          <a:solidFill>
            <a:srgbClr val="D8DEE9"/>
          </a:solidFill>
          <a:ln/>
        </p:spPr>
      </p:sp>
      <p:sp>
        <p:nvSpPr>
          <p:cNvPr id="56" name="Text 54"/>
          <p:cNvSpPr/>
          <p:nvPr/>
        </p:nvSpPr>
        <p:spPr>
          <a:xfrm>
            <a:off x="6419088" y="1993392"/>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A creativity dial. 0 = precise and factual. 2 = wild and unpredictable.</a:t>
            </a:r>
            <a:endParaRPr lang="en-US" sz="800" dirty="0"/>
          </a:p>
        </p:txBody>
      </p:sp>
      <p:sp>
        <p:nvSpPr>
          <p:cNvPr id="57" name="Shape 55"/>
          <p:cNvSpPr/>
          <p:nvPr/>
        </p:nvSpPr>
        <p:spPr>
          <a:xfrm>
            <a:off x="4700016" y="2450592"/>
            <a:ext cx="4078224" cy="457200"/>
          </a:xfrm>
          <a:prstGeom prst="rect">
            <a:avLst/>
          </a:prstGeom>
          <a:solidFill>
            <a:srgbClr val="FFFFFF"/>
          </a:solidFill>
          <a:ln/>
        </p:spPr>
      </p:sp>
      <p:sp>
        <p:nvSpPr>
          <p:cNvPr id="58" name="Shape 56"/>
          <p:cNvSpPr/>
          <p:nvPr/>
        </p:nvSpPr>
        <p:spPr>
          <a:xfrm>
            <a:off x="4700016" y="2450592"/>
            <a:ext cx="36576" cy="457200"/>
          </a:xfrm>
          <a:prstGeom prst="rect">
            <a:avLst/>
          </a:prstGeom>
          <a:solidFill>
            <a:srgbClr val="B8860B"/>
          </a:solidFill>
          <a:ln/>
        </p:spPr>
      </p:sp>
      <p:sp>
        <p:nvSpPr>
          <p:cNvPr id="59" name="Text 57"/>
          <p:cNvSpPr/>
          <p:nvPr/>
        </p:nvSpPr>
        <p:spPr>
          <a:xfrm>
            <a:off x="4828032" y="2505456"/>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Transformer</a:t>
            </a:r>
            <a:endParaRPr lang="en-US" sz="900" dirty="0"/>
          </a:p>
        </p:txBody>
      </p:sp>
      <p:sp>
        <p:nvSpPr>
          <p:cNvPr id="60" name="Shape 58"/>
          <p:cNvSpPr/>
          <p:nvPr/>
        </p:nvSpPr>
        <p:spPr>
          <a:xfrm>
            <a:off x="6327648" y="2542032"/>
            <a:ext cx="18288" cy="274320"/>
          </a:xfrm>
          <a:prstGeom prst="rect">
            <a:avLst/>
          </a:prstGeom>
          <a:solidFill>
            <a:srgbClr val="D8DEE9"/>
          </a:solidFill>
          <a:ln/>
        </p:spPr>
      </p:sp>
      <p:sp>
        <p:nvSpPr>
          <p:cNvPr id="61" name="Text 59"/>
          <p:cNvSpPr/>
          <p:nvPr/>
        </p:nvSpPr>
        <p:spPr>
          <a:xfrm>
            <a:off x="6419088" y="2505456"/>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Reading with peripheral vision — every word sees every other word simultaneously.</a:t>
            </a:r>
            <a:endParaRPr lang="en-US" sz="800" dirty="0"/>
          </a:p>
        </p:txBody>
      </p:sp>
      <p:sp>
        <p:nvSpPr>
          <p:cNvPr id="62" name="Shape 60"/>
          <p:cNvSpPr/>
          <p:nvPr/>
        </p:nvSpPr>
        <p:spPr>
          <a:xfrm>
            <a:off x="4700016" y="2962656"/>
            <a:ext cx="4078224" cy="457200"/>
          </a:xfrm>
          <a:prstGeom prst="rect">
            <a:avLst/>
          </a:prstGeom>
          <a:solidFill>
            <a:srgbClr val="EDF1F7"/>
          </a:solidFill>
          <a:ln/>
        </p:spPr>
      </p:sp>
      <p:sp>
        <p:nvSpPr>
          <p:cNvPr id="63" name="Shape 61"/>
          <p:cNvSpPr/>
          <p:nvPr/>
        </p:nvSpPr>
        <p:spPr>
          <a:xfrm>
            <a:off x="4700016" y="2962656"/>
            <a:ext cx="36576" cy="457200"/>
          </a:xfrm>
          <a:prstGeom prst="rect">
            <a:avLst/>
          </a:prstGeom>
          <a:solidFill>
            <a:srgbClr val="B8860B"/>
          </a:solidFill>
          <a:ln/>
        </p:spPr>
      </p:sp>
      <p:sp>
        <p:nvSpPr>
          <p:cNvPr id="64" name="Text 62"/>
          <p:cNvSpPr/>
          <p:nvPr/>
        </p:nvSpPr>
        <p:spPr>
          <a:xfrm>
            <a:off x="4828032" y="3017520"/>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Prompt Engineering</a:t>
            </a:r>
            <a:endParaRPr lang="en-US" sz="900" dirty="0"/>
          </a:p>
        </p:txBody>
      </p:sp>
      <p:sp>
        <p:nvSpPr>
          <p:cNvPr id="65" name="Shape 63"/>
          <p:cNvSpPr/>
          <p:nvPr/>
        </p:nvSpPr>
        <p:spPr>
          <a:xfrm>
            <a:off x="6327648" y="3054096"/>
            <a:ext cx="18288" cy="274320"/>
          </a:xfrm>
          <a:prstGeom prst="rect">
            <a:avLst/>
          </a:prstGeom>
          <a:solidFill>
            <a:srgbClr val="D8DEE9"/>
          </a:solidFill>
          <a:ln/>
        </p:spPr>
      </p:sp>
      <p:sp>
        <p:nvSpPr>
          <p:cNvPr id="66" name="Text 64"/>
          <p:cNvSpPr/>
          <p:nvPr/>
        </p:nvSpPr>
        <p:spPr>
          <a:xfrm>
            <a:off x="6419088" y="3017520"/>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Briefing an employee. Vague brief = vague output. Specific brief = excellent output.</a:t>
            </a:r>
            <a:endParaRPr lang="en-US" sz="800" dirty="0"/>
          </a:p>
        </p:txBody>
      </p:sp>
      <p:sp>
        <p:nvSpPr>
          <p:cNvPr id="67" name="Shape 65"/>
          <p:cNvSpPr/>
          <p:nvPr/>
        </p:nvSpPr>
        <p:spPr>
          <a:xfrm>
            <a:off x="4700016" y="3474720"/>
            <a:ext cx="4078224" cy="457200"/>
          </a:xfrm>
          <a:prstGeom prst="rect">
            <a:avLst/>
          </a:prstGeom>
          <a:solidFill>
            <a:srgbClr val="FFFFFF"/>
          </a:solidFill>
          <a:ln/>
        </p:spPr>
      </p:sp>
      <p:sp>
        <p:nvSpPr>
          <p:cNvPr id="68" name="Shape 66"/>
          <p:cNvSpPr/>
          <p:nvPr/>
        </p:nvSpPr>
        <p:spPr>
          <a:xfrm>
            <a:off x="4700016" y="3474720"/>
            <a:ext cx="36576" cy="457200"/>
          </a:xfrm>
          <a:prstGeom prst="rect">
            <a:avLst/>
          </a:prstGeom>
          <a:solidFill>
            <a:srgbClr val="B8860B"/>
          </a:solidFill>
          <a:ln/>
        </p:spPr>
      </p:sp>
      <p:sp>
        <p:nvSpPr>
          <p:cNvPr id="69" name="Text 67"/>
          <p:cNvSpPr/>
          <p:nvPr/>
        </p:nvSpPr>
        <p:spPr>
          <a:xfrm>
            <a:off x="4828032" y="3529584"/>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Parameters</a:t>
            </a:r>
            <a:endParaRPr lang="en-US" sz="900" dirty="0"/>
          </a:p>
        </p:txBody>
      </p:sp>
      <p:sp>
        <p:nvSpPr>
          <p:cNvPr id="70" name="Shape 68"/>
          <p:cNvSpPr/>
          <p:nvPr/>
        </p:nvSpPr>
        <p:spPr>
          <a:xfrm>
            <a:off x="6327648" y="3566160"/>
            <a:ext cx="18288" cy="274320"/>
          </a:xfrm>
          <a:prstGeom prst="rect">
            <a:avLst/>
          </a:prstGeom>
          <a:solidFill>
            <a:srgbClr val="D8DEE9"/>
          </a:solidFill>
          <a:ln/>
        </p:spPr>
      </p:sp>
      <p:sp>
        <p:nvSpPr>
          <p:cNvPr id="71" name="Text 69"/>
          <p:cNvSpPr/>
          <p:nvPr/>
        </p:nvSpPr>
        <p:spPr>
          <a:xfrm>
            <a:off x="6419088" y="3529584"/>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The billions of numbers storing what the model learned — like synapses in a brain.</a:t>
            </a:r>
            <a:endParaRPr lang="en-US" sz="800" dirty="0"/>
          </a:p>
        </p:txBody>
      </p:sp>
      <p:sp>
        <p:nvSpPr>
          <p:cNvPr id="72" name="Shape 70"/>
          <p:cNvSpPr/>
          <p:nvPr/>
        </p:nvSpPr>
        <p:spPr>
          <a:xfrm>
            <a:off x="4700016" y="3986784"/>
            <a:ext cx="4078224" cy="457200"/>
          </a:xfrm>
          <a:prstGeom prst="rect">
            <a:avLst/>
          </a:prstGeom>
          <a:solidFill>
            <a:srgbClr val="EDF1F7"/>
          </a:solidFill>
          <a:ln/>
        </p:spPr>
      </p:sp>
      <p:sp>
        <p:nvSpPr>
          <p:cNvPr id="73" name="Shape 71"/>
          <p:cNvSpPr/>
          <p:nvPr/>
        </p:nvSpPr>
        <p:spPr>
          <a:xfrm>
            <a:off x="4700016" y="3986784"/>
            <a:ext cx="36576" cy="457200"/>
          </a:xfrm>
          <a:prstGeom prst="rect">
            <a:avLst/>
          </a:prstGeom>
          <a:solidFill>
            <a:srgbClr val="B8860B"/>
          </a:solidFill>
          <a:ln/>
        </p:spPr>
      </p:sp>
      <p:sp>
        <p:nvSpPr>
          <p:cNvPr id="74" name="Text 72"/>
          <p:cNvSpPr/>
          <p:nvPr/>
        </p:nvSpPr>
        <p:spPr>
          <a:xfrm>
            <a:off x="4828032" y="4041648"/>
            <a:ext cx="1463040" cy="347472"/>
          </a:xfrm>
          <a:prstGeom prst="rect">
            <a:avLst/>
          </a:prstGeom>
          <a:noFill/>
          <a:ln/>
        </p:spPr>
        <p:txBody>
          <a:bodyPr wrap="square" lIns="0" tIns="0" rIns="0" bIns="0" rtlCol="0" anchor="ctr"/>
          <a:lstStyle/>
          <a:p>
            <a:pPr indent="0" marL="0">
              <a:buNone/>
            </a:pPr>
            <a:r>
              <a:rPr lang="en-US" sz="900" b="1" dirty="0">
                <a:solidFill>
                  <a:srgbClr val="0A2540"/>
                </a:solidFill>
                <a:latin typeface="Calibri" pitchFamily="34" charset="0"/>
                <a:ea typeface="Calibri" pitchFamily="34" charset="-122"/>
                <a:cs typeface="Calibri" pitchFamily="34" charset="-120"/>
              </a:rPr>
              <a:t>Vector Database</a:t>
            </a:r>
            <a:endParaRPr lang="en-US" sz="900" dirty="0"/>
          </a:p>
        </p:txBody>
      </p:sp>
      <p:sp>
        <p:nvSpPr>
          <p:cNvPr id="75" name="Shape 73"/>
          <p:cNvSpPr/>
          <p:nvPr/>
        </p:nvSpPr>
        <p:spPr>
          <a:xfrm>
            <a:off x="6327648" y="4078224"/>
            <a:ext cx="18288" cy="274320"/>
          </a:xfrm>
          <a:prstGeom prst="rect">
            <a:avLst/>
          </a:prstGeom>
          <a:solidFill>
            <a:srgbClr val="D8DEE9"/>
          </a:solidFill>
          <a:ln/>
        </p:spPr>
      </p:sp>
      <p:sp>
        <p:nvSpPr>
          <p:cNvPr id="76" name="Text 74"/>
          <p:cNvSpPr/>
          <p:nvPr/>
        </p:nvSpPr>
        <p:spPr>
          <a:xfrm>
            <a:off x="6419088" y="4041648"/>
            <a:ext cx="2322576" cy="365760"/>
          </a:xfrm>
          <a:prstGeom prst="rect">
            <a:avLst/>
          </a:prstGeom>
          <a:noFill/>
          <a:ln/>
        </p:spPr>
        <p:txBody>
          <a:bodyPr wrap="square" lIns="0" tIns="0" rIns="0" bIns="0" rtlCol="0" anchor="ctr"/>
          <a:lstStyle/>
          <a:p>
            <a:pPr indent="0" marL="0">
              <a:buNone/>
            </a:pPr>
            <a:r>
              <a:rPr lang="en-US" sz="800" i="1" dirty="0">
                <a:solidFill>
                  <a:srgbClr val="47596B"/>
                </a:solidFill>
                <a:latin typeface="Calibri" pitchFamily="34" charset="0"/>
                <a:ea typeface="Calibri" pitchFamily="34" charset="-122"/>
                <a:cs typeface="Calibri" pitchFamily="34" charset="-120"/>
              </a:rPr>
              <a:t>A library organised by meaning, not alphabet — find by concept, not keyword.</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A2540"/>
          </a:solidFill>
          <a:ln/>
        </p:spPr>
      </p:sp>
      <p:sp>
        <p:nvSpPr>
          <p:cNvPr id="3" name="Shape 1"/>
          <p:cNvSpPr/>
          <p:nvPr/>
        </p:nvSpPr>
        <p:spPr>
          <a:xfrm>
            <a:off x="0" y="640080"/>
            <a:ext cx="9144000" cy="36576"/>
          </a:xfrm>
          <a:prstGeom prst="rect">
            <a:avLst/>
          </a:prstGeom>
          <a:solidFill>
            <a:srgbClr val="47596B"/>
          </a:solidFill>
          <a:ln/>
        </p:spPr>
      </p:sp>
      <p:sp>
        <p:nvSpPr>
          <p:cNvPr id="4" name="Text 2"/>
          <p:cNvSpPr/>
          <p:nvPr/>
        </p:nvSpPr>
        <p:spPr>
          <a:xfrm>
            <a:off x="365760" y="164592"/>
            <a:ext cx="1097280" cy="310896"/>
          </a:xfrm>
          <a:prstGeom prst="rect">
            <a:avLst/>
          </a:prstGeom>
          <a:noFill/>
          <a:ln/>
        </p:spPr>
        <p:txBody>
          <a:bodyPr wrap="square" lIns="0" tIns="0" rIns="0" bIns="0" rtlCol="0" anchor="ctr"/>
          <a:lstStyle/>
          <a:p>
            <a:pPr indent="0" marL="0">
              <a:buNone/>
            </a:pPr>
            <a:r>
              <a:rPr lang="en-US" sz="900" b="1" spc="300" kern="0" dirty="0">
                <a:solidFill>
                  <a:srgbClr val="B8860B"/>
                </a:solidFill>
                <a:latin typeface="Calibri" pitchFamily="34" charset="0"/>
                <a:ea typeface="Calibri" pitchFamily="34" charset="-122"/>
                <a:cs typeface="Calibri" pitchFamily="34" charset="-120"/>
              </a:rPr>
              <a:t>APPX</a:t>
            </a:r>
            <a:endParaRPr lang="en-US" sz="900" dirty="0"/>
          </a:p>
        </p:txBody>
      </p:sp>
      <p:sp>
        <p:nvSpPr>
          <p:cNvPr id="5" name="Text 3"/>
          <p:cNvSpPr/>
          <p:nvPr/>
        </p:nvSpPr>
        <p:spPr>
          <a:xfrm>
            <a:off x="365760" y="329184"/>
            <a:ext cx="841248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AI JARGON GLOSSARY — A TO Z QUICK REFERENCE</a:t>
            </a:r>
            <a:endParaRPr lang="en-US" sz="1500" dirty="0"/>
          </a:p>
        </p:txBody>
      </p:sp>
      <p:sp>
        <p:nvSpPr>
          <p:cNvPr id="6" name="Shape 4"/>
          <p:cNvSpPr/>
          <p:nvPr/>
        </p:nvSpPr>
        <p:spPr>
          <a:xfrm>
            <a:off x="0" y="5102352"/>
            <a:ext cx="9144000" cy="36576"/>
          </a:xfrm>
          <a:prstGeom prst="rect">
            <a:avLst/>
          </a:prstGeom>
          <a:solidFill>
            <a:srgbClr val="D8DEE9"/>
          </a:solidFill>
          <a:ln/>
        </p:spPr>
      </p:sp>
      <p:sp>
        <p:nvSpPr>
          <p:cNvPr id="7" name="Shape 5"/>
          <p:cNvSpPr/>
          <p:nvPr/>
        </p:nvSpPr>
        <p:spPr>
          <a:xfrm>
            <a:off x="365760" y="914400"/>
            <a:ext cx="4078224" cy="292608"/>
          </a:xfrm>
          <a:prstGeom prst="rect">
            <a:avLst/>
          </a:prstGeom>
          <a:solidFill>
            <a:srgbClr val="EDF1F7"/>
          </a:solidFill>
          <a:ln/>
        </p:spPr>
      </p:sp>
      <p:sp>
        <p:nvSpPr>
          <p:cNvPr id="8" name="Shape 6"/>
          <p:cNvSpPr/>
          <p:nvPr/>
        </p:nvSpPr>
        <p:spPr>
          <a:xfrm>
            <a:off x="365760" y="914400"/>
            <a:ext cx="969264" cy="292608"/>
          </a:xfrm>
          <a:prstGeom prst="rect">
            <a:avLst/>
          </a:prstGeom>
          <a:solidFill>
            <a:srgbClr val="0A2540"/>
          </a:solidFill>
          <a:ln/>
        </p:spPr>
      </p:sp>
      <p:sp>
        <p:nvSpPr>
          <p:cNvPr id="9" name="Text 7"/>
          <p:cNvSpPr/>
          <p:nvPr/>
        </p:nvSpPr>
        <p:spPr>
          <a:xfrm>
            <a:off x="420624" y="969264"/>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AGI</a:t>
            </a:r>
            <a:endParaRPr lang="en-US" sz="850" dirty="0"/>
          </a:p>
        </p:txBody>
      </p:sp>
      <p:sp>
        <p:nvSpPr>
          <p:cNvPr id="10" name="Text 8"/>
          <p:cNvSpPr/>
          <p:nvPr/>
        </p:nvSpPr>
        <p:spPr>
          <a:xfrm>
            <a:off x="1408176" y="960120"/>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Artificial General Intelligence — AI matching humans across all domains. Does not exist yet.</a:t>
            </a:r>
            <a:endParaRPr lang="en-US" sz="750" dirty="0"/>
          </a:p>
        </p:txBody>
      </p:sp>
      <p:sp>
        <p:nvSpPr>
          <p:cNvPr id="11" name="Shape 9"/>
          <p:cNvSpPr/>
          <p:nvPr/>
        </p:nvSpPr>
        <p:spPr>
          <a:xfrm>
            <a:off x="365760" y="1225296"/>
            <a:ext cx="4078224" cy="292608"/>
          </a:xfrm>
          <a:prstGeom prst="rect">
            <a:avLst/>
          </a:prstGeom>
          <a:solidFill>
            <a:srgbClr val="FFFFFF"/>
          </a:solidFill>
          <a:ln/>
        </p:spPr>
      </p:sp>
      <p:sp>
        <p:nvSpPr>
          <p:cNvPr id="12" name="Shape 10"/>
          <p:cNvSpPr/>
          <p:nvPr/>
        </p:nvSpPr>
        <p:spPr>
          <a:xfrm>
            <a:off x="365760" y="1225296"/>
            <a:ext cx="969264" cy="292608"/>
          </a:xfrm>
          <a:prstGeom prst="rect">
            <a:avLst/>
          </a:prstGeom>
          <a:solidFill>
            <a:srgbClr val="0A2540"/>
          </a:solidFill>
          <a:ln/>
        </p:spPr>
      </p:sp>
      <p:sp>
        <p:nvSpPr>
          <p:cNvPr id="13" name="Text 11"/>
          <p:cNvSpPr/>
          <p:nvPr/>
        </p:nvSpPr>
        <p:spPr>
          <a:xfrm>
            <a:off x="420624" y="1280160"/>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Agent</a:t>
            </a:r>
            <a:endParaRPr lang="en-US" sz="850" dirty="0"/>
          </a:p>
        </p:txBody>
      </p:sp>
      <p:sp>
        <p:nvSpPr>
          <p:cNvPr id="14" name="Text 12"/>
          <p:cNvSpPr/>
          <p:nvPr/>
        </p:nvSpPr>
        <p:spPr>
          <a:xfrm>
            <a:off x="1408176" y="1271016"/>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An LLM with tools, memory, and planning that takes autonomous actions.</a:t>
            </a:r>
            <a:endParaRPr lang="en-US" sz="750" dirty="0"/>
          </a:p>
        </p:txBody>
      </p:sp>
      <p:sp>
        <p:nvSpPr>
          <p:cNvPr id="15" name="Shape 13"/>
          <p:cNvSpPr/>
          <p:nvPr/>
        </p:nvSpPr>
        <p:spPr>
          <a:xfrm>
            <a:off x="365760" y="1536192"/>
            <a:ext cx="4078224" cy="292608"/>
          </a:xfrm>
          <a:prstGeom prst="rect">
            <a:avLst/>
          </a:prstGeom>
          <a:solidFill>
            <a:srgbClr val="EDF1F7"/>
          </a:solidFill>
          <a:ln/>
        </p:spPr>
      </p:sp>
      <p:sp>
        <p:nvSpPr>
          <p:cNvPr id="16" name="Shape 14"/>
          <p:cNvSpPr/>
          <p:nvPr/>
        </p:nvSpPr>
        <p:spPr>
          <a:xfrm>
            <a:off x="365760" y="1536192"/>
            <a:ext cx="969264" cy="292608"/>
          </a:xfrm>
          <a:prstGeom prst="rect">
            <a:avLst/>
          </a:prstGeom>
          <a:solidFill>
            <a:srgbClr val="0A2540"/>
          </a:solidFill>
          <a:ln/>
        </p:spPr>
      </p:sp>
      <p:sp>
        <p:nvSpPr>
          <p:cNvPr id="17" name="Text 15"/>
          <p:cNvSpPr/>
          <p:nvPr/>
        </p:nvSpPr>
        <p:spPr>
          <a:xfrm>
            <a:off x="420624" y="1591056"/>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Agentic AI</a:t>
            </a:r>
            <a:endParaRPr lang="en-US" sz="850" dirty="0"/>
          </a:p>
        </p:txBody>
      </p:sp>
      <p:sp>
        <p:nvSpPr>
          <p:cNvPr id="18" name="Text 16"/>
          <p:cNvSpPr/>
          <p:nvPr/>
        </p:nvSpPr>
        <p:spPr>
          <a:xfrm>
            <a:off x="1408176" y="1581912"/>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Architecture where AI autonomously drives multi-step, cross-domain workflows.</a:t>
            </a:r>
            <a:endParaRPr lang="en-US" sz="750" dirty="0"/>
          </a:p>
        </p:txBody>
      </p:sp>
      <p:sp>
        <p:nvSpPr>
          <p:cNvPr id="19" name="Shape 17"/>
          <p:cNvSpPr/>
          <p:nvPr/>
        </p:nvSpPr>
        <p:spPr>
          <a:xfrm>
            <a:off x="365760" y="1847088"/>
            <a:ext cx="4078224" cy="292608"/>
          </a:xfrm>
          <a:prstGeom prst="rect">
            <a:avLst/>
          </a:prstGeom>
          <a:solidFill>
            <a:srgbClr val="FFFFFF"/>
          </a:solidFill>
          <a:ln/>
        </p:spPr>
      </p:sp>
      <p:sp>
        <p:nvSpPr>
          <p:cNvPr id="20" name="Shape 18"/>
          <p:cNvSpPr/>
          <p:nvPr/>
        </p:nvSpPr>
        <p:spPr>
          <a:xfrm>
            <a:off x="365760" y="1847088"/>
            <a:ext cx="969264" cy="292608"/>
          </a:xfrm>
          <a:prstGeom prst="rect">
            <a:avLst/>
          </a:prstGeom>
          <a:solidFill>
            <a:srgbClr val="0A2540"/>
          </a:solidFill>
          <a:ln/>
        </p:spPr>
      </p:sp>
      <p:sp>
        <p:nvSpPr>
          <p:cNvPr id="21" name="Text 19"/>
          <p:cNvSpPr/>
          <p:nvPr/>
        </p:nvSpPr>
        <p:spPr>
          <a:xfrm>
            <a:off x="420624" y="1901952"/>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Attention</a:t>
            </a:r>
            <a:endParaRPr lang="en-US" sz="850" dirty="0"/>
          </a:p>
        </p:txBody>
      </p:sp>
      <p:sp>
        <p:nvSpPr>
          <p:cNvPr id="22" name="Text 20"/>
          <p:cNvSpPr/>
          <p:nvPr/>
        </p:nvSpPr>
        <p:spPr>
          <a:xfrm>
            <a:off x="1408176" y="1892808"/>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Transformer mechanism: every token scores its relevance to every other token.</a:t>
            </a:r>
            <a:endParaRPr lang="en-US" sz="750" dirty="0"/>
          </a:p>
        </p:txBody>
      </p:sp>
      <p:sp>
        <p:nvSpPr>
          <p:cNvPr id="23" name="Shape 21"/>
          <p:cNvSpPr/>
          <p:nvPr/>
        </p:nvSpPr>
        <p:spPr>
          <a:xfrm>
            <a:off x="365760" y="2157984"/>
            <a:ext cx="4078224" cy="292608"/>
          </a:xfrm>
          <a:prstGeom prst="rect">
            <a:avLst/>
          </a:prstGeom>
          <a:solidFill>
            <a:srgbClr val="EDF1F7"/>
          </a:solidFill>
          <a:ln/>
        </p:spPr>
      </p:sp>
      <p:sp>
        <p:nvSpPr>
          <p:cNvPr id="24" name="Shape 22"/>
          <p:cNvSpPr/>
          <p:nvPr/>
        </p:nvSpPr>
        <p:spPr>
          <a:xfrm>
            <a:off x="365760" y="2157984"/>
            <a:ext cx="969264" cy="292608"/>
          </a:xfrm>
          <a:prstGeom prst="rect">
            <a:avLst/>
          </a:prstGeom>
          <a:solidFill>
            <a:srgbClr val="0A2540"/>
          </a:solidFill>
          <a:ln/>
        </p:spPr>
      </p:sp>
      <p:sp>
        <p:nvSpPr>
          <p:cNvPr id="25" name="Text 23"/>
          <p:cNvSpPr/>
          <p:nvPr/>
        </p:nvSpPr>
        <p:spPr>
          <a:xfrm>
            <a:off x="420624" y="2212848"/>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Benchmark</a:t>
            </a:r>
            <a:endParaRPr lang="en-US" sz="850" dirty="0"/>
          </a:p>
        </p:txBody>
      </p:sp>
      <p:sp>
        <p:nvSpPr>
          <p:cNvPr id="26" name="Text 24"/>
          <p:cNvSpPr/>
          <p:nvPr/>
        </p:nvSpPr>
        <p:spPr>
          <a:xfrm>
            <a:off x="1408176" y="2203704"/>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Standardised test comparing model capabilities (MMLU, HumanEval, MT-Bench).</a:t>
            </a:r>
            <a:endParaRPr lang="en-US" sz="750" dirty="0"/>
          </a:p>
        </p:txBody>
      </p:sp>
      <p:sp>
        <p:nvSpPr>
          <p:cNvPr id="27" name="Shape 25"/>
          <p:cNvSpPr/>
          <p:nvPr/>
        </p:nvSpPr>
        <p:spPr>
          <a:xfrm>
            <a:off x="365760" y="2468880"/>
            <a:ext cx="4078224" cy="292608"/>
          </a:xfrm>
          <a:prstGeom prst="rect">
            <a:avLst/>
          </a:prstGeom>
          <a:solidFill>
            <a:srgbClr val="FFFFFF"/>
          </a:solidFill>
          <a:ln/>
        </p:spPr>
      </p:sp>
      <p:sp>
        <p:nvSpPr>
          <p:cNvPr id="28" name="Shape 26"/>
          <p:cNvSpPr/>
          <p:nvPr/>
        </p:nvSpPr>
        <p:spPr>
          <a:xfrm>
            <a:off x="365760" y="2468880"/>
            <a:ext cx="969264" cy="292608"/>
          </a:xfrm>
          <a:prstGeom prst="rect">
            <a:avLst/>
          </a:prstGeom>
          <a:solidFill>
            <a:srgbClr val="0A2540"/>
          </a:solidFill>
          <a:ln/>
        </p:spPr>
      </p:sp>
      <p:sp>
        <p:nvSpPr>
          <p:cNvPr id="29" name="Text 27"/>
          <p:cNvSpPr/>
          <p:nvPr/>
        </p:nvSpPr>
        <p:spPr>
          <a:xfrm>
            <a:off x="420624" y="2523744"/>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Chain-of-Thought</a:t>
            </a:r>
            <a:endParaRPr lang="en-US" sz="850" dirty="0"/>
          </a:p>
        </p:txBody>
      </p:sp>
      <p:sp>
        <p:nvSpPr>
          <p:cNvPr id="30" name="Text 28"/>
          <p:cNvSpPr/>
          <p:nvPr/>
        </p:nvSpPr>
        <p:spPr>
          <a:xfrm>
            <a:off x="1408176" y="2514600"/>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Prompting AI to reason step-by-step — improves accuracy 30–40%.</a:t>
            </a:r>
            <a:endParaRPr lang="en-US" sz="750" dirty="0"/>
          </a:p>
        </p:txBody>
      </p:sp>
      <p:sp>
        <p:nvSpPr>
          <p:cNvPr id="31" name="Shape 29"/>
          <p:cNvSpPr/>
          <p:nvPr/>
        </p:nvSpPr>
        <p:spPr>
          <a:xfrm>
            <a:off x="365760" y="2779776"/>
            <a:ext cx="4078224" cy="292608"/>
          </a:xfrm>
          <a:prstGeom prst="rect">
            <a:avLst/>
          </a:prstGeom>
          <a:solidFill>
            <a:srgbClr val="EDF1F7"/>
          </a:solidFill>
          <a:ln/>
        </p:spPr>
      </p:sp>
      <p:sp>
        <p:nvSpPr>
          <p:cNvPr id="32" name="Shape 30"/>
          <p:cNvSpPr/>
          <p:nvPr/>
        </p:nvSpPr>
        <p:spPr>
          <a:xfrm>
            <a:off x="365760" y="2779776"/>
            <a:ext cx="969264" cy="292608"/>
          </a:xfrm>
          <a:prstGeom prst="rect">
            <a:avLst/>
          </a:prstGeom>
          <a:solidFill>
            <a:srgbClr val="0A2540"/>
          </a:solidFill>
          <a:ln/>
        </p:spPr>
      </p:sp>
      <p:sp>
        <p:nvSpPr>
          <p:cNvPr id="33" name="Text 31"/>
          <p:cNvSpPr/>
          <p:nvPr/>
        </p:nvSpPr>
        <p:spPr>
          <a:xfrm>
            <a:off x="420624" y="2834640"/>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Context Window</a:t>
            </a:r>
            <a:endParaRPr lang="en-US" sz="850" dirty="0"/>
          </a:p>
        </p:txBody>
      </p:sp>
      <p:sp>
        <p:nvSpPr>
          <p:cNvPr id="34" name="Text 32"/>
          <p:cNvSpPr/>
          <p:nvPr/>
        </p:nvSpPr>
        <p:spPr>
          <a:xfrm>
            <a:off x="1408176" y="2825496"/>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Max text an LLM can see at once — its working memory. 8K to 2M+ tokens.</a:t>
            </a:r>
            <a:endParaRPr lang="en-US" sz="750" dirty="0"/>
          </a:p>
        </p:txBody>
      </p:sp>
      <p:sp>
        <p:nvSpPr>
          <p:cNvPr id="35" name="Shape 33"/>
          <p:cNvSpPr/>
          <p:nvPr/>
        </p:nvSpPr>
        <p:spPr>
          <a:xfrm>
            <a:off x="365760" y="3090672"/>
            <a:ext cx="4078224" cy="292608"/>
          </a:xfrm>
          <a:prstGeom prst="rect">
            <a:avLst/>
          </a:prstGeom>
          <a:solidFill>
            <a:srgbClr val="FFFFFF"/>
          </a:solidFill>
          <a:ln/>
        </p:spPr>
      </p:sp>
      <p:sp>
        <p:nvSpPr>
          <p:cNvPr id="36" name="Shape 34"/>
          <p:cNvSpPr/>
          <p:nvPr/>
        </p:nvSpPr>
        <p:spPr>
          <a:xfrm>
            <a:off x="365760" y="3090672"/>
            <a:ext cx="969264" cy="292608"/>
          </a:xfrm>
          <a:prstGeom prst="rect">
            <a:avLst/>
          </a:prstGeom>
          <a:solidFill>
            <a:srgbClr val="0A2540"/>
          </a:solidFill>
          <a:ln/>
        </p:spPr>
      </p:sp>
      <p:sp>
        <p:nvSpPr>
          <p:cNvPr id="37" name="Text 35"/>
          <p:cNvSpPr/>
          <p:nvPr/>
        </p:nvSpPr>
        <p:spPr>
          <a:xfrm>
            <a:off x="420624" y="3145536"/>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Embedding</a:t>
            </a:r>
            <a:endParaRPr lang="en-US" sz="850" dirty="0"/>
          </a:p>
        </p:txBody>
      </p:sp>
      <p:sp>
        <p:nvSpPr>
          <p:cNvPr id="38" name="Text 36"/>
          <p:cNvSpPr/>
          <p:nvPr/>
        </p:nvSpPr>
        <p:spPr>
          <a:xfrm>
            <a:off x="1408176" y="3136392"/>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Numerical vector capturing text meaning — similar concepts cluster together.</a:t>
            </a:r>
            <a:endParaRPr lang="en-US" sz="750" dirty="0"/>
          </a:p>
        </p:txBody>
      </p:sp>
      <p:sp>
        <p:nvSpPr>
          <p:cNvPr id="39" name="Shape 37"/>
          <p:cNvSpPr/>
          <p:nvPr/>
        </p:nvSpPr>
        <p:spPr>
          <a:xfrm>
            <a:off x="365760" y="3401568"/>
            <a:ext cx="4078224" cy="292608"/>
          </a:xfrm>
          <a:prstGeom prst="rect">
            <a:avLst/>
          </a:prstGeom>
          <a:solidFill>
            <a:srgbClr val="EDF1F7"/>
          </a:solidFill>
          <a:ln/>
        </p:spPr>
      </p:sp>
      <p:sp>
        <p:nvSpPr>
          <p:cNvPr id="40" name="Shape 38"/>
          <p:cNvSpPr/>
          <p:nvPr/>
        </p:nvSpPr>
        <p:spPr>
          <a:xfrm>
            <a:off x="365760" y="3401568"/>
            <a:ext cx="969264" cy="292608"/>
          </a:xfrm>
          <a:prstGeom prst="rect">
            <a:avLst/>
          </a:prstGeom>
          <a:solidFill>
            <a:srgbClr val="0A2540"/>
          </a:solidFill>
          <a:ln/>
        </p:spPr>
      </p:sp>
      <p:sp>
        <p:nvSpPr>
          <p:cNvPr id="41" name="Text 39"/>
          <p:cNvSpPr/>
          <p:nvPr/>
        </p:nvSpPr>
        <p:spPr>
          <a:xfrm>
            <a:off x="420624" y="3456432"/>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Fine-tuning</a:t>
            </a:r>
            <a:endParaRPr lang="en-US" sz="850" dirty="0"/>
          </a:p>
        </p:txBody>
      </p:sp>
      <p:sp>
        <p:nvSpPr>
          <p:cNvPr id="42" name="Text 40"/>
          <p:cNvSpPr/>
          <p:nvPr/>
        </p:nvSpPr>
        <p:spPr>
          <a:xfrm>
            <a:off x="1408176" y="3447288"/>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Re-training a model on domain-specific data to specialise behaviour.</a:t>
            </a:r>
            <a:endParaRPr lang="en-US" sz="750" dirty="0"/>
          </a:p>
        </p:txBody>
      </p:sp>
      <p:sp>
        <p:nvSpPr>
          <p:cNvPr id="43" name="Shape 41"/>
          <p:cNvSpPr/>
          <p:nvPr/>
        </p:nvSpPr>
        <p:spPr>
          <a:xfrm>
            <a:off x="365760" y="3712464"/>
            <a:ext cx="4078224" cy="292608"/>
          </a:xfrm>
          <a:prstGeom prst="rect">
            <a:avLst/>
          </a:prstGeom>
          <a:solidFill>
            <a:srgbClr val="FFFFFF"/>
          </a:solidFill>
          <a:ln/>
        </p:spPr>
      </p:sp>
      <p:sp>
        <p:nvSpPr>
          <p:cNvPr id="44" name="Shape 42"/>
          <p:cNvSpPr/>
          <p:nvPr/>
        </p:nvSpPr>
        <p:spPr>
          <a:xfrm>
            <a:off x="365760" y="3712464"/>
            <a:ext cx="969264" cy="292608"/>
          </a:xfrm>
          <a:prstGeom prst="rect">
            <a:avLst/>
          </a:prstGeom>
          <a:solidFill>
            <a:srgbClr val="0A2540"/>
          </a:solidFill>
          <a:ln/>
        </p:spPr>
      </p:sp>
      <p:sp>
        <p:nvSpPr>
          <p:cNvPr id="45" name="Text 43"/>
          <p:cNvSpPr/>
          <p:nvPr/>
        </p:nvSpPr>
        <p:spPr>
          <a:xfrm>
            <a:off x="420624" y="3767328"/>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Foundation Model</a:t>
            </a:r>
            <a:endParaRPr lang="en-US" sz="850" dirty="0"/>
          </a:p>
        </p:txBody>
      </p:sp>
      <p:sp>
        <p:nvSpPr>
          <p:cNvPr id="46" name="Text 44"/>
          <p:cNvSpPr/>
          <p:nvPr/>
        </p:nvSpPr>
        <p:spPr>
          <a:xfrm>
            <a:off x="1408176" y="3758184"/>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Large pre-trained model adaptable to many tasks. LLMs are one type.</a:t>
            </a:r>
            <a:endParaRPr lang="en-US" sz="750" dirty="0"/>
          </a:p>
        </p:txBody>
      </p:sp>
      <p:sp>
        <p:nvSpPr>
          <p:cNvPr id="47" name="Shape 45"/>
          <p:cNvSpPr/>
          <p:nvPr/>
        </p:nvSpPr>
        <p:spPr>
          <a:xfrm>
            <a:off x="365760" y="4023360"/>
            <a:ext cx="4078224" cy="292608"/>
          </a:xfrm>
          <a:prstGeom prst="rect">
            <a:avLst/>
          </a:prstGeom>
          <a:solidFill>
            <a:srgbClr val="EDF1F7"/>
          </a:solidFill>
          <a:ln/>
        </p:spPr>
      </p:sp>
      <p:sp>
        <p:nvSpPr>
          <p:cNvPr id="48" name="Shape 46"/>
          <p:cNvSpPr/>
          <p:nvPr/>
        </p:nvSpPr>
        <p:spPr>
          <a:xfrm>
            <a:off x="365760" y="4023360"/>
            <a:ext cx="969264" cy="292608"/>
          </a:xfrm>
          <a:prstGeom prst="rect">
            <a:avLst/>
          </a:prstGeom>
          <a:solidFill>
            <a:srgbClr val="0A2540"/>
          </a:solidFill>
          <a:ln/>
        </p:spPr>
      </p:sp>
      <p:sp>
        <p:nvSpPr>
          <p:cNvPr id="49" name="Text 47"/>
          <p:cNvSpPr/>
          <p:nvPr/>
        </p:nvSpPr>
        <p:spPr>
          <a:xfrm>
            <a:off x="420624" y="4078224"/>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Guardrails</a:t>
            </a:r>
            <a:endParaRPr lang="en-US" sz="850" dirty="0"/>
          </a:p>
        </p:txBody>
      </p:sp>
      <p:sp>
        <p:nvSpPr>
          <p:cNvPr id="50" name="Text 48"/>
          <p:cNvSpPr/>
          <p:nvPr/>
        </p:nvSpPr>
        <p:spPr>
          <a:xfrm>
            <a:off x="1408176" y="4069080"/>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Technical controls preventing harmful, off-topic, or unsafe AI outputs.</a:t>
            </a:r>
            <a:endParaRPr lang="en-US" sz="750" dirty="0"/>
          </a:p>
        </p:txBody>
      </p:sp>
      <p:sp>
        <p:nvSpPr>
          <p:cNvPr id="51" name="Shape 49"/>
          <p:cNvSpPr/>
          <p:nvPr/>
        </p:nvSpPr>
        <p:spPr>
          <a:xfrm>
            <a:off x="365760" y="4334256"/>
            <a:ext cx="4078224" cy="292608"/>
          </a:xfrm>
          <a:prstGeom prst="rect">
            <a:avLst/>
          </a:prstGeom>
          <a:solidFill>
            <a:srgbClr val="FFFFFF"/>
          </a:solidFill>
          <a:ln/>
        </p:spPr>
      </p:sp>
      <p:sp>
        <p:nvSpPr>
          <p:cNvPr id="52" name="Shape 50"/>
          <p:cNvSpPr/>
          <p:nvPr/>
        </p:nvSpPr>
        <p:spPr>
          <a:xfrm>
            <a:off x="365760" y="4334256"/>
            <a:ext cx="969264" cy="292608"/>
          </a:xfrm>
          <a:prstGeom prst="rect">
            <a:avLst/>
          </a:prstGeom>
          <a:solidFill>
            <a:srgbClr val="0A2540"/>
          </a:solidFill>
          <a:ln/>
        </p:spPr>
      </p:sp>
      <p:sp>
        <p:nvSpPr>
          <p:cNvPr id="53" name="Text 51"/>
          <p:cNvSpPr/>
          <p:nvPr/>
        </p:nvSpPr>
        <p:spPr>
          <a:xfrm>
            <a:off x="420624" y="4389120"/>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Hallucination</a:t>
            </a:r>
            <a:endParaRPr lang="en-US" sz="850" dirty="0"/>
          </a:p>
        </p:txBody>
      </p:sp>
      <p:sp>
        <p:nvSpPr>
          <p:cNvPr id="54" name="Text 52"/>
          <p:cNvSpPr/>
          <p:nvPr/>
        </p:nvSpPr>
        <p:spPr>
          <a:xfrm>
            <a:off x="1408176" y="4379976"/>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AI confidently generating false information — a structural current limitation.</a:t>
            </a:r>
            <a:endParaRPr lang="en-US" sz="750" dirty="0"/>
          </a:p>
        </p:txBody>
      </p:sp>
      <p:sp>
        <p:nvSpPr>
          <p:cNvPr id="55" name="Shape 53"/>
          <p:cNvSpPr/>
          <p:nvPr/>
        </p:nvSpPr>
        <p:spPr>
          <a:xfrm>
            <a:off x="365760" y="4645152"/>
            <a:ext cx="4078224" cy="292608"/>
          </a:xfrm>
          <a:prstGeom prst="rect">
            <a:avLst/>
          </a:prstGeom>
          <a:solidFill>
            <a:srgbClr val="EDF1F7"/>
          </a:solidFill>
          <a:ln/>
        </p:spPr>
      </p:sp>
      <p:sp>
        <p:nvSpPr>
          <p:cNvPr id="56" name="Shape 54"/>
          <p:cNvSpPr/>
          <p:nvPr/>
        </p:nvSpPr>
        <p:spPr>
          <a:xfrm>
            <a:off x="365760" y="4645152"/>
            <a:ext cx="969264" cy="292608"/>
          </a:xfrm>
          <a:prstGeom prst="rect">
            <a:avLst/>
          </a:prstGeom>
          <a:solidFill>
            <a:srgbClr val="0A2540"/>
          </a:solidFill>
          <a:ln/>
        </p:spPr>
      </p:sp>
      <p:sp>
        <p:nvSpPr>
          <p:cNvPr id="57" name="Text 55"/>
          <p:cNvSpPr/>
          <p:nvPr/>
        </p:nvSpPr>
        <p:spPr>
          <a:xfrm>
            <a:off x="420624" y="4700016"/>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LLM</a:t>
            </a:r>
            <a:endParaRPr lang="en-US" sz="850" dirty="0"/>
          </a:p>
        </p:txBody>
      </p:sp>
      <p:sp>
        <p:nvSpPr>
          <p:cNvPr id="58" name="Text 56"/>
          <p:cNvSpPr/>
          <p:nvPr/>
        </p:nvSpPr>
        <p:spPr>
          <a:xfrm>
            <a:off x="1408176" y="4690872"/>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Large Language Model — massive neural net trained to understand and generate language.</a:t>
            </a:r>
            <a:endParaRPr lang="en-US" sz="750" dirty="0"/>
          </a:p>
        </p:txBody>
      </p:sp>
      <p:sp>
        <p:nvSpPr>
          <p:cNvPr id="59" name="Shape 57"/>
          <p:cNvSpPr/>
          <p:nvPr/>
        </p:nvSpPr>
        <p:spPr>
          <a:xfrm>
            <a:off x="4700016" y="914400"/>
            <a:ext cx="4078224" cy="292608"/>
          </a:xfrm>
          <a:prstGeom prst="rect">
            <a:avLst/>
          </a:prstGeom>
          <a:solidFill>
            <a:srgbClr val="EDF1F7"/>
          </a:solidFill>
          <a:ln/>
        </p:spPr>
      </p:sp>
      <p:sp>
        <p:nvSpPr>
          <p:cNvPr id="60" name="Shape 58"/>
          <p:cNvSpPr/>
          <p:nvPr/>
        </p:nvSpPr>
        <p:spPr>
          <a:xfrm>
            <a:off x="4700016" y="914400"/>
            <a:ext cx="969264" cy="292608"/>
          </a:xfrm>
          <a:prstGeom prst="rect">
            <a:avLst/>
          </a:prstGeom>
          <a:solidFill>
            <a:srgbClr val="0A2540"/>
          </a:solidFill>
          <a:ln/>
        </p:spPr>
      </p:sp>
      <p:sp>
        <p:nvSpPr>
          <p:cNvPr id="61" name="Text 59"/>
          <p:cNvSpPr/>
          <p:nvPr/>
        </p:nvSpPr>
        <p:spPr>
          <a:xfrm>
            <a:off x="4754880" y="969264"/>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MLOps</a:t>
            </a:r>
            <a:endParaRPr lang="en-US" sz="850" dirty="0"/>
          </a:p>
        </p:txBody>
      </p:sp>
      <p:sp>
        <p:nvSpPr>
          <p:cNvPr id="62" name="Text 60"/>
          <p:cNvSpPr/>
          <p:nvPr/>
        </p:nvSpPr>
        <p:spPr>
          <a:xfrm>
            <a:off x="5742432" y="960120"/>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Practices for deploying, monitoring, versioning, and maintaining ML in production.</a:t>
            </a:r>
            <a:endParaRPr lang="en-US" sz="750" dirty="0"/>
          </a:p>
        </p:txBody>
      </p:sp>
      <p:sp>
        <p:nvSpPr>
          <p:cNvPr id="63" name="Shape 61"/>
          <p:cNvSpPr/>
          <p:nvPr/>
        </p:nvSpPr>
        <p:spPr>
          <a:xfrm>
            <a:off x="4700016" y="1225296"/>
            <a:ext cx="4078224" cy="292608"/>
          </a:xfrm>
          <a:prstGeom prst="rect">
            <a:avLst/>
          </a:prstGeom>
          <a:solidFill>
            <a:srgbClr val="FFFFFF"/>
          </a:solidFill>
          <a:ln/>
        </p:spPr>
      </p:sp>
      <p:sp>
        <p:nvSpPr>
          <p:cNvPr id="64" name="Shape 62"/>
          <p:cNvSpPr/>
          <p:nvPr/>
        </p:nvSpPr>
        <p:spPr>
          <a:xfrm>
            <a:off x="4700016" y="1225296"/>
            <a:ext cx="969264" cy="292608"/>
          </a:xfrm>
          <a:prstGeom prst="rect">
            <a:avLst/>
          </a:prstGeom>
          <a:solidFill>
            <a:srgbClr val="0A2540"/>
          </a:solidFill>
          <a:ln/>
        </p:spPr>
      </p:sp>
      <p:sp>
        <p:nvSpPr>
          <p:cNvPr id="65" name="Text 63"/>
          <p:cNvSpPr/>
          <p:nvPr/>
        </p:nvSpPr>
        <p:spPr>
          <a:xfrm>
            <a:off x="4754880" y="1280160"/>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Multimodal</a:t>
            </a:r>
            <a:endParaRPr lang="en-US" sz="850" dirty="0"/>
          </a:p>
        </p:txBody>
      </p:sp>
      <p:sp>
        <p:nvSpPr>
          <p:cNvPr id="66" name="Text 64"/>
          <p:cNvSpPr/>
          <p:nvPr/>
        </p:nvSpPr>
        <p:spPr>
          <a:xfrm>
            <a:off x="5742432" y="1271016"/>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AI handling text, images, audio, and video in a single model.</a:t>
            </a:r>
            <a:endParaRPr lang="en-US" sz="750" dirty="0"/>
          </a:p>
        </p:txBody>
      </p:sp>
      <p:sp>
        <p:nvSpPr>
          <p:cNvPr id="67" name="Shape 65"/>
          <p:cNvSpPr/>
          <p:nvPr/>
        </p:nvSpPr>
        <p:spPr>
          <a:xfrm>
            <a:off x="4700016" y="1536192"/>
            <a:ext cx="4078224" cy="292608"/>
          </a:xfrm>
          <a:prstGeom prst="rect">
            <a:avLst/>
          </a:prstGeom>
          <a:solidFill>
            <a:srgbClr val="EDF1F7"/>
          </a:solidFill>
          <a:ln/>
        </p:spPr>
      </p:sp>
      <p:sp>
        <p:nvSpPr>
          <p:cNvPr id="68" name="Shape 66"/>
          <p:cNvSpPr/>
          <p:nvPr/>
        </p:nvSpPr>
        <p:spPr>
          <a:xfrm>
            <a:off x="4700016" y="1536192"/>
            <a:ext cx="969264" cy="292608"/>
          </a:xfrm>
          <a:prstGeom prst="rect">
            <a:avLst/>
          </a:prstGeom>
          <a:solidFill>
            <a:srgbClr val="0A2540"/>
          </a:solidFill>
          <a:ln/>
        </p:spPr>
      </p:sp>
      <p:sp>
        <p:nvSpPr>
          <p:cNvPr id="69" name="Text 67"/>
          <p:cNvSpPr/>
          <p:nvPr/>
        </p:nvSpPr>
        <p:spPr>
          <a:xfrm>
            <a:off x="4754880" y="1591056"/>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Parameters</a:t>
            </a:r>
            <a:endParaRPr lang="en-US" sz="850" dirty="0"/>
          </a:p>
        </p:txBody>
      </p:sp>
      <p:sp>
        <p:nvSpPr>
          <p:cNvPr id="70" name="Text 68"/>
          <p:cNvSpPr/>
          <p:nvPr/>
        </p:nvSpPr>
        <p:spPr>
          <a:xfrm>
            <a:off x="5742432" y="1581912"/>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Numbers storing an LLM's learned knowledge. GPT-3: 175B. GPT-4: ~1.8T.</a:t>
            </a:r>
            <a:endParaRPr lang="en-US" sz="750" dirty="0"/>
          </a:p>
        </p:txBody>
      </p:sp>
      <p:sp>
        <p:nvSpPr>
          <p:cNvPr id="71" name="Shape 69"/>
          <p:cNvSpPr/>
          <p:nvPr/>
        </p:nvSpPr>
        <p:spPr>
          <a:xfrm>
            <a:off x="4700016" y="1847088"/>
            <a:ext cx="4078224" cy="292608"/>
          </a:xfrm>
          <a:prstGeom prst="rect">
            <a:avLst/>
          </a:prstGeom>
          <a:solidFill>
            <a:srgbClr val="FFFFFF"/>
          </a:solidFill>
          <a:ln/>
        </p:spPr>
      </p:sp>
      <p:sp>
        <p:nvSpPr>
          <p:cNvPr id="72" name="Shape 70"/>
          <p:cNvSpPr/>
          <p:nvPr/>
        </p:nvSpPr>
        <p:spPr>
          <a:xfrm>
            <a:off x="4700016" y="1847088"/>
            <a:ext cx="969264" cy="292608"/>
          </a:xfrm>
          <a:prstGeom prst="rect">
            <a:avLst/>
          </a:prstGeom>
          <a:solidFill>
            <a:srgbClr val="0A2540"/>
          </a:solidFill>
          <a:ln/>
        </p:spPr>
      </p:sp>
      <p:sp>
        <p:nvSpPr>
          <p:cNvPr id="73" name="Text 71"/>
          <p:cNvSpPr/>
          <p:nvPr/>
        </p:nvSpPr>
        <p:spPr>
          <a:xfrm>
            <a:off x="4754880" y="1901952"/>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Prompt</a:t>
            </a:r>
            <a:endParaRPr lang="en-US" sz="850" dirty="0"/>
          </a:p>
        </p:txBody>
      </p:sp>
      <p:sp>
        <p:nvSpPr>
          <p:cNvPr id="74" name="Text 72"/>
          <p:cNvSpPr/>
          <p:nvPr/>
        </p:nvSpPr>
        <p:spPr>
          <a:xfrm>
            <a:off x="5742432" y="1892808"/>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The instruction or question given to an AI.</a:t>
            </a:r>
            <a:endParaRPr lang="en-US" sz="750" dirty="0"/>
          </a:p>
        </p:txBody>
      </p:sp>
      <p:sp>
        <p:nvSpPr>
          <p:cNvPr id="75" name="Shape 73"/>
          <p:cNvSpPr/>
          <p:nvPr/>
        </p:nvSpPr>
        <p:spPr>
          <a:xfrm>
            <a:off x="4700016" y="2157984"/>
            <a:ext cx="4078224" cy="292608"/>
          </a:xfrm>
          <a:prstGeom prst="rect">
            <a:avLst/>
          </a:prstGeom>
          <a:solidFill>
            <a:srgbClr val="EDF1F7"/>
          </a:solidFill>
          <a:ln/>
        </p:spPr>
      </p:sp>
      <p:sp>
        <p:nvSpPr>
          <p:cNvPr id="76" name="Shape 74"/>
          <p:cNvSpPr/>
          <p:nvPr/>
        </p:nvSpPr>
        <p:spPr>
          <a:xfrm>
            <a:off x="4700016" y="2157984"/>
            <a:ext cx="969264" cy="292608"/>
          </a:xfrm>
          <a:prstGeom prst="rect">
            <a:avLst/>
          </a:prstGeom>
          <a:solidFill>
            <a:srgbClr val="0A2540"/>
          </a:solidFill>
          <a:ln/>
        </p:spPr>
      </p:sp>
      <p:sp>
        <p:nvSpPr>
          <p:cNvPr id="77" name="Text 75"/>
          <p:cNvSpPr/>
          <p:nvPr/>
        </p:nvSpPr>
        <p:spPr>
          <a:xfrm>
            <a:off x="4754880" y="2212848"/>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Quantization</a:t>
            </a:r>
            <a:endParaRPr lang="en-US" sz="850" dirty="0"/>
          </a:p>
        </p:txBody>
      </p:sp>
      <p:sp>
        <p:nvSpPr>
          <p:cNvPr id="78" name="Text 76"/>
          <p:cNvSpPr/>
          <p:nvPr/>
        </p:nvSpPr>
        <p:spPr>
          <a:xfrm>
            <a:off x="5742432" y="2203704"/>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Reducing model precision to make it smaller and faster to deploy.</a:t>
            </a:r>
            <a:endParaRPr lang="en-US" sz="750" dirty="0"/>
          </a:p>
        </p:txBody>
      </p:sp>
      <p:sp>
        <p:nvSpPr>
          <p:cNvPr id="79" name="Shape 77"/>
          <p:cNvSpPr/>
          <p:nvPr/>
        </p:nvSpPr>
        <p:spPr>
          <a:xfrm>
            <a:off x="4700016" y="2468880"/>
            <a:ext cx="4078224" cy="292608"/>
          </a:xfrm>
          <a:prstGeom prst="rect">
            <a:avLst/>
          </a:prstGeom>
          <a:solidFill>
            <a:srgbClr val="FFFFFF"/>
          </a:solidFill>
          <a:ln/>
        </p:spPr>
      </p:sp>
      <p:sp>
        <p:nvSpPr>
          <p:cNvPr id="80" name="Shape 78"/>
          <p:cNvSpPr/>
          <p:nvPr/>
        </p:nvSpPr>
        <p:spPr>
          <a:xfrm>
            <a:off x="4700016" y="2468880"/>
            <a:ext cx="969264" cy="292608"/>
          </a:xfrm>
          <a:prstGeom prst="rect">
            <a:avLst/>
          </a:prstGeom>
          <a:solidFill>
            <a:srgbClr val="0A2540"/>
          </a:solidFill>
          <a:ln/>
        </p:spPr>
      </p:sp>
      <p:sp>
        <p:nvSpPr>
          <p:cNvPr id="81" name="Text 79"/>
          <p:cNvSpPr/>
          <p:nvPr/>
        </p:nvSpPr>
        <p:spPr>
          <a:xfrm>
            <a:off x="4754880" y="2523744"/>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RAG</a:t>
            </a:r>
            <a:endParaRPr lang="en-US" sz="850" dirty="0"/>
          </a:p>
        </p:txBody>
      </p:sp>
      <p:sp>
        <p:nvSpPr>
          <p:cNvPr id="82" name="Text 80"/>
          <p:cNvSpPr/>
          <p:nvPr/>
        </p:nvSpPr>
        <p:spPr>
          <a:xfrm>
            <a:off x="5742432" y="2514600"/>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Retrieval-Augmented Generation — grounding LLM answers in retrieved documents.</a:t>
            </a:r>
            <a:endParaRPr lang="en-US" sz="750" dirty="0"/>
          </a:p>
        </p:txBody>
      </p:sp>
      <p:sp>
        <p:nvSpPr>
          <p:cNvPr id="83" name="Shape 81"/>
          <p:cNvSpPr/>
          <p:nvPr/>
        </p:nvSpPr>
        <p:spPr>
          <a:xfrm>
            <a:off x="4700016" y="2779776"/>
            <a:ext cx="4078224" cy="292608"/>
          </a:xfrm>
          <a:prstGeom prst="rect">
            <a:avLst/>
          </a:prstGeom>
          <a:solidFill>
            <a:srgbClr val="EDF1F7"/>
          </a:solidFill>
          <a:ln/>
        </p:spPr>
      </p:sp>
      <p:sp>
        <p:nvSpPr>
          <p:cNvPr id="84" name="Shape 82"/>
          <p:cNvSpPr/>
          <p:nvPr/>
        </p:nvSpPr>
        <p:spPr>
          <a:xfrm>
            <a:off x="4700016" y="2779776"/>
            <a:ext cx="969264" cy="292608"/>
          </a:xfrm>
          <a:prstGeom prst="rect">
            <a:avLst/>
          </a:prstGeom>
          <a:solidFill>
            <a:srgbClr val="0A2540"/>
          </a:solidFill>
          <a:ln/>
        </p:spPr>
      </p:sp>
      <p:sp>
        <p:nvSpPr>
          <p:cNvPr id="85" name="Text 83"/>
          <p:cNvSpPr/>
          <p:nvPr/>
        </p:nvSpPr>
        <p:spPr>
          <a:xfrm>
            <a:off x="4754880" y="2834640"/>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RLHF</a:t>
            </a:r>
            <a:endParaRPr lang="en-US" sz="850" dirty="0"/>
          </a:p>
        </p:txBody>
      </p:sp>
      <p:sp>
        <p:nvSpPr>
          <p:cNvPr id="86" name="Text 84"/>
          <p:cNvSpPr/>
          <p:nvPr/>
        </p:nvSpPr>
        <p:spPr>
          <a:xfrm>
            <a:off x="5742432" y="2825496"/>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Reinforcement Learning from Human Feedback — trains AI on human preference rankings.</a:t>
            </a:r>
            <a:endParaRPr lang="en-US" sz="750" dirty="0"/>
          </a:p>
        </p:txBody>
      </p:sp>
      <p:sp>
        <p:nvSpPr>
          <p:cNvPr id="87" name="Shape 85"/>
          <p:cNvSpPr/>
          <p:nvPr/>
        </p:nvSpPr>
        <p:spPr>
          <a:xfrm>
            <a:off x="4700016" y="3090672"/>
            <a:ext cx="4078224" cy="292608"/>
          </a:xfrm>
          <a:prstGeom prst="rect">
            <a:avLst/>
          </a:prstGeom>
          <a:solidFill>
            <a:srgbClr val="FFFFFF"/>
          </a:solidFill>
          <a:ln/>
        </p:spPr>
      </p:sp>
      <p:sp>
        <p:nvSpPr>
          <p:cNvPr id="88" name="Shape 86"/>
          <p:cNvSpPr/>
          <p:nvPr/>
        </p:nvSpPr>
        <p:spPr>
          <a:xfrm>
            <a:off x="4700016" y="3090672"/>
            <a:ext cx="969264" cy="292608"/>
          </a:xfrm>
          <a:prstGeom prst="rect">
            <a:avLst/>
          </a:prstGeom>
          <a:solidFill>
            <a:srgbClr val="0A2540"/>
          </a:solidFill>
          <a:ln/>
        </p:spPr>
      </p:sp>
      <p:sp>
        <p:nvSpPr>
          <p:cNvPr id="89" name="Text 87"/>
          <p:cNvSpPr/>
          <p:nvPr/>
        </p:nvSpPr>
        <p:spPr>
          <a:xfrm>
            <a:off x="4754880" y="3145536"/>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SLM</a:t>
            </a:r>
            <a:endParaRPr lang="en-US" sz="850" dirty="0"/>
          </a:p>
        </p:txBody>
      </p:sp>
      <p:sp>
        <p:nvSpPr>
          <p:cNvPr id="90" name="Text 88"/>
          <p:cNvSpPr/>
          <p:nvPr/>
        </p:nvSpPr>
        <p:spPr>
          <a:xfrm>
            <a:off x="5742432" y="3136392"/>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Small Language Model — compact, efficient models (Phi, Gemma).</a:t>
            </a:r>
            <a:endParaRPr lang="en-US" sz="750" dirty="0"/>
          </a:p>
        </p:txBody>
      </p:sp>
      <p:sp>
        <p:nvSpPr>
          <p:cNvPr id="91" name="Shape 89"/>
          <p:cNvSpPr/>
          <p:nvPr/>
        </p:nvSpPr>
        <p:spPr>
          <a:xfrm>
            <a:off x="4700016" y="3401568"/>
            <a:ext cx="4078224" cy="292608"/>
          </a:xfrm>
          <a:prstGeom prst="rect">
            <a:avLst/>
          </a:prstGeom>
          <a:solidFill>
            <a:srgbClr val="EDF1F7"/>
          </a:solidFill>
          <a:ln/>
        </p:spPr>
      </p:sp>
      <p:sp>
        <p:nvSpPr>
          <p:cNvPr id="92" name="Shape 90"/>
          <p:cNvSpPr/>
          <p:nvPr/>
        </p:nvSpPr>
        <p:spPr>
          <a:xfrm>
            <a:off x="4700016" y="3401568"/>
            <a:ext cx="969264" cy="292608"/>
          </a:xfrm>
          <a:prstGeom prst="rect">
            <a:avLst/>
          </a:prstGeom>
          <a:solidFill>
            <a:srgbClr val="0A2540"/>
          </a:solidFill>
          <a:ln/>
        </p:spPr>
      </p:sp>
      <p:sp>
        <p:nvSpPr>
          <p:cNvPr id="93" name="Text 91"/>
          <p:cNvSpPr/>
          <p:nvPr/>
        </p:nvSpPr>
        <p:spPr>
          <a:xfrm>
            <a:off x="4754880" y="3456432"/>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Temperature</a:t>
            </a:r>
            <a:endParaRPr lang="en-US" sz="850" dirty="0"/>
          </a:p>
        </p:txBody>
      </p:sp>
      <p:sp>
        <p:nvSpPr>
          <p:cNvPr id="94" name="Text 92"/>
          <p:cNvSpPr/>
          <p:nvPr/>
        </p:nvSpPr>
        <p:spPr>
          <a:xfrm>
            <a:off x="5742432" y="3447288"/>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Controls LLM output randomness. 0 = factual. 1+ = creative.</a:t>
            </a:r>
            <a:endParaRPr lang="en-US" sz="750" dirty="0"/>
          </a:p>
        </p:txBody>
      </p:sp>
      <p:sp>
        <p:nvSpPr>
          <p:cNvPr id="95" name="Shape 93"/>
          <p:cNvSpPr/>
          <p:nvPr/>
        </p:nvSpPr>
        <p:spPr>
          <a:xfrm>
            <a:off x="4700016" y="3712464"/>
            <a:ext cx="4078224" cy="292608"/>
          </a:xfrm>
          <a:prstGeom prst="rect">
            <a:avLst/>
          </a:prstGeom>
          <a:solidFill>
            <a:srgbClr val="FFFFFF"/>
          </a:solidFill>
          <a:ln/>
        </p:spPr>
      </p:sp>
      <p:sp>
        <p:nvSpPr>
          <p:cNvPr id="96" name="Shape 94"/>
          <p:cNvSpPr/>
          <p:nvPr/>
        </p:nvSpPr>
        <p:spPr>
          <a:xfrm>
            <a:off x="4700016" y="3712464"/>
            <a:ext cx="969264" cy="292608"/>
          </a:xfrm>
          <a:prstGeom prst="rect">
            <a:avLst/>
          </a:prstGeom>
          <a:solidFill>
            <a:srgbClr val="0A2540"/>
          </a:solidFill>
          <a:ln/>
        </p:spPr>
      </p:sp>
      <p:sp>
        <p:nvSpPr>
          <p:cNvPr id="97" name="Text 95"/>
          <p:cNvSpPr/>
          <p:nvPr/>
        </p:nvSpPr>
        <p:spPr>
          <a:xfrm>
            <a:off x="4754880" y="3767328"/>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Token</a:t>
            </a:r>
            <a:endParaRPr lang="en-US" sz="850" dirty="0"/>
          </a:p>
        </p:txBody>
      </p:sp>
      <p:sp>
        <p:nvSpPr>
          <p:cNvPr id="98" name="Text 96"/>
          <p:cNvSpPr/>
          <p:nvPr/>
        </p:nvSpPr>
        <p:spPr>
          <a:xfrm>
            <a:off x="5742432" y="3758184"/>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Basic unit of text processed by LLM. ~¾ of a word. 1,000 words ≈ 750 tokens.</a:t>
            </a:r>
            <a:endParaRPr lang="en-US" sz="750" dirty="0"/>
          </a:p>
        </p:txBody>
      </p:sp>
      <p:sp>
        <p:nvSpPr>
          <p:cNvPr id="99" name="Shape 97"/>
          <p:cNvSpPr/>
          <p:nvPr/>
        </p:nvSpPr>
        <p:spPr>
          <a:xfrm>
            <a:off x="4700016" y="4023360"/>
            <a:ext cx="4078224" cy="292608"/>
          </a:xfrm>
          <a:prstGeom prst="rect">
            <a:avLst/>
          </a:prstGeom>
          <a:solidFill>
            <a:srgbClr val="EDF1F7"/>
          </a:solidFill>
          <a:ln/>
        </p:spPr>
      </p:sp>
      <p:sp>
        <p:nvSpPr>
          <p:cNvPr id="100" name="Shape 98"/>
          <p:cNvSpPr/>
          <p:nvPr/>
        </p:nvSpPr>
        <p:spPr>
          <a:xfrm>
            <a:off x="4700016" y="4023360"/>
            <a:ext cx="969264" cy="292608"/>
          </a:xfrm>
          <a:prstGeom prst="rect">
            <a:avLst/>
          </a:prstGeom>
          <a:solidFill>
            <a:srgbClr val="0A2540"/>
          </a:solidFill>
          <a:ln/>
        </p:spPr>
      </p:sp>
      <p:sp>
        <p:nvSpPr>
          <p:cNvPr id="101" name="Text 99"/>
          <p:cNvSpPr/>
          <p:nvPr/>
        </p:nvSpPr>
        <p:spPr>
          <a:xfrm>
            <a:off x="4754880" y="4078224"/>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Transformer</a:t>
            </a:r>
            <a:endParaRPr lang="en-US" sz="850" dirty="0"/>
          </a:p>
        </p:txBody>
      </p:sp>
      <p:sp>
        <p:nvSpPr>
          <p:cNvPr id="102" name="Text 100"/>
          <p:cNvSpPr/>
          <p:nvPr/>
        </p:nvSpPr>
        <p:spPr>
          <a:xfrm>
            <a:off x="5742432" y="4069080"/>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Architecture enabling whole-sentence processing via the attention mechanism.</a:t>
            </a:r>
            <a:endParaRPr lang="en-US" sz="750" dirty="0"/>
          </a:p>
        </p:txBody>
      </p:sp>
      <p:sp>
        <p:nvSpPr>
          <p:cNvPr id="103" name="Shape 101"/>
          <p:cNvSpPr/>
          <p:nvPr/>
        </p:nvSpPr>
        <p:spPr>
          <a:xfrm>
            <a:off x="4700016" y="4334256"/>
            <a:ext cx="4078224" cy="292608"/>
          </a:xfrm>
          <a:prstGeom prst="rect">
            <a:avLst/>
          </a:prstGeom>
          <a:solidFill>
            <a:srgbClr val="FFFFFF"/>
          </a:solidFill>
          <a:ln/>
        </p:spPr>
      </p:sp>
      <p:sp>
        <p:nvSpPr>
          <p:cNvPr id="104" name="Shape 102"/>
          <p:cNvSpPr/>
          <p:nvPr/>
        </p:nvSpPr>
        <p:spPr>
          <a:xfrm>
            <a:off x="4700016" y="4334256"/>
            <a:ext cx="969264" cy="292608"/>
          </a:xfrm>
          <a:prstGeom prst="rect">
            <a:avLst/>
          </a:prstGeom>
          <a:solidFill>
            <a:srgbClr val="0A2540"/>
          </a:solidFill>
          <a:ln/>
        </p:spPr>
      </p:sp>
      <p:sp>
        <p:nvSpPr>
          <p:cNvPr id="105" name="Text 103"/>
          <p:cNvSpPr/>
          <p:nvPr/>
        </p:nvSpPr>
        <p:spPr>
          <a:xfrm>
            <a:off x="4754880" y="4389120"/>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Vector Database</a:t>
            </a:r>
            <a:endParaRPr lang="en-US" sz="850" dirty="0"/>
          </a:p>
        </p:txBody>
      </p:sp>
      <p:sp>
        <p:nvSpPr>
          <p:cNvPr id="106" name="Text 104"/>
          <p:cNvSpPr/>
          <p:nvPr/>
        </p:nvSpPr>
        <p:spPr>
          <a:xfrm>
            <a:off x="5742432" y="4379976"/>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Database storing embeddings for semantic search. e.g. Pinecone, Weaviate.</a:t>
            </a:r>
            <a:endParaRPr lang="en-US" sz="750" dirty="0"/>
          </a:p>
        </p:txBody>
      </p:sp>
      <p:sp>
        <p:nvSpPr>
          <p:cNvPr id="107" name="Shape 105"/>
          <p:cNvSpPr/>
          <p:nvPr/>
        </p:nvSpPr>
        <p:spPr>
          <a:xfrm>
            <a:off x="4700016" y="4645152"/>
            <a:ext cx="4078224" cy="292608"/>
          </a:xfrm>
          <a:prstGeom prst="rect">
            <a:avLst/>
          </a:prstGeom>
          <a:solidFill>
            <a:srgbClr val="EDF1F7"/>
          </a:solidFill>
          <a:ln/>
        </p:spPr>
      </p:sp>
      <p:sp>
        <p:nvSpPr>
          <p:cNvPr id="108" name="Shape 106"/>
          <p:cNvSpPr/>
          <p:nvPr/>
        </p:nvSpPr>
        <p:spPr>
          <a:xfrm>
            <a:off x="4700016" y="4645152"/>
            <a:ext cx="969264" cy="292608"/>
          </a:xfrm>
          <a:prstGeom prst="rect">
            <a:avLst/>
          </a:prstGeom>
          <a:solidFill>
            <a:srgbClr val="0A2540"/>
          </a:solidFill>
          <a:ln/>
        </p:spPr>
      </p:sp>
      <p:sp>
        <p:nvSpPr>
          <p:cNvPr id="109" name="Text 107"/>
          <p:cNvSpPr/>
          <p:nvPr/>
        </p:nvSpPr>
        <p:spPr>
          <a:xfrm>
            <a:off x="4754880" y="4700016"/>
            <a:ext cx="859536" cy="182880"/>
          </a:xfrm>
          <a:prstGeom prst="rect">
            <a:avLst/>
          </a:prstGeom>
          <a:noFill/>
          <a:ln/>
        </p:spPr>
        <p:txBody>
          <a:bodyPr wrap="square" lIns="0" tIns="0" rIns="0" bIns="0" rtlCol="0" anchor="ctr"/>
          <a:lstStyle/>
          <a:p>
            <a:pPr indent="0" marL="0">
              <a:buNone/>
            </a:pPr>
            <a:r>
              <a:rPr lang="en-US" sz="850" b="1" dirty="0">
                <a:solidFill>
                  <a:srgbClr val="B8860B"/>
                </a:solidFill>
                <a:latin typeface="Calibri" pitchFamily="34" charset="0"/>
                <a:ea typeface="Calibri" pitchFamily="34" charset="-122"/>
                <a:cs typeface="Calibri" pitchFamily="34" charset="-120"/>
              </a:rPr>
              <a:t>Zero-shot</a:t>
            </a:r>
            <a:endParaRPr lang="en-US" sz="850" dirty="0"/>
          </a:p>
        </p:txBody>
      </p:sp>
      <p:sp>
        <p:nvSpPr>
          <p:cNvPr id="110" name="Text 108"/>
          <p:cNvSpPr/>
          <p:nvPr/>
        </p:nvSpPr>
        <p:spPr>
          <a:xfrm>
            <a:off x="5742432" y="4690872"/>
            <a:ext cx="2999232" cy="219456"/>
          </a:xfrm>
          <a:prstGeom prst="rect">
            <a:avLst/>
          </a:prstGeom>
          <a:noFill/>
          <a:ln/>
        </p:spPr>
        <p:txBody>
          <a:bodyPr wrap="square" lIns="0" tIns="0" rIns="0" bIns="0" rtlCol="0" anchor="ctr"/>
          <a:lstStyle/>
          <a:p>
            <a:pPr indent="0" marL="0">
              <a:buNone/>
            </a:pPr>
            <a:r>
              <a:rPr lang="en-US" sz="750" dirty="0">
                <a:solidFill>
                  <a:srgbClr val="47596B"/>
                </a:solidFill>
                <a:latin typeface="Calibri" pitchFamily="34" charset="0"/>
                <a:ea typeface="Calibri" pitchFamily="34" charset="-122"/>
                <a:cs typeface="Calibri" pitchFamily="34" charset="-120"/>
              </a:rPr>
              <a:t>Model performs tasks it was never explicitly trained on — a key LLM capability.</a:t>
            </a:r>
            <a:endParaRPr lang="en-US" sz="7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B8860B"/>
          </a:solidFill>
          <a:ln/>
        </p:spPr>
      </p:sp>
      <p:sp>
        <p:nvSpPr>
          <p:cNvPr id="3" name="Shape 1"/>
          <p:cNvSpPr/>
          <p:nvPr/>
        </p:nvSpPr>
        <p:spPr>
          <a:xfrm>
            <a:off x="0" y="5102352"/>
            <a:ext cx="9144000" cy="36576"/>
          </a:xfrm>
          <a:prstGeom prst="rect">
            <a:avLst/>
          </a:prstGeom>
          <a:solidFill>
            <a:srgbClr val="B8860B"/>
          </a:solidFill>
          <a:ln/>
        </p:spPr>
      </p:sp>
      <p:sp>
        <p:nvSpPr>
          <p:cNvPr id="4" name="Shape 2"/>
          <p:cNvSpPr/>
          <p:nvPr/>
        </p:nvSpPr>
        <p:spPr>
          <a:xfrm>
            <a:off x="365760" y="777240"/>
            <a:ext cx="36576" cy="3291840"/>
          </a:xfrm>
          <a:prstGeom prst="rect">
            <a:avLst/>
          </a:prstGeom>
          <a:solidFill>
            <a:srgbClr val="B8860B"/>
          </a:solidFill>
          <a:ln/>
        </p:spPr>
      </p:sp>
      <p:sp>
        <p:nvSpPr>
          <p:cNvPr id="5" name="Text 3"/>
          <p:cNvSpPr/>
          <p:nvPr/>
        </p:nvSpPr>
        <p:spPr>
          <a:xfrm>
            <a:off x="548640" y="822960"/>
            <a:ext cx="7315200" cy="274320"/>
          </a:xfrm>
          <a:prstGeom prst="rect">
            <a:avLst/>
          </a:prstGeom>
          <a:noFill/>
          <a:ln/>
        </p:spPr>
        <p:txBody>
          <a:bodyPr wrap="square" lIns="0" tIns="0" rIns="0" bIns="0" rtlCol="0" anchor="ctr"/>
          <a:lstStyle/>
          <a:p>
            <a:pPr indent="0" marL="0">
              <a:buNone/>
            </a:pPr>
            <a:r>
              <a:rPr lang="en-US" sz="1000" b="1" spc="500" kern="0" dirty="0">
                <a:solidFill>
                  <a:srgbClr val="B8860B"/>
                </a:solidFill>
                <a:latin typeface="Calibri" pitchFamily="34" charset="0"/>
                <a:ea typeface="Calibri" pitchFamily="34" charset="-122"/>
                <a:cs typeface="Calibri" pitchFamily="34" charset="-120"/>
              </a:rPr>
              <a:t>THE BOTTOM LINE</a:t>
            </a:r>
            <a:endParaRPr lang="en-US" sz="1000" dirty="0"/>
          </a:p>
        </p:txBody>
      </p:sp>
      <p:sp>
        <p:nvSpPr>
          <p:cNvPr id="6" name="Text 4"/>
          <p:cNvSpPr/>
          <p:nvPr/>
        </p:nvSpPr>
        <p:spPr>
          <a:xfrm>
            <a:off x="548640" y="128016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Generative AI is not a</a:t>
            </a:r>
            <a:endParaRPr lang="en-US" sz="3400" dirty="0"/>
          </a:p>
        </p:txBody>
      </p:sp>
      <p:sp>
        <p:nvSpPr>
          <p:cNvPr id="7" name="Text 5"/>
          <p:cNvSpPr/>
          <p:nvPr/>
        </p:nvSpPr>
        <p:spPr>
          <a:xfrm>
            <a:off x="548640" y="1865376"/>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technology project — it is a</a:t>
            </a:r>
            <a:endParaRPr lang="en-US" sz="3400" dirty="0"/>
          </a:p>
        </p:txBody>
      </p:sp>
      <p:sp>
        <p:nvSpPr>
          <p:cNvPr id="8" name="Text 6"/>
          <p:cNvSpPr/>
          <p:nvPr/>
        </p:nvSpPr>
        <p:spPr>
          <a:xfrm>
            <a:off x="548640" y="2450592"/>
            <a:ext cx="8229600" cy="640080"/>
          </a:xfrm>
          <a:prstGeom prst="rect">
            <a:avLst/>
          </a:prstGeom>
          <a:noFill/>
          <a:ln/>
        </p:spPr>
        <p:txBody>
          <a:bodyPr wrap="square" lIns="0" tIns="0" rIns="0" bIns="0" rtlCol="0" anchor="ctr"/>
          <a:lstStyle/>
          <a:p>
            <a:pPr indent="0" marL="0">
              <a:buNone/>
            </a:pPr>
            <a:r>
              <a:rPr lang="en-US" sz="3400" b="1" dirty="0">
                <a:solidFill>
                  <a:srgbClr val="B8860B"/>
                </a:solidFill>
                <a:latin typeface="Calibri" pitchFamily="34" charset="0"/>
                <a:ea typeface="Calibri" pitchFamily="34" charset="-122"/>
                <a:cs typeface="Calibri" pitchFamily="34" charset="-120"/>
              </a:rPr>
              <a:t>business transformation.</a:t>
            </a:r>
            <a:endParaRPr lang="en-US" sz="3400" dirty="0"/>
          </a:p>
        </p:txBody>
      </p:sp>
      <p:sp>
        <p:nvSpPr>
          <p:cNvPr id="9" name="Shape 7"/>
          <p:cNvSpPr/>
          <p:nvPr/>
        </p:nvSpPr>
        <p:spPr>
          <a:xfrm>
            <a:off x="548640" y="3200400"/>
            <a:ext cx="1097280" cy="27432"/>
          </a:xfrm>
          <a:prstGeom prst="rect">
            <a:avLst/>
          </a:prstGeom>
          <a:solidFill>
            <a:srgbClr val="B8860B"/>
          </a:solidFill>
          <a:ln/>
        </p:spPr>
      </p:sp>
      <p:sp>
        <p:nvSpPr>
          <p:cNvPr id="10" name="Text 8"/>
          <p:cNvSpPr/>
          <p:nvPr/>
        </p:nvSpPr>
        <p:spPr>
          <a:xfrm>
            <a:off x="548640" y="3310128"/>
            <a:ext cx="8046720" cy="219456"/>
          </a:xfrm>
          <a:prstGeom prst="rect">
            <a:avLst/>
          </a:prstGeom>
          <a:noFill/>
          <a:ln/>
        </p:spPr>
        <p:txBody>
          <a:bodyPr wrap="square" lIns="0" tIns="0" rIns="0" bIns="0" rtlCol="0" anchor="ctr"/>
          <a:lstStyle/>
          <a:p>
            <a:pPr indent="0" marL="0">
              <a:buNone/>
            </a:pPr>
            <a:r>
              <a:rPr lang="en-US" sz="1000" dirty="0">
                <a:solidFill>
                  <a:srgbClr val="EDF1F7"/>
                </a:solidFill>
                <a:latin typeface="Calibri" pitchFamily="34" charset="0"/>
                <a:ea typeface="Calibri" pitchFamily="34" charset="-122"/>
                <a:cs typeface="Calibri" pitchFamily="34" charset="-120"/>
              </a:rPr>
              <a:t>—  Data quality is the multiplier — models are only as good as their data</a:t>
            </a:r>
            <a:endParaRPr lang="en-US" sz="1000" dirty="0"/>
          </a:p>
        </p:txBody>
      </p:sp>
      <p:sp>
        <p:nvSpPr>
          <p:cNvPr id="11" name="Text 9"/>
          <p:cNvSpPr/>
          <p:nvPr/>
        </p:nvSpPr>
        <p:spPr>
          <a:xfrm>
            <a:off x="548640" y="3566160"/>
            <a:ext cx="8046720" cy="219456"/>
          </a:xfrm>
          <a:prstGeom prst="rect">
            <a:avLst/>
          </a:prstGeom>
          <a:noFill/>
          <a:ln/>
        </p:spPr>
        <p:txBody>
          <a:bodyPr wrap="square" lIns="0" tIns="0" rIns="0" bIns="0" rtlCol="0" anchor="ctr"/>
          <a:lstStyle/>
          <a:p>
            <a:pPr indent="0" marL="0">
              <a:buNone/>
            </a:pPr>
            <a:r>
              <a:rPr lang="en-US" sz="1000" dirty="0">
                <a:solidFill>
                  <a:srgbClr val="EDF1F7"/>
                </a:solidFill>
                <a:latin typeface="Calibri" pitchFamily="34" charset="0"/>
                <a:ea typeface="Calibri" pitchFamily="34" charset="-122"/>
                <a:cs typeface="Calibri" pitchFamily="34" charset="-120"/>
              </a:rPr>
              <a:t>—  Start with high-value, low-risk use cases — build from measurable wins</a:t>
            </a:r>
            <a:endParaRPr lang="en-US" sz="1000" dirty="0"/>
          </a:p>
        </p:txBody>
      </p:sp>
      <p:sp>
        <p:nvSpPr>
          <p:cNvPr id="12" name="Text 10"/>
          <p:cNvSpPr/>
          <p:nvPr/>
        </p:nvSpPr>
        <p:spPr>
          <a:xfrm>
            <a:off x="548640" y="3822192"/>
            <a:ext cx="8046720" cy="219456"/>
          </a:xfrm>
          <a:prstGeom prst="rect">
            <a:avLst/>
          </a:prstGeom>
          <a:noFill/>
          <a:ln/>
        </p:spPr>
        <p:txBody>
          <a:bodyPr wrap="square" lIns="0" tIns="0" rIns="0" bIns="0" rtlCol="0" anchor="ctr"/>
          <a:lstStyle/>
          <a:p>
            <a:pPr indent="0" marL="0">
              <a:buNone/>
            </a:pPr>
            <a:r>
              <a:rPr lang="en-US" sz="1000" dirty="0">
                <a:solidFill>
                  <a:srgbClr val="EDF1F7"/>
                </a:solidFill>
                <a:latin typeface="Calibri" pitchFamily="34" charset="0"/>
                <a:ea typeface="Calibri" pitchFamily="34" charset="-122"/>
                <a:cs typeface="Calibri" pitchFamily="34" charset="-120"/>
              </a:rPr>
              <a:t>—  Governance is not a blocker — it is what makes safe scaling possible</a:t>
            </a:r>
            <a:endParaRPr lang="en-US" sz="1000" dirty="0"/>
          </a:p>
        </p:txBody>
      </p:sp>
      <p:sp>
        <p:nvSpPr>
          <p:cNvPr id="13" name="Text 11"/>
          <p:cNvSpPr/>
          <p:nvPr/>
        </p:nvSpPr>
        <p:spPr>
          <a:xfrm>
            <a:off x="548640" y="4078224"/>
            <a:ext cx="8046720" cy="219456"/>
          </a:xfrm>
          <a:prstGeom prst="rect">
            <a:avLst/>
          </a:prstGeom>
          <a:noFill/>
          <a:ln/>
        </p:spPr>
        <p:txBody>
          <a:bodyPr wrap="square" lIns="0" tIns="0" rIns="0" bIns="0" rtlCol="0" anchor="ctr"/>
          <a:lstStyle/>
          <a:p>
            <a:pPr indent="0" marL="0">
              <a:buNone/>
            </a:pPr>
            <a:r>
              <a:rPr lang="en-US" sz="1000" dirty="0">
                <a:solidFill>
                  <a:srgbClr val="EDF1F7"/>
                </a:solidFill>
                <a:latin typeface="Calibri" pitchFamily="34" charset="0"/>
                <a:ea typeface="Calibri" pitchFamily="34" charset="-122"/>
                <a:cs typeface="Calibri" pitchFamily="34" charset="-120"/>
              </a:rPr>
              <a:t>—  AI literacy is a strategic imperative — not an optional training programme</a:t>
            </a:r>
            <a:endParaRPr lang="en-US" sz="1000" dirty="0"/>
          </a:p>
        </p:txBody>
      </p:sp>
      <p:sp>
        <p:nvSpPr>
          <p:cNvPr id="14" name="Text 12"/>
          <p:cNvSpPr/>
          <p:nvPr/>
        </p:nvSpPr>
        <p:spPr>
          <a:xfrm>
            <a:off x="548640" y="4334256"/>
            <a:ext cx="8046720" cy="219456"/>
          </a:xfrm>
          <a:prstGeom prst="rect">
            <a:avLst/>
          </a:prstGeom>
          <a:noFill/>
          <a:ln/>
        </p:spPr>
        <p:txBody>
          <a:bodyPr wrap="square" lIns="0" tIns="0" rIns="0" bIns="0" rtlCol="0" anchor="ctr"/>
          <a:lstStyle/>
          <a:p>
            <a:pPr indent="0" marL="0">
              <a:buNone/>
            </a:pPr>
            <a:r>
              <a:rPr lang="en-US" sz="1000" dirty="0">
                <a:solidFill>
                  <a:srgbClr val="EDF1F7"/>
                </a:solidFill>
                <a:latin typeface="Calibri" pitchFamily="34" charset="0"/>
                <a:ea typeface="Calibri" pitchFamily="34" charset="-122"/>
                <a:cs typeface="Calibri" pitchFamily="34" charset="-120"/>
              </a:rPr>
              <a:t>—  The cost of AI is collapsing — re-evaluate your business cases quarterly</a:t>
            </a:r>
            <a:endParaRPr lang="en-US" sz="1000" dirty="0"/>
          </a:p>
        </p:txBody>
      </p:sp>
      <p:sp>
        <p:nvSpPr>
          <p:cNvPr id="15" name="Text 13"/>
          <p:cNvSpPr/>
          <p:nvPr/>
        </p:nvSpPr>
        <p:spPr>
          <a:xfrm>
            <a:off x="548640" y="4590288"/>
            <a:ext cx="8046720" cy="219456"/>
          </a:xfrm>
          <a:prstGeom prst="rect">
            <a:avLst/>
          </a:prstGeom>
          <a:noFill/>
          <a:ln/>
        </p:spPr>
        <p:txBody>
          <a:bodyPr wrap="square" lIns="0" tIns="0" rIns="0" bIns="0" rtlCol="0" anchor="ctr"/>
          <a:lstStyle/>
          <a:p>
            <a:pPr indent="0" marL="0">
              <a:buNone/>
            </a:pPr>
            <a:r>
              <a:rPr lang="en-US" sz="1000" dirty="0">
                <a:solidFill>
                  <a:srgbClr val="EDF1F7"/>
                </a:solidFill>
                <a:latin typeface="Calibri" pitchFamily="34" charset="0"/>
                <a:ea typeface="Calibri" pitchFamily="34" charset="-122"/>
                <a:cs typeface="Calibri" pitchFamily="34" charset="-120"/>
              </a:rPr>
              <a:t>—  The window to differentiate is NOW — most organisations are still at L1–L2</a:t>
            </a:r>
            <a:endParaRPr lang="en-US" sz="1000" dirty="0"/>
          </a:p>
        </p:txBody>
      </p:sp>
      <p:sp>
        <p:nvSpPr>
          <p:cNvPr id="16" name="Text 14"/>
          <p:cNvSpPr/>
          <p:nvPr/>
        </p:nvSpPr>
        <p:spPr>
          <a:xfrm>
            <a:off x="548640" y="4846320"/>
            <a:ext cx="6400800" cy="201168"/>
          </a:xfrm>
          <a:prstGeom prst="rect">
            <a:avLst/>
          </a:prstGeom>
          <a:noFill/>
          <a:ln/>
        </p:spPr>
        <p:txBody>
          <a:bodyPr wrap="square" lIns="0" tIns="0" rIns="0" bIns="0" rtlCol="0" anchor="ctr"/>
          <a:lstStyle/>
          <a:p>
            <a:pPr indent="0" marL="0">
              <a:buNone/>
            </a:pPr>
            <a:r>
              <a:rPr lang="en-US" sz="1100" i="1" dirty="0">
                <a:solidFill>
                  <a:srgbClr val="8898AA"/>
                </a:solidFill>
                <a:latin typeface="Calibri" pitchFamily="34" charset="0"/>
                <a:ea typeface="Calibri" pitchFamily="34" charset="-122"/>
                <a:cs typeface="Calibri" pitchFamily="34" charset="-120"/>
              </a:rPr>
              <a:t>Questions? Let's build your AI strategy together.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 — Leadership Briefing v8</dc:title>
  <dc:subject>PptxGenJS Presentation</dc:subject>
  <dc:creator>PptxGenJS</dc:creator>
  <cp:lastModifiedBy>PptxGenJS</cp:lastModifiedBy>
  <cp:revision>1</cp:revision>
  <dcterms:created xsi:type="dcterms:W3CDTF">2026-06-03T05:54:09Z</dcterms:created>
  <dcterms:modified xsi:type="dcterms:W3CDTF">2026-06-03T05:54:09Z</dcterms:modified>
</cp:coreProperties>
</file>
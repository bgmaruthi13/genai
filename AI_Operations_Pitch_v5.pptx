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0"/>
            <a:ext cx="8229600" cy="8229600"/>
          </a:xfrm>
          <a:prstGeom prst="ellipse">
            <a:avLst/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0D2660"/>
          </a:solidFill>
          <a:ln w="12700">
            <a:solidFill>
              <a:srgbClr val="0D26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060E2B"/>
          </a:solidFill>
          <a:ln w="12700">
            <a:solidFill>
              <a:srgbClr val="060E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749808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9494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PROPOSAL  ·  2024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07899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Intelligence.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chaos  →  AI-native excellence.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3749040"/>
            <a:ext cx="5669280" cy="420624"/>
          </a:xfrm>
          <a:prstGeom prst="roundRect">
            <a:avLst>
              <a:gd name="adj" fmla="val 21739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7764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7764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Log Parsing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261104"/>
            <a:ext cx="5669280" cy="420624"/>
          </a:xfrm>
          <a:prstGeom prst="roundRect">
            <a:avLst>
              <a:gd name="adj" fmla="val 21739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2885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Ticket Automation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" y="4773168"/>
            <a:ext cx="5669280" cy="420624"/>
          </a:xfrm>
          <a:prstGeom prst="roundRect">
            <a:avLst>
              <a:gd name="adj" fmla="val 21739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800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800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Batch Job Recovery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32520" y="1051560"/>
            <a:ext cx="3154680" cy="1627632"/>
          </a:xfrm>
          <a:prstGeom prst="roundRect">
            <a:avLst>
              <a:gd name="adj" fmla="val 10112"/>
            </a:avLst>
          </a:prstGeom>
          <a:solidFill>
            <a:srgbClr val="0D204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121615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732520" y="18379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32520" y="21671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Hours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2520" y="2880360"/>
            <a:ext cx="3154680" cy="1627632"/>
          </a:xfrm>
          <a:prstGeom prst="roundRect">
            <a:avLst>
              <a:gd name="adj" fmla="val 10112"/>
            </a:avLst>
          </a:prstGeom>
          <a:solidFill>
            <a:srgbClr val="0D204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32520" y="304495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732520" y="36667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Eliminated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32520" y="3995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3 use cases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32520" y="4709160"/>
            <a:ext cx="3154680" cy="1627632"/>
          </a:xfrm>
          <a:prstGeom prst="roundRect">
            <a:avLst>
              <a:gd name="adj" fmla="val 10112"/>
            </a:avLst>
          </a:prstGeom>
          <a:solidFill>
            <a:srgbClr val="0D204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32520" y="487375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732520" y="54955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ROI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32520" y="58247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04091E"/>
          </a:solidFill>
          <a:ln w="12700">
            <a:solidFill>
              <a:srgbClr val="0409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656832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Log Parsing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every log 24/7 — detects and resolves errors in minutes, not hours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1206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89888"/>
            <a:ext cx="51206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80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TODAY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1664208"/>
            <a:ext cx="48463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of engineering time lost to manual log triage daily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undetected for hours — customers impacted before the team knows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memory: same errors re-investigated each time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paged at 3AM with zero context — burnout is widespread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34015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401568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3602736"/>
            <a:ext cx="5120640" cy="201168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65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SOLVES IT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" y="3877056"/>
            <a:ext cx="48463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all logs across services 24/7, classifies severity automatically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errors across microservices to find true root cause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against history — suggests known fixes instantly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Auto-raises ticket in your Ticketing Platform with full context &amp; recommended action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to the right team only — zero alert storm noise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77840" y="1188720"/>
            <a:ext cx="6355080" cy="1847088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15000" y="1261872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FLOW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8756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756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8756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8484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6772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6772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06500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4788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4788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24788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934516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804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645920"/>
            <a:ext cx="475488" cy="4754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2804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Auto-Ticket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952804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062532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80820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645920"/>
            <a:ext cx="475488" cy="4754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80820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080820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team only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577840" y="3145536"/>
            <a:ext cx="6355080" cy="1389888"/>
          </a:xfrm>
          <a:prstGeom prst="roundRect">
            <a:avLst>
              <a:gd name="adj" fmla="val 9211"/>
            </a:avLst>
          </a:prstGeom>
          <a:solidFill>
            <a:srgbClr val="07153B"/>
          </a:solidFill>
          <a:ln w="1016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5715000" y="32186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5715000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Hours→5 min</a:t>
            </a:r>
            <a:endParaRPr lang="en-US" sz="1700" dirty="0"/>
          </a:p>
        </p:txBody>
      </p:sp>
      <p:sp>
        <p:nvSpPr>
          <p:cNvPr id="50" name="Text 41"/>
          <p:cNvSpPr/>
          <p:nvPr/>
        </p:nvSpPr>
        <p:spPr>
          <a:xfrm>
            <a:off x="5715000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7306056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700" dirty="0"/>
          </a:p>
        </p:txBody>
      </p:sp>
      <p:sp>
        <p:nvSpPr>
          <p:cNvPr id="52" name="Text 43"/>
          <p:cNvSpPr/>
          <p:nvPr/>
        </p:nvSpPr>
        <p:spPr>
          <a:xfrm>
            <a:off x="7306056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MTTR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897112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8897112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488168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700" dirty="0"/>
          </a:p>
        </p:txBody>
      </p:sp>
      <p:sp>
        <p:nvSpPr>
          <p:cNvPr id="56" name="Text 47"/>
          <p:cNvSpPr/>
          <p:nvPr/>
        </p:nvSpPr>
        <p:spPr>
          <a:xfrm>
            <a:off x="10488168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Coverage 24/7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577840" y="4645152"/>
            <a:ext cx="6355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5577840" y="4645152"/>
            <a:ext cx="6355080" cy="384048"/>
          </a:xfrm>
          <a:prstGeom prst="roundRect">
            <a:avLst>
              <a:gd name="adj" fmla="val 28571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5577840" y="4828032"/>
            <a:ext cx="635508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4681728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035040" y="4681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TIMELINE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184648"/>
            <a:ext cx="256032" cy="2560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17220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Engineers</a:t>
            </a:r>
            <a:endParaRPr lang="en-US" sz="1300" dirty="0"/>
          </a:p>
        </p:txBody>
      </p:sp>
      <p:sp>
        <p:nvSpPr>
          <p:cNvPr id="65" name="Text 54"/>
          <p:cNvSpPr/>
          <p:nvPr/>
        </p:nvSpPr>
        <p:spPr>
          <a:xfrm>
            <a:off x="617220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DevOps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781812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36" y="5184648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27532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27532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992124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9256" y="5184648"/>
            <a:ext cx="256032" cy="256032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037844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1037844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Live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5715000" y="587044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Azure OpenAI  ·  Log Analytics  ·  App Insights  ·  Ticketing 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Parsing — Estimation &amp;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with realistic effort, team structure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PHASED ESTIMATION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64208"/>
            <a:ext cx="1221971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24307" y="1664208"/>
            <a:ext cx="1955153" cy="256032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79460" y="1664208"/>
            <a:ext cx="1221971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1431" y="1664208"/>
            <a:ext cx="977577" cy="256032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084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Discovery &amp; Setup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2304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·  1 Dev + 1 DevOps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ingestion pipeline live on Azure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834640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AI Model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3200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  ·  2 Devs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&amp; correlates errors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730752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8770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Alerting &amp; Ticketing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4096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·  1 Dev + 1 QA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auto-creates tickets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4626864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477316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718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UAT &amp; Go-Live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49926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1 Dev + 1 BA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4718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+ handover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" y="534009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561441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5614416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22 Working Days  ·  5 SSE-Weeks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4768" y="1188720"/>
            <a:ext cx="57607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91072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164592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7099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388352" y="168249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 access provisioned (license required)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2121408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18541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185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388352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Log Analytics workspace available &amp; logs streaming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2596896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2660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660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388352" y="263347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API credentials &amp; dev instance available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1072" y="3072384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31363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136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388352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structured (JSON preferred) or parseable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91072" y="35478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36118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388352" y="3584448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runbooks available for AI training context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91072" y="402336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4087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388352" y="4059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incident data for pattern pre-training (90 days)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44768" y="4160520"/>
            <a:ext cx="57607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91072" y="42336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RISKS &amp; MITIGATIONS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91072" y="46817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65392" y="4626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quota limits at scale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65392" y="488289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Request capacity increase early in Week 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91072" y="5230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65392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logs require parsing effort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565392" y="543153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3-day buffer in Phase 1 if needed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91072" y="577900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65392" y="5724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API version compatibility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565392" y="5980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 API contract in Week 1 spike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Ticket Automation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solving the same problem 10 times — AI clusters, correlates and permanently closes root causes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1206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89888"/>
            <a:ext cx="51206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80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TODAY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1664208"/>
            <a:ext cx="48463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root cause fires 10+ tickets — each resolved in isolation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recognition: insights arrive weeks after the damage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costs 3–5× more when done reactively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has zero visibility into recurring failure cost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34015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401568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3602736"/>
            <a:ext cx="5120640" cy="201168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65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SOLVES IT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" y="3877056"/>
            <a:ext cx="48463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all tickets: incidents, requests, changes, prod issues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clustering — connects patterns humans would never spot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recurring themes across weeks of ticket history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Problem Record with root cause + assigned owner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knowledge base — next similar incident gets fix instantly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77840" y="1188720"/>
            <a:ext cx="6355080" cy="1847088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15000" y="1261872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FLOW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8756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756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Tickets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8756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Incidents+Changes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8484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6772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Clustering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6772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06500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4788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4788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Engine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24788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934516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804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645920"/>
            <a:ext cx="475488" cy="4754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2804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952804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062532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80820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645920"/>
            <a:ext cx="475488" cy="4754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80820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SLA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080820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577840" y="3145536"/>
            <a:ext cx="6355080" cy="1389888"/>
          </a:xfrm>
          <a:prstGeom prst="roundRect">
            <a:avLst>
              <a:gd name="adj" fmla="val 9211"/>
            </a:avLst>
          </a:prstGeom>
          <a:solidFill>
            <a:srgbClr val="07153B"/>
          </a:solidFill>
          <a:ln w="1016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5715000" y="32186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5715000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700" dirty="0"/>
          </a:p>
        </p:txBody>
      </p:sp>
      <p:sp>
        <p:nvSpPr>
          <p:cNvPr id="50" name="Text 41"/>
          <p:cNvSpPr/>
          <p:nvPr/>
        </p:nvSpPr>
        <p:spPr>
          <a:xfrm>
            <a:off x="5715000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7306056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700" dirty="0"/>
          </a:p>
        </p:txBody>
      </p:sp>
      <p:sp>
        <p:nvSpPr>
          <p:cNvPr id="52" name="Text 43"/>
          <p:cNvSpPr/>
          <p:nvPr/>
        </p:nvSpPr>
        <p:spPr>
          <a:xfrm>
            <a:off x="7306056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897112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8897112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488168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Real‑time</a:t>
            </a:r>
            <a:endParaRPr lang="en-US" sz="1700" dirty="0"/>
          </a:p>
        </p:txBody>
      </p:sp>
      <p:sp>
        <p:nvSpPr>
          <p:cNvPr id="56" name="Text 47"/>
          <p:cNvSpPr/>
          <p:nvPr/>
        </p:nvSpPr>
        <p:spPr>
          <a:xfrm>
            <a:off x="10488168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Records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577840" y="4645152"/>
            <a:ext cx="6355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5577840" y="4645152"/>
            <a:ext cx="6355080" cy="384048"/>
          </a:xfrm>
          <a:prstGeom prst="roundRect">
            <a:avLst>
              <a:gd name="adj" fmla="val 28571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5577840" y="4828032"/>
            <a:ext cx="635508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4681728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035040" y="4681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TIMELINE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184648"/>
            <a:ext cx="256032" cy="2560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17220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Engineers</a:t>
            </a:r>
            <a:endParaRPr lang="en-US" sz="1300" dirty="0"/>
          </a:p>
        </p:txBody>
      </p:sp>
      <p:sp>
        <p:nvSpPr>
          <p:cNvPr id="65" name="Text 54"/>
          <p:cNvSpPr/>
          <p:nvPr/>
        </p:nvSpPr>
        <p:spPr>
          <a:xfrm>
            <a:off x="617220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Data Eng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781812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36" y="5184648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27532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27532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992124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9256" y="5184648"/>
            <a:ext cx="256032" cy="256032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037844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1037844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Visible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5715000" y="587044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Azure OpenAI  ·  Ticketing Platform  ·  Azure AI Search  ·  Power BI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Tickets — Estimation &amp;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with realistic effort, team structure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PHASED ESTIMATION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64208"/>
            <a:ext cx="1792224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664208"/>
            <a:ext cx="2240280" cy="256032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664208"/>
            <a:ext cx="1344168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" y="2084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Pipeline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2304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1 Dev + 1 Data Eng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data flowing into AI pipeline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02336" y="2834640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Clustering &amp; Pattern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3200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 ·  2 Devs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groups tickets, detects patterns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3730752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" y="38770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Problem Record Automation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" y="4096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1 Dev + 1 BA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2336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Records auto-created in ITSM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2336" y="4443984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" y="4718304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4718304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Working Days  ·  3 SSE-Weeks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44768" y="1188720"/>
            <a:ext cx="57607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91072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164592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7099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7388352" y="168249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API with read/write permissions (e.g. ServiceNow, Jira)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121408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218541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185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7388352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 provisioned (embeddings + completion)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1072" y="2596896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2660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660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388352" y="263347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90 days of historical ticket data available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91072" y="3072384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31363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136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388352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contain structured fields: category, service, priority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91072" y="35478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36118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388352" y="3584448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workspace available for leadership dashboard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91072" y="402336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0" y="4087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7388352" y="4059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automated model retraining on new data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44768" y="4160520"/>
            <a:ext cx="57607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291072" y="42336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RISKS &amp; MITIGATIONS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91072" y="46817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65392" y="4626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data quality is low / inconsistent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565392" y="488289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profiling sprint in Phase 1 (2 days)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5230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65392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API rate limits block real-time ingestion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565392" y="543153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Batch ingestion mode as fallback strategy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91072" y="577900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65392" y="5724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problem records confuse teams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65392" y="5980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Confidence threshold tuning in Phase 2 UAT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Batch Job Recovery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failures before they happen — auto-recover, auto-document, protect SLAs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120640" cy="2084832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88720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" y="1389888"/>
            <a:ext cx="5120640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527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280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TODAY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2336" y="1664208"/>
            <a:ext cx="4846320" cy="1517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jobs fail silently — business detects it hours later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cascades: payroll, reports, reconciliation all stall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restarts: inconsistent, undocumented, error-prone at 3AM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detection — teams react, never prevent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56032" y="34015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6032" y="3401568"/>
            <a:ext cx="5120640" cy="402336"/>
          </a:xfrm>
          <a:prstGeom prst="roundRect">
            <a:avLst>
              <a:gd name="adj" fmla="val 27273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6032" y="3602736"/>
            <a:ext cx="5120640" cy="201168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46557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9808" y="34930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SOLVES IT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02336" y="3877056"/>
            <a:ext cx="48463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every job in real-time: runtime, data volumes, dependencies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anomalies before failure — job 40% slower than baseline? Caught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root cause: data / infra / dependency / config error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engine: safe to restart? Yes → auto. No → escalate with report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what failed, why, action taken, resolution ETA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577840" y="1188720"/>
            <a:ext cx="6355080" cy="1847088"/>
          </a:xfrm>
          <a:prstGeom prst="roundRect">
            <a:avLst>
              <a:gd name="adj" fmla="val 6931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715000" y="1261872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FLOW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68756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68756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Monitor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68756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watch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78484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96772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45920"/>
            <a:ext cx="475488" cy="4754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6772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96772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failure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806500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24788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00A3CC"/>
          </a:solidFill>
          <a:ln w="12700">
            <a:solidFill>
              <a:srgbClr val="00A3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645920"/>
            <a:ext cx="475488" cy="4754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24788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AI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24788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diagnosis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934516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952804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1645920"/>
            <a:ext cx="475488" cy="4754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52804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Restart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952804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0625328" y="2093976"/>
            <a:ext cx="16459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10808208" y="1536192"/>
            <a:ext cx="1078992" cy="1115568"/>
          </a:xfrm>
          <a:prstGeom prst="roundRect">
            <a:avLst>
              <a:gd name="adj" fmla="val 101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1645920"/>
            <a:ext cx="475488" cy="4754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808208" y="2194560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Alert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10808208" y="2441448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trail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577840" y="3145536"/>
            <a:ext cx="6355080" cy="1389888"/>
          </a:xfrm>
          <a:prstGeom prst="roundRect">
            <a:avLst>
              <a:gd name="adj" fmla="val 9211"/>
            </a:avLst>
          </a:prstGeom>
          <a:solidFill>
            <a:srgbClr val="07153B"/>
          </a:solidFill>
          <a:ln w="10160">
            <a:solidFill>
              <a:srgbClr val="1048A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39"/>
          <p:cNvSpPr/>
          <p:nvPr/>
        </p:nvSpPr>
        <p:spPr>
          <a:xfrm>
            <a:off x="5715000" y="32186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5715000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1700" dirty="0"/>
          </a:p>
        </p:txBody>
      </p:sp>
      <p:sp>
        <p:nvSpPr>
          <p:cNvPr id="50" name="Text 41"/>
          <p:cNvSpPr/>
          <p:nvPr/>
        </p:nvSpPr>
        <p:spPr>
          <a:xfrm>
            <a:off x="5715000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Manual Restarts</a:t>
            </a:r>
            <a:endParaRPr lang="en-US" sz="850" dirty="0"/>
          </a:p>
        </p:txBody>
      </p:sp>
      <p:sp>
        <p:nvSpPr>
          <p:cNvPr id="51" name="Text 42"/>
          <p:cNvSpPr/>
          <p:nvPr/>
        </p:nvSpPr>
        <p:spPr>
          <a:xfrm>
            <a:off x="7306056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1700" dirty="0"/>
          </a:p>
        </p:txBody>
      </p:sp>
      <p:sp>
        <p:nvSpPr>
          <p:cNvPr id="52" name="Text 43"/>
          <p:cNvSpPr/>
          <p:nvPr/>
        </p:nvSpPr>
        <p:spPr>
          <a:xfrm>
            <a:off x="7306056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8897112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1700" dirty="0"/>
          </a:p>
        </p:txBody>
      </p:sp>
      <p:sp>
        <p:nvSpPr>
          <p:cNvPr id="54" name="Text 45"/>
          <p:cNvSpPr/>
          <p:nvPr/>
        </p:nvSpPr>
        <p:spPr>
          <a:xfrm>
            <a:off x="8897112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0488168" y="3511296"/>
            <a:ext cx="149961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1700" dirty="0"/>
          </a:p>
        </p:txBody>
      </p:sp>
      <p:sp>
        <p:nvSpPr>
          <p:cNvPr id="56" name="Text 47"/>
          <p:cNvSpPr/>
          <p:nvPr/>
        </p:nvSpPr>
        <p:spPr>
          <a:xfrm>
            <a:off x="10488168" y="3895344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5577840" y="4645152"/>
            <a:ext cx="635508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49"/>
          <p:cNvSpPr/>
          <p:nvPr/>
        </p:nvSpPr>
        <p:spPr>
          <a:xfrm>
            <a:off x="5577840" y="4645152"/>
            <a:ext cx="6355080" cy="384048"/>
          </a:xfrm>
          <a:prstGeom prst="roundRect">
            <a:avLst>
              <a:gd name="adj" fmla="val 28571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59" name="Shape 50"/>
          <p:cNvSpPr/>
          <p:nvPr/>
        </p:nvSpPr>
        <p:spPr>
          <a:xfrm>
            <a:off x="5577840" y="4828032"/>
            <a:ext cx="635508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856" y="4681728"/>
            <a:ext cx="256032" cy="256032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6035040" y="46817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TIMELINE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571500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3016" y="5184648"/>
            <a:ext cx="256032" cy="2560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17220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Engineers</a:t>
            </a:r>
            <a:endParaRPr lang="en-US" sz="1300" dirty="0"/>
          </a:p>
        </p:txBody>
      </p:sp>
      <p:sp>
        <p:nvSpPr>
          <p:cNvPr id="65" name="Text 54"/>
          <p:cNvSpPr/>
          <p:nvPr/>
        </p:nvSpPr>
        <p:spPr>
          <a:xfrm>
            <a:off x="617220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DevOps</a:t>
            </a:r>
            <a:endParaRPr lang="en-US" sz="850" dirty="0"/>
          </a:p>
        </p:txBody>
      </p:sp>
      <p:sp>
        <p:nvSpPr>
          <p:cNvPr id="66" name="Shape 55"/>
          <p:cNvSpPr/>
          <p:nvPr/>
        </p:nvSpPr>
        <p:spPr>
          <a:xfrm>
            <a:off x="781812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6136" y="5184648"/>
            <a:ext cx="256032" cy="25603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827532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Weeks</a:t>
            </a:r>
            <a:endParaRPr lang="en-US" sz="1300" dirty="0"/>
          </a:p>
        </p:txBody>
      </p:sp>
      <p:sp>
        <p:nvSpPr>
          <p:cNvPr id="69" name="Text 57"/>
          <p:cNvSpPr/>
          <p:nvPr/>
        </p:nvSpPr>
        <p:spPr>
          <a:xfrm>
            <a:off x="827532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50" dirty="0"/>
          </a:p>
        </p:txBody>
      </p:sp>
      <p:sp>
        <p:nvSpPr>
          <p:cNvPr id="70" name="Shape 58"/>
          <p:cNvSpPr/>
          <p:nvPr/>
        </p:nvSpPr>
        <p:spPr>
          <a:xfrm>
            <a:off x="9921240" y="5102352"/>
            <a:ext cx="1901952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 w="10160">
            <a:solidFill>
              <a:srgbClr val="60A5FA"/>
            </a:solidFill>
            <a:prstDash val="solid"/>
          </a:ln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9256" y="5184648"/>
            <a:ext cx="256032" cy="256032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10378440" y="5120640"/>
            <a:ext cx="1335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48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</a:t>
            </a:r>
            <a:endParaRPr lang="en-US" sz="1300" dirty="0"/>
          </a:p>
        </p:txBody>
      </p:sp>
      <p:sp>
        <p:nvSpPr>
          <p:cNvPr id="73" name="Text 60"/>
          <p:cNvSpPr/>
          <p:nvPr/>
        </p:nvSpPr>
        <p:spPr>
          <a:xfrm>
            <a:off x="10378440" y="542239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Ready</a:t>
            </a:r>
            <a:endParaRPr lang="en-US" sz="850" dirty="0"/>
          </a:p>
        </p:txBody>
      </p:sp>
      <p:sp>
        <p:nvSpPr>
          <p:cNvPr id="74" name="Text 61"/>
          <p:cNvSpPr/>
          <p:nvPr/>
        </p:nvSpPr>
        <p:spPr>
          <a:xfrm>
            <a:off x="5715000" y="5870448"/>
            <a:ext cx="60807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Azure OpenAI  ·  Azure Monitor  ·  Data Factory  ·  Ticketing 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155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73736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73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2416" y="9144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Job Recovery — Estimation &amp; Dependencies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42416" y="694944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 with realistic effort, team structure and dependencies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56032" y="1188720"/>
            <a:ext cx="5669280" cy="521208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PHASED ESTIMATION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166420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1664208"/>
            <a:ext cx="1536192" cy="256032"/>
          </a:xfrm>
          <a:prstGeom prst="roundRect">
            <a:avLst>
              <a:gd name="adj" fmla="val 1428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1664208"/>
            <a:ext cx="1536192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664208"/>
            <a:ext cx="1152144" cy="256032"/>
          </a:xfrm>
          <a:prstGeom prst="roundRect">
            <a:avLst>
              <a:gd name="adj" fmla="val 14286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208483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029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Monitoring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" y="2304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1 DevOps + 1 Dev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0299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 monitored via Azure Monitor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" y="2834640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" y="2980944"/>
            <a:ext cx="201168" cy="20116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Anomaly Detection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" y="32004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2 Devs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anomaly alerts live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2336" y="3730752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" y="387705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822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Auto-Restart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" y="40965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 ·  1 Dev + 1 DevOps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38221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auto-restarts safe jobs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02336" y="4626864"/>
            <a:ext cx="537667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" y="4773168"/>
            <a:ext cx="201168" cy="20116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718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Audit, Alerts &amp; Go-Live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" y="4992624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 ·  1 Dev + 1 QA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471830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prod deployment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" y="534009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" y="5614416"/>
            <a:ext cx="5376672" cy="475488"/>
          </a:xfrm>
          <a:prstGeom prst="roundRect">
            <a:avLst>
              <a:gd name="adj" fmla="val 15385"/>
            </a:avLst>
          </a:prstGeom>
          <a:solidFill>
            <a:srgbClr val="07153B"/>
          </a:solidFill>
          <a:ln w="12700">
            <a:solidFill>
              <a:srgbClr val="0715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5614416"/>
            <a:ext cx="5376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14 Working Days  ·  4 SSE-Weeks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44768" y="1188720"/>
            <a:ext cx="57607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91072" y="1261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91072" y="164592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70992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709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388352" y="168249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connected to all batch job orchestrators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91072" y="2121408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218541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2185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7388352" y="2157984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 provisioned for root cause diagnosis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2596896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26609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660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388352" y="2633472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metadata catalogue available (schedules, dependencies, owners)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1072" y="3072384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313639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136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388352" y="3108960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Platform integration for escalation auto-tickets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91072" y="3547872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361188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3611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7388352" y="3584448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baseline of job execution metrics for anomaly training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91072" y="4023360"/>
            <a:ext cx="5449824" cy="384048"/>
          </a:xfrm>
          <a:prstGeom prst="roundRect">
            <a:avLst>
              <a:gd name="adj" fmla="val 19048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09360" y="408736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087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7388352" y="4059936"/>
            <a:ext cx="431596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for ops team visibility on job health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44768" y="4160520"/>
            <a:ext cx="57607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291072" y="42336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RISKS &amp; MITIGATIONS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291072" y="46817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65392" y="4626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 metadata catalogue exists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565392" y="488289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2-day discovery workshop to map critical jobs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91072" y="523036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65392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on bad data causes data loss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565392" y="543153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Allow-list of safe-to-restart jobs in Phase 3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291072" y="577900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65392" y="57241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gaps on legacy schedulers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565392" y="5980176"/>
            <a:ext cx="51755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Agent-based monitoring fallback for legacy jobs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560320"/>
            <a:ext cx="7315200" cy="7315200"/>
          </a:xfrm>
          <a:prstGeom prst="ellipse">
            <a:avLst/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060E2B"/>
          </a:solidFill>
          <a:ln w="12700">
            <a:solidFill>
              <a:srgbClr val="060E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2024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9144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Act Now.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stack.  Three outcomes.  ROI in 30 days.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719072"/>
            <a:ext cx="3730752" cy="4224528"/>
          </a:xfrm>
          <a:prstGeom prst="roundRect">
            <a:avLst>
              <a:gd name="adj" fmla="val 4412"/>
            </a:avLst>
          </a:prstGeom>
          <a:solidFill>
            <a:srgbClr val="0C1D46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719072"/>
            <a:ext cx="3730752" cy="1005840"/>
          </a:xfrm>
          <a:prstGeom prst="roundRect">
            <a:avLst>
              <a:gd name="adj" fmla="val 16364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95728"/>
            <a:ext cx="3730752" cy="32918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810512"/>
            <a:ext cx="566928" cy="5669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920240"/>
            <a:ext cx="27066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Parsing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93776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664208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64208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34640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4640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days</a:t>
            </a:r>
            <a:endParaRPr lang="en-US" sz="10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3375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4672" y="331927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MTTD: Hours → 5 Minutes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86791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" y="384962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Less Manual Review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4398264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3799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Coverage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928616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4672" y="49103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Critical Errors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279392" y="1719072"/>
            <a:ext cx="3730752" cy="4224528"/>
          </a:xfrm>
          <a:prstGeom prst="roundRect">
            <a:avLst>
              <a:gd name="adj" fmla="val 4412"/>
            </a:avLst>
          </a:prstGeom>
          <a:solidFill>
            <a:srgbClr val="0C1D46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279392" y="1719072"/>
            <a:ext cx="3730752" cy="1005840"/>
          </a:xfrm>
          <a:prstGeom prst="roundRect">
            <a:avLst>
              <a:gd name="adj" fmla="val 16364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279392" y="2395728"/>
            <a:ext cx="3730752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810512"/>
            <a:ext cx="566928" cy="56692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1920240"/>
            <a:ext cx="27066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Tickets</a:t>
            </a:r>
            <a:endParaRPr lang="en-US" sz="1900" dirty="0"/>
          </a:p>
        </p:txBody>
      </p:sp>
      <p:sp>
        <p:nvSpPr>
          <p:cNvPr id="31" name="Shape 23"/>
          <p:cNvSpPr/>
          <p:nvPr/>
        </p:nvSpPr>
        <p:spPr>
          <a:xfrm>
            <a:off x="4425696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4425696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5596128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596128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SSE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766560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766560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05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984" y="3337560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36592" y="331927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Faster Pattern Detection</a:t>
            </a:r>
            <a:endParaRPr lang="en-US" sz="10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84" y="3867912"/>
            <a:ext cx="219456" cy="2194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736592" y="384962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Fewer Repeat Incidents</a:t>
            </a:r>
            <a:endParaRPr lang="en-US" sz="10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984" y="4398264"/>
            <a:ext cx="219456" cy="21945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736592" y="43799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Problem Records</a:t>
            </a:r>
            <a:endParaRPr lang="en-US" sz="10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3984" y="4928616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736592" y="49103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Dashboard Live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8211312" y="1719072"/>
            <a:ext cx="3730752" cy="4224528"/>
          </a:xfrm>
          <a:prstGeom prst="roundRect">
            <a:avLst>
              <a:gd name="adj" fmla="val 4412"/>
            </a:avLst>
          </a:prstGeom>
          <a:solidFill>
            <a:srgbClr val="0C1D46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8211312" y="1719072"/>
            <a:ext cx="3730752" cy="1005840"/>
          </a:xfrm>
          <a:prstGeom prst="roundRect">
            <a:avLst>
              <a:gd name="adj" fmla="val 16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8211312" y="2395728"/>
            <a:ext cx="373075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904" y="1810512"/>
            <a:ext cx="566928" cy="56692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052560" y="1920240"/>
            <a:ext cx="27066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71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Job Recovery</a:t>
            </a:r>
            <a:endParaRPr lang="en-US" sz="1900" dirty="0"/>
          </a:p>
        </p:txBody>
      </p:sp>
      <p:sp>
        <p:nvSpPr>
          <p:cNvPr id="50" name="Shape 37"/>
          <p:cNvSpPr/>
          <p:nvPr/>
        </p:nvSpPr>
        <p:spPr>
          <a:xfrm>
            <a:off x="8357616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8357616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50" dirty="0"/>
          </a:p>
        </p:txBody>
      </p:sp>
      <p:sp>
        <p:nvSpPr>
          <p:cNvPr id="52" name="Shape 39"/>
          <p:cNvSpPr/>
          <p:nvPr/>
        </p:nvSpPr>
        <p:spPr>
          <a:xfrm>
            <a:off x="9528048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9528048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SSE</a:t>
            </a:r>
            <a:endParaRPr lang="en-US" sz="1050" dirty="0"/>
          </a:p>
        </p:txBody>
      </p:sp>
      <p:sp>
        <p:nvSpPr>
          <p:cNvPr id="54" name="Shape 41"/>
          <p:cNvSpPr/>
          <p:nvPr/>
        </p:nvSpPr>
        <p:spPr>
          <a:xfrm>
            <a:off x="10698480" y="2816352"/>
            <a:ext cx="1060704" cy="365760"/>
          </a:xfrm>
          <a:prstGeom prst="roundRect">
            <a:avLst>
              <a:gd name="adj" fmla="val 17500"/>
            </a:avLst>
          </a:prstGeom>
          <a:solidFill>
            <a:srgbClr val="07153B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10698480" y="281635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E9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05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5904" y="3337560"/>
            <a:ext cx="219456" cy="219456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668512" y="3319272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Fewer Manual Restarts</a:t>
            </a:r>
            <a:endParaRPr lang="en-US" sz="10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5904" y="3867912"/>
            <a:ext cx="219456" cy="219456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8668512" y="3849624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Silent Failures</a:t>
            </a:r>
            <a:endParaRPr lang="en-US" sz="100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5904" y="4398264"/>
            <a:ext cx="219456" cy="219456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8668512" y="437997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Faster Recovery</a:t>
            </a:r>
            <a:endParaRPr lang="en-US" sz="1000" dirty="0"/>
          </a:p>
        </p:txBody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75904" y="4928616"/>
            <a:ext cx="219456" cy="219456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8668512" y="4910328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Audit Trail</a:t>
            </a:r>
            <a:endParaRPr lang="en-US" sz="1000" dirty="0"/>
          </a:p>
        </p:txBody>
      </p:sp>
      <p:sp>
        <p:nvSpPr>
          <p:cNvPr id="64" name="Shape 47"/>
          <p:cNvSpPr/>
          <p:nvPr/>
        </p:nvSpPr>
        <p:spPr>
          <a:xfrm>
            <a:off x="347472" y="6053328"/>
            <a:ext cx="11466576" cy="658368"/>
          </a:xfrm>
          <a:prstGeom prst="roundRect">
            <a:avLst>
              <a:gd name="adj" fmla="val 13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65" name="Text 48"/>
          <p:cNvSpPr/>
          <p:nvPr/>
        </p:nvSpPr>
        <p:spPr>
          <a:xfrm>
            <a:off x="713232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Working Days</a:t>
            </a:r>
            <a:endParaRPr lang="en-US" sz="1500" dirty="0"/>
          </a:p>
        </p:txBody>
      </p:sp>
      <p:sp>
        <p:nvSpPr>
          <p:cNvPr id="66" name="Text 49"/>
          <p:cNvSpPr/>
          <p:nvPr/>
        </p:nvSpPr>
        <p:spPr>
          <a:xfrm>
            <a:off x="713232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Effort</a:t>
            </a:r>
            <a:endParaRPr lang="en-US" sz="900" dirty="0"/>
          </a:p>
        </p:txBody>
      </p:sp>
      <p:sp>
        <p:nvSpPr>
          <p:cNvPr id="67" name="Text 50"/>
          <p:cNvSpPr/>
          <p:nvPr/>
        </p:nvSpPr>
        <p:spPr>
          <a:xfrm>
            <a:off x="3584448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+ Ticketing Platform</a:t>
            </a:r>
            <a:endParaRPr lang="en-US" sz="1500" dirty="0"/>
          </a:p>
        </p:txBody>
      </p:sp>
      <p:sp>
        <p:nvSpPr>
          <p:cNvPr id="68" name="Text 51"/>
          <p:cNvSpPr/>
          <p:nvPr/>
        </p:nvSpPr>
        <p:spPr>
          <a:xfrm>
            <a:off x="3584448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Stack</a:t>
            </a:r>
            <a:endParaRPr lang="en-US" sz="900" dirty="0"/>
          </a:p>
        </p:txBody>
      </p:sp>
      <p:sp>
        <p:nvSpPr>
          <p:cNvPr id="69" name="Text 52"/>
          <p:cNvSpPr/>
          <p:nvPr/>
        </p:nvSpPr>
        <p:spPr>
          <a:xfrm>
            <a:off x="6455664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in Parallel</a:t>
            </a:r>
            <a:endParaRPr lang="en-US" sz="1500" dirty="0"/>
          </a:p>
        </p:txBody>
      </p:sp>
      <p:sp>
        <p:nvSpPr>
          <p:cNvPr id="70" name="Text 53"/>
          <p:cNvSpPr/>
          <p:nvPr/>
        </p:nvSpPr>
        <p:spPr>
          <a:xfrm>
            <a:off x="6455664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900" dirty="0"/>
          </a:p>
        </p:txBody>
      </p:sp>
      <p:sp>
        <p:nvSpPr>
          <p:cNvPr id="71" name="Text 54"/>
          <p:cNvSpPr/>
          <p:nvPr/>
        </p:nvSpPr>
        <p:spPr>
          <a:xfrm>
            <a:off x="9326880" y="6089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30-Day ROI</a:t>
            </a:r>
            <a:endParaRPr lang="en-US" sz="1500" dirty="0"/>
          </a:p>
        </p:txBody>
      </p:sp>
      <p:sp>
        <p:nvSpPr>
          <p:cNvPr id="72" name="Text 55"/>
          <p:cNvSpPr/>
          <p:nvPr/>
        </p:nvSpPr>
        <p:spPr>
          <a:xfrm>
            <a:off x="9326880" y="64008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</a:t>
            </a:r>
            <a:endParaRPr lang="en-US" sz="900" dirty="0"/>
          </a:p>
        </p:txBody>
      </p:sp>
      <p:sp>
        <p:nvSpPr>
          <p:cNvPr id="73" name="Text 56"/>
          <p:cNvSpPr/>
          <p:nvPr/>
        </p:nvSpPr>
        <p:spPr>
          <a:xfrm>
            <a:off x="365760" y="674827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286000"/>
            <a:ext cx="6858000" cy="6858000"/>
          </a:xfrm>
          <a:prstGeom prst="ellipse">
            <a:avLst/>
          </a:prstGeom>
          <a:solidFill>
            <a:srgbClr val="0A1F55"/>
          </a:solidFill>
          <a:ln w="12700">
            <a:solidFill>
              <a:srgbClr val="0A1F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060E2B"/>
          </a:solidFill>
          <a:ln w="12700">
            <a:solidFill>
              <a:srgbClr val="060E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657600"/>
            <a:ext cx="3200400" cy="3200400"/>
          </a:xfrm>
          <a:prstGeom prst="ellipse">
            <a:avLst/>
          </a:prstGeom>
          <a:solidFill>
            <a:srgbClr val="04112E"/>
          </a:solidFill>
          <a:ln w="12700">
            <a:solidFill>
              <a:srgbClr val="0411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  · 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75488"/>
            <a:ext cx="73152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124358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Parsing + Batch Job Recovery  =  One closed-loop autonomous agent.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1572768"/>
            <a:ext cx="4480560" cy="4480560"/>
          </a:xfrm>
          <a:prstGeom prst="ellipse">
            <a:avLst/>
          </a:prstGeom>
          <a:solidFill>
            <a:srgbClr val="0D204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3035808"/>
            <a:ext cx="1280160" cy="12801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3255264"/>
            <a:ext cx="786384" cy="7863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74920" y="4407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35040" y="3675888"/>
            <a:ext cx="-73152" cy="-144475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035040" y="3675888"/>
            <a:ext cx="2075688" cy="-676656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6035040" y="3675888"/>
            <a:ext cx="1892808" cy="1152144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6035040" y="3675888"/>
            <a:ext cx="-228600" cy="181051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035040" y="3675888"/>
            <a:ext cx="-2313432" cy="1152144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257800" y="1572768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1048A4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57800" y="1572768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57800" y="1755648"/>
            <a:ext cx="1417320" cy="146304"/>
          </a:xfrm>
          <a:prstGeom prst="rect">
            <a:avLst/>
          </a:prstGeom>
          <a:solidFill>
            <a:srgbClr val="1048A4"/>
          </a:solidFill>
          <a:ln w="12700">
            <a:solidFill>
              <a:srgbClr val="1048A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56" y="1627632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195681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Agent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257800" y="23408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all logs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in real-time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7406640" y="2359152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2563EB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06640" y="2359152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406640" y="2542032"/>
            <a:ext cx="1417320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996" y="2414016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06640" y="274320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406640" y="312724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&amp; correlates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patterns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7223760" y="4160520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00916E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223760" y="4160520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223760" y="4343400"/>
            <a:ext cx="1417320" cy="146304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116" y="4215384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223760" y="454456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223760" y="49286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Auto-restarts jobs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escalates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5102352" y="4828032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102352" y="4828032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5102352" y="5010912"/>
            <a:ext cx="141732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708" y="4882896"/>
            <a:ext cx="292608" cy="29260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02352" y="521208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5102352" y="5596128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&amp; updates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automatically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3017520" y="4160520"/>
            <a:ext cx="1417320" cy="1325880"/>
          </a:xfrm>
          <a:prstGeom prst="roundRect">
            <a:avLst>
              <a:gd name="adj" fmla="val 9655"/>
            </a:avLst>
          </a:prstGeom>
          <a:solidFill>
            <a:srgbClr val="0C1D46"/>
          </a:solidFill>
          <a:ln w="2286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63500" dir="2700000">
              <a:srgbClr val="000000">
                <a:alpha val="18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3017520" y="4160520"/>
            <a:ext cx="1417320" cy="329184"/>
          </a:xfrm>
          <a:prstGeom prst="roundRect">
            <a:avLst>
              <a:gd name="adj" fmla="val 3888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017520" y="4343400"/>
            <a:ext cx="1417320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4215384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017520" y="454456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3017520" y="49286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pattern memory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events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9235440" y="1188720"/>
            <a:ext cx="2670048" cy="5212080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9381744" y="12618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04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9345168" y="1847088"/>
            <a:ext cx="310896" cy="3108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1744" y="1883664"/>
            <a:ext cx="237744" cy="23774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729216" y="18288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Ops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9345168" y="2139696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detects, diagnoses and fixes itself — no human in the loop for routine failures</a:t>
            </a:r>
            <a:endParaRPr lang="en-US" sz="850" dirty="0"/>
          </a:p>
        </p:txBody>
      </p:sp>
      <p:sp>
        <p:nvSpPr>
          <p:cNvPr id="53" name="Shape 44"/>
          <p:cNvSpPr/>
          <p:nvPr/>
        </p:nvSpPr>
        <p:spPr>
          <a:xfrm>
            <a:off x="9345168" y="2926080"/>
            <a:ext cx="310896" cy="31089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1744" y="2962656"/>
            <a:ext cx="237744" cy="23774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729216" y="2907792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56" name="Text 46"/>
          <p:cNvSpPr/>
          <p:nvPr/>
        </p:nvSpPr>
        <p:spPr>
          <a:xfrm>
            <a:off x="9345168" y="3218688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trains the agent — gets smarter and faster over time automatically</a:t>
            </a:r>
            <a:endParaRPr lang="en-US" sz="850" dirty="0"/>
          </a:p>
        </p:txBody>
      </p:sp>
      <p:sp>
        <p:nvSpPr>
          <p:cNvPr id="57" name="Shape 47"/>
          <p:cNvSpPr/>
          <p:nvPr/>
        </p:nvSpPr>
        <p:spPr>
          <a:xfrm>
            <a:off x="9345168" y="400507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1744" y="4041648"/>
            <a:ext cx="237744" cy="23774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9729216" y="398678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Default</a:t>
            </a:r>
            <a:endParaRPr lang="en-US" sz="1000" dirty="0"/>
          </a:p>
        </p:txBody>
      </p:sp>
      <p:sp>
        <p:nvSpPr>
          <p:cNvPr id="60" name="Text 49"/>
          <p:cNvSpPr/>
          <p:nvPr/>
        </p:nvSpPr>
        <p:spPr>
          <a:xfrm>
            <a:off x="9345168" y="429768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logged, explained and auditable — zero undocumented restarts</a:t>
            </a:r>
            <a:endParaRPr lang="en-US" sz="850" dirty="0"/>
          </a:p>
        </p:txBody>
      </p:sp>
      <p:sp>
        <p:nvSpPr>
          <p:cNvPr id="61" name="Shape 50"/>
          <p:cNvSpPr/>
          <p:nvPr/>
        </p:nvSpPr>
        <p:spPr>
          <a:xfrm>
            <a:off x="9345168" y="5084064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1744" y="5120640"/>
            <a:ext cx="237744" cy="237744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9729216" y="5065776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Platform</a:t>
            </a:r>
            <a:endParaRPr lang="en-US" sz="1000" dirty="0"/>
          </a:p>
        </p:txBody>
      </p:sp>
      <p:sp>
        <p:nvSpPr>
          <p:cNvPr id="64" name="Text 52"/>
          <p:cNvSpPr/>
          <p:nvPr/>
        </p:nvSpPr>
        <p:spPr>
          <a:xfrm>
            <a:off x="9345168" y="5376672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Ticket Agent plugs in next — same orchestrator, growing capability</a:t>
            </a:r>
            <a:endParaRPr lang="en-US" sz="850" dirty="0"/>
          </a:p>
        </p:txBody>
      </p:sp>
      <p:sp>
        <p:nvSpPr>
          <p:cNvPr id="65" name="Shape 53"/>
          <p:cNvSpPr/>
          <p:nvPr/>
        </p:nvSpPr>
        <p:spPr>
          <a:xfrm>
            <a:off x="347472" y="6309360"/>
            <a:ext cx="8732520" cy="402336"/>
          </a:xfrm>
          <a:prstGeom prst="roundRect">
            <a:avLst>
              <a:gd name="adj" fmla="val 22727"/>
            </a:avLst>
          </a:prstGeom>
          <a:solidFill>
            <a:srgbClr val="0D204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Text 54"/>
          <p:cNvSpPr/>
          <p:nvPr/>
        </p:nvSpPr>
        <p:spPr>
          <a:xfrm>
            <a:off x="502920" y="634593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capability (Log Parsing + Batch Recovery) becomes the foundation.  Problem Ticket Agent extends it.  One platform, compounding ROI.</a:t>
            </a:r>
            <a:endParaRPr lang="en-US" sz="950" dirty="0"/>
          </a:p>
        </p:txBody>
      </p:sp>
      <p:sp>
        <p:nvSpPr>
          <p:cNvPr id="67" name="Shape 5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4091E"/>
          </a:solidFill>
          <a:ln w="12700">
            <a:solidFill>
              <a:srgbClr val="04091E"/>
            </a:solidFill>
            <a:prstDash val="solid"/>
          </a:ln>
        </p:spPr>
      </p:sp>
      <p:sp>
        <p:nvSpPr>
          <p:cNvPr id="68" name="Text 56"/>
          <p:cNvSpPr/>
          <p:nvPr/>
        </p:nvSpPr>
        <p:spPr>
          <a:xfrm>
            <a:off x="0" y="6665976"/>
            <a:ext cx="121615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LEADERSHIP REVIEW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2026-06-26T11:49:13Z</dcterms:created>
  <dcterms:modified xsi:type="dcterms:W3CDTF">2026-06-26T11:49:13Z</dcterms:modified>
</cp:coreProperties>
</file>